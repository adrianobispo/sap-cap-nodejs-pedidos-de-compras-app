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a4ded96-0bdd-1197-d624-53555c9e8cf2}">
          <p14:sldIdLst>
            <p14:sldId id="256"/>
          </p14:sldIdLst>
        </p14:section>
        <p14:section name="Contexto" id="{51674664-3fda-6d5b-89ad-c6020f2ca912}">
          <p14:sldIdLst>
            <p14:sldId id="257"/>
          </p14:sldIdLst>
        </p14:section>
        <p14:section name="Visão geral" id="{df0d8396-1c5c-bfa0-0e96-6b9d33e465bd}">
          <p14:sldIdLst>
            <p14:sldId id="258"/>
            <p14:sldId id="259"/>
          </p14:sldIdLst>
        </p14:section>
        <p14:section name="Rascunho" id="{4d9a8162-6b4d-553a-a426-59d2793fe540}">
          <p14:sldIdLst>
            <p14:sldId id="260"/>
            <p14:sldId id="261"/>
            <p14:sldId id="262"/>
          </p14:sldIdLst>
        </p14:section>
        <p14:section name="Registro e edição" id="{1bc678be-d645-b607-2893-57a9d944fb9c}">
          <p14:sldIdLst>
            <p14:sldId id="263"/>
            <p14:sldId id="264"/>
            <p14:sldId id="265"/>
          </p14:sldIdLst>
        </p14:section>
        <p14:section name="Ações do ciclo de vida" id="{c2d684ca-b7a0-e249-5aee-28140d1c859b}">
          <p14:sldIdLst>
            <p14:sldId id="266"/>
            <p14:sldId id="267"/>
            <p14:sldId id="268"/>
            <p14:sldId id="269"/>
            <p14:sldId id="270"/>
          </p14:sldIdLst>
        </p14:section>
        <p14:section name="UI Pedidos de Compras" id="{461a6c46-89a6-0663-4d8a-0617091d0db2}">
          <p14:sldIdLst>
            <p14:sldId id="271"/>
            <p14:sldId id="272"/>
            <p14:sldId id="273"/>
            <p14:sldId id="274"/>
          </p14:sldIdLst>
        </p14:section>
        <p14:section name="Importação e testes" id="{69413bd3-cb16-1258-f8de-82df72c91606}">
          <p14:sldIdLst>
            <p14:sldId id="275"/>
            <p14:sldId id="276"/>
          </p14:sldIdLst>
        </p14:section>
        <p14:section name="Encerramento" id="{52ada837-ab83-e8b6-e4e5-b1b456e27135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BO Pedidos, o coração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BO Pedidos usa todos os outros: clientes, estoque, comum e reembolsos.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Onde cada parte do BO está implementada.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Pedidos é a raiz. A UI só edita o rascunho do cabeçalho e dos itens; o resto é gravado pelo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rascunho nada é reservado: o backend só calcula valores provisórios e protege os campos controlados.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Executado no NEW e no PATCH da linha. Item que já está no pedido gravado mantém o preço fixado.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Qualquer campo mantido pelo backend que chega num PATCH é descartado antes de gravar.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CREATE de Pedidos (ativação do rascunho, criação direta ou importação).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atualizarPedidoAberto compara a reserva gravada com as novas quantidades e movimenta só a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linhas são validadas e precificadas no backend, nunca com valores da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actions passam por pedidoAtivo e devolvem o pedido relido pela projeção do serviço.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importa: validar os dados, mudar o status atomicamente e só então gravar o resultado seguro.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Exige pagamento aprovado. Muda o status primeiro e depois baixa o estoque e cria os snapshots.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Motivo obrigatório. Com pagamento aprovado, o pedido não é cancelado: abre uma solicitação de reembolso.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Copia cliente, endereço e itens para tabelas próprias, uma única vez por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grupo Ações reúne pagar, aprovar e cancelar; AcoesPedido.js esconde o grupo quando só há pedidos encerrados selecionados.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Oito facets: o pedido em andamento mostra quatro seções; o encerrado, cinco.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Linhas criadas na própria tabela; o item vem de ItensAtivos e abre a Gestão de Estoque.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diálogo padrão de parâmetros não tem máscara; a extensão monta campos sap.m.MaskInput e chama a mesma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linha = um item. Linhas com a mesma referência (coluna Pedido) formam um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Títulos reais dos testes, agrupados pelos describe do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BO Pedidos.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1EFF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Pedidos de Compras · SAP CAP 10 + SAP Fiori · Design System SAP Horizon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Pedidos de Compras · SAP CAP + SAP Fiori   |   Implementação por BO — Pedidos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D1FF"/>
                </a:solidFill>
              </a:rPr>
              <a:t>Pedidos de Compras · SAP CAP + SAP Fiori   |   Implementação por BO — Pedidos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IMPLEMENTAÇÃO POR BO · 4 DE 5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Pedidos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O agregado do pedido: rascunho, registro com reserva, edição pela diferença, pagamento, aprovação, cancelamento, snapshots e importação.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Pedi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4 de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IMPLEMENTAÇÃO POR BO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cinco objetos de negócio do projeto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Layers"/>
          <p:cNvSpPr/>
          <p:nvPr/>
        </p:nvSpPr>
        <p:spPr>
          <a:xfrm>
            <a:off x="77724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Comum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Tipos, CodeLists, mensagens e utilitários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2802636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Users"/>
          <p:cNvSpPr/>
          <p:nvPr/>
        </p:nvSpPr>
        <p:spPr>
          <a:xfrm>
            <a:off x="3031236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3" name="Image 1" descr="Lu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910" y="196047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31236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3031236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Clientes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031236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Clientes, endereços e ViaCEP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5056632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Package"/>
          <p:cNvSpPr/>
          <p:nvPr/>
        </p:nvSpPr>
        <p:spPr>
          <a:xfrm>
            <a:off x="5285232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9" name="Image 2" descr="LuPack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06" y="196047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285232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285232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285232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Itens, SKU e saldo</a:t>
            </a:r>
            <a:endParaRPr lang="en-US" sz="1200" dirty="0"/>
          </a:p>
        </p:txBody>
      </p:sp>
      <p:sp>
        <p:nvSpPr>
          <p:cNvPr id="23" name="Cartão"/>
          <p:cNvSpPr/>
          <p:nvPr/>
        </p:nvSpPr>
        <p:spPr>
          <a:xfrm>
            <a:off x="7310628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ShoppingCart"/>
          <p:cNvSpPr/>
          <p:nvPr/>
        </p:nvSpPr>
        <p:spPr>
          <a:xfrm>
            <a:off x="7539228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25" name="Image 3" descr="LuShoppingC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902" y="19604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539228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BO 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539228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Pedidos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539228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Pedido, itens, pagamento e histórico</a:t>
            </a:r>
            <a:endParaRPr lang="en-US" sz="1200" dirty="0"/>
          </a:p>
        </p:txBody>
      </p:sp>
      <p:sp>
        <p:nvSpPr>
          <p:cNvPr id="29" name="Cartão"/>
          <p:cNvSpPr/>
          <p:nvPr/>
        </p:nvSpPr>
        <p:spPr>
          <a:xfrm>
            <a:off x="9564624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0" name="Avatar LuUndo2"/>
          <p:cNvSpPr/>
          <p:nvPr/>
        </p:nvSpPr>
        <p:spPr>
          <a:xfrm>
            <a:off x="9793224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1" name="Image 4" descr="LuUndo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898" y="196047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793224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9793224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Reembolsos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9793224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Solicitação e decisão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CAMADAS PERCORRIDAS</a:t>
            </a:r>
            <a:endParaRPr lang="en-US" sz="1100" dirty="0"/>
          </a:p>
        </p:txBody>
      </p:sp>
      <p:sp>
        <p:nvSpPr>
          <p:cNvPr id="36" name="Status Modelo CDS"/>
          <p:cNvSpPr txBox="1"/>
          <p:nvPr/>
        </p:nvSpPr>
        <p:spPr>
          <a:xfrm>
            <a:off x="548640" y="4407408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Modelo CDS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1920240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38" name="Status Serviço OData"/>
          <p:cNvSpPr txBox="1"/>
          <p:nvPr/>
        </p:nvSpPr>
        <p:spPr>
          <a:xfrm>
            <a:off x="2084832" y="4407408"/>
            <a:ext cx="164592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Serviço OData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3730752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0" name="Status Handlers e regras"/>
          <p:cNvSpPr txBox="1"/>
          <p:nvPr/>
        </p:nvSpPr>
        <p:spPr>
          <a:xfrm>
            <a:off x="3895344" y="4407408"/>
            <a:ext cx="201168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Handlers e regras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5907024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2" name="Status UI Fiori"/>
          <p:cNvSpPr txBox="1"/>
          <p:nvPr/>
        </p:nvSpPr>
        <p:spPr>
          <a:xfrm>
            <a:off x="6071616" y="4407408"/>
            <a:ext cx="118872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UI Fiori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7260336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4" name="Status Importação"/>
          <p:cNvSpPr txBox="1"/>
          <p:nvPr/>
        </p:nvSpPr>
        <p:spPr>
          <a:xfrm>
            <a:off x="7424928" y="4407408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Importação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8796528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6" name="Status Testes"/>
          <p:cNvSpPr txBox="1"/>
          <p:nvPr/>
        </p:nvSpPr>
        <p:spPr>
          <a:xfrm>
            <a:off x="8961120" y="4407408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Testes</a:t>
            </a:r>
            <a:endParaRPr lang="en-US" sz="1000" dirty="0"/>
          </a:p>
        </p:txBody>
      </p:sp>
      <p:sp>
        <p:nvSpPr>
          <p:cNvPr id="47" name="Cartão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48" name="Avatar LuTarget"/>
          <p:cNvSpPr/>
          <p:nvPr/>
        </p:nvSpPr>
        <p:spPr>
          <a:xfrm>
            <a:off x="731520" y="5303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49" name="Image 5" descr="LuTarg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413248"/>
            <a:ext cx="237744" cy="237744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371600" y="4983480"/>
            <a:ext cx="10085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Neste BO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pedido e suas composições (itens, pagamento e snapshots), as três actions do ciclo de vida e a app Pedidos de Compras com extensões.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VISÃO GERAL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objetos do BO Pedidos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4315968"/>
          </a:xfrm>
          <a:prstGeom prst="roundRect">
            <a:avLst>
              <a:gd name="adj" fmla="val 254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1595590"/>
                <a:gridCol w="4786771"/>
                <a:gridCol w="434355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Camada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Objetos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Modelo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Pedidos, ItensPedido, Pagamentos, 2 snapshots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db/schema.cds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Serviço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PedidosService: Pedidos (draft), 3 actions, value helps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srv/pedidos-service.cds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Handlers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Rascunho, Save, edição, ações e importação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srv/pedidos-service.js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Domínio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Registro, reserva, pagamento, snapshots, transições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srv/lib/pedidos.js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Apoio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Estoque, numeração, cartão simulado, importação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srv/lib/estoque · numeracao · pagamento-simulado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UI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Pedidos de Compras: List Report e 3 Object Pages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app/pedidos-compras/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Extensões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AcoesPedido, EfetuarPagamento, ImportarPlanilha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app/pedidos-compras/webapp/ext/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Testes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20 testes de serviço + importação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test/pedidos.test · importacao.test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VISÃO GERAL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agregado do pedido: quem grava cada parte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3675888"/>
          </a:xfrm>
          <a:prstGeom prst="roundRect">
            <a:avLst>
              <a:gd name="adj" fmla="val 298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2836605"/>
                <a:gridCol w="2038810"/>
                <a:gridCol w="3191180"/>
                <a:gridCol w="265931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Entidade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Relação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Quem grava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Quando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Raiz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Rascunho (cliente) + backend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Criação, registro e ações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ItensPedido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Composition many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Rascunho (item, qtde) + backend (preço)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Criação e edição em ABERTO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Pagamentos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Composition one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efetuarPagamento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Cada tentativa (só a última fica)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PedidosClienteSnapshots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Composition one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aprovarPedido · cancelamento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No encerramento, uma vez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PedidosItensSnapshots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Composition many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aprovarPedido · cancelamento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No encerramento, uma vez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Association many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cancelarPedido (pago)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Abre a solicitação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8" name="Avatar LuShieldCheck"/>
          <p:cNvSpPr/>
          <p:nvPr/>
        </p:nvSpPr>
        <p:spPr>
          <a:xfrm>
            <a:off x="731520" y="54178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9" name="Image 0" descr="LuShiel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552754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5212080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Regra de ouro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usuário informa apenas o cliente e os itens; número, status, preços, totais, endereço e pagamento vêm do backend.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RASCUNHO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Handlers do rascunho do pedido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3538728"/>
          </a:xfrm>
          <a:prstGeom prst="roundRect">
            <a:avLst>
              <a:gd name="adj" fmla="val 310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3013893"/>
                <a:gridCol w="2304741"/>
                <a:gridCol w="540727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Evento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Alvo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 que faz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NEW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Pedidos.drafts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ABERTO, pagamento PENDENTE, BRL e total 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PATCH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Pedidos.drafts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Descarta campos controlados; troca de cliente busca o endereço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NEW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ItensPedido.drafts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Quantidade 1; calcularLinha (preço, SKU, total)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PATCH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ItensPedido.drafts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calcularLinha quando muda item ou quantidade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after NEW · PATCH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ItensPedido.drafts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Recalcula o total do rascunho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before/after DISCARD · DELETE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ItensPedido.drafts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Guarda o pedido da linha e recalcula o total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50749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8" name="Avatar LuTriangleAlert"/>
          <p:cNvSpPr/>
          <p:nvPr/>
        </p:nvSpPr>
        <p:spPr>
          <a:xfrm>
            <a:off x="731520" y="5349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9" name="Image 0" descr="LuTriangleAl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545896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5074920"/>
            <a:ext cx="10085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Item sem estoque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 recusado na hora em que é escolhido (ITEM_SEM_ESTOQUE, via req.reject), exceto se já estiver reservado pelo próprio pedido.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RASCUNHO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calcularLinha: preço provisório e total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949440" cy="3611880"/>
          </a:xfrm>
          <a:prstGeom prst="roundRect">
            <a:avLst>
              <a:gd name="adj" fmla="val 3038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492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'item_ID'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'qtdeItemPedido'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qtdeItemPedido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qtdeItemPedido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itemID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itemID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'precoUnitario'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'currency_code'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'qtdeDisponivel'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jaNoPedido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reservaAtual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itemID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'item_ID'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&amp;&amp;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qtdeDisponivel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jaNoPedido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rejeitar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'ITEM_SEM_ESTOQUE'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fixado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ItensPedido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'precoUnitarioSnapshot'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fixado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precoUnitarioSnapshot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precoUnitarioSnapshot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arredondar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Avatar LuCalculator"/>
          <p:cNvSpPr/>
          <p:nvPr/>
        </p:nvSpPr>
        <p:spPr>
          <a:xfrm>
            <a:off x="781812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Calcul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4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03920" y="16093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Provisório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1929384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No rascunho, o preço é o atual do estoque.</a:t>
            </a:r>
            <a:endParaRPr lang="en-US" sz="1400" dirty="0"/>
          </a:p>
        </p:txBody>
      </p:sp>
      <p:sp>
        <p:nvSpPr>
          <p:cNvPr id="11" name="Avatar LuHistory"/>
          <p:cNvSpPr/>
          <p:nvPr/>
        </p:nvSpPr>
        <p:spPr>
          <a:xfrm>
            <a:off x="781812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29443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503920" y="279806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Preço fixado vence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503920" y="3118104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Na edição, linhas antigas mantêm o preço.</a:t>
            </a:r>
            <a:endParaRPr lang="en-US" sz="1400" dirty="0"/>
          </a:p>
        </p:txBody>
      </p:sp>
      <p:sp>
        <p:nvSpPr>
          <p:cNvPr id="15" name="Avatar LuRefreshCw"/>
          <p:cNvSpPr/>
          <p:nvPr/>
        </p:nvSpPr>
        <p:spPr>
          <a:xfrm>
            <a:off x="78181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RefreshC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41330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03920" y="39867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Side effect #Valores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503920" y="4306824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tela relê preço e totais após o PATCH.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RASCUNHO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Campos controlados e troca de cliente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5669280" cy="1584960"/>
          </a:xfrm>
          <a:prstGeom prst="roundRect">
            <a:avLst>
              <a:gd name="adj" fmla="val 692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2120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CAMPOS_CONTROLADOS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'numeroPedido'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'statusPedido_code'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'statusPagamento_code'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'endereco_ID'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'enderecoPrincipalCompleto'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'valorTotal'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'currency_code'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'dataFinalizacao'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'motivoCancelamento'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'dataCancelamento'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'canceladoPor'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'referenciaImportacao'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7" name="Bloco de código"/>
          <p:cNvSpPr/>
          <p:nvPr/>
        </p:nvSpPr>
        <p:spPr>
          <a:xfrm>
            <a:off x="6446520" y="1554480"/>
            <a:ext cx="5193792" cy="3002280"/>
          </a:xfrm>
          <a:prstGeom prst="roundRect">
            <a:avLst>
              <a:gd name="adj" fmla="val 365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6675120" y="1737360"/>
            <a:ext cx="4736592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'PATCH'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removerCamposControlados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'cliente_ID'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rascunho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'numeroPedido'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rascunho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rejeitar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'PEDIDO_CLIENTE_IMUTAVEL'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'cliente_ID'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enderecoPrincipalCompleto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'CLIENTE_SEM_ENDERECO_PRINCIPAL'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9" name="Avatar LuLock"/>
          <p:cNvSpPr/>
          <p:nvPr/>
        </p:nvSpPr>
        <p:spPr>
          <a:xfrm>
            <a:off x="685800" y="43434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44531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430682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Cliente imutável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462686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Depois do registro, a troca é recusada.</a:t>
            </a:r>
            <a:endParaRPr lang="en-US" sz="1400" dirty="0"/>
          </a:p>
        </p:txBody>
      </p:sp>
      <p:sp>
        <p:nvSpPr>
          <p:cNvPr id="13" name="Avatar LuMapPin"/>
          <p:cNvSpPr/>
          <p:nvPr/>
        </p:nvSpPr>
        <p:spPr>
          <a:xfrm>
            <a:off x="685800" y="5257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Map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3675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522122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Endereço automático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554126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Sempre o endereço principal atual.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REGISTRO E EDIÇÃO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registrarPedido: o primeiro Salvar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2079346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Users"/>
          <p:cNvSpPr/>
          <p:nvPr/>
        </p:nvSpPr>
        <p:spPr>
          <a:xfrm>
            <a:off x="749808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61058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Cliente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2697480"/>
            <a:ext cx="17135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Informado, ativo e com endereço principal.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627986" y="22860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Cartão"/>
          <p:cNvSpPr/>
          <p:nvPr/>
        </p:nvSpPr>
        <p:spPr>
          <a:xfrm>
            <a:off x="2801722" y="1554480"/>
            <a:ext cx="2079346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ListChecks"/>
          <p:cNvSpPr/>
          <p:nvPr/>
        </p:nvSpPr>
        <p:spPr>
          <a:xfrm>
            <a:off x="3002890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List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618" y="186537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14139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3002890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Itens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002890" y="2697480"/>
            <a:ext cx="17135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Ao menos um; ativo, qtde &gt; 0, moeda BRL.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81067" y="22860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Cartão"/>
          <p:cNvSpPr/>
          <p:nvPr/>
        </p:nvSpPr>
        <p:spPr>
          <a:xfrm>
            <a:off x="5054803" y="1554480"/>
            <a:ext cx="2079346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0" name="Avatar LuPackage"/>
          <p:cNvSpPr/>
          <p:nvPr/>
        </p:nvSpPr>
        <p:spPr>
          <a:xfrm>
            <a:off x="5255971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21" name="Image 2" descr="LuPack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699" y="186537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67221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5255971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Saldo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255971" y="2697480"/>
            <a:ext cx="17135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Disponível cobre a soma por item.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134149" y="22860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Cartão"/>
          <p:cNvSpPr/>
          <p:nvPr/>
        </p:nvSpPr>
        <p:spPr>
          <a:xfrm>
            <a:off x="7307885" y="1554480"/>
            <a:ext cx="2079346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7" name="Avatar LuCalculator"/>
          <p:cNvSpPr/>
          <p:nvPr/>
        </p:nvSpPr>
        <p:spPr>
          <a:xfrm>
            <a:off x="7509053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8" name="Image 3" descr="LuCalcula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781" y="186537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820302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7509053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Preços e status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509053" y="2697480"/>
            <a:ext cx="17135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precificar, ABERTO, PENDENTE, endereço.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387230" y="22860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33" name="Cartão"/>
          <p:cNvSpPr/>
          <p:nvPr/>
        </p:nvSpPr>
        <p:spPr>
          <a:xfrm>
            <a:off x="9560966" y="1554480"/>
            <a:ext cx="2079346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4" name="Avatar LuHash"/>
          <p:cNvSpPr/>
          <p:nvPr/>
        </p:nvSpPr>
        <p:spPr>
          <a:xfrm>
            <a:off x="9762134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35" name="Image 4" descr="LuHas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1862" y="186537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073384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5</a:t>
            </a:r>
            <a:endParaRPr lang="en-US" sz="2000" dirty="0"/>
          </a:p>
        </p:txBody>
      </p:sp>
      <p:sp>
        <p:nvSpPr>
          <p:cNvPr id="37" name="Text 29"/>
          <p:cNvSpPr txBox="1"/>
          <p:nvPr/>
        </p:nvSpPr>
        <p:spPr>
          <a:xfrm>
            <a:off x="9762134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Número e reserva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762134" y="2697480"/>
            <a:ext cx="17135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proximoNumeroPedido e reservar.</a:t>
            </a:r>
            <a:endParaRPr lang="en-US" sz="1300" dirty="0"/>
          </a:p>
        </p:txBody>
      </p:sp>
      <p:sp>
        <p:nvSpPr>
          <p:cNvPr id="39" name="Bloco de código"/>
          <p:cNvSpPr/>
          <p:nvPr/>
        </p:nvSpPr>
        <p:spPr>
          <a:xfrm>
            <a:off x="548640" y="3657600"/>
            <a:ext cx="6949440" cy="1584960"/>
          </a:xfrm>
          <a:prstGeom prst="roundRect">
            <a:avLst>
              <a:gd name="adj" fmla="val 692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40" name="Código"/>
          <p:cNvSpPr txBox="1"/>
          <p:nvPr/>
        </p:nvSpPr>
        <p:spPr>
          <a:xfrm>
            <a:off x="777240" y="3840480"/>
            <a:ext cx="64922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precificar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statusPagamento_code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STATUS_PAGAMENTO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endereco_ID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proximoNumeroPedido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movimentarEstoque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MOVIMENTO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quantidades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'PEDIDO_CONFIRMADO'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41" name="Avatar LuMessageSquare"/>
          <p:cNvSpPr/>
          <p:nvPr/>
        </p:nvSpPr>
        <p:spPr>
          <a:xfrm>
            <a:off x="7818120" y="37490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42" name="Image 5" descr="LuMessageSqua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7848" y="3858768"/>
            <a:ext cx="237744" cy="23774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503920" y="371246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PEDIDO_CONFIRMADO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8503920" y="403250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"Pedido 0000000101 registrado. Estoque reservado."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REGISTRO E EDIÇÃO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Edição em ABERTO: reserva pela diferença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6035040" cy="2971800"/>
          </a:xfrm>
          <a:prstGeom prst="roundRect">
            <a:avLst>
              <a:gd name="adj" fmla="val 369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5669280" cy="914400"/>
        </p:xfrm>
        <a:graphic>
          <a:graphicData uri="http://schemas.openxmlformats.org/drawingml/2006/table">
            <a:tbl>
              <a:tblPr/>
              <a:tblGrid>
                <a:gridCol w="2061556"/>
                <a:gridCol w="944880"/>
                <a:gridCol w="944880"/>
                <a:gridCol w="171796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Antes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Depois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Movimento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Mouse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reservar 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Teclado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liberar 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Monitor (novo)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reservar 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Cadeira (removida)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liberar 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Notebook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loco de código"/>
          <p:cNvSpPr/>
          <p:nvPr/>
        </p:nvSpPr>
        <p:spPr>
          <a:xfrm>
            <a:off x="6812280" y="1554480"/>
            <a:ext cx="4828032" cy="192024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040880" y="1737360"/>
            <a:ext cx="4370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anterior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liberar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anterior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liberar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Avatar LuRefreshCw"/>
          <p:cNvSpPr/>
          <p:nvPr/>
        </p:nvSpPr>
        <p:spPr>
          <a:xfrm>
            <a:off x="68580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RefreshC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504748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490118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Liberar antes de reservar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522122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Libera o excedente e depois reserva o acréscimo.</a:t>
            </a:r>
            <a:endParaRPr lang="en-US" sz="1400" dirty="0"/>
          </a:p>
        </p:txBody>
      </p:sp>
      <p:sp>
        <p:nvSpPr>
          <p:cNvPr id="13" name="Avatar LuShieldCheck"/>
          <p:cNvSpPr/>
          <p:nvPr/>
        </p:nvSpPr>
        <p:spPr>
          <a:xfrm>
            <a:off x="6903720" y="48006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491032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589520" y="4764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Status conferido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589520" y="508406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transicionarPedido garante que segue ABERTO.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REGISTRO E EDIÇÃO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validarLinhas e precificar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5760720" cy="2697480"/>
          </a:xfrm>
          <a:prstGeom prst="roundRect">
            <a:avLst>
              <a:gd name="adj" fmla="val 4068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303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validarLinhas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idsQueReservam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item_ID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item_ID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'CAMPO_OBRIGATORIO'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itemAtivo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&amp;&amp;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idsQueReservam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item_ID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'ITEM_INATIVO'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'?'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qtdeItemPedido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'ITEM_QTDE_INVALIDA'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MOEDA_PADRAO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'VALOR_INVALIDO'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'Moeda do item'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Bloco de código"/>
          <p:cNvSpPr/>
          <p:nvPr/>
        </p:nvSpPr>
        <p:spPr>
          <a:xfrm>
            <a:off x="6537960" y="1554480"/>
            <a:ext cx="5102352" cy="2392680"/>
          </a:xfrm>
          <a:prstGeom prst="roundRect">
            <a:avLst>
              <a:gd name="adj" fmla="val 4586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6766560" y="1737360"/>
            <a:ext cx="4645152" cy="2026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precificar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fixados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fixados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item_ID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??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item_ID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precoUnitarioSnapshot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MOEDA_PADRAO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arredondar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qtdeItemPedido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arredondar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Avatar LuPackage"/>
          <p:cNvSpPr/>
          <p:nvPr/>
        </p:nvSpPr>
        <p:spPr>
          <a:xfrm>
            <a:off x="6629400" y="48006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Pack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28" y="49103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47640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Inativo só barra o que reserva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315200" y="508406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Item já reservado pode continuar no pedido.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AÇÕES DO CICLO DE VIDA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Como as actions são registradas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400800" cy="3611880"/>
          </a:xfrm>
          <a:prstGeom prst="roundRect">
            <a:avLst>
              <a:gd name="adj" fmla="val 3038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943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pedidoAtivo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ehRascunho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'ACAO_SOMENTE_ATIVO'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lerPedidoParaAcao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PEDIDO_EM_EDICAO?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pedidoAtivo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efetuarPagamento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lean draft: registrar também no rascunho, ou a chamada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 em 501 "has no handler" sem a mensagem certa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'efetuarPagamento'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pagar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'efetuarPagamento'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pagar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Cartão"/>
          <p:cNvSpPr/>
          <p:nvPr/>
        </p:nvSpPr>
        <p:spPr>
          <a:xfrm>
            <a:off x="7178040" y="1554480"/>
            <a:ext cx="4462272" cy="2670048"/>
          </a:xfrm>
          <a:prstGeom prst="roundRect">
            <a:avLst>
              <a:gd name="adj" fmla="val 411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691640"/>
          <a:ext cx="4096512" cy="914400"/>
        </p:xfrm>
        <a:graphic>
          <a:graphicData uri="http://schemas.openxmlformats.org/drawingml/2006/table">
            <a:tbl>
              <a:tblPr/>
              <a:tblGrid>
                <a:gridCol w="1877568"/>
                <a:gridCol w="221894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Situação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Mensagem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Ação sobre o rascunho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ACAO_SOMENTE_ATIVO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Pedido com edição aberta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PEDIDO_EM_EDICAO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Editar fora de ABERTO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PEDIDO_EDICAO_BLOQUEADA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Excluir pedido registrado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PEDIDO_EXCLUSAO_BLOQUEADA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Avatar LuBan"/>
          <p:cNvSpPr/>
          <p:nvPr/>
        </p:nvSpPr>
        <p:spPr>
          <a:xfrm>
            <a:off x="7269480" y="43434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10" name="Image 0" descr="Lu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445312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955280" y="43068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Cancelar, nunca excluir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955280" y="462686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before DELETE de Pedidos sempre recusa (409).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AÇÕES DO CICLO DE VIDA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efetuarPagamento: simular, transicionar e gravar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400800" cy="3307080"/>
          </a:xfrm>
          <a:prstGeom prst="roundRect">
            <a:avLst>
              <a:gd name="adj" fmla="val 3318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943600" cy="294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efetuarPagamento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metodoPagamento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numeroCartao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cvv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aberto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erroStatus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simulacao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simularPagamento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metodoPagamento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numeroCartao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cvv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simulacao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dadosValidos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'CARTAO_DADOS_INVALIDOS'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simulacao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simulacao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'APROVADO'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mudou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transicionarPedido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statusPagamento_code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simulacao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'AGUARDANDO_APROVACAO'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'ABERTO'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mudou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gravarPagamento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simulacao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+ INSERT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'PAGAMENTO_APROVADO'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'PAGAMENTO_RECUSADO'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Cartão"/>
          <p:cNvSpPr/>
          <p:nvPr/>
        </p:nvSpPr>
        <p:spPr>
          <a:xfrm>
            <a:off x="7178040" y="1554480"/>
            <a:ext cx="4462272" cy="2578608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691640"/>
          <a:ext cx="4096512" cy="914400"/>
        </p:xfrm>
        <a:graphic>
          <a:graphicData uri="http://schemas.openxmlformats.org/drawingml/2006/table">
            <a:tbl>
              <a:tblPr/>
              <a:tblGrid>
                <a:gridCol w="1450848"/>
                <a:gridCol w="264566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validarFormato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Erro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Método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fora de CARTAO_*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Número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fora de 13 a 19 dígitos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Validade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não é MM/AA ou mês inválido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CVV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fora de 3 ou 4 dígitos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cartão expirado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Avatar LuCreditCard"/>
          <p:cNvSpPr/>
          <p:nvPr/>
        </p:nvSpPr>
        <p:spPr>
          <a:xfrm>
            <a:off x="7269480" y="44348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Credit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454456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955280" y="43982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Bandeira e recusa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955280" y="47183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4… VISA, 5… MASTERCARD; CVV 000 recusa.</a:t>
            </a:r>
            <a:endParaRPr lang="en-US" sz="1400" dirty="0"/>
          </a:p>
        </p:txBody>
      </p:sp>
      <p:sp>
        <p:nvSpPr>
          <p:cNvPr id="13" name="Avatar LuLock"/>
          <p:cNvSpPr/>
          <p:nvPr/>
        </p:nvSpPr>
        <p:spPr>
          <a:xfrm>
            <a:off x="7269480" y="5349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5458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955280" y="53126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Só o resultado seguro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955280" y="56327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Máscara, últimos 4 e autorização SIM######.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AÇÕES DO CICLO DE VIDA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finalizarPedido: aprovar, baixar e congelar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766560" cy="3154680"/>
          </a:xfrm>
          <a:prstGeom prst="roundRect">
            <a:avLst>
              <a:gd name="adj" fmla="val 3478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309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finalizarPedido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aberto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'PEDIDO_PAGAMENTO_PENDENTE'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aguardandoAprovacao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erroStatus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statusPagamento_code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STATUS_PAGAMENTO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'PEDIDO_PAGAMENTO_PENDENTE'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finalizado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transicionarPedido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finalizado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dataFinalizacao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toISOString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finalizado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baixa estoque e reserva (a condição no banco confere)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movimentarEstoque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MOVIMENTO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baixar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reservaAtual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criarSnapshots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'FINALIZACAO'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'PEDIDO_FINALIZADO'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Avatar LuBadgeCheck"/>
          <p:cNvSpPr/>
          <p:nvPr/>
        </p:nvSpPr>
        <p:spPr>
          <a:xfrm>
            <a:off x="763524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Badg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321040" y="16093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IsActionCritical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192938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UI pede confirmação antes de aprovar.</a:t>
            </a:r>
            <a:endParaRPr lang="en-US" sz="1400" dirty="0"/>
          </a:p>
        </p:txBody>
      </p:sp>
      <p:sp>
        <p:nvSpPr>
          <p:cNvPr id="11" name="Avatar LuPackage"/>
          <p:cNvSpPr/>
          <p:nvPr/>
        </p:nvSpPr>
        <p:spPr>
          <a:xfrm>
            <a:off x="763524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Pack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9443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21040" y="27980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Baixa = estoque e reserva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321040" y="311810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Os dois diminuem pela quantidade do pedido.</a:t>
            </a:r>
            <a:endParaRPr lang="en-US" sz="1400" dirty="0"/>
          </a:p>
        </p:txBody>
      </p:sp>
      <p:sp>
        <p:nvSpPr>
          <p:cNvPr id="15" name="Avatar LuHistory"/>
          <p:cNvSpPr/>
          <p:nvPr/>
        </p:nvSpPr>
        <p:spPr>
          <a:xfrm>
            <a:off x="76352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41330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21040" y="398678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Snapshots FINALIZACAO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430682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Cliente e itens congelados.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AÇÕES DO CICLO DE VIDA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cancelarPedido: cancelar ou pedir reembolso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035040" cy="3459480"/>
          </a:xfrm>
          <a:prstGeom prst="roundRect">
            <a:avLst>
              <a:gd name="adj" fmla="val 3172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577840" cy="309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cancelarPedido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aguardandoAprovacao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erroStatus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motivoLimpo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motivoLimpo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'PEDIDO_MOTIVO_CANCEL_OBRIG'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'motivoCancelamento'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statusPagamento_code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'APROVADO'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iniciarReembolso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motivoLimpo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transicionarPedido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motivoCancelamento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motivoLimpo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dataCancelamento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toISOString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canceladoPor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liberarReservaDoPedido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criarSnapshots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'CANCELAMENTO'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Bloco de código"/>
          <p:cNvSpPr/>
          <p:nvPr/>
        </p:nvSpPr>
        <p:spPr>
          <a:xfrm>
            <a:off x="6812280" y="1554480"/>
            <a:ext cx="4828032" cy="2087880"/>
          </a:xfrm>
          <a:prstGeom prst="roundRect">
            <a:avLst>
              <a:gd name="adj" fmla="val 525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040880" y="1737360"/>
            <a:ext cx="4370832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iniciarReembolso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transicionarPedido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'PROCESSANDO_REEMBOLSO'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motivoCancelamento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'PENDENTE'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statusPedidoAnterior_code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Avatar LuUndo2"/>
          <p:cNvSpPr/>
          <p:nvPr/>
        </p:nvSpPr>
        <p:spPr>
          <a:xfrm>
            <a:off x="6903720" y="48920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10" name="Image 0" descr="LuUndo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48" y="50017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485546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Reserva mantida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517550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Fica reservada até a decisão do reembolso.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AÇÕES DO CICLO DE VIDA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criarSnapshots: o histórico imutável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766560" cy="2849880"/>
          </a:xfrm>
          <a:prstGeom prst="roundRect">
            <a:avLst>
              <a:gd name="adj" fmla="val 3850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309360" cy="248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criarSnapshots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PedidosClienteSnapshots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existente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'SNAPSHOT_EXISTENTE'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'cpf'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'telefone'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'genero_code'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endereco_ID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PedidosClienteSnapshots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enderecoCompleto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enderecoPrincipalCompleto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motivoSnapshot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sku, nome, descrição e categoria lidos de Itens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PedidosItensSnapshots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Avatar LuHistory"/>
          <p:cNvSpPr/>
          <p:nvPr/>
        </p:nvSpPr>
        <p:spPr>
          <a:xfrm>
            <a:off x="763524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321040" y="16093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Endereço do pedido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192938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texto gravado no registro, não o atual.</a:t>
            </a:r>
            <a:endParaRPr lang="en-US" sz="1400" dirty="0"/>
          </a:p>
        </p:txBody>
      </p:sp>
      <p:sp>
        <p:nvSpPr>
          <p:cNvPr id="11" name="Avatar LuPackage"/>
          <p:cNvSpPr/>
          <p:nvPr/>
        </p:nvSpPr>
        <p:spPr>
          <a:xfrm>
            <a:off x="763524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Pack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9443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21040" y="27980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Preço do pedido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321040" y="311810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precoUnitarioSnapshot e total da linha.</a:t>
            </a:r>
            <a:endParaRPr lang="en-US" sz="1400" dirty="0"/>
          </a:p>
        </p:txBody>
      </p:sp>
      <p:sp>
        <p:nvSpPr>
          <p:cNvPr id="15" name="Avatar LuBadgeCheck"/>
          <p:cNvSpPr/>
          <p:nvPr/>
        </p:nvSpPr>
        <p:spPr>
          <a:xfrm>
            <a:off x="76352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Badg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41330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21040" y="398678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Idempotente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430682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Chamar de novo só informa.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UI PEDIDOS DE COMPRAS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List Report de pedidos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805940"/>
            <a:ext cx="6766560" cy="41148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Pedidos de Compras: List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97380"/>
            <a:ext cx="6583680" cy="3931920"/>
          </a:xfrm>
          <a:prstGeom prst="rect">
            <a:avLst/>
          </a:prstGeom>
        </p:spPr>
      </p:pic>
      <p:sp>
        <p:nvSpPr>
          <p:cNvPr id="7" name="Bloco de código"/>
          <p:cNvSpPr/>
          <p:nvPr/>
        </p:nvSpPr>
        <p:spPr>
          <a:xfrm>
            <a:off x="7543800" y="1554480"/>
            <a:ext cx="4096512" cy="1935480"/>
          </a:xfrm>
          <a:prstGeom prst="roundRect">
            <a:avLst>
              <a:gd name="adj" fmla="val 5669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772400" y="1737360"/>
            <a:ext cx="3639312" cy="156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visivel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_contextoPagina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contextosSelecionados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contextosSelecionados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getProperty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"statusPedido_code"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ENCERRADOS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-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Avatar LuArrowDownZA"/>
          <p:cNvSpPr/>
          <p:nvPr/>
        </p:nvSpPr>
        <p:spPr>
          <a:xfrm>
            <a:off x="7635240" y="46177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1" descr="LuArrowDownZ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472744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21040" y="45811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Mais recentes primeiro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490118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createdAt desc; CPF sempre lido.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UI PEDIDOS DE COMPRAS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 Page dinâmica: seções por status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6949440" cy="4169664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583680" cy="914400"/>
        </p:xfrm>
        <a:graphic>
          <a:graphicData uri="http://schemas.openxmlformats.org/drawingml/2006/table">
            <a:tbl>
              <a:tblPr/>
              <a:tblGrid>
                <a:gridCol w="2425566"/>
                <a:gridCol w="2512194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Fonte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Visível quando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Dados do Cliente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FieldGroup #Cliente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não encerrado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Dados do Cliente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clienteSnapshot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encerrado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Dados do Pedido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FieldGroup #Pedido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sempre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Itens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itens/@UI.LineItem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não encerrado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Itens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itensSnapshot/@UI.LineItem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encerrado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Pagamento (última tentativa)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pagamento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sempre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Finalização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FieldGroup #Finalizacao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FINALIZADO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Cancelamento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FieldGroup #Cancelamento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CANCELADO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vatar LuGauge"/>
          <p:cNvSpPr/>
          <p:nvPr/>
        </p:nvSpPr>
        <p:spPr>
          <a:xfrm>
            <a:off x="781812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Gau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48" y="175564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03920" y="16093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Cabeçalho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8503920" y="1929384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Status do pedido, pagamento e valor total.</a:t>
            </a:r>
            <a:endParaRPr lang="en-US" sz="1400" dirty="0"/>
          </a:p>
        </p:txBody>
      </p:sp>
      <p:sp>
        <p:nvSpPr>
          <p:cNvPr id="11" name="Avatar LuLink"/>
          <p:cNvSpPr/>
          <p:nvPr/>
        </p:nvSpPr>
        <p:spPr>
          <a:xfrm>
            <a:off x="781812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294436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503920" y="279806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Solicitação de reembolso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503920" y="3118104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Link visível só se semReembolso = false.</a:t>
            </a:r>
            <a:endParaRPr lang="en-US" sz="1400" dirty="0"/>
          </a:p>
        </p:txBody>
      </p:sp>
      <p:sp>
        <p:nvSpPr>
          <p:cNvPr id="15" name="Avatar LuEyeOff"/>
          <p:cNvSpPr/>
          <p:nvPr/>
        </p:nvSpPr>
        <p:spPr>
          <a:xfrm>
            <a:off x="78181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EyeOf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413308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503920" y="39867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Ações escondidas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8503920" y="4306824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Grupo some quando o pedido está encerrado.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UI PEDIDOS DE COMPRAS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Itens do pedido: inline, value help e navegação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035040" cy="2545080"/>
          </a:xfrm>
          <a:prstGeom prst="roundRect">
            <a:avLst>
              <a:gd name="adj" fmla="val 4311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577840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manifest: tabela de itens com criação inline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"itens/@...LineItem"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"tableSettings"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"ResponsiveTable"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"creationMode"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"Inline"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SideEffects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#Valores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SourceProperties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qtdeItemPedido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TargetProperties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'skuItem'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'precoUnitarioSnapshot'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'valorTotal'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'currency_code'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'pedido/valorTotal'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@Common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'ItemEstoque'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SemanticObjectMapping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LocalProperty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skuItem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SemanticObjectProperty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ValueList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CollectionPath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'ItensAtivos'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Avatar LuPlus"/>
          <p:cNvSpPr/>
          <p:nvPr/>
        </p:nvSpPr>
        <p:spPr>
          <a:xfrm>
            <a:off x="690372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Pl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4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160934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Criação inline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589520" y="192938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Sem página extra: a linha nasce na tabela.</a:t>
            </a:r>
            <a:endParaRPr lang="en-US" sz="1400" dirty="0"/>
          </a:p>
        </p:txBody>
      </p:sp>
      <p:sp>
        <p:nvSpPr>
          <p:cNvPr id="11" name="Avatar LuRefreshCw"/>
          <p:cNvSpPr/>
          <p:nvPr/>
        </p:nvSpPr>
        <p:spPr>
          <a:xfrm>
            <a:off x="690372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RefreshC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2852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89520" y="27066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Total do pedido também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589520" y="302666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pedido/valorTotal no side effect da linha.</a:t>
            </a:r>
            <a:endParaRPr lang="en-US" sz="1400" dirty="0"/>
          </a:p>
        </p:txBody>
      </p:sp>
      <p:sp>
        <p:nvSpPr>
          <p:cNvPr id="15" name="Avatar LuSearch"/>
          <p:cNvSpPr/>
          <p:nvPr/>
        </p:nvSpPr>
        <p:spPr>
          <a:xfrm>
            <a:off x="690372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39502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80390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Disponível agora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589520" y="412394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Coluna informativa com item.qtdeDisponivel.</a:t>
            </a:r>
            <a:endParaRPr lang="en-US" sz="1400" dirty="0"/>
          </a:p>
        </p:txBody>
      </p:sp>
      <p:sp>
        <p:nvSpPr>
          <p:cNvPr id="19" name="Avatar LuLink"/>
          <p:cNvSpPr/>
          <p:nvPr/>
        </p:nvSpPr>
        <p:spPr>
          <a:xfrm>
            <a:off x="690372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Lin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5047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589520" y="490118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Item e SKU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589520" y="522122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Abrem a Object Page do item no estoque.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UI PEDIDOS DE COMPRAS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EfetuarPagamento.js: diálogo com máscara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25270"/>
            <a:ext cx="5486400" cy="3350260"/>
          </a:xfrm>
          <a:prstGeom prst="roundRect">
            <a:avLst>
              <a:gd name="adj" fmla="val 327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Diálogo Efetuar Pagam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16710"/>
            <a:ext cx="5303520" cy="3167380"/>
          </a:xfrm>
          <a:prstGeom prst="rect">
            <a:avLst/>
          </a:prstGeom>
        </p:spPr>
      </p:pic>
      <p:sp>
        <p:nvSpPr>
          <p:cNvPr id="7" name="Bloco de código"/>
          <p:cNvSpPr/>
          <p:nvPr/>
        </p:nvSpPr>
        <p:spPr>
          <a:xfrm>
            <a:off x="6263640" y="1554480"/>
            <a:ext cx="5376672" cy="2545080"/>
          </a:xfrm>
          <a:prstGeom prst="roundRect">
            <a:avLst>
              <a:gd name="adj" fmla="val 4311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6492240" y="1737360"/>
            <a:ext cx="4919472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MASCARA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"9999 9999 9999 9999"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"99/99"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cvv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"999"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extensionAPI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editFlow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invokeAction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skipParameterDialog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parameterValues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"metodoPagamento"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getSelectedKey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"numeroCartao"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somenteDigitos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cartao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"validade"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validade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"cvv"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somenteDigitos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cvv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9" name="Avatar LuToggleRight"/>
          <p:cNvSpPr/>
          <p:nvPr/>
        </p:nvSpPr>
        <p:spPr>
          <a:xfrm>
            <a:off x="685800" y="5120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1" descr="LuToggle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3036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508406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Confirmar só completo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5404104"/>
            <a:ext cx="4617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Todos os campos e mês entre 01 e 12.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IMPORTAÇÃO E TESTES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Importação de pedidos: agrupar, conferir e registrar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ListChecks"/>
          <p:cNvSpPr/>
          <p:nvPr/>
        </p:nvSpPr>
        <p:spPr>
          <a:xfrm>
            <a:off x="749808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ListChe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61058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Formato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Referência até 40, CPF, SKU e quantidade &gt; 0.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627986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Cartão"/>
          <p:cNvSpPr/>
          <p:nvPr/>
        </p:nvSpPr>
        <p:spPr>
          <a:xfrm>
            <a:off x="2801722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Users"/>
          <p:cNvSpPr/>
          <p:nvPr/>
        </p:nvSpPr>
        <p:spPr>
          <a:xfrm>
            <a:off x="3002890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618" y="186537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14139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3002890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Cliente e item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002890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Ativos; cliente com endereço; mesmo CPF por pedido.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81067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Cartão"/>
          <p:cNvSpPr/>
          <p:nvPr/>
        </p:nvSpPr>
        <p:spPr>
          <a:xfrm>
            <a:off x="5054803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0" name="Avatar LuKeyRound"/>
          <p:cNvSpPr/>
          <p:nvPr/>
        </p:nvSpPr>
        <p:spPr>
          <a:xfrm>
            <a:off x="5255971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21" name="Image 2" descr="LuKeyRou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699" y="186537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67221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5255971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Idempotência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255971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Referência já importada para o cliente é recusada.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134149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Cartão"/>
          <p:cNvSpPr/>
          <p:nvPr/>
        </p:nvSpPr>
        <p:spPr>
          <a:xfrm>
            <a:off x="7307885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7" name="Avatar LuPackage"/>
          <p:cNvSpPr/>
          <p:nvPr/>
        </p:nvSpPr>
        <p:spPr>
          <a:xfrm>
            <a:off x="7509053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8" name="Image 3" descr="LuPack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781" y="186537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820302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7509053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Saldo da planilha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509053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soma de todas as linhas cabe no disponível.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387230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33" name="Cartão"/>
          <p:cNvSpPr/>
          <p:nvPr/>
        </p:nvSpPr>
        <p:spPr>
          <a:xfrm>
            <a:off x="9560966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4" name="Avatar LuServer"/>
          <p:cNvSpPr/>
          <p:nvPr/>
        </p:nvSpPr>
        <p:spPr>
          <a:xfrm>
            <a:off x="9762134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35" name="Image 4" descr="LuServ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1862" y="186537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073384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5</a:t>
            </a:r>
            <a:endParaRPr lang="en-US" sz="2000" dirty="0"/>
          </a:p>
        </p:txBody>
      </p:sp>
      <p:sp>
        <p:nvSpPr>
          <p:cNvPr id="37" name="Text 29"/>
          <p:cNvSpPr txBox="1"/>
          <p:nvPr/>
        </p:nvSpPr>
        <p:spPr>
          <a:xfrm>
            <a:off x="9762134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Registro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762134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srv.run cria ABERTO com reserva; grava a referência.</a:t>
            </a:r>
            <a:endParaRPr lang="en-US" sz="1300" dirty="0"/>
          </a:p>
        </p:txBody>
      </p:sp>
      <p:sp>
        <p:nvSpPr>
          <p:cNvPr id="39" name="Bloco de código"/>
          <p:cNvSpPr/>
          <p:nvPr/>
        </p:nvSpPr>
        <p:spPr>
          <a:xfrm>
            <a:off x="548640" y="3886200"/>
            <a:ext cx="6400800" cy="1082040"/>
          </a:xfrm>
          <a:prstGeom prst="roundRect">
            <a:avLst>
              <a:gd name="adj" fmla="val 10141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40" name="Código"/>
          <p:cNvSpPr txBox="1"/>
          <p:nvPr/>
        </p:nvSpPr>
        <p:spPr>
          <a:xfrm>
            <a:off x="777240" y="4069080"/>
            <a:ext cx="59436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2: o pedido P001 do cliente 100.003.571-97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já foi importado (pedido 0000000101).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 insuficiente para o item SKU-INF-0000000002: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planilha pede 60 e há 45 disponível(is).</a:t>
            </a:r>
            <a:endParaRPr lang="en-US" sz="1100" dirty="0"/>
          </a:p>
        </p:txBody>
      </p:sp>
      <p:sp>
        <p:nvSpPr>
          <p:cNvPr id="41" name="Avatar LuUndo2"/>
          <p:cNvSpPr/>
          <p:nvPr/>
        </p:nvSpPr>
        <p:spPr>
          <a:xfrm>
            <a:off x="7269480" y="3977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42" name="Image 5" descr="LuUndo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208" y="4087368"/>
            <a:ext cx="237744" cy="23774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955280" y="394106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Pedido cancelado libera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7955280" y="426110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Referência de pedido CANCELADO pode voltar.</a:t>
            </a:r>
            <a:endParaRPr lang="en-US" sz="1400" dirty="0"/>
          </a:p>
        </p:txBody>
      </p:sp>
      <p:sp>
        <p:nvSpPr>
          <p:cNvPr id="45" name="Avatar LuUsers"/>
          <p:cNvSpPr/>
          <p:nvPr/>
        </p:nvSpPr>
        <p:spPr>
          <a:xfrm>
            <a:off x="7269480" y="4983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46" name="Image 6" descr="LuUser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208" y="5093208"/>
            <a:ext cx="237744" cy="237744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955280" y="49469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Comum também importa</a:t>
            </a:r>
            <a:endParaRPr lang="en-US" sz="1500" dirty="0"/>
          </a:p>
        </p:txBody>
      </p:sp>
      <p:sp>
        <p:nvSpPr>
          <p:cNvPr id="48" name="Text 38"/>
          <p:cNvSpPr txBox="1"/>
          <p:nvPr/>
        </p:nvSpPr>
        <p:spPr>
          <a:xfrm>
            <a:off x="7955280" y="526694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Pedidos aceita os dois perfis.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IMPORTAÇÃO E TESTES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pedidos.test: 20 testes do BO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registro e edição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48840"/>
            <a:ext cx="4937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rascunho não reserva estoque e calcula o total provisório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Salvar registra ABERTO, gera o número e reserva o estoque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estoque insuficiente bloqueia o Save e nada é reservado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pedido sem itens não é registrado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item sem estoque é barrado ao ser incluído no rascunho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 usuário comum também registra pedidos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aumentar, diminuir, incluir e remover itens: reserva pela diferença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aumento sem saldo bloqueia o Save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 cliente de um pedido registrado não pode ser trocado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só o ABERTO é editado; o registrado não é excluído</a:t>
            </a:r>
            <a:endParaRPr lang="en-US" sz="1300" dirty="0"/>
          </a:p>
        </p:txBody>
      </p:sp>
      <p:sp>
        <p:nvSpPr>
          <p:cNvPr id="8" name="Cartão"/>
          <p:cNvSpPr/>
          <p:nvPr/>
        </p:nvSpPr>
        <p:spPr>
          <a:xfrm>
            <a:off x="6199632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73952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ações e campos somente leitura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73952" y="2148840"/>
            <a:ext cx="4937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recusado mantém ABERTO; aprovado leva a AGUARDANDO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dados de cartão inválidos são erro (não recusa)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aprovar exige pagamento aprovado; baixa e snapshots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cancelar sem pagamento libera a reserva e exige motivo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cancelar com pagamento aprovado abre reembolso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leitura desatualizada é recusada sem efeito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ações não rodam no rascunho nem durante a edição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dados do cliente e do pagamento calculados no $metadata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dados do cliente chegam pela associação, sem escrita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pagamento não aceita escrita e é preservado na edição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RESUMO DO BO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que vimos no BO Pedidos</a:t>
            </a:r>
            <a:endParaRPr lang="en-US" sz="3600" dirty="0"/>
          </a:p>
        </p:txBody>
      </p:sp>
      <p:sp>
        <p:nvSpPr>
          <p:cNvPr id="4" name="Marcador"/>
          <p:cNvSpPr/>
          <p:nvPr/>
        </p:nvSpPr>
        <p:spPr>
          <a:xfrm>
            <a:off x="73152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concluí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037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Agregado com itens, pagamento e snapshots por composição</a:t>
            </a:r>
            <a:endParaRPr lang="en-US" sz="1500" dirty="0"/>
          </a:p>
        </p:txBody>
      </p:sp>
      <p:sp>
        <p:nvSpPr>
          <p:cNvPr id="7" name="Marcador"/>
          <p:cNvSpPr/>
          <p:nvPr/>
        </p:nvSpPr>
        <p:spPr>
          <a:xfrm>
            <a:off x="626364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8" name="Image 1" descr="concluí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0372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Rascunho sem reserva, preço provisório e campos protegidos</a:t>
            </a:r>
            <a:endParaRPr lang="en-US" sz="1500" dirty="0"/>
          </a:p>
        </p:txBody>
      </p:sp>
      <p:sp>
        <p:nvSpPr>
          <p:cNvPr id="10" name="Marcador"/>
          <p:cNvSpPr/>
          <p:nvPr/>
        </p:nvSpPr>
        <p:spPr>
          <a:xfrm>
            <a:off x="73152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Image 2" descr="concluí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1638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Registro com número, preços fixados e reserva</a:t>
            </a:r>
            <a:endParaRPr lang="en-US" sz="1500" dirty="0"/>
          </a:p>
        </p:txBody>
      </p:sp>
      <p:sp>
        <p:nvSpPr>
          <p:cNvPr id="13" name="Marcador"/>
          <p:cNvSpPr/>
          <p:nvPr/>
        </p:nvSpPr>
        <p:spPr>
          <a:xfrm>
            <a:off x="626364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4" name="Image 3" descr="concluí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1638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0372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Edição em ABERTO com reserva pela diferença</a:t>
            </a:r>
            <a:endParaRPr lang="en-US" sz="1500" dirty="0"/>
          </a:p>
        </p:txBody>
      </p:sp>
      <p:sp>
        <p:nvSpPr>
          <p:cNvPr id="16" name="Marcador"/>
          <p:cNvSpPr/>
          <p:nvPr/>
        </p:nvSpPr>
        <p:spPr>
          <a:xfrm>
            <a:off x="7315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Image 4" descr="concluí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2394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Pagar, aprovar e cancelar com transição atômica</a:t>
            </a:r>
            <a:endParaRPr lang="en-US" sz="1500" dirty="0"/>
          </a:p>
        </p:txBody>
      </p:sp>
      <p:sp>
        <p:nvSpPr>
          <p:cNvPr id="19" name="Marcador"/>
          <p:cNvSpPr/>
          <p:nvPr/>
        </p:nvSpPr>
        <p:spPr>
          <a:xfrm>
            <a:off x="62636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Image 5" descr="concluí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412394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0372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Object Page dinâmica, extensões, importação e 20 testes</a:t>
            </a:r>
            <a:endParaRPr lang="en-US" sz="1500" dirty="0"/>
          </a:p>
        </p:txBody>
      </p:sp>
      <p:sp>
        <p:nvSpPr>
          <p:cNvPr id="22" name="Próxima etapa"/>
          <p:cNvSpPr/>
          <p:nvPr/>
        </p:nvSpPr>
        <p:spPr>
          <a:xfrm>
            <a:off x="731520" y="5394960"/>
            <a:ext cx="10725912" cy="777240"/>
          </a:xfrm>
          <a:prstGeom prst="roundRect">
            <a:avLst>
              <a:gd name="adj" fmla="val 16471"/>
            </a:avLst>
          </a:prstGeom>
          <a:solidFill>
            <a:srgbClr val="1B3A7A"/>
          </a:solidFill>
          <a:ln/>
        </p:spPr>
      </p:sp>
      <p:pic>
        <p:nvPicPr>
          <p:cNvPr id="23" name="Image 6" descr="próxima etap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59552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00200" y="54406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1FF"/>
                </a:solidFill>
              </a:rPr>
              <a:t>Próximo BO ·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Reembolsos: solicitação, decisão única, cancelamento ou retomada do pedido.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00144A"/>
      </a:dk2>
      <a:lt2>
        <a:srgbClr val="F5F6F7"/>
      </a:lt2>
      <a:accent1>
        <a:srgbClr val="0070F2"/>
      </a:accent1>
      <a:accent2>
        <a:srgbClr val="049F9A"/>
      </a:accent2>
      <a:accent3>
        <a:srgbClr val="7858FF"/>
      </a:accent3>
      <a:accent4>
        <a:srgbClr val="E76500"/>
      </a:accent4>
      <a:accent5>
        <a:srgbClr val="256F3A"/>
      </a:accent5>
      <a:accent6>
        <a:srgbClr val="AA0808"/>
      </a:accent6>
      <a:hlink>
        <a:srgbClr val="0064D9"/>
      </a:hlink>
      <a:folHlink>
        <a:srgbClr val="7858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Pedidos de Compras - SAP 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 Pedidos - Implementação</dc:title>
  <dc:subject>Projeto Pedidos de Compras em SAP CAP e SAP Fiori</dc:subject>
  <dc:creator>Adriano Bispo</dc:creator>
  <cp:lastModifiedBy>Adriano Bispo</cp:lastModifiedBy>
  <cp:revision>1</cp:revision>
  <dcterms:created xsi:type="dcterms:W3CDTF">2026-10-20T11:28:30Z</dcterms:created>
  <dcterms:modified xsi:type="dcterms:W3CDTF">2026-10-20T11:28:30Z</dcterms:modified>
</cp:coreProperties>
</file>