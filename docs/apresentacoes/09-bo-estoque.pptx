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f1203a6-1547-2f1f-a57b-fdaad53a5102}">
          <p14:sldIdLst>
            <p14:sldId id="256"/>
          </p14:sldIdLst>
        </p14:section>
        <p14:section name="Contexto" id="{3811dba8-256b-8352-2fae-8e4111f0eb1c}">
          <p14:sldIdLst>
            <p14:sldId id="257"/>
          </p14:sldIdLst>
        </p14:section>
        <p14:section name="Visão geral" id="{5435a55f-5751-5a3d-cbbd-03364f9f722e}">
          <p14:sldIdLst>
            <p14:sldId id="258"/>
          </p14:sldIdLst>
        </p14:section>
        <p14:section name="Modelo e serviço" id="{3e0e63ac-2b91-8f53-7726-ea5fc363e793}">
          <p14:sldIdLst>
            <p14:sldId id="259"/>
            <p14:sldId id="260"/>
          </p14:sldIdLst>
        </p14:section>
        <p14:section name="Handlers" id="{a42ca762-8031-ba14-7d23-cf2db37decf8}">
          <p14:sldIdLst>
            <p14:sldId id="261"/>
            <p14:sldId id="262"/>
            <p14:sldId id="263"/>
            <p14:sldId id="264"/>
          </p14:sldIdLst>
        </p14:section>
        <p14:section name="Movimentos de estoque" id="{9751c0ba-bcda-bce0-1775-b7bc2d4a54ef}">
          <p14:sldIdLst>
            <p14:sldId id="265"/>
          </p14:sldIdLst>
        </p14:section>
        <p14:section name="UI Gestão de Estoque" id="{631eebd8-e915-670d-23cf-e38fa8b7114d}">
          <p14:sldIdLst>
            <p14:sldId id="266"/>
            <p14:sldId id="267"/>
          </p14:sldIdLst>
        </p14:section>
        <p14:section name="Importação, análise e testes" id="{31cb6556-4fef-76a3-8346-3df4e488a80b}">
          <p14:sldIdLst>
            <p14:sldId id="268"/>
            <p14:sldId id="269"/>
            <p14:sldId id="270"/>
          </p14:sldIdLst>
        </p14:section>
        <p14:section name="Encerramento" id="{eec145ad-e986-b7aa-9916-d14b6303cee2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BO Estoque.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BO Estoque mostra como proteger um valor que duas apps disputam.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Onde cada parte do BO está implementada.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banco calcula o disponível e o status a cada alteração; as validações protegem preço e estoque.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serviço expõe o cadastro do item, mas nenhuma operação que mexa na reserva.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Poucos handlers, cada um protegendo uma regra do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SKU nasce no primeiro Save e muda só se a categoria mudar de prefixo.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emPedido procura o item em pedidos gravados e em rascunhos de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rascunho do item guarda a reserva da hora em que foi aberto. Se ela fosse salva, apagaria reservas feitas no meio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Chamado pelo domínio de pedidos. Cada movimento é um UPDATE com expressão e condição avaliadas pelo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Foto, SKU, categoria, saldos e status com a cor da criticidade.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seções; o disponível e o status são recalculados na tela assim que o estoque muda.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linha = um item. O SKU não vem da planilha: é gerado pelo handler do Save em cada INSERT.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ItensAnalise transforma o cadastro em medidas; a app Análise de Itens do Estoque mostra cinco cenários.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títulos dos testes descrevem o comportamento esperado do 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do BO Estoque.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1EFFF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Pedidos de Compras · SAP CAP 10 + SAP Fiori · Design System SAP Horizon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Pedidos de Compras · SAP CAP + SAP Fiori   |   Implementação por BO — Estoque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73152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D1FF"/>
                </a:solidFill>
              </a:rPr>
              <a:t>Pedidos de Compras · SAP CAP + SAP Fiori   |   Implementação por BO — Estoque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IMPLEMENTAÇÃO POR BO · 3 DE 5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BO Estoque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Itens de estoque: SKU gerado no Save, saldo calculado pelo banco, reserva protegida, inativação, exclusão, importação e análise.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Esto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9" name="Etapa 2"/>
          <p:cNvSpPr/>
          <p:nvPr/>
        </p:nvSpPr>
        <p:spPr>
          <a:xfrm>
            <a:off x="8842248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0" name="Etapa 3"/>
          <p:cNvSpPr/>
          <p:nvPr/>
        </p:nvSpPr>
        <p:spPr>
          <a:xfrm>
            <a:off x="9500616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11" name="Etapa 4"/>
          <p:cNvSpPr/>
          <p:nvPr/>
        </p:nvSpPr>
        <p:spPr>
          <a:xfrm>
            <a:off x="10158984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2" name="Etapa 5"/>
          <p:cNvSpPr/>
          <p:nvPr/>
        </p:nvSpPr>
        <p:spPr>
          <a:xfrm>
            <a:off x="10817352" y="5074920"/>
            <a:ext cx="54864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BO 3 de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IMPLEMENTAÇÃO POR BO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Os cinco objetos de negócio do projeto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Layers"/>
          <p:cNvSpPr/>
          <p:nvPr/>
        </p:nvSpPr>
        <p:spPr>
          <a:xfrm>
            <a:off x="777240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604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Comum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Tipos, CodeLists, mensagens e utilitários</a:t>
            </a:r>
            <a:endParaRPr lang="en-US" sz="1200" dirty="0"/>
          </a:p>
        </p:txBody>
      </p:sp>
      <p:sp>
        <p:nvSpPr>
          <p:cNvPr id="11" name="Cartão"/>
          <p:cNvSpPr/>
          <p:nvPr/>
        </p:nvSpPr>
        <p:spPr>
          <a:xfrm>
            <a:off x="2802636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2" name="Avatar LuUsers"/>
          <p:cNvSpPr/>
          <p:nvPr/>
        </p:nvSpPr>
        <p:spPr>
          <a:xfrm>
            <a:off x="3031236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3" name="Image 1" descr="Lu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910" y="196047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31236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2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3031236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Clientes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031236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Clientes, endereços e ViaCEP</a:t>
            </a:r>
            <a:endParaRPr lang="en-US" sz="1200" dirty="0"/>
          </a:p>
        </p:txBody>
      </p:sp>
      <p:sp>
        <p:nvSpPr>
          <p:cNvPr id="17" name="Cartão"/>
          <p:cNvSpPr/>
          <p:nvPr/>
        </p:nvSpPr>
        <p:spPr>
          <a:xfrm>
            <a:off x="5056632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Avatar LuPackage"/>
          <p:cNvSpPr/>
          <p:nvPr/>
        </p:nvSpPr>
        <p:spPr>
          <a:xfrm>
            <a:off x="5285232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19" name="Image 2" descr="LuPack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06" y="1960474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285232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BO 3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285232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Estoque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285232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Itens, SKU e saldo</a:t>
            </a:r>
            <a:endParaRPr lang="en-US" sz="1200" dirty="0"/>
          </a:p>
        </p:txBody>
      </p:sp>
      <p:sp>
        <p:nvSpPr>
          <p:cNvPr id="23" name="Cartão"/>
          <p:cNvSpPr/>
          <p:nvPr/>
        </p:nvSpPr>
        <p:spPr>
          <a:xfrm>
            <a:off x="7310628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4" name="Avatar LuShoppingCart"/>
          <p:cNvSpPr/>
          <p:nvPr/>
        </p:nvSpPr>
        <p:spPr>
          <a:xfrm>
            <a:off x="7539228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25" name="Image 3" descr="LuShoppingC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902" y="196047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539228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4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7539228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Pedidos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539228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Pedido, itens, pagamento e histórico</a:t>
            </a:r>
            <a:endParaRPr lang="en-US" sz="1200" dirty="0"/>
          </a:p>
        </p:txBody>
      </p:sp>
      <p:sp>
        <p:nvSpPr>
          <p:cNvPr id="29" name="Cartão"/>
          <p:cNvSpPr/>
          <p:nvPr/>
        </p:nvSpPr>
        <p:spPr>
          <a:xfrm>
            <a:off x="9564624" y="1600200"/>
            <a:ext cx="2075688" cy="224028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0" name="Avatar LuUndo2"/>
          <p:cNvSpPr/>
          <p:nvPr/>
        </p:nvSpPr>
        <p:spPr>
          <a:xfrm>
            <a:off x="9793224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31" name="Image 4" descr="LuUndo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898" y="196047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793224" y="2514600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BO 5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9793224" y="2770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Reembolsos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9793224" y="315468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Solicitação e decisão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6B82"/>
                </a:solidFill>
              </a:rPr>
              <a:t>CAMADAS PERCORRIDAS</a:t>
            </a:r>
            <a:endParaRPr lang="en-US" sz="1100" dirty="0"/>
          </a:p>
        </p:txBody>
      </p:sp>
      <p:sp>
        <p:nvSpPr>
          <p:cNvPr id="36" name="Status Modelo CDS"/>
          <p:cNvSpPr txBox="1"/>
          <p:nvPr/>
        </p:nvSpPr>
        <p:spPr>
          <a:xfrm>
            <a:off x="548640" y="4407408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Modelo CDS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1920240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38" name="Status Serviço OData"/>
          <p:cNvSpPr txBox="1"/>
          <p:nvPr/>
        </p:nvSpPr>
        <p:spPr>
          <a:xfrm>
            <a:off x="2084832" y="4407408"/>
            <a:ext cx="164592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Serviço OData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3730752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0" name="Status Handlers e regras"/>
          <p:cNvSpPr txBox="1"/>
          <p:nvPr/>
        </p:nvSpPr>
        <p:spPr>
          <a:xfrm>
            <a:off x="3895344" y="4407408"/>
            <a:ext cx="201168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Handlers e regras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5907024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2" name="Status UI Fiori"/>
          <p:cNvSpPr txBox="1"/>
          <p:nvPr/>
        </p:nvSpPr>
        <p:spPr>
          <a:xfrm>
            <a:off x="6071616" y="4407408"/>
            <a:ext cx="118872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UI Fiori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7260336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4" name="Status Importação"/>
          <p:cNvSpPr txBox="1"/>
          <p:nvPr/>
        </p:nvSpPr>
        <p:spPr>
          <a:xfrm>
            <a:off x="7424928" y="4407408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Importação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8796528" y="4343400"/>
            <a:ext cx="10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›</a:t>
            </a:r>
            <a:endParaRPr lang="en-US" sz="1600" dirty="0"/>
          </a:p>
        </p:txBody>
      </p:sp>
      <p:sp>
        <p:nvSpPr>
          <p:cNvPr id="46" name="Status Testes"/>
          <p:cNvSpPr txBox="1"/>
          <p:nvPr/>
        </p:nvSpPr>
        <p:spPr>
          <a:xfrm>
            <a:off x="8961120" y="4407408"/>
            <a:ext cx="1005840" cy="274320"/>
          </a:xfrm>
          <a:prstGeom prst="roundRect">
            <a:avLst>
              <a:gd name="adj" fmla="val 46667"/>
            </a:avLst>
          </a:prstGeom>
          <a:solidFill>
            <a:srgbClr val="EBF8FF"/>
          </a:solidFill>
          <a:ln w="9525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0F2"/>
                </a:solidFill>
              </a:rPr>
              <a:t>Testes</a:t>
            </a:r>
            <a:endParaRPr lang="en-US" sz="1000" dirty="0"/>
          </a:p>
        </p:txBody>
      </p:sp>
      <p:sp>
        <p:nvSpPr>
          <p:cNvPr id="47" name="Cartão"/>
          <p:cNvSpPr/>
          <p:nvPr/>
        </p:nvSpPr>
        <p:spPr>
          <a:xfrm>
            <a:off x="548640" y="498348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48" name="Avatar LuTarget"/>
          <p:cNvSpPr/>
          <p:nvPr/>
        </p:nvSpPr>
        <p:spPr>
          <a:xfrm>
            <a:off x="731520" y="5303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49" name="Image 5" descr="LuTarg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413248"/>
            <a:ext cx="237744" cy="237744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1371600" y="4983480"/>
            <a:ext cx="10085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Neste BO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item de estoque e o seu saldo: qtdeEstoque é mantida pelo Admin, qtdeReservada só pelos pedidos, e o banco calcula o disponível e o status.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VISÃO GERAL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Os objetos do BO Estoque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4315968"/>
          </a:xfrm>
          <a:prstGeom prst="roundRect">
            <a:avLst>
              <a:gd name="adj" fmla="val 254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1595590"/>
                <a:gridCol w="4964058"/>
                <a:gridCol w="416626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Camada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Objetos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Arquivo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Modelo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Itens, Categorias, StatusEstoque, Currencies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db/schema.cds · db/common.cds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Validações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nome, categoria, moeda, preço e estoque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srv/validacoes.cds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Serviço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EstoqueService: Itens, Categorias, StatusEstoque, Permissoes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srv/estoque-service.cds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Handlers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Rascunho, SKU, inativação, foto, exclusão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srv/estoque-service.js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Regras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Numeração do SKU, movimentos, importação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srv/lib/numeracao · estoque · importacao-estoque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UI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Gestão de Estoque e Análise de Itens do Estoque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app/gestao-estoque · app/analise-estoque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Dados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100 itens em 7 categorias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db/data/pedidoscompras-Itens.csv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Testes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10 testes de serviço + importação + análise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test/estoque.test · importacao · analitico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MODELO E SERVIÇO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item: saldo físico, reserva e colunas geradas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035040" cy="2926080"/>
          </a:xfrm>
          <a:prstGeom prst="roundRect">
            <a:avLst>
              <a:gd name="adj" fmla="val 3750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577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qtdeReservada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qtdeDisponivel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qtdeReservada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statusEstoque_code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statusEstoque_code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'BRL'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precoUnitario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itemAtivo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Bloco de código"/>
          <p:cNvSpPr/>
          <p:nvPr/>
        </p:nvSpPr>
        <p:spPr>
          <a:xfrm>
            <a:off x="6812280" y="1554480"/>
            <a:ext cx="4828032" cy="2087880"/>
          </a:xfrm>
          <a:prstGeom prst="roundRect">
            <a:avLst>
              <a:gd name="adj" fmla="val 525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040880" y="1737360"/>
            <a:ext cx="4370832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srv/validacoes.cds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precoUnitario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@assert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precoUnitario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'ITEM_PRECO_INVALIDO'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@mandatory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@assert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qtdeReservada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'ITEM_QTDE_ESTOQUE_INVALIDA'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9" name="Avatar LuSquareFunction"/>
          <p:cNvSpPr/>
          <p:nvPr/>
        </p:nvSpPr>
        <p:spPr>
          <a:xfrm>
            <a:off x="6903720" y="46177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SquareFun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3448" y="47274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458114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Status sem handler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490118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SEM_ESTOQUE, ACABANDO ou EM_ESTOQUE pelo banco.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MODELO E SERVIÇO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EstoqueService: o que fica de fora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035040" cy="4434840"/>
          </a:xfrm>
          <a:prstGeom prst="roundRect">
            <a:avLst>
              <a:gd name="adj" fmla="val 2474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5778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libera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çã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baixa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Ã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ã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expostas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ó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í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movimenta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'estoque'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'authenticated-user'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EstoqueService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@odata.draft.enabled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@restrict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'READ'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'Comum'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'*'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@odata.singleton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@readonly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@cds.persistence.skip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Permissoes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AspectoPermissoes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'Admin'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importarPlanilha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arquivo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LargeBinary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nomeArquivo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ResultadoImportacao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Avatar LuLock"/>
          <p:cNvSpPr/>
          <p:nvPr/>
        </p:nvSpPr>
        <p:spPr>
          <a:xfrm>
            <a:off x="690372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344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589520" y="160934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 reservar/baixar na API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589520" y="1929384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Ninguém altera a reserva chamando o EstoqueService.</a:t>
            </a:r>
            <a:endParaRPr lang="en-US" sz="1400" dirty="0"/>
          </a:p>
        </p:txBody>
      </p:sp>
      <p:sp>
        <p:nvSpPr>
          <p:cNvPr id="11" name="Avatar LuArrowRightLeft"/>
          <p:cNvSpPr/>
          <p:nvPr/>
        </p:nvSpPr>
        <p:spPr>
          <a:xfrm>
            <a:off x="6903720" y="2834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ArrowRight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294436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589520" y="279806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Movimentos internos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589520" y="3118104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srv/lib/estoque.js, chamado por pedidos e reembolsos.</a:t>
            </a:r>
            <a:endParaRPr lang="en-US" sz="1400" dirty="0"/>
          </a:p>
        </p:txBody>
      </p:sp>
      <p:sp>
        <p:nvSpPr>
          <p:cNvPr id="15" name="Avatar LuDollarSign"/>
          <p:cNvSpPr/>
          <p:nvPr/>
        </p:nvSpPr>
        <p:spPr>
          <a:xfrm>
            <a:off x="690372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DollarSig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413308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89520" y="398678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Currencies exposta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589520" y="4306824"/>
            <a:ext cx="4069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Por associação: value help da moeda.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HANDLERS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Mapa dos handlers do EstoqueService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11091672" cy="3630168"/>
          </a:xfrm>
          <a:prstGeom prst="roundRect">
            <a:avLst>
              <a:gd name="adj" fmla="val 3023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5912" cy="914400"/>
        </p:xfrm>
        <a:graphic>
          <a:graphicData uri="http://schemas.openxmlformats.org/drawingml/2006/table">
            <a:tbl>
              <a:tblPr/>
              <a:tblGrid>
                <a:gridCol w="2925249"/>
                <a:gridCol w="2127454"/>
                <a:gridCol w="567321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Evento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Alvo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 que faz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 NEW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Itens.drafts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Ativo, moeda BRL, estoque 0 e reservada 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 CREATE · UPDATE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Descarta qtdeReservada; gera ou regenera o SKU; inativação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 PATCH · UPDATE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Itens.drafts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validarFoto no upload do rascunho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 CREATE · UPDATE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validarFoto no Save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 DELETE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Itens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Bloqueia com reserva ou vínculo com pedido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 READ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Permissoes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somenteLeitura pelo papel do usuário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 importarPlanilha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serviço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importarItens (srv/lib/importacao-estoque)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53212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STATUS_PEDIDO_ATIVO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ABERTO, AGUARDANDO_APROVACAO e PROCESSANDO_REEMBOLSO: pedidos que ainda prendem o item.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HANDLERS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SKU gerado no Save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583680" cy="1584960"/>
          </a:xfrm>
          <a:prstGeom prst="roundRect">
            <a:avLst>
              <a:gd name="adj" fmla="val 6923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61264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categoria_code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categoria_code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primeiro Save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gerarSku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!==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prefixoCategoria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gerarSku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categoria mudou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mantém o SKU atual</a:t>
            </a:r>
            <a:endParaRPr lang="en-US" sz="1100" dirty="0"/>
          </a:p>
        </p:txBody>
      </p:sp>
      <p:sp>
        <p:nvSpPr>
          <p:cNvPr id="7" name="Cartão"/>
          <p:cNvSpPr/>
          <p:nvPr/>
        </p:nvSpPr>
        <p:spPr>
          <a:xfrm>
            <a:off x="7360920" y="1554480"/>
            <a:ext cx="4279392" cy="2304288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1691640"/>
          <a:ext cx="3913632" cy="914400"/>
        </p:xfrm>
        <a:graphic>
          <a:graphicData uri="http://schemas.openxmlformats.org/drawingml/2006/table">
            <a:tbl>
              <a:tblPr/>
              <a:tblGrid>
                <a:gridCol w="1701579"/>
                <a:gridCol w="221205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Categoria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Exemplo de SKU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ELETRONICOS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SKU-ELE-0000000101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INFORMATICA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SKU-INF-0000000102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ESCRITORIO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SKU-ESC-0000000103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VESTUARIO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SKU-VES-0000000104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Avatar LuHash"/>
          <p:cNvSpPr/>
          <p:nvPr/>
        </p:nvSpPr>
        <p:spPr>
          <a:xfrm>
            <a:off x="685800" y="34290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Ha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353872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39242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Sequencial global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371600" y="3712464"/>
            <a:ext cx="5623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Numeracoes.SKU continua de 100 no CSV: o próximo é 101.</a:t>
            </a:r>
            <a:endParaRPr lang="en-US" sz="1400" dirty="0"/>
          </a:p>
        </p:txBody>
      </p:sp>
      <p:sp>
        <p:nvSpPr>
          <p:cNvPr id="13" name="Avatar LuLock"/>
          <p:cNvSpPr/>
          <p:nvPr/>
        </p:nvSpPr>
        <p:spPr>
          <a:xfrm>
            <a:off x="7452360" y="3977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088" y="40873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138160" y="39410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#ReadOnly na UI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8138160" y="4261104"/>
            <a:ext cx="3474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usuário nunca digita o SKU.</a:t>
            </a:r>
            <a:endParaRPr lang="en-US" sz="1400" dirty="0"/>
          </a:p>
        </p:txBody>
      </p:sp>
      <p:sp>
        <p:nvSpPr>
          <p:cNvPr id="17" name="Avatar LuShieldCheck"/>
          <p:cNvSpPr/>
          <p:nvPr/>
        </p:nvSpPr>
        <p:spPr>
          <a:xfrm>
            <a:off x="745236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8" name="Image 2" descr="LuShiel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088" y="504748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138160" y="49011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UNIQUE no banco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8138160" y="5221224"/>
            <a:ext cx="3474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@assert.unique.sku.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HANDLERS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Inativação e exclusão controladas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583680" cy="3154680"/>
          </a:xfrm>
          <a:prstGeom prst="roundRect">
            <a:avLst>
              <a:gd name="adj" fmla="val 3478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6126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emPedido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somenteAtivos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ItensPedido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'pedido.statusPedido_code as status'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!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somenteAtivos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||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STATUS_PEDIDO_ATIVO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rascunhos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definitions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'PedidosService.ItensPedido.drafts'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rascunhos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rascunhos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'ID'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inativação: sem disponível e sem pedido ativo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itemAtivo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itemAtivo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disponivel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??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-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qtdeReservada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disponivel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emPedido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'ITEM_INATIVACAO_BLOQUEADA'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'itemAtivo'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Cartão"/>
          <p:cNvSpPr/>
          <p:nvPr/>
        </p:nvSpPr>
        <p:spPr>
          <a:xfrm>
            <a:off x="7360920" y="1554480"/>
            <a:ext cx="4279392" cy="1792224"/>
          </a:xfrm>
          <a:prstGeom prst="roundRect">
            <a:avLst>
              <a:gd name="adj" fmla="val 612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1691640"/>
          <a:ext cx="3913632" cy="914400"/>
        </p:xfrm>
        <a:graphic>
          <a:graphicData uri="http://schemas.openxmlformats.org/drawingml/2006/table">
            <a:tbl>
              <a:tblPr/>
              <a:tblGrid>
                <a:gridCol w="1106026"/>
                <a:gridCol w="280760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Ação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Bloqueada quando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Inativar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Há disponível ou pedido em andamento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Excluir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Há reserva ou qualquer pedido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Avatar LuSearch"/>
          <p:cNvSpPr/>
          <p:nvPr/>
        </p:nvSpPr>
        <p:spPr>
          <a:xfrm>
            <a:off x="7452360" y="3611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088" y="372160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138160" y="357530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Rascunhos contam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138160" y="3895344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Um item escolhido num rascunho de pedido também prende.</a:t>
            </a:r>
            <a:endParaRPr lang="en-US" sz="1400" dirty="0"/>
          </a:p>
        </p:txBody>
      </p:sp>
      <p:sp>
        <p:nvSpPr>
          <p:cNvPr id="13" name="Avatar LuHistory"/>
          <p:cNvSpPr/>
          <p:nvPr/>
        </p:nvSpPr>
        <p:spPr>
          <a:xfrm>
            <a:off x="7452360" y="47091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His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088" y="481888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138160" y="4672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Histórico preservado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8138160" y="4992624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Item de pedido encerrado não é excluído.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HANDLERS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Reserva protegida: edição concorrente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264261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Pencil"/>
          <p:cNvSpPr/>
          <p:nvPr/>
        </p:nvSpPr>
        <p:spPr>
          <a:xfrm>
            <a:off x="749808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Penc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653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624328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322576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Admin edita o item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269748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Rascunho com qtdeReservada = 5.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191256" y="233172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Cartão"/>
          <p:cNvSpPr/>
          <p:nvPr/>
        </p:nvSpPr>
        <p:spPr>
          <a:xfrm>
            <a:off x="3364992" y="1554480"/>
            <a:ext cx="264261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3" name="Avatar LuShoppingCart"/>
          <p:cNvSpPr/>
          <p:nvPr/>
        </p:nvSpPr>
        <p:spPr>
          <a:xfrm>
            <a:off x="3566160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ShoppingC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86537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40680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3566160" y="2322576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Pedido reserva 3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566160" y="269748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Banco passa para 8 (UPDATE condicional).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007608" y="233172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Cartão"/>
          <p:cNvSpPr/>
          <p:nvPr/>
        </p:nvSpPr>
        <p:spPr>
          <a:xfrm>
            <a:off x="6181344" y="1554480"/>
            <a:ext cx="264261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0" name="Avatar LuSave"/>
          <p:cNvSpPr/>
          <p:nvPr/>
        </p:nvSpPr>
        <p:spPr>
          <a:xfrm>
            <a:off x="6382512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21" name="Image 2" descr="LuSa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6537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57032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6382512" y="2322576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Admin salva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382512" y="269748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handler remove qtdeReservada do payload.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8823960" y="233172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6" name="Cartão"/>
          <p:cNvSpPr/>
          <p:nvPr/>
        </p:nvSpPr>
        <p:spPr>
          <a:xfrm>
            <a:off x="8997696" y="1554480"/>
            <a:ext cx="264261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7" name="Avatar LuCircleCheck"/>
          <p:cNvSpPr/>
          <p:nvPr/>
        </p:nvSpPr>
        <p:spPr>
          <a:xfrm>
            <a:off x="9198864" y="17556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28" name="Image 3" descr="LuCircle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86537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073384" y="17190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EFFF"/>
                </a:solidFill>
              </a:rPr>
              <a:t>4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9198864" y="2322576"/>
            <a:ext cx="2276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Banco mantém 8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9198864" y="2697480"/>
            <a:ext cx="2276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Só estoque, preço e cadastro são gravados.</a:t>
            </a:r>
            <a:endParaRPr lang="en-US" sz="1300" dirty="0"/>
          </a:p>
        </p:txBody>
      </p:sp>
      <p:sp>
        <p:nvSpPr>
          <p:cNvPr id="32" name="Bloco de código"/>
          <p:cNvSpPr/>
          <p:nvPr/>
        </p:nvSpPr>
        <p:spPr>
          <a:xfrm>
            <a:off x="548640" y="3840480"/>
            <a:ext cx="6035040" cy="96012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33" name="Código"/>
          <p:cNvSpPr txBox="1"/>
          <p:nvPr/>
        </p:nvSpPr>
        <p:spPr>
          <a:xfrm>
            <a:off x="777240" y="40233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reserva só é movimentada pelos pedidos: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nunca aceita valor da UI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qtdeReservada</a:t>
            </a:r>
            <a:endParaRPr lang="en-US" sz="1200" dirty="0"/>
          </a:p>
        </p:txBody>
      </p:sp>
      <p:sp>
        <p:nvSpPr>
          <p:cNvPr id="34" name="Cartão"/>
          <p:cNvSpPr/>
          <p:nvPr/>
        </p:nvSpPr>
        <p:spPr>
          <a:xfrm>
            <a:off x="6812280" y="3840480"/>
            <a:ext cx="4828032" cy="1371600"/>
          </a:xfrm>
          <a:prstGeom prst="roundRect">
            <a:avLst>
              <a:gd name="adj" fmla="val 8000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7040880" y="3840480"/>
            <a:ext cx="4416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Testado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"salvar a edição do item não sobrescreve reservas feitas no meio tempo".</a:t>
            </a:r>
            <a:endParaRPr lang="en-US" sz="1400" dirty="0"/>
          </a:p>
        </p:txBody>
      </p:sp>
      <p:sp>
        <p:nvSpPr>
          <p:cNvPr id="36" name="Cartão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777240" y="5440680"/>
            <a:ext cx="10680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Na UI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qtdeReservada tem @Common.FieldControl: #ReadOnly em app/common.cds.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MOVIMENTOS DE ESTOQUE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srv/lib/estoque.js: reservar, liberar e baixar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5669280" cy="3764280"/>
          </a:xfrm>
          <a:prstGeom prst="roundRect">
            <a:avLst>
              <a:gd name="adj" fmla="val 291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212080" cy="339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expressoes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'reservar'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qtdeReservada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'+='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'liberar'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qtdeReservada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'-='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'baixar'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qtdeReservada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'-='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'-='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condicao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'reservar'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`ID 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itemAtivo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qtdeReservada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$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'liberar'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`ID 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qtdeReservada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$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'baixar'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`ID = 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qtdeReservada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$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$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</a:t>
            </a:r>
            <a:pPr indent="0" marL="0">
              <a:buNone/>
            </a:pPr>
            <a:r>
              <a:rPr lang="en-US" sz="10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Cartão"/>
          <p:cNvSpPr/>
          <p:nvPr/>
        </p:nvSpPr>
        <p:spPr>
          <a:xfrm>
            <a:off x="6446520" y="1554480"/>
            <a:ext cx="5193792" cy="2487168"/>
          </a:xfrm>
          <a:prstGeom prst="roundRect">
            <a:avLst>
              <a:gd name="adj" fmla="val 441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691640"/>
          <a:ext cx="4828032" cy="914400"/>
        </p:xfrm>
        <a:graphic>
          <a:graphicData uri="http://schemas.openxmlformats.org/drawingml/2006/table">
            <a:tbl>
              <a:tblPr/>
              <a:tblGrid>
                <a:gridCol w="2069157"/>
                <a:gridCol w="27588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 linhas alteradas →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Mensagem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Item não existe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ITEM_ESTOQUE_CONCORRENTE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Reservar item inativo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ITEM_INATIVO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Reservar sem saldo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ITEM_ESTOQUE_INSUFICIENTE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Liberar ou baixar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ITEM_RESERVA_INCONSISTENTE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Avatar LuSearch"/>
          <p:cNvSpPr/>
          <p:nvPr/>
        </p:nvSpPr>
        <p:spPr>
          <a:xfrm>
            <a:off x="6537960" y="42519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7688" y="436168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223760" y="421538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Diagnóstico depois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7223760" y="4535424"/>
            <a:ext cx="4389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Só quando o UPDATE falha o item é relido para dar o motivo.</a:t>
            </a:r>
            <a:endParaRPr lang="en-US" sz="1400" dirty="0"/>
          </a:p>
        </p:txBody>
      </p:sp>
      <p:sp>
        <p:nvSpPr>
          <p:cNvPr id="13" name="Avatar LuUndo2"/>
          <p:cNvSpPr/>
          <p:nvPr/>
        </p:nvSpPr>
        <p:spPr>
          <a:xfrm>
            <a:off x="6537960" y="52120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Undo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532180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223760" y="517550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Tudo ou nada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7223760" y="5495544"/>
            <a:ext cx="4389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Qualquer falha desfaz os movimentos já feitos.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UI GESTÃO DE ESTOQUE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List Report de itens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751330"/>
            <a:ext cx="6949440" cy="4224020"/>
          </a:xfrm>
          <a:prstGeom prst="roundRect">
            <a:avLst>
              <a:gd name="adj" fmla="val 2598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Gestão de Estoque: List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42770"/>
            <a:ext cx="6766560" cy="4041140"/>
          </a:xfrm>
          <a:prstGeom prst="rect">
            <a:avLst/>
          </a:prstGeom>
        </p:spPr>
      </p:pic>
      <p:sp>
        <p:nvSpPr>
          <p:cNvPr id="7" name="Avatar LuFilter"/>
          <p:cNvSpPr/>
          <p:nvPr/>
        </p:nvSpPr>
        <p:spPr>
          <a:xfrm>
            <a:off x="777240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1" descr="Lu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755648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458200" y="16093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SelectionFields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8458200" y="192938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SKU, nome, categoria, status, ativo e disponível.</a:t>
            </a:r>
            <a:endParaRPr lang="en-US" sz="1400" dirty="0"/>
          </a:p>
        </p:txBody>
      </p:sp>
      <p:sp>
        <p:nvSpPr>
          <p:cNvPr id="11" name="Avatar LuTable"/>
          <p:cNvSpPr/>
          <p:nvPr/>
        </p:nvSpPr>
        <p:spPr>
          <a:xfrm>
            <a:off x="777240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2" descr="LuTa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285292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458200" y="27066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LineItem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8458200" y="302666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Estoque, reservada e disponível lado a lado.</a:t>
            </a:r>
            <a:endParaRPr lang="en-US" sz="1400" dirty="0"/>
          </a:p>
        </p:txBody>
      </p:sp>
      <p:sp>
        <p:nvSpPr>
          <p:cNvPr id="15" name="Avatar LuGauge"/>
          <p:cNvSpPr/>
          <p:nvPr/>
        </p:nvSpPr>
        <p:spPr>
          <a:xfrm>
            <a:off x="777240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3" descr="LuGau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395020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458200" y="38039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Criticality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8458200" y="412394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statusEstoque.criticality colore o status.</a:t>
            </a:r>
            <a:endParaRPr lang="en-US" sz="1400" dirty="0"/>
          </a:p>
        </p:txBody>
      </p:sp>
      <p:sp>
        <p:nvSpPr>
          <p:cNvPr id="19" name="Avatar LuKeyRound"/>
          <p:cNvSpPr/>
          <p:nvPr/>
        </p:nvSpPr>
        <p:spPr>
          <a:xfrm>
            <a:off x="777240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4" descr="LuKeyRou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5047488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458200" y="49011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SemanticKey: sku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8458200" y="522122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Destino dos links Item e SKU dos pedidos.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UI GESTÃO DE ESTOQUE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 Page do item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554480"/>
            <a:ext cx="6035040" cy="2590800"/>
          </a:xfrm>
          <a:prstGeom prst="roundRect">
            <a:avLst>
              <a:gd name="adj" fmla="val 4235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37360"/>
            <a:ext cx="5577840" cy="222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Facets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 do item'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'@UI.FieldGroup#Dados'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'Estoque'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   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'@UI.FieldGroup#Estoque'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 administrativos'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'@UI.FieldGroup#Admin'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FieldGroup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#Estoque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qtdeReservada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qtdeDisponivel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statusEstoque_code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17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SideEffects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#Estoque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SourceProperties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TargetProperties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'qtdeDisponivel'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'statusEstoque_code'</a:t>
            </a:r>
            <a:pPr indent="0" marL="0">
              <a:buNone/>
            </a:pPr>
            <a:r>
              <a:rPr lang="en-US" sz="11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Avatar LuRefreshCw"/>
          <p:cNvSpPr/>
          <p:nvPr/>
        </p:nvSpPr>
        <p:spPr>
          <a:xfrm>
            <a:off x="690372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RefreshC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3448" y="175564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589520" y="160934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Side effect #Estoque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589520" y="192938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Após mudar o estoque, a UI relê disponível e status.</a:t>
            </a:r>
            <a:endParaRPr lang="en-US" sz="1400" dirty="0"/>
          </a:p>
        </p:txBody>
      </p:sp>
      <p:sp>
        <p:nvSpPr>
          <p:cNvPr id="11" name="Avatar LuSearch"/>
          <p:cNvSpPr/>
          <p:nvPr/>
        </p:nvSpPr>
        <p:spPr>
          <a:xfrm>
            <a:off x="690372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285292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589520" y="27066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Value helps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589520" y="302666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StatusEstoque e Currencies; categoria em lista fixa.</a:t>
            </a:r>
            <a:endParaRPr lang="en-US" sz="1400" dirty="0"/>
          </a:p>
        </p:txBody>
      </p:sp>
      <p:sp>
        <p:nvSpPr>
          <p:cNvPr id="15" name="Avatar LuEyeOff"/>
          <p:cNvSpPr/>
          <p:nvPr/>
        </p:nvSpPr>
        <p:spPr>
          <a:xfrm>
            <a:off x="690372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EyeOf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395020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89520" y="380390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Perfil Comum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589520" y="412394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Criar, Editar e Excluir escondidos por Permissoes.</a:t>
            </a:r>
            <a:endParaRPr lang="en-US" sz="1400" dirty="0"/>
          </a:p>
        </p:txBody>
      </p:sp>
      <p:sp>
        <p:nvSpPr>
          <p:cNvPr id="19" name="Avatar LuFileSpreadsheet"/>
          <p:cNvSpPr/>
          <p:nvPr/>
        </p:nvSpPr>
        <p:spPr>
          <a:xfrm>
            <a:off x="690372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FileSpreadshe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50474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589520" y="490118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Importar planilha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7589520" y="522122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Ação customizada no List Report.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IMPORTAÇÃO, ANÁLISE E TESTES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Importação de itens por planilha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6766560" cy="3511296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400800" cy="914400"/>
        </p:xfrm>
        <a:graphic>
          <a:graphicData uri="http://schemas.openxmlformats.org/drawingml/2006/table">
            <a:tbl>
              <a:tblPr/>
              <a:tblGrid>
                <a:gridCol w="2335427"/>
                <a:gridCol w="406537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Coluna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Validação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Nome *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Até 120; não cadastrado nem repetido (sem caixa)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Até 500 caracteres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Categoria *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Código ou texto da CodeList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Quantidade em estoque *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Inteiro maior ou igual a zero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Preço unitário *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Decimal maior ou igual a zero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Moeda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Código em Currencies; padrão BRL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loco de código"/>
          <p:cNvSpPr/>
          <p:nvPr/>
        </p:nvSpPr>
        <p:spPr>
          <a:xfrm>
            <a:off x="7543800" y="1554480"/>
            <a:ext cx="4096512" cy="96012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8" name="Código"/>
          <p:cNvSpPr txBox="1"/>
          <p:nvPr/>
        </p:nvSpPr>
        <p:spPr>
          <a:xfrm>
            <a:off x="7772400" y="1737360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entries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indent="0" marL="0">
              <a:buNone/>
            </a:pPr>
            <a:r>
              <a:rPr lang="en-US" sz="1200" dirty="0">
                <a:solidFill>
                  <a:srgbClr val="DA70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Avatar LuHash"/>
          <p:cNvSpPr/>
          <p:nvPr/>
        </p:nvSpPr>
        <p:spPr>
          <a:xfrm>
            <a:off x="7635240" y="34290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0" name="Image 0" descr="LuHa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68" y="353872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321040" y="33924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SKU na criação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3712464"/>
            <a:ext cx="3291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Cada linha recebe o próximo SKU.</a:t>
            </a:r>
            <a:endParaRPr lang="en-US" sz="1400" dirty="0"/>
          </a:p>
        </p:txBody>
      </p:sp>
      <p:sp>
        <p:nvSpPr>
          <p:cNvPr id="13" name="Avatar LuShieldCheck"/>
          <p:cNvSpPr/>
          <p:nvPr/>
        </p:nvSpPr>
        <p:spPr>
          <a:xfrm>
            <a:off x="7635240" y="44805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Shiel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459028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321040" y="44439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Só Admin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8321040" y="4764024"/>
            <a:ext cx="3291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@requires: 'Admin' na action.</a:t>
            </a:r>
            <a:endParaRPr lang="en-US" sz="1400" dirty="0"/>
          </a:p>
        </p:txBody>
      </p:sp>
      <p:sp>
        <p:nvSpPr>
          <p:cNvPr id="17" name="Cartão"/>
          <p:cNvSpPr/>
          <p:nvPr/>
        </p:nvSpPr>
        <p:spPr>
          <a:xfrm>
            <a:off x="548640" y="5120640"/>
            <a:ext cx="6766560" cy="960120"/>
          </a:xfrm>
          <a:prstGeom prst="roundRect">
            <a:avLst>
              <a:gd name="adj" fmla="val 11429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777240" y="5120640"/>
            <a:ext cx="6355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Sinônimos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Quantidade aceita ESTOQUE, QTDE...; Preço aceita VALOR, VALORUNITARIO.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IMPORTAÇÃO, ANÁLISE E TESTES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estoque na camada analítica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915160"/>
            <a:ext cx="6400800" cy="3896360"/>
          </a:xfrm>
          <a:prstGeom prst="roundRect">
            <a:avLst>
              <a:gd name="adj" fmla="val 281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Análise de Itens do Esto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06600"/>
            <a:ext cx="6217920" cy="3713480"/>
          </a:xfrm>
          <a:prstGeom prst="rect">
            <a:avLst/>
          </a:prstGeom>
        </p:spPr>
      </p:pic>
      <p:sp>
        <p:nvSpPr>
          <p:cNvPr id="7" name="Avatar LuSigma"/>
          <p:cNvSpPr/>
          <p:nvPr/>
        </p:nvSpPr>
        <p:spPr>
          <a:xfrm>
            <a:off x="7269480" y="1645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1" descr="LuSig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1755648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55280" y="16093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Medidas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955280" y="192938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qtdeEstoque, qtdeReservada, qtdeDisponivel, valorEstoque e qtdeItens.</a:t>
            </a:r>
            <a:endParaRPr lang="en-US" sz="1400" dirty="0"/>
          </a:p>
        </p:txBody>
      </p:sp>
      <p:sp>
        <p:nvSpPr>
          <p:cNvPr id="11" name="Avatar LuCalculator"/>
          <p:cNvSpPr/>
          <p:nvPr/>
        </p:nvSpPr>
        <p:spPr>
          <a:xfrm>
            <a:off x="726948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2" descr="LuCalculat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285292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955280" y="27066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valorEstoque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7955280" y="302666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precoUnitario × qtdeEstoque, calculado na view.</a:t>
            </a:r>
            <a:endParaRPr lang="en-US" sz="1400" dirty="0"/>
          </a:p>
        </p:txBody>
      </p:sp>
      <p:sp>
        <p:nvSpPr>
          <p:cNvPr id="15" name="Avatar LuChartColumn"/>
          <p:cNvSpPr/>
          <p:nvPr/>
        </p:nvSpPr>
        <p:spPr>
          <a:xfrm>
            <a:off x="7269480" y="3840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3" descr="LuChartColum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395020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955280" y="38039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Top 10 reservados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7955280" y="412394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EstMaisReservados limita a consulta a 10 itens.</a:t>
            </a:r>
            <a:endParaRPr lang="en-US" sz="1400" dirty="0"/>
          </a:p>
        </p:txBody>
      </p:sp>
      <p:sp>
        <p:nvSpPr>
          <p:cNvPr id="19" name="Avatar LuArrowRight"/>
          <p:cNvSpPr/>
          <p:nvPr/>
        </p:nvSpPr>
        <p:spPr>
          <a:xfrm>
            <a:off x="7269480" y="4937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4" descr="LuArrowRigh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5047488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955280" y="490118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Abrir gestão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7955280" y="522122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Leva à app Gestão de Estoque.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IMPORTAÇÃO, ANÁLISE E TESTES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estoque.test: 10 testes do BO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554480"/>
            <a:ext cx="5440680" cy="452628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gera SKU no Save com as 3 primeiras letras da categoria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regenera o SKU quando a categoria muda e mantém quando não muda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disponível = estoque - reservada e status SEM_ESTOQUE / ACABANDO / EM_ESTOQUE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preço negativo e estoque menor que a reserva são rejeitados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salvar a edição do item não sobrescreve reservas feitas no meio tempo</a:t>
            </a:r>
            <a:endParaRPr lang="en-US" sz="1400" dirty="0"/>
          </a:p>
        </p:txBody>
      </p:sp>
      <p:sp>
        <p:nvSpPr>
          <p:cNvPr id="7" name="Cartão"/>
          <p:cNvSpPr/>
          <p:nvPr/>
        </p:nvSpPr>
        <p:spPr>
          <a:xfrm>
            <a:off x="6199632" y="1554480"/>
            <a:ext cx="5440680" cy="452628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73952" y="178308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inativação bloqueada com estoque disponível; permitida sem estoque e sem pedido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exclusão bloqueada para item vinculado a pedido; item livre é excluído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usuário comum consulta, mas não mantém itens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UI só oferece alteração ao Admin: Permissoes.somenteLeitura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foto enviada no rascunho é gravada e exibida depois do Save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RESUMO DO BO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 que vimos no BO Estoque</a:t>
            </a:r>
            <a:endParaRPr lang="en-US" sz="3600" dirty="0"/>
          </a:p>
        </p:txBody>
      </p:sp>
      <p:sp>
        <p:nvSpPr>
          <p:cNvPr id="4" name="Marcador"/>
          <p:cNvSpPr/>
          <p:nvPr/>
        </p:nvSpPr>
        <p:spPr>
          <a:xfrm>
            <a:off x="73152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5" name="Image 0" descr="concluí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2037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Item com colunas geradas: disponível e status pelo banco</a:t>
            </a:r>
            <a:endParaRPr lang="en-US" sz="1500" dirty="0"/>
          </a:p>
        </p:txBody>
      </p:sp>
      <p:sp>
        <p:nvSpPr>
          <p:cNvPr id="7" name="Marcador"/>
          <p:cNvSpPr/>
          <p:nvPr/>
        </p:nvSpPr>
        <p:spPr>
          <a:xfrm>
            <a:off x="626364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8" name="Image 1" descr="concluí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2037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0372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EstoqueService sem operações de reserva</a:t>
            </a:r>
            <a:endParaRPr lang="en-US" sz="1500" dirty="0"/>
          </a:p>
        </p:txBody>
      </p:sp>
      <p:sp>
        <p:nvSpPr>
          <p:cNvPr id="10" name="Marcador"/>
          <p:cNvSpPr/>
          <p:nvPr/>
        </p:nvSpPr>
        <p:spPr>
          <a:xfrm>
            <a:off x="73152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Image 2" descr="concluí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16382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SKU gerado no Save e regenerado na troca de categoria</a:t>
            </a:r>
            <a:endParaRPr lang="en-US" sz="1500" dirty="0"/>
          </a:p>
        </p:txBody>
      </p:sp>
      <p:sp>
        <p:nvSpPr>
          <p:cNvPr id="13" name="Marcador"/>
          <p:cNvSpPr/>
          <p:nvPr/>
        </p:nvSpPr>
        <p:spPr>
          <a:xfrm>
            <a:off x="626364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4" name="Image 3" descr="concluí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16382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0372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Inativação e exclusão controladas por pedidos e rascunhos</a:t>
            </a:r>
            <a:endParaRPr lang="en-US" sz="1500" dirty="0"/>
          </a:p>
        </p:txBody>
      </p:sp>
      <p:sp>
        <p:nvSpPr>
          <p:cNvPr id="16" name="Marcador"/>
          <p:cNvSpPr/>
          <p:nvPr/>
        </p:nvSpPr>
        <p:spPr>
          <a:xfrm>
            <a:off x="73152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7" name="Image 4" descr="concluí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12394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Reserva protegida e movimentos com UPDATE condicional</a:t>
            </a:r>
            <a:endParaRPr lang="en-US" sz="1500" dirty="0"/>
          </a:p>
        </p:txBody>
      </p:sp>
      <p:sp>
        <p:nvSpPr>
          <p:cNvPr id="19" name="Marcador"/>
          <p:cNvSpPr/>
          <p:nvPr/>
        </p:nvSpPr>
        <p:spPr>
          <a:xfrm>
            <a:off x="626364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0" name="Image 5" descr="concluíd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4123944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0372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UI, importação, análise e 10 testes de serviço</a:t>
            </a:r>
            <a:endParaRPr lang="en-US" sz="1500" dirty="0"/>
          </a:p>
        </p:txBody>
      </p:sp>
      <p:sp>
        <p:nvSpPr>
          <p:cNvPr id="22" name="Próxima etapa"/>
          <p:cNvSpPr/>
          <p:nvPr/>
        </p:nvSpPr>
        <p:spPr>
          <a:xfrm>
            <a:off x="731520" y="5394960"/>
            <a:ext cx="10725912" cy="777240"/>
          </a:xfrm>
          <a:prstGeom prst="roundRect">
            <a:avLst>
              <a:gd name="adj" fmla="val 16471"/>
            </a:avLst>
          </a:prstGeom>
          <a:solidFill>
            <a:srgbClr val="1B3A7A"/>
          </a:solidFill>
          <a:ln/>
        </p:spPr>
      </p:sp>
      <p:pic>
        <p:nvPicPr>
          <p:cNvPr id="23" name="Image 6" descr="próxima etap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59552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00200" y="54406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D1FF"/>
                </a:solidFill>
              </a:rPr>
              <a:t>Próximo BO ·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Pedidos: rascunho, registro, reserva, pagamento, aprovação, cancelamento e snapshots.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00144A"/>
      </a:dk2>
      <a:lt2>
        <a:srgbClr val="F5F6F7"/>
      </a:lt2>
      <a:accent1>
        <a:srgbClr val="0070F2"/>
      </a:accent1>
      <a:accent2>
        <a:srgbClr val="049F9A"/>
      </a:accent2>
      <a:accent3>
        <a:srgbClr val="7858FF"/>
      </a:accent3>
      <a:accent4>
        <a:srgbClr val="E76500"/>
      </a:accent4>
      <a:accent5>
        <a:srgbClr val="256F3A"/>
      </a:accent5>
      <a:accent6>
        <a:srgbClr val="AA0808"/>
      </a:accent6>
      <a:hlink>
        <a:srgbClr val="0064D9"/>
      </a:hlink>
      <a:folHlink>
        <a:srgbClr val="7858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Pedidos de Compras - SAP CAP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 Estoque - Implementação</dc:title>
  <dc:subject>Projeto Pedidos de Compras em SAP CAP e SAP Fiori</dc:subject>
  <dc:creator>Adriano Bispo</dc:creator>
  <cp:lastModifiedBy>Adriano Bispo</cp:lastModifiedBy>
  <cp:revision>1</cp:revision>
  <dcterms:created xsi:type="dcterms:W3CDTF">2026-10-20T11:29:05Z</dcterms:created>
  <dcterms:modified xsi:type="dcterms:W3CDTF">2026-10-20T11:29:05Z</dcterms:modified>
</cp:coreProperties>
</file>