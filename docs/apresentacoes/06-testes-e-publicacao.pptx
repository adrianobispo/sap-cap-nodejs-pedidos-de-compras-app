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5b75bab-852d-69ef-f8b5-107d4fccfce1}">
          <p14:sldIdLst>
            <p14:sldId id="256"/>
          </p14:sldIdLst>
        </p14:section>
        <p14:section name="Contexto" id="{5a8b4ff3-6c3b-f40c-a653-822576f83cd2}">
          <p14:sldIdLst>
            <p14:sldId id="257"/>
          </p14:sldIdLst>
        </p14:section>
        <p14:section name="Testes" id="{d3c3758f-692c-a311-3a72-75d207370193}">
          <p14:sldIdLst>
            <p14:sldId id="258"/>
            <p14:sldId id="259"/>
            <p14:sldId id="260"/>
          </p14:sldIdLst>
        </p14:section>
        <p14:section name="Publicação" id="{6c00ceca-a56e-4919-281c-c8eddb18ff94}">
          <p14:sldIdLst>
            <p14:sldId id="261"/>
            <p14:sldId id="262"/>
            <p14:sldId id="263"/>
            <p14:sldId id="264"/>
            <p14:sldId id="265"/>
          </p14:sldIdLst>
        </p14:section>
        <p14:section name="Encerramento" id="{40e89d88-5e1e-2ae3-80bc-d2bd26481efc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etapa 6: como garantimos a qualidade e como o projeto chega à SAP BTP.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o perfil de produção está configurado, mas a implantação na BTP ainda é pendente.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Testes permanentes: mantidos e ajustados junto com as regras de negócio, nas duas implementações.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arquivos de teste, iguais em JavaScript e TypeScript.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teste percorre o fluxo pelas APIs OData: cria o pedido, paga, cancela e decide o reembolso, conferindo estoque e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código roda nos dois perfis; muda a configuração de banco e de autenticação.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Zone e HTML5 Repository servem as apps; o Destination service leva o token do usuário ao serviço CAP no Cloud Foundry, que usa o HDI container no HANA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de comandos do deploy. Os passos 1 a 5 ainda serão executados (implantação pendente).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o descritor MTA criará e como cada parte se conecta.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Transparência sobre o que está pronto, configurado e pendente.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da série: recapitula as seis etapas e indica 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Etapa 6 — Testes e Publicação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Etapa 6 — Testes e Publicação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06 DE 06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Testes e Publicação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Qualidade com testes automatizados e o roteiro de publicação na SAP BTP: SAP HANA Cloud, XSUAA, MTA e SAP Build Work Zone.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Testes e Public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750808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317736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9884664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451592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Etapa 6"/>
          <p:cNvSpPr/>
          <p:nvPr/>
        </p:nvSpPr>
        <p:spPr>
          <a:xfrm>
            <a:off x="11018520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Etapa 6 de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jornada do projeto em seis etapas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Database"/>
          <p:cNvSpPr/>
          <p:nvPr/>
        </p:nvSpPr>
        <p:spPr>
          <a:xfrm>
            <a:off x="7772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79346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Modelagem de Dados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CDS: tipos, CodeLists e entidades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42316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Server"/>
          <p:cNvSpPr/>
          <p:nvPr/>
        </p:nvSpPr>
        <p:spPr>
          <a:xfrm>
            <a:off x="265176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434" y="207934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Serviços OData V4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Projeções, draft, actions e autorização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429768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CodeXml"/>
          <p:cNvSpPr/>
          <p:nvPr/>
        </p:nvSpPr>
        <p:spPr>
          <a:xfrm>
            <a:off x="452628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CodeXm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07934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2628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2628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Lógica de Negócio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52628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Handlers, srv/lib e transações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617220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LayoutDashboard"/>
          <p:cNvSpPr/>
          <p:nvPr/>
        </p:nvSpPr>
        <p:spPr>
          <a:xfrm>
            <a:off x="640080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Layout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20793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Apps Fiori Elements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Anotações, extensões e launchpad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804672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ChartColumn"/>
          <p:cNvSpPr/>
          <p:nvPr/>
        </p:nvSpPr>
        <p:spPr>
          <a:xfrm>
            <a:off x="827532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20793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$apply e apps SAPUI5 freestyle</a:t>
            </a:r>
            <a:endParaRPr lang="en-US" sz="1200" dirty="0"/>
          </a:p>
        </p:txBody>
      </p:sp>
      <p:sp>
        <p:nvSpPr>
          <p:cNvPr id="35" name="Cartão"/>
          <p:cNvSpPr/>
          <p:nvPr/>
        </p:nvSpPr>
        <p:spPr>
          <a:xfrm>
            <a:off x="99212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6" name="Avatar LuRocket"/>
          <p:cNvSpPr/>
          <p:nvPr/>
        </p:nvSpPr>
        <p:spPr>
          <a:xfrm>
            <a:off x="101498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37" name="Image 5" descr="LuRock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1514" y="2079346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1498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ETAPA 06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01498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Testes e Publicação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101498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Qualidade, build e SAP BTP</a:t>
            </a:r>
            <a:endParaRPr lang="en-US" sz="1200" dirty="0"/>
          </a:p>
        </p:txBody>
      </p:sp>
      <p:sp>
        <p:nvSpPr>
          <p:cNvPr id="41" name="Cartão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2" name="Avatar LuTarget"/>
          <p:cNvSpPr/>
          <p:nvPr/>
        </p:nvSpPr>
        <p:spPr>
          <a:xfrm>
            <a:off x="822960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3" name="Image 6" descr="Lu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4" y="4932274"/>
            <a:ext cx="285293" cy="28529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645920" y="47091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Nesta etapa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garantimos a qualidade com testes de serviço e de unidade e preparamos a publicação: perfil de produção com SAP HANA Cloud e o roteiro de deploy na SAP BTP.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Qualidade em números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64261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74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testes na versão JavaScript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3364992" y="1600200"/>
            <a:ext cx="264261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639312" y="1737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76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3639312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testes na versão TypeScript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6181344" y="1600200"/>
            <a:ext cx="264261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55664" y="1737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6455664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suítes de serviço e unidade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8997696" y="1600200"/>
            <a:ext cx="264261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272016" y="1737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9272016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apontamentos do UI5 linter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548640" y="3886200"/>
            <a:ext cx="357530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TestTube"/>
          <p:cNvSpPr/>
          <p:nvPr/>
        </p:nvSpPr>
        <p:spPr>
          <a:xfrm>
            <a:off x="777240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0" descr="LuTestT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4246474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508760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node:test + cds-test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508760" y="4489704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Sobe o servidor CAP e chama os serviços OData de verdade.</a:t>
            </a:r>
            <a:endParaRPr lang="en-US" sz="1400" dirty="0"/>
          </a:p>
        </p:txBody>
      </p:sp>
      <p:sp>
        <p:nvSpPr>
          <p:cNvPr id="22" name="Cartão"/>
          <p:cNvSpPr/>
          <p:nvPr/>
        </p:nvSpPr>
        <p:spPr>
          <a:xfrm>
            <a:off x="4306824" y="3886200"/>
            <a:ext cx="357530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3" name="Avatar LuDatabase"/>
          <p:cNvSpPr/>
          <p:nvPr/>
        </p:nvSpPr>
        <p:spPr>
          <a:xfrm>
            <a:off x="4535424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24" name="Image 1" descr="Lu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424647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266944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SQLite em memória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5266944" y="4489704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execução começa limpa, sem tocar no db.sqlite.</a:t>
            </a:r>
            <a:endParaRPr lang="en-US" sz="1400" dirty="0"/>
          </a:p>
        </p:txBody>
      </p:sp>
      <p:sp>
        <p:nvSpPr>
          <p:cNvPr id="27" name="Cartão"/>
          <p:cNvSpPr/>
          <p:nvPr/>
        </p:nvSpPr>
        <p:spPr>
          <a:xfrm>
            <a:off x="8065008" y="3886200"/>
            <a:ext cx="3575304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8" name="Avatar LuGlobe"/>
          <p:cNvSpPr/>
          <p:nvPr/>
        </p:nvSpPr>
        <p:spPr>
          <a:xfrm>
            <a:off x="8293608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9" name="Image 2" descr="Lu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82" y="4246474"/>
            <a:ext cx="285293" cy="28529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025128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ViaCEP falso local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025128" y="4489704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 rede externa; URL trocada pela configuração.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cada suíte cobre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11091672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1772878"/>
                <a:gridCol w="895303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Suíte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Cobertura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unidade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CPF, e-mail, telefone, imagens, status de estoque, SKU, pagamento simulado, leitor XLSX/CSV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Rascunho, ViaCEP, CEP geral, CEP único, endereço principal, autorização, exclusão, foto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estoque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SKU, disponibilidade e status, concorrência com edição, inativação, exclusão, foto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Reserva, edição pela diferença, pagamento, aprovação, cancelamento, ações concorrentes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Aprovar, rejeitar com motivo obrigatório, decisão única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importacao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Clientes, estoque e pedidos (tudo ou nada), duplicidade e modelos de planilha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analitico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Agregações $apply dos quatro domínios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 teste de ponta a ponta do reembolso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7223760" cy="3520440"/>
          </a:xfrm>
          <a:prstGeom prst="roundRect">
            <a:avLst>
              <a:gd name="adj" fmla="val 3117"/>
            </a:avLst>
          </a:prstGeom>
          <a:solidFill>
            <a:srgbClr val="1D2D3E"/>
          </a:solidFill>
          <a:ln/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6766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it('aprovar cancela o pedido e devolve o pagamento',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pedido, reembolso, item } = await solicitacao()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assert.equal(reembolso.statusReembolso_code, 'PENDENTE')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antes = await reservado(item.ID)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 } = await api.post(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`${R}/Reembolsos(${reembolso.ID})/`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'ReembolsosService.aprovarReembolso',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motivoDecisao: 'Procedente'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assert.equal(data.statusReembolso_code, 'APROVADO')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atual = await pedidoAtual(pedido.ID)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assert.equal(atual.statusPedido_code, 'CANCELADO')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assert.equal(atual.statusPagamento_code, 'DEVOLVIDO')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assert.equal(await reservado(item.ID), antes - 2)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7" name="Avatar LuTerminal"/>
          <p:cNvSpPr/>
          <p:nvPr/>
        </p:nvSpPr>
        <p:spPr>
          <a:xfrm>
            <a:off x="809244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68" y="1801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78240" y="16550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npm test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197510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Em nodejs-padrao ou nodejs-typescript.</a:t>
            </a:r>
            <a:endParaRPr lang="en-US" sz="1400" dirty="0"/>
          </a:p>
        </p:txBody>
      </p:sp>
      <p:sp>
        <p:nvSpPr>
          <p:cNvPr id="11" name="Avatar LuEyeOff"/>
          <p:cNvSpPr/>
          <p:nvPr/>
        </p:nvSpPr>
        <p:spPr>
          <a:xfrm>
            <a:off x="809244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EyeO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28986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78240" y="27523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as apps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778240" y="307238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CDS_PLUGIN_UI5_ACTIVE=false: só o backend.</a:t>
            </a:r>
            <a:endParaRPr lang="en-US" sz="1400" dirty="0"/>
          </a:p>
        </p:txBody>
      </p:sp>
      <p:sp>
        <p:nvSpPr>
          <p:cNvPr id="15" name="Avatar LuListChecks"/>
          <p:cNvSpPr/>
          <p:nvPr/>
        </p:nvSpPr>
        <p:spPr>
          <a:xfrm>
            <a:off x="809244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List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39959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78240" y="384962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Lint e tipos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778240" y="416966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npm run lint; no TS, cds-typer + tsc --noEmit.</a:t>
            </a:r>
            <a:endParaRPr lang="en-US" sz="1400" dirty="0"/>
          </a:p>
        </p:txBody>
      </p:sp>
      <p:sp>
        <p:nvSpPr>
          <p:cNvPr id="19" name="Avatar LuBug"/>
          <p:cNvSpPr/>
          <p:nvPr/>
        </p:nvSpPr>
        <p:spPr>
          <a:xfrm>
            <a:off x="809244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B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509320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778240" y="49469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Regressões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778240" y="5266944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correção vem com um teste nas duas suítes.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PUBLICAÇÃO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 desenvolvimento à produção: perfis do CAP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Laptop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Lap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[development]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6517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SQLite em arquivo (db.sqlite)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Autenticação mocked: admin e comum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Apps servidas pelo cds-plugin-ui5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Launchpad local (sandbox)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npm run watch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1" name="Avatar LuCloud"/>
          <p:cNvSpPr/>
          <p:nvPr/>
        </p:nvSpPr>
        <p:spPr>
          <a:xfrm>
            <a:off x="6473952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D36FF"/>
          </a:solidFill>
          <a:ln/>
        </p:spPr>
      </p:sp>
      <p:pic>
        <p:nvPicPr>
          <p:cNvPr id="12" name="Image 1" descr="LuCl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26" y="19604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05472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[production]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517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SAP HANA Cloud (@cap-js/hana, HDI)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XSUAA com papéis Admin e Comum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Apps no HTML5 Application Repository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SAP Build Work Zone, standard edition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cds build --production + mbt build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PUBLICAÇÃO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Arquitetura alvo na SAP BTP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1693987" y="1463040"/>
            <a:ext cx="8800978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Arquitetura alvo na SAP BT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427" y="1554480"/>
            <a:ext cx="8618098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PUBLICAÇÃO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Roteiro de publicação na SAP BTP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Settings"/>
          <p:cNvSpPr/>
          <p:nvPr/>
        </p:nvSpPr>
        <p:spPr>
          <a:xfrm>
            <a:off x="749808" y="180136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922069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11680" y="1801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1E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 add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xsuaa, html5-repo, workzone, mta</a:t>
            </a:r>
            <a:endParaRPr lang="en-US" sz="1300" dirty="0"/>
          </a:p>
        </p:txBody>
      </p:sp>
      <p:sp>
        <p:nvSpPr>
          <p:cNvPr id="11" name="Cartão"/>
          <p:cNvSpPr/>
          <p:nvPr/>
        </p:nvSpPr>
        <p:spPr>
          <a:xfrm>
            <a:off x="2807208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ShieldCheck"/>
          <p:cNvSpPr/>
          <p:nvPr/>
        </p:nvSpPr>
        <p:spPr>
          <a:xfrm>
            <a:off x="3008376" y="180136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077" y="1922069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70248" y="1801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1E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3008376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xs-security.json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008376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Escopos e role templates Admin e Comum</a:t>
            </a:r>
            <a:endParaRPr lang="en-US" sz="1300" dirty="0"/>
          </a:p>
        </p:txBody>
      </p:sp>
      <p:sp>
        <p:nvSpPr>
          <p:cNvPr id="17" name="Cartão"/>
          <p:cNvSpPr/>
          <p:nvPr/>
        </p:nvSpPr>
        <p:spPr>
          <a:xfrm>
            <a:off x="5065776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Box"/>
          <p:cNvSpPr/>
          <p:nvPr/>
        </p:nvSpPr>
        <p:spPr>
          <a:xfrm>
            <a:off x="5266944" y="180136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Bo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645" y="1922069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28816" y="1801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1E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5266944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mbt build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266944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Gera o .mtar com serviço, db e apps</a:t>
            </a:r>
            <a:endParaRPr lang="en-US" sz="1300" dirty="0"/>
          </a:p>
        </p:txBody>
      </p:sp>
      <p:sp>
        <p:nvSpPr>
          <p:cNvPr id="23" name="Cartão"/>
          <p:cNvSpPr/>
          <p:nvPr/>
        </p:nvSpPr>
        <p:spPr>
          <a:xfrm>
            <a:off x="7324344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CloudUpload"/>
          <p:cNvSpPr/>
          <p:nvPr/>
        </p:nvSpPr>
        <p:spPr>
          <a:xfrm>
            <a:off x="7525512" y="180136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25" name="Image 3" descr="LuCloudUplo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213" y="1922069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787384" y="1801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1E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7525512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deploy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525512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Serviço, db-deployer, apps e instâncias</a:t>
            </a:r>
            <a:endParaRPr lang="en-US" sz="1300" dirty="0"/>
          </a:p>
        </p:txBody>
      </p:sp>
      <p:sp>
        <p:nvSpPr>
          <p:cNvPr id="29" name="Cartão"/>
          <p:cNvSpPr/>
          <p:nvPr/>
        </p:nvSpPr>
        <p:spPr>
          <a:xfrm>
            <a:off x="9582912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LayoutGrid"/>
          <p:cNvSpPr/>
          <p:nvPr/>
        </p:nvSpPr>
        <p:spPr>
          <a:xfrm>
            <a:off x="9784080" y="180136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LayoutGri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4781" y="1922069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045952" y="1801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1EFFF"/>
                </a:solidFill>
              </a:rPr>
              <a:t>5</a:t>
            </a:r>
            <a:endParaRPr lang="en-US" sz="2200" dirty="0"/>
          </a:p>
        </p:txBody>
      </p:sp>
      <p:sp>
        <p:nvSpPr>
          <p:cNvPr id="33" name="Text 25"/>
          <p:cNvSpPr txBox="1"/>
          <p:nvPr/>
        </p:nvSpPr>
        <p:spPr>
          <a:xfrm>
            <a:off x="978408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Zone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978408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Site com os 8 tiles e role collections</a:t>
            </a:r>
            <a:endParaRPr lang="en-US" sz="1300" dirty="0"/>
          </a:p>
        </p:txBody>
      </p:sp>
      <p:sp>
        <p:nvSpPr>
          <p:cNvPr id="35" name="Bloco de código"/>
          <p:cNvSpPr/>
          <p:nvPr/>
        </p:nvSpPr>
        <p:spPr>
          <a:xfrm>
            <a:off x="548640" y="3977640"/>
            <a:ext cx="11091672" cy="1402080"/>
          </a:xfrm>
          <a:prstGeom prst="roundRect">
            <a:avLst>
              <a:gd name="adj" fmla="val 7826"/>
            </a:avLst>
          </a:prstGeom>
          <a:solidFill>
            <a:srgbClr val="1D2D3E"/>
          </a:solidFill>
          <a:ln/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36" name="Código"/>
          <p:cNvSpPr txBox="1"/>
          <p:nvPr/>
        </p:nvSpPr>
        <p:spPr>
          <a:xfrm>
            <a:off x="777240" y="4160520"/>
            <a:ext cx="1063447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cds add xsuaa,html5-repo,workzone,mta   # @cap-js/hana e [production] já configurados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build                          # TS: compila para gen/srv (JS: cds build --production)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mbt build                              # mta_archives/pedidos-compras-cap_1.0.0.mtar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cf login -a https://api.cf.&lt;região&gt;.hana.ondemand.com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cf deploy mta_archives/pedidos-compras-cap_1.0.0.mtar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PUBLICAÇÃO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Componentes do MTA e serviços da SAP BTP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Server"/>
          <p:cNvSpPr/>
          <p:nvPr/>
        </p:nvSpPr>
        <p:spPr>
          <a:xfrm>
            <a:off x="77724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801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pedidos-compras-srv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2203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Node.js 22 com @sap/cds 10 e os 5 serviços OData V4.</a:t>
            </a:r>
            <a:endParaRPr lang="en-US" sz="1400" dirty="0"/>
          </a:p>
        </p:txBody>
      </p:sp>
      <p:sp>
        <p:nvSpPr>
          <p:cNvPr id="10" name="Cartão"/>
          <p:cNvSpPr/>
          <p:nvPr/>
        </p:nvSpPr>
        <p:spPr>
          <a:xfrm>
            <a:off x="4306824" y="1600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1" name="Avatar LuDatabase"/>
          <p:cNvSpPr/>
          <p:nvPr/>
        </p:nvSpPr>
        <p:spPr>
          <a:xfrm>
            <a:off x="4535424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19604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66944" y="1801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db-deployer + HDI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5266944" y="2203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Tabelas, views, CodeLists e dados no container hdi-shared.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8065008" y="1600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6" name="Avatar LuKeyRound"/>
          <p:cNvSpPr/>
          <p:nvPr/>
        </p:nvSpPr>
        <p:spPr>
          <a:xfrm>
            <a:off x="829360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7" name="Image 2" descr="LuKeyRou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82" y="1960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25128" y="1801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XSUAA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9025128" y="2203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Role collections Admin e Comum; login via SAP ID ou IAS.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548640" y="3886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1" name="Avatar LuRoute"/>
          <p:cNvSpPr/>
          <p:nvPr/>
        </p:nvSpPr>
        <p:spPr>
          <a:xfrm>
            <a:off x="777240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2" name="Image 3" descr="LuRou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24647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Destination service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508760" y="4489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Aponta para o serviço CAP com forwardAuthToken.</a:t>
            </a:r>
            <a:endParaRPr lang="en-US" sz="1400" dirty="0"/>
          </a:p>
        </p:txBody>
      </p:sp>
      <p:sp>
        <p:nvSpPr>
          <p:cNvPr id="25" name="Cartão"/>
          <p:cNvSpPr/>
          <p:nvPr/>
        </p:nvSpPr>
        <p:spPr>
          <a:xfrm>
            <a:off x="4306824" y="3886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6" name="Avatar LuAppWindow"/>
          <p:cNvSpPr/>
          <p:nvPr/>
        </p:nvSpPr>
        <p:spPr>
          <a:xfrm>
            <a:off x="4535424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27" name="Image 4" descr="LuAppWind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098" y="4246474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66944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HTML5 Repository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5266944" y="4489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Hospeda as 8 apps SAPUI5 construídas.</a:t>
            </a:r>
            <a:endParaRPr lang="en-US" sz="1400" dirty="0"/>
          </a:p>
        </p:txBody>
      </p:sp>
      <p:sp>
        <p:nvSpPr>
          <p:cNvPr id="30" name="Cartão"/>
          <p:cNvSpPr/>
          <p:nvPr/>
        </p:nvSpPr>
        <p:spPr>
          <a:xfrm>
            <a:off x="8065008" y="3886200"/>
            <a:ext cx="357530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1" name="Avatar LuLayoutGrid"/>
          <p:cNvSpPr/>
          <p:nvPr/>
        </p:nvSpPr>
        <p:spPr>
          <a:xfrm>
            <a:off x="8293608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32" name="Image 5" descr="LuLayoutGri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5282" y="4246474"/>
            <a:ext cx="285293" cy="28529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25128" y="40873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SAP Build Work Zone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9025128" y="4489704"/>
            <a:ext cx="23865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Site com tiles e approuter gerenciado.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PUBLICAÇÃO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Situação atual e próximos passos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694944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Modelo, serviços, regras, apps e análises</a:t>
            </a:r>
            <a:endParaRPr lang="en-US" sz="1400" dirty="0"/>
          </a:p>
        </p:txBody>
      </p:sp>
      <p:sp>
        <p:nvSpPr>
          <p:cNvPr id="7" name="Status Implementado"/>
          <p:cNvSpPr txBox="1"/>
          <p:nvPr/>
        </p:nvSpPr>
        <p:spPr>
          <a:xfrm>
            <a:off x="5852160" y="1879092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Implementado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Testes automatizados (74 JS · 76 TS) e lint</a:t>
            </a:r>
            <a:endParaRPr lang="en-US" sz="1400" dirty="0"/>
          </a:p>
        </p:txBody>
      </p:sp>
      <p:sp>
        <p:nvSpPr>
          <p:cNvPr id="9" name="Status Implementado"/>
          <p:cNvSpPr txBox="1"/>
          <p:nvPr/>
        </p:nvSpPr>
        <p:spPr>
          <a:xfrm>
            <a:off x="5852160" y="24643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Implementado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809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SAP HANA Cloud: @cap-js/hana e perfil [production]</a:t>
            </a:r>
            <a:endParaRPr lang="en-US" sz="1400" dirty="0"/>
          </a:p>
        </p:txBody>
      </p:sp>
      <p:sp>
        <p:nvSpPr>
          <p:cNvPr id="11" name="Status Configurado"/>
          <p:cNvSpPr txBox="1"/>
          <p:nvPr/>
        </p:nvSpPr>
        <p:spPr>
          <a:xfrm>
            <a:off x="5852160" y="3049524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Configurado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66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cds build --production gera os artefatos HDI</a:t>
            </a:r>
            <a:endParaRPr lang="en-US" sz="1400" dirty="0"/>
          </a:p>
        </p:txBody>
      </p:sp>
      <p:sp>
        <p:nvSpPr>
          <p:cNvPr id="13" name="Status Configurado"/>
          <p:cNvSpPr txBox="1"/>
          <p:nvPr/>
        </p:nvSpPr>
        <p:spPr>
          <a:xfrm>
            <a:off x="5852160" y="363474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Configurado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1513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XSUAA (xs-security.json) e role collections</a:t>
            </a:r>
            <a:endParaRPr lang="en-US" sz="1400" dirty="0"/>
          </a:p>
        </p:txBody>
      </p:sp>
      <p:sp>
        <p:nvSpPr>
          <p:cNvPr id="15" name="Status Pendente"/>
          <p:cNvSpPr txBox="1"/>
          <p:nvPr/>
        </p:nvSpPr>
        <p:spPr>
          <a:xfrm>
            <a:off x="5852160" y="4219956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Pendente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736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Descritor MTA e deploy no Cloud Foundry</a:t>
            </a:r>
            <a:endParaRPr lang="en-US" sz="1400" dirty="0"/>
          </a:p>
        </p:txBody>
      </p:sp>
      <p:sp>
        <p:nvSpPr>
          <p:cNvPr id="17" name="Status Pendente"/>
          <p:cNvSpPr txBox="1"/>
          <p:nvPr/>
        </p:nvSpPr>
        <p:spPr>
          <a:xfrm>
            <a:off x="5852160" y="4805172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Pendente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3218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Apps no SAP Build Work Zone</a:t>
            </a:r>
            <a:endParaRPr lang="en-US" sz="1400" dirty="0"/>
          </a:p>
        </p:txBody>
      </p:sp>
      <p:sp>
        <p:nvSpPr>
          <p:cNvPr id="19" name="Status Pendente"/>
          <p:cNvSpPr txBox="1"/>
          <p:nvPr/>
        </p:nvSpPr>
        <p:spPr>
          <a:xfrm>
            <a:off x="5852160" y="539038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Pendente</a:t>
            </a:r>
            <a:endParaRPr lang="en-US" sz="1000" dirty="0"/>
          </a:p>
        </p:txBody>
      </p:sp>
      <p:sp>
        <p:nvSpPr>
          <p:cNvPr id="20" name="Avatar LuCreditCard"/>
          <p:cNvSpPr/>
          <p:nvPr/>
        </p:nvSpPr>
        <p:spPr>
          <a:xfrm>
            <a:off x="78181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1" name="Image 0" descr="LuCredit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48" y="221284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503920" y="20665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Histórico de pagamentos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238658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Hoje só a última tentativa é mantida.</a:t>
            </a:r>
            <a:endParaRPr lang="en-US" sz="1400" dirty="0"/>
          </a:p>
        </p:txBody>
      </p:sp>
      <p:sp>
        <p:nvSpPr>
          <p:cNvPr id="24" name="Avatar LuFileText"/>
          <p:cNvSpPr/>
          <p:nvPr/>
        </p:nvSpPr>
        <p:spPr>
          <a:xfrm>
            <a:off x="7818120" y="3200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25" name="Image 1" descr="LuFile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331012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503920" y="316382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Auditoria e logs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503920" y="348386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Alterações críticas e logs estruturados.</a:t>
            </a:r>
            <a:endParaRPr lang="en-US" sz="1400" dirty="0"/>
          </a:p>
        </p:txBody>
      </p:sp>
      <p:sp>
        <p:nvSpPr>
          <p:cNvPr id="28" name="Avatar LuImage"/>
          <p:cNvSpPr/>
          <p:nvPr/>
        </p:nvSpPr>
        <p:spPr>
          <a:xfrm>
            <a:off x="7818120" y="4297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9" name="Image 2" descr="Lu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40740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503920" y="42611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Imagens externas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503920" y="458114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Fotos fora do banco de dados.</a:t>
            </a:r>
            <a:endParaRPr lang="en-US" sz="1400" dirty="0"/>
          </a:p>
        </p:txBody>
      </p:sp>
      <p:sp>
        <p:nvSpPr>
          <p:cNvPr id="32" name="Avatar LuPlug"/>
          <p:cNvSpPr/>
          <p:nvPr/>
        </p:nvSpPr>
        <p:spPr>
          <a:xfrm>
            <a:off x="7818120" y="53949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33" name="Image 3" descr="Lu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5504688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503920" y="53583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Integrações reais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503920" y="567842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Gateway de pagamento e frete.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78181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6B82"/>
                </a:solidFill>
              </a:rPr>
              <a:t>EVOLUÇÕES FUTURAS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DA JORNADA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Seis etapas, do modelo às apps publicadas</a:t>
            </a:r>
            <a:endParaRPr lang="en-US" sz="3600" dirty="0"/>
          </a:p>
        </p:txBody>
      </p:sp>
      <p:sp>
        <p:nvSpPr>
          <p:cNvPr id="4" name="Etapa 1"/>
          <p:cNvSpPr/>
          <p:nvPr/>
        </p:nvSpPr>
        <p:spPr>
          <a:xfrm>
            <a:off x="731520" y="2148840"/>
            <a:ext cx="1645920" cy="3108960"/>
          </a:xfrm>
          <a:prstGeom prst="roundRect">
            <a:avLst>
              <a:gd name="adj" fmla="val 7778"/>
            </a:avLst>
          </a:prstGeom>
          <a:solidFill>
            <a:srgbClr val="1B3A7A"/>
          </a:solidFill>
          <a:ln/>
        </p:spPr>
      </p:sp>
      <p:sp>
        <p:nvSpPr>
          <p:cNvPr id="5" name="Avatar"/>
          <p:cNvSpPr/>
          <p:nvPr/>
        </p:nvSpPr>
        <p:spPr>
          <a:xfrm>
            <a:off x="960120" y="237744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/>
        </p:spPr>
      </p:sp>
      <p:pic>
        <p:nvPicPr>
          <p:cNvPr id="6" name="Image 0" descr="Modelagem de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054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D1FF"/>
                </a:solidFill>
              </a:rPr>
              <a:t>ETAPA 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383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Modelagem de Dados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EFFF"/>
                </a:solidFill>
              </a:rPr>
              <a:t>10 entidades, 7 CodeLists e colunas geradas</a:t>
            </a:r>
            <a:endParaRPr lang="en-US" sz="1200" dirty="0"/>
          </a:p>
        </p:txBody>
      </p:sp>
      <p:sp>
        <p:nvSpPr>
          <p:cNvPr id="10" name="Etapa 2"/>
          <p:cNvSpPr/>
          <p:nvPr/>
        </p:nvSpPr>
        <p:spPr>
          <a:xfrm>
            <a:off x="2542032" y="2148840"/>
            <a:ext cx="1645920" cy="3108960"/>
          </a:xfrm>
          <a:prstGeom prst="roundRect">
            <a:avLst>
              <a:gd name="adj" fmla="val 7778"/>
            </a:avLst>
          </a:prstGeom>
          <a:solidFill>
            <a:srgbClr val="1B3A7A"/>
          </a:solidFill>
          <a:ln/>
        </p:spPr>
      </p:sp>
      <p:sp>
        <p:nvSpPr>
          <p:cNvPr id="11" name="Avatar"/>
          <p:cNvSpPr/>
          <p:nvPr/>
        </p:nvSpPr>
        <p:spPr>
          <a:xfrm>
            <a:off x="2770632" y="237744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/>
        </p:spPr>
      </p:sp>
      <p:pic>
        <p:nvPicPr>
          <p:cNvPr id="12" name="Image 1" descr="Serviços OData V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250545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70632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D1FF"/>
                </a:solidFill>
              </a:rPr>
              <a:t>ETAPA 02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770632" y="3383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Serviços OData V4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770632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EFFF"/>
                </a:solidFill>
              </a:rPr>
              <a:t>5 serviços OData V4 com draft e actions</a:t>
            </a:r>
            <a:endParaRPr lang="en-US" sz="1200" dirty="0"/>
          </a:p>
        </p:txBody>
      </p:sp>
      <p:sp>
        <p:nvSpPr>
          <p:cNvPr id="16" name="Etapa 3"/>
          <p:cNvSpPr/>
          <p:nvPr/>
        </p:nvSpPr>
        <p:spPr>
          <a:xfrm>
            <a:off x="4352544" y="2148840"/>
            <a:ext cx="1645920" cy="3108960"/>
          </a:xfrm>
          <a:prstGeom prst="roundRect">
            <a:avLst>
              <a:gd name="adj" fmla="val 7778"/>
            </a:avLst>
          </a:prstGeom>
          <a:solidFill>
            <a:srgbClr val="1B3A7A"/>
          </a:solidFill>
          <a:ln/>
        </p:spPr>
      </p:sp>
      <p:sp>
        <p:nvSpPr>
          <p:cNvPr id="17" name="Avatar"/>
          <p:cNvSpPr/>
          <p:nvPr/>
        </p:nvSpPr>
        <p:spPr>
          <a:xfrm>
            <a:off x="4581144" y="237744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/>
        </p:spPr>
      </p:sp>
      <p:pic>
        <p:nvPicPr>
          <p:cNvPr id="18" name="Image 2" descr="Lógica de Negóc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0545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81144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D1FF"/>
                </a:solidFill>
              </a:rPr>
              <a:t>ETAPA 03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81144" y="3383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Lógica de Negócio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81144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EFFF"/>
                </a:solidFill>
              </a:rPr>
              <a:t>Regras atômicas em srv/lib, JS e TS</a:t>
            </a:r>
            <a:endParaRPr lang="en-US" sz="1200" dirty="0"/>
          </a:p>
        </p:txBody>
      </p:sp>
      <p:sp>
        <p:nvSpPr>
          <p:cNvPr id="22" name="Etapa 4"/>
          <p:cNvSpPr/>
          <p:nvPr/>
        </p:nvSpPr>
        <p:spPr>
          <a:xfrm>
            <a:off x="6163056" y="2148840"/>
            <a:ext cx="1645920" cy="3108960"/>
          </a:xfrm>
          <a:prstGeom prst="roundRect">
            <a:avLst>
              <a:gd name="adj" fmla="val 7778"/>
            </a:avLst>
          </a:prstGeom>
          <a:solidFill>
            <a:srgbClr val="1B3A7A"/>
          </a:solidFill>
          <a:ln/>
        </p:spPr>
      </p:sp>
      <p:sp>
        <p:nvSpPr>
          <p:cNvPr id="23" name="Avatar"/>
          <p:cNvSpPr/>
          <p:nvPr/>
        </p:nvSpPr>
        <p:spPr>
          <a:xfrm>
            <a:off x="6391656" y="237744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/>
        </p:spPr>
      </p:sp>
      <p:pic>
        <p:nvPicPr>
          <p:cNvPr id="24" name="Image 3" descr="Apps Fiori Elem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505456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91656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D1FF"/>
                </a:solidFill>
              </a:rPr>
              <a:t>ETAPA 04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391656" y="3383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Apps Fiori Elements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391656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EFFF"/>
                </a:solidFill>
              </a:rPr>
              <a:t>4 apps Fiori Elements por anotações</a:t>
            </a:r>
            <a:endParaRPr lang="en-US" sz="1200" dirty="0"/>
          </a:p>
        </p:txBody>
      </p:sp>
      <p:sp>
        <p:nvSpPr>
          <p:cNvPr id="28" name="Etapa 5"/>
          <p:cNvSpPr/>
          <p:nvPr/>
        </p:nvSpPr>
        <p:spPr>
          <a:xfrm>
            <a:off x="7973568" y="2148840"/>
            <a:ext cx="1645920" cy="3108960"/>
          </a:xfrm>
          <a:prstGeom prst="roundRect">
            <a:avLst>
              <a:gd name="adj" fmla="val 7778"/>
            </a:avLst>
          </a:prstGeom>
          <a:solidFill>
            <a:srgbClr val="1B3A7A"/>
          </a:solidFill>
          <a:ln/>
        </p:spPr>
      </p:sp>
      <p:sp>
        <p:nvSpPr>
          <p:cNvPr id="29" name="Avatar"/>
          <p:cNvSpPr/>
          <p:nvPr/>
        </p:nvSpPr>
        <p:spPr>
          <a:xfrm>
            <a:off x="8202168" y="237744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/>
        </p:spPr>
      </p:sp>
      <p:pic>
        <p:nvPicPr>
          <p:cNvPr id="30" name="Image 4" descr="Anális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2505456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202168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D1FF"/>
                </a:solidFill>
              </a:rPr>
              <a:t>ETAPA 05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8202168" y="3383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Análises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8202168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EFFF"/>
                </a:solidFill>
              </a:rPr>
              <a:t>AnaliticoService e 20 análises freestyle</a:t>
            </a:r>
            <a:endParaRPr lang="en-US" sz="1200" dirty="0"/>
          </a:p>
        </p:txBody>
      </p:sp>
      <p:sp>
        <p:nvSpPr>
          <p:cNvPr id="34" name="Etapa 6"/>
          <p:cNvSpPr/>
          <p:nvPr/>
        </p:nvSpPr>
        <p:spPr>
          <a:xfrm>
            <a:off x="9784080" y="2148840"/>
            <a:ext cx="1645920" cy="3108960"/>
          </a:xfrm>
          <a:prstGeom prst="roundRect">
            <a:avLst>
              <a:gd name="adj" fmla="val 7778"/>
            </a:avLst>
          </a:prstGeom>
          <a:solidFill>
            <a:srgbClr val="1B3A7A"/>
          </a:solidFill>
          <a:ln/>
        </p:spPr>
      </p:sp>
      <p:sp>
        <p:nvSpPr>
          <p:cNvPr id="35" name="Avatar"/>
          <p:cNvSpPr/>
          <p:nvPr/>
        </p:nvSpPr>
        <p:spPr>
          <a:xfrm>
            <a:off x="10012680" y="237744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/>
        </p:spPr>
      </p:sp>
      <p:pic>
        <p:nvPicPr>
          <p:cNvPr id="36" name="Image 5" descr="Testes e Public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696" y="2505456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1268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D1FF"/>
                </a:solidFill>
              </a:rPr>
              <a:t>ETAPA 06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10012680" y="33832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Testes e Publicação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10012680" y="402336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EFFF"/>
                </a:solidFill>
              </a:rPr>
              <a:t>150 testes e roteiro para a SAP BTP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</a:rPr>
              <a:t>Repositório: github.com/AdrianoBispo/sap-cap-nodejs-pedidos-de-compras-app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6 - Testes e Publicação</dc:title>
  <dc:subject>Projeto Pedidos de Compras em SAP CAP e SAP Fiori</dc:subject>
  <dc:creator>Adriano Bispo</dc:creator>
  <cp:lastModifiedBy>Adriano Bispo</cp:lastModifiedBy>
  <cp:revision>1</cp:revision>
  <dcterms:created xsi:type="dcterms:W3CDTF">2026-10-20T02:31:17Z</dcterms:created>
  <dcterms:modified xsi:type="dcterms:W3CDTF">2026-10-20T02:31:17Z</dcterms:modified>
</cp:coreProperties>
</file>