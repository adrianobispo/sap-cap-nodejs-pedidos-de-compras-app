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600fd8ef-4b4c-7cb8-b482-c1f0f6c7bb87}">
          <p14:sldIdLst>
            <p14:sldId id="256"/>
          </p14:sldIdLst>
        </p14:section>
        <p14:section name="Contexto" id="{c121be4c-dc97-d757-503f-77d279e3dc66}">
          <p14:sldIdLst>
            <p14:sldId id="257"/>
          </p14:sldIdLst>
        </p14:section>
        <p14:section name="Visão geral" id="{f49c4ca6-0416-4565-d41b-40c6a10f589e}">
          <p14:sldIdLst>
            <p14:sldId id="258"/>
          </p14:sldIdLst>
        </p14:section>
        <p14:section name="Modelo e serviço" id="{893e9d06-990a-39b6-2f33-fb8de675c981}">
          <p14:sldIdLst>
            <p14:sldId id="259"/>
            <p14:sldId id="260"/>
          </p14:sldIdLst>
        </p14:section>
        <p14:section name="Handlers" id="{06800a02-7ccd-4c49-e04b-59d8631613c9}">
          <p14:sldIdLst>
            <p14:sldId id="261"/>
            <p14:sldId id="262"/>
            <p14:sldId id="263"/>
          </p14:sldIdLst>
        </p14:section>
        <p14:section name="Endereços e ViaCEP" id="{d64d1d20-8141-9423-0091-8f3e5c640d26}">
          <p14:sldIdLst>
            <p14:sldId id="264"/>
            <p14:sldId id="265"/>
            <p14:sldId id="266"/>
            <p14:sldId id="267"/>
            <p14:sldId id="268"/>
          </p14:sldIdLst>
        </p14:section>
        <p14:section name="UI Gestão de Clientes" id="{1308cf89-975f-6604-de1f-b01971fd02b5}">
          <p14:sldIdLst>
            <p14:sldId id="269"/>
            <p14:sldId id="270"/>
            <p14:sldId id="271"/>
            <p14:sldId id="272"/>
          </p14:sldIdLst>
        </p14:section>
        <p14:section name="Importação e testes" id="{78d48a28-03a9-9581-b6ce-3a1e8dff66af}">
          <p14:sldIdLst>
            <p14:sldId id="273"/>
            <p14:sldId id="274"/>
          </p14:sldIdLst>
        </p14:section>
        <p14:section name="Encerramento" id="{c54ae7d8-3d94-d49a-c04b-19a60a689506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BO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BO Clientes é o mais rico em validações de entrada.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Onde cada parte do BO está implementada, camada por camada.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 de formato ficam no CDS e valem no rascunho e no Save, sem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Clientes com rascunho e endereços como composição; Comum só lê, Admin altera e importa.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evento do rascunho e do Save tem um papel claro. Os mesmos handlers rodam na importação.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score nasce no backend e nunca vem da tela; CPF e telefone ficam só com dígitos antes das validações.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Save, CPF válido e único e endereços consistentes. Na exclusão, nenhum pedido pode apontar para 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primeiro endereço vira principal; depois, só a action troca o principal. Campos do ViaCEP não aceitam valor da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srv/lib/enderecos.js tenta primeiro um CEP já validado no cadastro; só CEPs novos consultam o ViaCEP.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&lt;url&gt;/&lt;cep&gt;/json/ com AbortSignal.timeout. Só respostas definitivas entram no cache de 100 CEPs.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 cada endereço do payload do cliente e garante exatamente um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foto é uma propriedade de mídia. O handler lê o stream uma vez, confere o formato e rejeita na hora o que não for imagem.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Filtros, colunas e ordenação vêm de app/gestao-clientes/annotations.cds.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Cabeçalho com foto e score em barra de progresso; três seções.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help de CEPs conhecidos, side effect que recarrega o endereço e campos liberados só para CEP geral.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mesma app serve aos dois perfis. O singleton Permissoes esconde o que o perfil Comum não pode fazer.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linha = um cliente com o endereço principal. Valida tudo antes de gravar e cria pelo próprio serviço.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títulos dos testes descrevem o comportamento esperado do 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do BO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1EFFF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Pedidos de Compras · SAP CAP 10 + SAP Fiori · Design System SAP Horizon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Pedidos de Compras · SAP CAP + SAP Fiori   |   Implementação por BO — Clientes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73152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D1FF"/>
                </a:solidFill>
              </a:rPr>
              <a:t>Pedidos de Compras · SAP CAP + SAP Fiori   |   Implementação por BO — Clientes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IMPLEMENTAÇÃO POR BO · 2 DE 5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 Clientes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Cadastro de clientes e endereços: validações, ViaCEP, endereço principal, foto, permissões, importação e testes.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Clie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842248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0" name="Etapa 3"/>
          <p:cNvSpPr/>
          <p:nvPr/>
        </p:nvSpPr>
        <p:spPr>
          <a:xfrm>
            <a:off x="9500616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1" name="Etapa 4"/>
          <p:cNvSpPr/>
          <p:nvPr/>
        </p:nvSpPr>
        <p:spPr>
          <a:xfrm>
            <a:off x="10158984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2" name="Etapa 5"/>
          <p:cNvSpPr/>
          <p:nvPr/>
        </p:nvSpPr>
        <p:spPr>
          <a:xfrm>
            <a:off x="10817352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BO 2 de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IMPLEMENTAÇÃO POR BO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Os cinco objetos de negócio do projeto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Layers"/>
          <p:cNvSpPr/>
          <p:nvPr/>
        </p:nvSpPr>
        <p:spPr>
          <a:xfrm>
            <a:off x="777240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604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Comum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Tipos, CodeLists, mensagens e utilitários</a:t>
            </a:r>
            <a:endParaRPr lang="en-US" sz="1200" dirty="0"/>
          </a:p>
        </p:txBody>
      </p:sp>
      <p:sp>
        <p:nvSpPr>
          <p:cNvPr id="11" name="Cartão"/>
          <p:cNvSpPr/>
          <p:nvPr/>
        </p:nvSpPr>
        <p:spPr>
          <a:xfrm>
            <a:off x="2802636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2" name="Avatar LuUsers"/>
          <p:cNvSpPr/>
          <p:nvPr/>
        </p:nvSpPr>
        <p:spPr>
          <a:xfrm>
            <a:off x="3031236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13" name="Image 1" descr="Lu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910" y="196047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31236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BO 2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3031236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Clientes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031236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Clientes, endereços e ViaCEP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5056632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Package"/>
          <p:cNvSpPr/>
          <p:nvPr/>
        </p:nvSpPr>
        <p:spPr>
          <a:xfrm>
            <a:off x="5285232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9" name="Image 2" descr="LuPack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06" y="1960474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285232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285232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Estoque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285232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Itens, SKU e saldo</a:t>
            </a:r>
            <a:endParaRPr lang="en-US" sz="1200" dirty="0"/>
          </a:p>
        </p:txBody>
      </p:sp>
      <p:sp>
        <p:nvSpPr>
          <p:cNvPr id="23" name="Cartão"/>
          <p:cNvSpPr/>
          <p:nvPr/>
        </p:nvSpPr>
        <p:spPr>
          <a:xfrm>
            <a:off x="7310628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4" name="Avatar LuShoppingCart"/>
          <p:cNvSpPr/>
          <p:nvPr/>
        </p:nvSpPr>
        <p:spPr>
          <a:xfrm>
            <a:off x="7539228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25" name="Image 3" descr="LuShoppingC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902" y="196047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539228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4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7539228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Pedidos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539228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Pedido, itens, pagamento e histórico</a:t>
            </a:r>
            <a:endParaRPr lang="en-US" sz="1200" dirty="0"/>
          </a:p>
        </p:txBody>
      </p:sp>
      <p:sp>
        <p:nvSpPr>
          <p:cNvPr id="29" name="Cartão"/>
          <p:cNvSpPr/>
          <p:nvPr/>
        </p:nvSpPr>
        <p:spPr>
          <a:xfrm>
            <a:off x="9564624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0" name="Avatar LuUndo2"/>
          <p:cNvSpPr/>
          <p:nvPr/>
        </p:nvSpPr>
        <p:spPr>
          <a:xfrm>
            <a:off x="9793224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31" name="Image 4" descr="LuUndo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898" y="196047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793224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5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9793224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Reembolsos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9793224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Solicitação e decisão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CAMADAS PERCORRIDAS</a:t>
            </a:r>
            <a:endParaRPr lang="en-US" sz="1100" dirty="0"/>
          </a:p>
        </p:txBody>
      </p:sp>
      <p:sp>
        <p:nvSpPr>
          <p:cNvPr id="36" name="Status Modelo CDS"/>
          <p:cNvSpPr txBox="1"/>
          <p:nvPr/>
        </p:nvSpPr>
        <p:spPr>
          <a:xfrm>
            <a:off x="548640" y="4407408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Modelo CDS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1920240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38" name="Status Serviço OData"/>
          <p:cNvSpPr txBox="1"/>
          <p:nvPr/>
        </p:nvSpPr>
        <p:spPr>
          <a:xfrm>
            <a:off x="2084832" y="4407408"/>
            <a:ext cx="164592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Serviço OData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3730752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0" name="Status Handlers e regras"/>
          <p:cNvSpPr txBox="1"/>
          <p:nvPr/>
        </p:nvSpPr>
        <p:spPr>
          <a:xfrm>
            <a:off x="3895344" y="4407408"/>
            <a:ext cx="201168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Handlers e regras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5907024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2" name="Status UI Fiori"/>
          <p:cNvSpPr txBox="1"/>
          <p:nvPr/>
        </p:nvSpPr>
        <p:spPr>
          <a:xfrm>
            <a:off x="6071616" y="4407408"/>
            <a:ext cx="118872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UI Fiori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7260336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4" name="Status Importação"/>
          <p:cNvSpPr txBox="1"/>
          <p:nvPr/>
        </p:nvSpPr>
        <p:spPr>
          <a:xfrm>
            <a:off x="7424928" y="4407408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Importação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8796528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6" name="Status Testes"/>
          <p:cNvSpPr txBox="1"/>
          <p:nvPr/>
        </p:nvSpPr>
        <p:spPr>
          <a:xfrm>
            <a:off x="8961120" y="4407408"/>
            <a:ext cx="100584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Testes</a:t>
            </a:r>
            <a:endParaRPr lang="en-US" sz="1000" dirty="0"/>
          </a:p>
        </p:txBody>
      </p:sp>
      <p:sp>
        <p:nvSpPr>
          <p:cNvPr id="47" name="Cartão"/>
          <p:cNvSpPr/>
          <p:nvPr/>
        </p:nvSpPr>
        <p:spPr>
          <a:xfrm>
            <a:off x="548640" y="498348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48" name="Avatar LuTarget"/>
          <p:cNvSpPr/>
          <p:nvPr/>
        </p:nvSpPr>
        <p:spPr>
          <a:xfrm>
            <a:off x="731520" y="5303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49" name="Image 5" descr="LuTarg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413248"/>
            <a:ext cx="237744" cy="237744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1371600" y="4983480"/>
            <a:ext cx="10085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Neste BO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Clientes e Enderecos, do modelo à app Gestão de Clientes: rascunho com endereços, CEP pelo ViaCEP, CPF validado, foto e perfil somente leitura.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VISÃO GERAL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Os objetos do BO Clientes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4315968"/>
          </a:xfrm>
          <a:prstGeom prst="roundRect">
            <a:avLst>
              <a:gd name="adj" fmla="val 254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1595590"/>
                <a:gridCol w="4964058"/>
                <a:gridCol w="416626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Camada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Objetos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Arquivo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Modelo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Clientes, Enderecos, Generos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db/schema.cds · db/common.cds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Validações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@mandatory, @assert.format e @assert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srv/validacoes.cds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Serviço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ClientesService: Clientes, Enderecos, Generos, CepsCadastrados, Permissoes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srv/clientes-service.cds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Handlers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Rascunho, Save, exclusão, endereços, actions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srv/clientes-service.js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Regras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Endereço por CEP, ViaCEP, permissões, importação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srv/lib/enderecos · viacep · importacao-clientes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UI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Gestão de Clientes (List Report e 2 Object Pages)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app/gestao-clientes/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Dados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100 clientes, 100 endereços, 5 gêneros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db/data/*.csv · docs/modelos-importacao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Testes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13 testes de serviço + importação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test/clientes.test · importacao.test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MODELO E SERVIÇO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Validações declarativas do cliente e do endereço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400800" cy="3596640"/>
          </a:xfrm>
          <a:prstGeom prst="roundRect">
            <a:avLst>
              <a:gd name="adj" fmla="val 3051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943600" cy="323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@assert.format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$value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'^[a-z0-9._%+-]+@[a-z0-9-]+(\.[a-z0-9-]+)*\.[a-z]{2,}$'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'EMAIL_INVALIDO'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@assert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'TELEFONE_INVALIDO'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dataNascimento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@assert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dataNascimento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$now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'DATA_NASCIMENTO_FUTURA'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@assert.target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@mandatory.message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'ENDERECO_NUMERO_OBRIGATORIO'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7" name="Avatar LuListChecks"/>
          <p:cNvSpPr/>
          <p:nvPr/>
        </p:nvSpPr>
        <p:spPr>
          <a:xfrm>
            <a:off x="726948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ListChec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55280" y="16093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Formato no CDS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955280" y="192938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E-mail, telefone e data validados pelo CAP.</a:t>
            </a:r>
            <a:endParaRPr lang="en-US" sz="1400" dirty="0"/>
          </a:p>
        </p:txBody>
      </p:sp>
      <p:sp>
        <p:nvSpPr>
          <p:cNvPr id="11" name="Avatar LuCodeXml"/>
          <p:cNvSpPr/>
          <p:nvPr/>
        </p:nvSpPr>
        <p:spPr>
          <a:xfrm>
            <a:off x="726948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CodeXm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2852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955280" y="27066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Algoritmo no handler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955280" y="302666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Dígitos do CPF e duplicidade ficam no Save.</a:t>
            </a:r>
            <a:endParaRPr lang="en-US" sz="1400" dirty="0"/>
          </a:p>
        </p:txBody>
      </p:sp>
      <p:sp>
        <p:nvSpPr>
          <p:cNvPr id="15" name="Avatar LuLink"/>
          <p:cNvSpPr/>
          <p:nvPr/>
        </p:nvSpPr>
        <p:spPr>
          <a:xfrm>
            <a:off x="726948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Lin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395020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955280" y="38039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@assert.target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955280" y="412394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gênero precisa existir na CodeList.</a:t>
            </a:r>
            <a:endParaRPr lang="en-US" sz="1400" dirty="0"/>
          </a:p>
        </p:txBody>
      </p:sp>
      <p:sp>
        <p:nvSpPr>
          <p:cNvPr id="19" name="Avatar LuMessageSquare"/>
          <p:cNvSpPr/>
          <p:nvPr/>
        </p:nvSpPr>
        <p:spPr>
          <a:xfrm>
            <a:off x="726948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MessageSqua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50474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955280" y="490118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Mensagens próprias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7955280" y="522122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Chaves do _i18n, mostradas no campo.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MODELO E SERVIÇO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ClientesService: o que o BO expõe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400800" cy="4434840"/>
          </a:xfrm>
          <a:prstGeom prst="roundRect">
            <a:avLst>
              <a:gd name="adj" fmla="val 247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9436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'clientes'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'authenticated-user'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ClientesService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@odata.draft.enabled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@restrict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'READ'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'Comum'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'*'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enderecoPrincipal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cidadePrincipal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enderecoPrincipal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ufPrincipal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excluding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@restrict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@cds.redirection.target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definirEnderecoPrincipal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CepsCadastrados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@odata.singleton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@cds.persistence.skip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Permissoes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AspectoPermissoes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importarPlanilha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arquivo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LargeBinary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Avatar LuMapPin"/>
          <p:cNvSpPr/>
          <p:nvPr/>
        </p:nvSpPr>
        <p:spPr>
          <a:xfrm>
            <a:off x="726948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Map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55280" y="16093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Cidade e UF na lista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955280" y="1929384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Lidas do endereço principal pela associação filtrada.</a:t>
            </a:r>
            <a:endParaRPr lang="en-US" sz="1400" dirty="0"/>
          </a:p>
        </p:txBody>
      </p:sp>
      <p:sp>
        <p:nvSpPr>
          <p:cNvPr id="11" name="Avatar LuEyeOff"/>
          <p:cNvSpPr/>
          <p:nvPr/>
        </p:nvSpPr>
        <p:spPr>
          <a:xfrm>
            <a:off x="7269480" y="2834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EyeOf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29443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955280" y="279806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excluding pedidos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955280" y="3118104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app de clientes não navega para pedidos.</a:t>
            </a:r>
            <a:endParaRPr lang="en-US" sz="1400" dirty="0"/>
          </a:p>
        </p:txBody>
      </p:sp>
      <p:sp>
        <p:nvSpPr>
          <p:cNvPr id="15" name="Avatar LuTarget"/>
          <p:cNvSpPr/>
          <p:nvPr/>
        </p:nvSpPr>
        <p:spPr>
          <a:xfrm>
            <a:off x="726948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Targ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413308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955280" y="398678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@cds.redirection.target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955280" y="4306824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Enderecos é o alvo padrão das associações no serviço.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HANDLERS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Mapa dos handlers do ClientesService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4608576"/>
          </a:xfrm>
          <a:prstGeom prst="roundRect">
            <a:avLst>
              <a:gd name="adj" fmla="val 238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2925249"/>
                <a:gridCol w="2393385"/>
                <a:gridCol w="540727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Evento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Alvo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 que faz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 NEW · CREATE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Clientes(.drafts)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valoresIniciais: ativo e score sorteado (0 a 100)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 PATCH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Clientes.drafts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Normaliza CPF, telefone e e-mail; descarta scoreCliente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 PATCH · UPDATE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Clientes.drafts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validarFoto: lê o upload e confere a imagem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 CREATE · UPDATE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Normaliza, foto, CPF (DV e único) e endereços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 DELETE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Bloqueia cliente com pedido (gravado ou rascunho)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 NEW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Enderecos.drafts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Primeiro endereço do cliente vira principal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 PATCH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Enderecos.drafts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Descarta campos do ViaCEP; preenche pelo CEP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 definirEnderecoPrincipal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Enderecos(.drafts)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Marca um principal e desmarca os demais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 READ · importarPlanilha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Permissoes · serviço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somenteLeitura · importarClientes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HANDLERS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Valores iniciais e normalização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766560" cy="3764280"/>
          </a:xfrm>
          <a:prstGeom prst="roundRect">
            <a:avLst>
              <a:gd name="adj" fmla="val 291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6309360" cy="339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valoresIniciais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clienteAtivo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??=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scoreCliente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randomInt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'NEW'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valoresIniciais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'CREATE'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valoresIniciais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normalizar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'string'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somenteDigitos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'string'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somenteDigitos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'string'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toLowerCase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'PATCH'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normalizar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Score é sorteado pelo backend: nunca vem da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'PATCH'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scoreCliente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'CREATE'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'UPDATE'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normalizar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7" name="Avatar LuDice5"/>
          <p:cNvSpPr/>
          <p:nvPr/>
        </p:nvSpPr>
        <p:spPr>
          <a:xfrm>
            <a:off x="763524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Dice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6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321040" y="160934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randomInt(0, 101)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192938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node:crypto: inteiro de 0 a 100.</a:t>
            </a:r>
            <a:endParaRPr lang="en-US" sz="1400" dirty="0"/>
          </a:p>
        </p:txBody>
      </p:sp>
      <p:sp>
        <p:nvSpPr>
          <p:cNvPr id="11" name="Avatar LuEraser"/>
          <p:cNvSpPr/>
          <p:nvPr/>
        </p:nvSpPr>
        <p:spPr>
          <a:xfrm>
            <a:off x="7635240" y="2834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Era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29443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321040" y="279806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Antes do @assert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321040" y="311810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Máscaras digitadas não quebram a validação.</a:t>
            </a:r>
            <a:endParaRPr lang="en-US" sz="1400" dirty="0"/>
          </a:p>
        </p:txBody>
      </p:sp>
      <p:sp>
        <p:nvSpPr>
          <p:cNvPr id="15" name="Avatar LuLock"/>
          <p:cNvSpPr/>
          <p:nvPr/>
        </p:nvSpPr>
        <p:spPr>
          <a:xfrm>
            <a:off x="763524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413308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21040" y="398678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Score protegido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430682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PATCH com scoreCliente é ignorado.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HANDLERS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Save do cliente e exclusão controlada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400800" cy="2240280"/>
          </a:xfrm>
          <a:prstGeom prst="roundRect">
            <a:avLst>
              <a:gd name="adj" fmla="val 4898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943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'CREATE'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'UPDATE'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validarCpf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'CLIENTE_CPF_INVALIDO'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'cpf'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outro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'!='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chave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outro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'CLIENTE_CPF_DUPLICADO'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'cpf'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validarEnderecosDoCliente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7" name="Bloco de código"/>
          <p:cNvSpPr/>
          <p:nvPr/>
        </p:nvSpPr>
        <p:spPr>
          <a:xfrm>
            <a:off x="548640" y="4572000"/>
            <a:ext cx="6400800" cy="1082040"/>
          </a:xfrm>
          <a:prstGeom prst="roundRect">
            <a:avLst>
              <a:gd name="adj" fmla="val 10141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77240" y="4754880"/>
            <a:ext cx="59436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'DELETE'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gravado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rascunho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temPedido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'CLIENTE_COM_PEDIDO'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Avatar LuShieldCheck"/>
          <p:cNvSpPr/>
          <p:nvPr/>
        </p:nvSpPr>
        <p:spPr>
          <a:xfrm>
            <a:off x="726948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Shiel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17556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955280" y="16093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Duas camadas de unicidade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955280" y="1929384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Mensagem amigável no handler e UNIQUE no banco.</a:t>
            </a:r>
            <a:endParaRPr lang="en-US" sz="1400" dirty="0"/>
          </a:p>
        </p:txBody>
      </p:sp>
      <p:sp>
        <p:nvSpPr>
          <p:cNvPr id="13" name="Avatar LuMapPin"/>
          <p:cNvSpPr/>
          <p:nvPr/>
        </p:nvSpPr>
        <p:spPr>
          <a:xfrm>
            <a:off x="7269480" y="2834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Map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29443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955280" y="279806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Endereços no mesmo Save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7955280" y="3118104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payload profundo traz os endereços do rascunho.</a:t>
            </a:r>
            <a:endParaRPr lang="en-US" sz="1400" dirty="0"/>
          </a:p>
        </p:txBody>
      </p:sp>
      <p:sp>
        <p:nvSpPr>
          <p:cNvPr id="17" name="Avatar LuSearch"/>
          <p:cNvSpPr/>
          <p:nvPr/>
        </p:nvSpPr>
        <p:spPr>
          <a:xfrm>
            <a:off x="726948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8" name="Image 2" descr="Lu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413308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955280" y="398678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Rascunho também conta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7955280" y="4306824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Lê PedidosService.Pedidos.drafts pelo modelo.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ENDEREÇOS E VIACEP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Endereço principal e campos protegidos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583680" cy="3459480"/>
          </a:xfrm>
          <a:prstGeom prst="roundRect">
            <a:avLst>
              <a:gd name="adj" fmla="val 3172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6126480" cy="309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'NEW'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drafts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'ID'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'PATCH'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'principal'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'cidade'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'uf'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'estado'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'cepGeral'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'cepStatus'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'cep'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preencherEnderecoPorCep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definirPrincipal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ehRascunho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chave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'!='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Avatar LuBadgeCheck"/>
          <p:cNvSpPr/>
          <p:nvPr/>
        </p:nvSpPr>
        <p:spPr>
          <a:xfrm>
            <a:off x="745236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Badge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08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138160" y="160934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Um principal só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1929384"/>
            <a:ext cx="3520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action desmarca os outros endereços do cliente.</a:t>
            </a:r>
            <a:endParaRPr lang="en-US" sz="1400" dirty="0"/>
          </a:p>
        </p:txBody>
      </p:sp>
      <p:sp>
        <p:nvSpPr>
          <p:cNvPr id="11" name="Avatar LuPencil"/>
          <p:cNvSpPr/>
          <p:nvPr/>
        </p:nvSpPr>
        <p:spPr>
          <a:xfrm>
            <a:off x="7452360" y="2834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Penc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088" y="29443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38160" y="279806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Rascunho e ativo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138160" y="3118104"/>
            <a:ext cx="3520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Registrada para Enderecos e Enderecos.drafts.</a:t>
            </a:r>
            <a:endParaRPr lang="en-US" sz="1400" dirty="0"/>
          </a:p>
        </p:txBody>
      </p:sp>
      <p:sp>
        <p:nvSpPr>
          <p:cNvPr id="15" name="Avatar LuLock"/>
          <p:cNvSpPr/>
          <p:nvPr/>
        </p:nvSpPr>
        <p:spPr>
          <a:xfrm>
            <a:off x="745236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088" y="413308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138160" y="398678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Lista de campos protegidos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138160" y="4306824"/>
            <a:ext cx="3520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Cidade, UF, estado e status só pelo ViaCEP.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ENDEREÇOS E VIACEP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preencherEnderecoPorCep: de onde vêm os dados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Hash"/>
          <p:cNvSpPr/>
          <p:nvPr/>
        </p:nvSpPr>
        <p:spPr>
          <a:xfrm>
            <a:off x="749808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H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653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061058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8 dígitos?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Senão, cepStatus I (inválido).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627986" y="23774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Cartão"/>
          <p:cNvSpPr/>
          <p:nvPr/>
        </p:nvSpPr>
        <p:spPr>
          <a:xfrm>
            <a:off x="2801722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3" name="Avatar LuDatabase"/>
          <p:cNvSpPr/>
          <p:nvPr/>
        </p:nvSpPr>
        <p:spPr>
          <a:xfrm>
            <a:off x="3002890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618" y="186537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14139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3002890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Já cadastrado?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002890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CEP validado e não geral: copia os dados.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881067" y="23774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Cartão"/>
          <p:cNvSpPr/>
          <p:nvPr/>
        </p:nvSpPr>
        <p:spPr>
          <a:xfrm>
            <a:off x="5054803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0" name="Avatar LuGlobe"/>
          <p:cNvSpPr/>
          <p:nvPr/>
        </p:nvSpPr>
        <p:spPr>
          <a:xfrm>
            <a:off x="5255971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21" name="Image 2" descr="LuGlo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699" y="186537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67221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5255971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consultarCep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255971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Chama o ViaCEP com cache e timeout.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134149" y="23774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Cartão"/>
          <p:cNvSpPr/>
          <p:nvPr/>
        </p:nvSpPr>
        <p:spPr>
          <a:xfrm>
            <a:off x="7307885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7" name="Avatar LuTriangleAlert"/>
          <p:cNvSpPr/>
          <p:nvPr/>
        </p:nvSpPr>
        <p:spPr>
          <a:xfrm>
            <a:off x="7509053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8" name="Image 3" descr="LuTriangleAle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781" y="186537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820302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7509053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Indisponível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509053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cepStatus X e aviso CEP_INDISPONIVEL.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9387230" y="23774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33" name="Cartão"/>
          <p:cNvSpPr/>
          <p:nvPr/>
        </p:nvSpPr>
        <p:spPr>
          <a:xfrm>
            <a:off x="9560966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4" name="Avatar LuCircleCheck"/>
          <p:cNvSpPr/>
          <p:nvPr/>
        </p:nvSpPr>
        <p:spPr>
          <a:xfrm>
            <a:off x="9762134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35" name="Image 4" descr="LuCircle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1862" y="1865376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1073384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5</a:t>
            </a:r>
            <a:endParaRPr lang="en-US" sz="2000" dirty="0"/>
          </a:p>
        </p:txBody>
      </p:sp>
      <p:sp>
        <p:nvSpPr>
          <p:cNvPr id="37" name="Text 29"/>
          <p:cNvSpPr txBox="1"/>
          <p:nvPr/>
        </p:nvSpPr>
        <p:spPr>
          <a:xfrm>
            <a:off x="9762134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Válido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9762134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Preenche e marca V (e cepGeral).</a:t>
            </a:r>
            <a:endParaRPr lang="en-US" sz="1300" dirty="0"/>
          </a:p>
        </p:txBody>
      </p:sp>
      <p:sp>
        <p:nvSpPr>
          <p:cNvPr id="39" name="Cartão"/>
          <p:cNvSpPr/>
          <p:nvPr/>
        </p:nvSpPr>
        <p:spPr>
          <a:xfrm>
            <a:off x="1048730" y="3840480"/>
            <a:ext cx="2291659" cy="2377440"/>
          </a:xfrm>
          <a:prstGeom prst="roundRect">
            <a:avLst>
              <a:gd name="adj" fmla="val 4788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40" name="Image 5" descr="Fluxograma da consulta de CE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170" y="3931920"/>
            <a:ext cx="2108779" cy="2194560"/>
          </a:xfrm>
          <a:prstGeom prst="rect">
            <a:avLst/>
          </a:prstGeom>
        </p:spPr>
      </p:pic>
      <p:sp>
        <p:nvSpPr>
          <p:cNvPr id="41" name="Bloco de código"/>
          <p:cNvSpPr/>
          <p:nvPr/>
        </p:nvSpPr>
        <p:spPr>
          <a:xfrm>
            <a:off x="4069080" y="3931920"/>
            <a:ext cx="7571232" cy="1584960"/>
          </a:xfrm>
          <a:prstGeom prst="roundRect">
            <a:avLst>
              <a:gd name="adj" fmla="val 6923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42" name="Código"/>
          <p:cNvSpPr txBox="1"/>
          <p:nvPr/>
        </p:nvSpPr>
        <p:spPr>
          <a:xfrm>
            <a:off x="4297680" y="4114800"/>
            <a:ext cx="7114032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logradouro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bairro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cepGeral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cepStatus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cadastrado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'logradouro'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'bairro'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'cidade'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'uf'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'estado'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cepStatus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cepGeral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cadastrado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cadastrado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cepStatus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consultarCep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ENDEREÇOS E VIACEP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srv/lib/viacep.js: interpretando a resposta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2971800"/>
          </a:xfrm>
          <a:prstGeom prst="roundRect">
            <a:avLst>
              <a:gd name="adj" fmla="val 369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3545756"/>
                <a:gridCol w="4077619"/>
                <a:gridCol w="1418302"/>
                <a:gridCol w="168423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Resposta do ViaCEP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Resultado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cepStatus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Cache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HTTP 200 com logradouro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Endereço válido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Sim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HTTP 200 sem logradouro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CEP geral de município (cepGeral = true)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Sim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HTTP 400 · 404 · { "erro": true }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CEP inexistente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Sim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Falha de rede · timeout (5 s)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Serviço indisponível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Não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Outro status HTTP · JSON inválido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Serviço indisponível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Não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loco de código"/>
          <p:cNvSpPr/>
          <p:nvPr/>
        </p:nvSpPr>
        <p:spPr>
          <a:xfrm>
            <a:off x="548640" y="4754880"/>
            <a:ext cx="6400800" cy="1082040"/>
          </a:xfrm>
          <a:prstGeom prst="roundRect">
            <a:avLst>
              <a:gd name="adj" fmla="val 10141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77240" y="4937760"/>
            <a:ext cx="59436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"viacep"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"kind"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"rest"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"credentials"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"url"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"https://viacep.com.br/ws"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"timeout"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Cartão"/>
          <p:cNvSpPr/>
          <p:nvPr/>
        </p:nvSpPr>
        <p:spPr>
          <a:xfrm>
            <a:off x="7178040" y="4754880"/>
            <a:ext cx="4462272" cy="1325880"/>
          </a:xfrm>
          <a:prstGeom prst="roundRect">
            <a:avLst>
              <a:gd name="adj" fmla="val 8276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06640" y="4754880"/>
            <a:ext cx="40507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Por ambiente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cds_requires_viacep_credentials_url troca a URL; os testes apontam para o ViaCEP falso.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ENDEREÇOS E VIACEP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validarEnderecosDoCliente: regras do Save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3630168"/>
          </a:xfrm>
          <a:prstGeom prst="roundRect">
            <a:avLst>
              <a:gd name="adj" fmla="val 3023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4432195"/>
                <a:gridCol w="4786771"/>
                <a:gridCol w="150694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Condição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Mensagem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HTTP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CEP sem 8 dígitos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CEP_INVALIDO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400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ViaCEP indisponível (cepStatus X)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CEP_INDISPONIVEL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503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CEP não validado ou sem cidade/UF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CEP_INVALIDO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400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CEP geral sem logradouro ou bairro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CAMPO_OBRIGATORIO (Logradouro / Bairro)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400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Mesmo CEP duas vezes no cliente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CEP_DUPLICADO_CLIENTE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409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Nenhum endereço marcado como principal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 primeiro vira principal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Mais de um principal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só o primeiro continua principal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53212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Target do erro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enderecos(ID=...,IsActiveEntity=false)/cep: o Fiori destaca o CEP do endereço certo na tabela.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HANDLERS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Foto do cliente: upload validado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766560" cy="2087880"/>
          </a:xfrm>
          <a:prstGeom prst="roundRect">
            <a:avLst>
              <a:gd name="adj" fmla="val 525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6309360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validarFoto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'fotoCliente'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conteudo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lerConteudo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fotoCliente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conteudo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mime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fotoClienteMimeType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??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'content-type'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validarImagem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conteudo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mime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fotoClienteNome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rejeitar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'FOTO_FORMATO_INVALIDO'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'fotoCliente'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'PATCH'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'UPDATE'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validarFoto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'CREATE'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'UPDATE'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validarFoto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7" name="Avatar LuImage"/>
          <p:cNvSpPr/>
          <p:nvPr/>
        </p:nvSpPr>
        <p:spPr>
          <a:xfrm>
            <a:off x="763524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6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321040" y="160934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@Core.MediaType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192938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Fiori envia a foto por PUT no rascunho.</a:t>
            </a:r>
            <a:endParaRPr lang="en-US" sz="1400" dirty="0"/>
          </a:p>
        </p:txBody>
      </p:sp>
      <p:sp>
        <p:nvSpPr>
          <p:cNvPr id="11" name="Avatar LuShieldCheck"/>
          <p:cNvSpPr/>
          <p:nvPr/>
        </p:nvSpPr>
        <p:spPr>
          <a:xfrm>
            <a:off x="7635240" y="2834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Shiel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29443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321040" y="279806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Três conferências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321040" y="311810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MIME, extensão e assinatura binária.</a:t>
            </a:r>
            <a:endParaRPr lang="en-US" sz="1400" dirty="0"/>
          </a:p>
        </p:txBody>
      </p:sp>
      <p:sp>
        <p:nvSpPr>
          <p:cNvPr id="15" name="Avatar LuBug"/>
          <p:cNvSpPr/>
          <p:nvPr/>
        </p:nvSpPr>
        <p:spPr>
          <a:xfrm>
            <a:off x="763524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16" name="Image 2" descr="LuBu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413308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21040" y="398678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Lição da v1.9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430682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Stream lido uma vez: a foto não grava vazia.</a:t>
            </a:r>
            <a:endParaRPr lang="en-US" sz="1400" dirty="0"/>
          </a:p>
        </p:txBody>
      </p:sp>
      <p:sp>
        <p:nvSpPr>
          <p:cNvPr id="19" name="Bloco de código"/>
          <p:cNvSpPr/>
          <p:nvPr/>
        </p:nvSpPr>
        <p:spPr>
          <a:xfrm>
            <a:off x="548640" y="3931920"/>
            <a:ext cx="6766560" cy="746760"/>
          </a:xfrm>
          <a:prstGeom prst="roundRect">
            <a:avLst>
              <a:gd name="adj" fmla="val 1469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20" name="Código"/>
          <p:cNvSpPr txBox="1"/>
          <p:nvPr/>
        </p:nvSpPr>
        <p:spPr>
          <a:xfrm>
            <a:off x="777240" y="4114800"/>
            <a:ext cx="6309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@Core.AcceptableMediaTypes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'image/jpeg'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'image/png'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'image/webp'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UI GESTÃO DE CLIENTES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List Report de clientes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751330"/>
            <a:ext cx="6949440" cy="4224020"/>
          </a:xfrm>
          <a:prstGeom prst="roundRect">
            <a:avLst>
              <a:gd name="adj" fmla="val 2598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Gestão de Clientes: List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42770"/>
            <a:ext cx="6766560" cy="4041140"/>
          </a:xfrm>
          <a:prstGeom prst="rect">
            <a:avLst/>
          </a:prstGeom>
        </p:spPr>
      </p:pic>
      <p:sp>
        <p:nvSpPr>
          <p:cNvPr id="7" name="Avatar LuFilter"/>
          <p:cNvSpPr/>
          <p:nvPr/>
        </p:nvSpPr>
        <p:spPr>
          <a:xfrm>
            <a:off x="777240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1" descr="Lu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755648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458200" y="16093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SelectionFields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8458200" y="192938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Nome, CPF, e-mail, ativo, cidade e UF.</a:t>
            </a:r>
            <a:endParaRPr lang="en-US" sz="1400" dirty="0"/>
          </a:p>
        </p:txBody>
      </p:sp>
      <p:sp>
        <p:nvSpPr>
          <p:cNvPr id="11" name="Avatar LuTable"/>
          <p:cNvSpPr/>
          <p:nvPr/>
        </p:nvSpPr>
        <p:spPr>
          <a:xfrm>
            <a:off x="777240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2" descr="LuTa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285292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458200" y="27066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LineItem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8458200" y="302666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Foto, CPF formatado, nome, e-mail, telefone, ativo, cidade, UF.</a:t>
            </a:r>
            <a:endParaRPr lang="en-US" sz="1400" dirty="0"/>
          </a:p>
        </p:txBody>
      </p:sp>
      <p:sp>
        <p:nvSpPr>
          <p:cNvPr id="15" name="Avatar LuArrowDownAZ"/>
          <p:cNvSpPr/>
          <p:nvPr/>
        </p:nvSpPr>
        <p:spPr>
          <a:xfrm>
            <a:off x="777240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3" descr="LuArrowDownAZ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395020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458200" y="38039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PresentationVariant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8458200" y="412394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Ordenado por nome.</a:t>
            </a:r>
            <a:endParaRPr lang="en-US" sz="1400" dirty="0"/>
          </a:p>
        </p:txBody>
      </p:sp>
      <p:sp>
        <p:nvSpPr>
          <p:cNvPr id="19" name="Avatar LuKeyRound"/>
          <p:cNvSpPr/>
          <p:nvPr/>
        </p:nvSpPr>
        <p:spPr>
          <a:xfrm>
            <a:off x="777240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4" descr="LuKeyRou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5047488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458200" y="49011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SemanticKey: cpf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8458200" y="522122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Chave usada na navegação vinda de outras apps.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UI GESTÃO DE CLIENTES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 Page do cliente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035040" cy="3093720"/>
          </a:xfrm>
          <a:prstGeom prst="roundRect">
            <a:avLst>
              <a:gd name="adj" fmla="val 3547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577840" cy="2727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HeaderInfo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cpfFormatado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ImageUrl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fotoCliente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Score de 0 a 100: vermelho até 40, amarelo até 70, verde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DataPoint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#Score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scoreCliente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 do cliente'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TargetValue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#Progress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scoreCriticality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 do cliente'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'@UI.FieldGroup#Dados'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'Endereços'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'enderecos/@UI.LineItem'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 administrativos'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'@UI.FieldGroup#Admin'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7" name="Cartão"/>
          <p:cNvSpPr/>
          <p:nvPr/>
        </p:nvSpPr>
        <p:spPr>
          <a:xfrm>
            <a:off x="6858000" y="1554480"/>
            <a:ext cx="4782312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08660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Cor do score (scoreCriticality)</a:t>
            </a:r>
            <a:endParaRPr lang="en-US" sz="1400" dirty="0"/>
          </a:p>
        </p:txBody>
      </p:sp>
      <p:sp>
        <p:nvSpPr>
          <p:cNvPr id="9" name="Status Até 40"/>
          <p:cNvSpPr txBox="1"/>
          <p:nvPr/>
        </p:nvSpPr>
        <p:spPr>
          <a:xfrm>
            <a:off x="7086600" y="2331720"/>
            <a:ext cx="1325880" cy="274320"/>
          </a:xfrm>
          <a:prstGeom prst="roundRect">
            <a:avLst>
              <a:gd name="adj" fmla="val 46667"/>
            </a:avLst>
          </a:prstGeom>
          <a:solidFill>
            <a:srgbClr val="FFEAF4"/>
          </a:solidFill>
          <a:ln w="9525">
            <a:solidFill>
              <a:srgbClr val="AA080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0808"/>
                </a:solidFill>
              </a:rPr>
              <a:t>Até 40</a:t>
            </a:r>
            <a:endParaRPr lang="en-US" sz="1000" dirty="0"/>
          </a:p>
        </p:txBody>
      </p:sp>
      <p:sp>
        <p:nvSpPr>
          <p:cNvPr id="10" name="Status 41 a 69"/>
          <p:cNvSpPr txBox="1"/>
          <p:nvPr/>
        </p:nvSpPr>
        <p:spPr>
          <a:xfrm>
            <a:off x="8567928" y="2331720"/>
            <a:ext cx="1325880" cy="274320"/>
          </a:xfrm>
          <a:prstGeom prst="roundRect">
            <a:avLst>
              <a:gd name="adj" fmla="val 46667"/>
            </a:avLst>
          </a:prstGeom>
          <a:solidFill>
            <a:srgbClr val="FFF3B8"/>
          </a:solidFill>
          <a:ln w="9525">
            <a:solidFill>
              <a:srgbClr val="B44F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41 a 69</a:t>
            </a:r>
            <a:endParaRPr lang="en-US" sz="1000" dirty="0"/>
          </a:p>
        </p:txBody>
      </p:sp>
      <p:sp>
        <p:nvSpPr>
          <p:cNvPr id="11" name="Status 70 ou mais"/>
          <p:cNvSpPr txBox="1"/>
          <p:nvPr/>
        </p:nvSpPr>
        <p:spPr>
          <a:xfrm>
            <a:off x="10049256" y="2331720"/>
            <a:ext cx="1325880" cy="274320"/>
          </a:xfrm>
          <a:prstGeom prst="roundRect">
            <a:avLst>
              <a:gd name="adj" fmla="val 46667"/>
            </a:avLst>
          </a:prstGeom>
          <a:solidFill>
            <a:srgbClr val="F5FAE5"/>
          </a:solidFill>
          <a:ln w="9525">
            <a:solidFill>
              <a:srgbClr val="256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70 ou mais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2788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Valores calculados na leitura, no modelo (etapa 1).</a:t>
            </a:r>
            <a:endParaRPr lang="en-US" sz="1200" dirty="0"/>
          </a:p>
        </p:txBody>
      </p:sp>
      <p:sp>
        <p:nvSpPr>
          <p:cNvPr id="13" name="Avatar LuLayers"/>
          <p:cNvSpPr/>
          <p:nvPr/>
        </p:nvSpPr>
        <p:spPr>
          <a:xfrm>
            <a:off x="6949440" y="3611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4" name="Image 0" descr="Lu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372160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635240" y="357530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Endereços na mesma página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635240" y="3895344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Tabela da composição, editada no rascunho do cliente.</a:t>
            </a:r>
            <a:endParaRPr lang="en-US" sz="1400" dirty="0"/>
          </a:p>
        </p:txBody>
      </p:sp>
      <p:sp>
        <p:nvSpPr>
          <p:cNvPr id="17" name="Avatar LuHistory"/>
          <p:cNvSpPr/>
          <p:nvPr/>
        </p:nvSpPr>
        <p:spPr>
          <a:xfrm>
            <a:off x="6949440" y="47091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8" name="Image 1" descr="LuHis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481888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635240" y="467258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Dados administrativos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635240" y="4992624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createdAt/By e modifiedAt/By do aspect managed.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UI GESTÃO DE CLIENTES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 Page do endereço: CEP inteligente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5760720" cy="2849880"/>
          </a:xfrm>
          <a:prstGeom prst="roundRect">
            <a:avLst>
              <a:gd name="adj" fmla="val 3850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303520" cy="248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SideEffects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#Cep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SourceProperties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TargetProperties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'logradouro'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'bairro'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'cidade'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'uf'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'estado'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'cepGeral'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'cepStatus'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'controleCampoCep'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'cepFormatado'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'enderecoCompleto'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logradouro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@Common.FieldControl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controleCampoCep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bairro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@Common.FieldControl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controleCampoCep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@Common.ValueList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'CEPs já cadastrados'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CollectionPath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'CepsCadastrados'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InOut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DisplayOnly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logradouro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bairro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definirEnderecoPrincipal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OperationAvailable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$self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SideEffects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TargetEntities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7" name="Avatar LuRefreshCw"/>
          <p:cNvSpPr/>
          <p:nvPr/>
        </p:nvSpPr>
        <p:spPr>
          <a:xfrm>
            <a:off x="662940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RefreshC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12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0" y="160934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Side effect #Cep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315200" y="1929384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Após o PATCH do CEP, a tela relê os 10 campos.</a:t>
            </a:r>
            <a:endParaRPr lang="en-US" sz="1400" dirty="0"/>
          </a:p>
        </p:txBody>
      </p:sp>
      <p:sp>
        <p:nvSpPr>
          <p:cNvPr id="11" name="Avatar LuPencil"/>
          <p:cNvSpPr/>
          <p:nvPr/>
        </p:nvSpPr>
        <p:spPr>
          <a:xfrm>
            <a:off x="662940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Penc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852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15200" y="270662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FieldControl 7 ou 1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315200" y="3026664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CEP geral: obrigatório e editável; demais: leitura.</a:t>
            </a:r>
            <a:endParaRPr lang="en-US" sz="1400" dirty="0"/>
          </a:p>
        </p:txBody>
      </p:sp>
      <p:sp>
        <p:nvSpPr>
          <p:cNvPr id="15" name="Avatar LuSearch"/>
          <p:cNvSpPr/>
          <p:nvPr/>
        </p:nvSpPr>
        <p:spPr>
          <a:xfrm>
            <a:off x="662940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395020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15200" y="380390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Value help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315200" y="4123944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Escolher um CEP conhecido evita o ViaCEP.</a:t>
            </a:r>
            <a:endParaRPr lang="en-US" sz="1400" dirty="0"/>
          </a:p>
        </p:txBody>
      </p:sp>
      <p:sp>
        <p:nvSpPr>
          <p:cNvPr id="19" name="Avatar LuBadgeCheck"/>
          <p:cNvSpPr/>
          <p:nvPr/>
        </p:nvSpPr>
        <p:spPr>
          <a:xfrm>
            <a:off x="662940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Badge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50474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315200" y="490118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Ação só se não principal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7315200" y="5221224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OperationAvailable desabilita no principal.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UI GESTÃO DE CLIENTES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Perfil Comum: tudo somente leitura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694944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583680" cy="914400"/>
        </p:xfrm>
        <a:graphic>
          <a:graphicData uri="http://schemas.openxmlformats.org/drawingml/2006/table">
            <a:tbl>
              <a:tblPr/>
              <a:tblGrid>
                <a:gridCol w="3118585"/>
                <a:gridCol w="1386038"/>
                <a:gridCol w="2079057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Recurso da UI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Comum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Criar, Editar, Excluir cliente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Visível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Escondido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Criar e excluir endereço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Visível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Escondido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Definir como principal (tabela)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Visível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Escondido (UI.Hidden)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Definir como principal (cabeçalho)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Visível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Escondido (manifest)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Importar planilha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Visível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Escondido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vatar LuEyeOff"/>
          <p:cNvSpPr/>
          <p:nvPr/>
        </p:nvSpPr>
        <p:spPr>
          <a:xfrm>
            <a:off x="781812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EyeO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7848" y="1755648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503920" y="160934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UI.*Hidden por $edmJson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8503920" y="1929384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Caminho absoluto para Permissoes/somenteLeitura.</a:t>
            </a:r>
            <a:endParaRPr lang="en-US" sz="1400" dirty="0"/>
          </a:p>
        </p:txBody>
      </p:sp>
      <p:sp>
        <p:nvSpPr>
          <p:cNvPr id="11" name="Avatar LuFileCode"/>
          <p:cNvSpPr/>
          <p:nvPr/>
        </p:nvSpPr>
        <p:spPr>
          <a:xfrm>
            <a:off x="7818120" y="2834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File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294436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503920" y="279806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Cabeçalho pelo manifest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8503920" y="3118104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Lá o UI.Hidden com caminho não é avaliado.</a:t>
            </a:r>
            <a:endParaRPr lang="en-US" sz="1400" dirty="0"/>
          </a:p>
        </p:txBody>
      </p:sp>
      <p:sp>
        <p:nvSpPr>
          <p:cNvPr id="15" name="Avatar LuShieldCheck"/>
          <p:cNvSpPr/>
          <p:nvPr/>
        </p:nvSpPr>
        <p:spPr>
          <a:xfrm>
            <a:off x="781812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Shiel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413308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503920" y="398678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Backend decide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8503920" y="4306824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@restrict barra a escrita mesmo sem a UI.</a:t>
            </a:r>
            <a:endParaRPr lang="en-US" sz="1400" dirty="0"/>
          </a:p>
        </p:txBody>
      </p:sp>
      <p:sp>
        <p:nvSpPr>
          <p:cNvPr id="19" name="Cartão"/>
          <p:cNvSpPr/>
          <p:nvPr/>
        </p:nvSpPr>
        <p:spPr>
          <a:xfrm>
            <a:off x="548640" y="5029200"/>
            <a:ext cx="6949440" cy="1051560"/>
          </a:xfrm>
          <a:prstGeom prst="roundRect">
            <a:avLst>
              <a:gd name="adj" fmla="val 10435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777240" y="5029200"/>
            <a:ext cx="6537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Testado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"a UI só oferece alteração ao Admin: Permissoes.somenteLeitura por usuário".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IMPORTAÇÃO E TESTES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Importação de clientes por planilha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6400800" cy="3858768"/>
          </a:xfrm>
          <a:prstGeom prst="roundRect">
            <a:avLst>
              <a:gd name="adj" fmla="val 284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035040" cy="914400"/>
        </p:xfrm>
        <a:graphic>
          <a:graphicData uri="http://schemas.openxmlformats.org/drawingml/2006/table">
            <a:tbl>
              <a:tblPr/>
              <a:tblGrid>
                <a:gridCol w="2500231"/>
                <a:gridCol w="3534809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Coluna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Validação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CPF *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DV válido; não cadastrado nem repetido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Nome *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Até 255 caracteres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E-mail *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Formato válido; até 100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Telefone *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10 ou 11 dígitos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Gênero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Código ou texto da CodeList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Data de nascimento *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AAAA-MM-DD ou DD/MM/AAAA; não futura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CEP * · Número * · Complemento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8 dígitos (zeros repostos); até 20 · 100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loco de código"/>
          <p:cNvSpPr/>
          <p:nvPr/>
        </p:nvSpPr>
        <p:spPr>
          <a:xfrm>
            <a:off x="7178040" y="1554480"/>
            <a:ext cx="4462272" cy="1249680"/>
          </a:xfrm>
          <a:prstGeom prst="roundRect">
            <a:avLst>
              <a:gd name="adj" fmla="val 8780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406640" y="1737360"/>
            <a:ext cx="4005072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criação pelo serviço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entries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complemento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Avatar LuGlobe"/>
          <p:cNvSpPr/>
          <p:nvPr/>
        </p:nvSpPr>
        <p:spPr>
          <a:xfrm>
            <a:off x="7269480" y="3977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Glo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408736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955280" y="39410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ViaCEP na importação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7955280" y="4261104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CEP inexistente cancela a importação inteira.</a:t>
            </a:r>
            <a:endParaRPr lang="en-US" sz="1400" dirty="0"/>
          </a:p>
        </p:txBody>
      </p:sp>
      <p:sp>
        <p:nvSpPr>
          <p:cNvPr id="13" name="Avatar LuShieldCheck"/>
          <p:cNvSpPr/>
          <p:nvPr/>
        </p:nvSpPr>
        <p:spPr>
          <a:xfrm>
            <a:off x="7269480" y="5029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Shiel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513892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955280" y="49926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Só Admin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7955280" y="5312664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@requires: 'Admin' na 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IMPORTAÇÃO E TESTES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clientes.test: 13 testes do BO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5440680" cy="452628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cria cliente com endereço preenchido pelo ViaCEP, ativo e com score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CEP já cadastrado é reaproveitado sem chamar o ViaCEP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CPF inválido ou duplicado bloqueia o Save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e-mail, telefone e data de nascimento são validados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CEP inexistente ou ViaCEP indisponível bloqueiam o Save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CEP geral exige logradouro e bairro informados pelo usuário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número do endereço é obrigatório e o CEP é único por cliente</a:t>
            </a:r>
            <a:endParaRPr lang="en-US" sz="1400" dirty="0"/>
          </a:p>
        </p:txBody>
      </p:sp>
      <p:sp>
        <p:nvSpPr>
          <p:cNvPr id="7" name="Cartão"/>
          <p:cNvSpPr/>
          <p:nvPr/>
        </p:nvSpPr>
        <p:spPr>
          <a:xfrm>
            <a:off x="6199632" y="1554480"/>
            <a:ext cx="5440680" cy="452628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73952" y="178308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definir endereço principal desmarca os demais (rascunho e ativo)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usuário comum consulta, mas não cria, edita nem exclui clientes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UI só oferece alteração ao Admin: Permissoes.somenteLeitura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cliente com pedido não pode ser excluído; sem pedido pode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foto aceita apenas JPEG, PNG ou WEBP com assinatura válida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foto enviada no rascunho é gravada e exibida depois do Save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RESUMO DO BO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 que vimos no BO Clientes</a:t>
            </a:r>
            <a:endParaRPr lang="en-US" sz="3600" dirty="0"/>
          </a:p>
        </p:txBody>
      </p:sp>
      <p:sp>
        <p:nvSpPr>
          <p:cNvPr id="4" name="Marcador"/>
          <p:cNvSpPr/>
          <p:nvPr/>
        </p:nvSpPr>
        <p:spPr>
          <a:xfrm>
            <a:off x="73152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5" name="Image 0" descr="concluí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2037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Clientes e Enderecos com validações declarativas</a:t>
            </a:r>
            <a:endParaRPr lang="en-US" sz="1500" dirty="0"/>
          </a:p>
        </p:txBody>
      </p:sp>
      <p:sp>
        <p:nvSpPr>
          <p:cNvPr id="7" name="Marcador"/>
          <p:cNvSpPr/>
          <p:nvPr/>
        </p:nvSpPr>
        <p:spPr>
          <a:xfrm>
            <a:off x="626364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8" name="Image 1" descr="concluí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2037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0372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Handlers de rascunho, Save, foto e exclusão</a:t>
            </a:r>
            <a:endParaRPr lang="en-US" sz="1500" dirty="0"/>
          </a:p>
        </p:txBody>
      </p:sp>
      <p:sp>
        <p:nvSpPr>
          <p:cNvPr id="10" name="Marcador"/>
          <p:cNvSpPr/>
          <p:nvPr/>
        </p:nvSpPr>
        <p:spPr>
          <a:xfrm>
            <a:off x="73152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Image 2" descr="concluí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16382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Endereço por CEP: cadastro primeiro, ViaCEP depois</a:t>
            </a:r>
            <a:endParaRPr lang="en-US" sz="1500" dirty="0"/>
          </a:p>
        </p:txBody>
      </p:sp>
      <p:sp>
        <p:nvSpPr>
          <p:cNvPr id="13" name="Marcador"/>
          <p:cNvSpPr/>
          <p:nvPr/>
        </p:nvSpPr>
        <p:spPr>
          <a:xfrm>
            <a:off x="626364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4" name="Image 3" descr="concluí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16382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0372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Um endereço principal, CEP único por cliente</a:t>
            </a:r>
            <a:endParaRPr lang="en-US" sz="1500" dirty="0"/>
          </a:p>
        </p:txBody>
      </p:sp>
      <p:sp>
        <p:nvSpPr>
          <p:cNvPr id="16" name="Marcador"/>
          <p:cNvSpPr/>
          <p:nvPr/>
        </p:nvSpPr>
        <p:spPr>
          <a:xfrm>
            <a:off x="73152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7" name="Image 4" descr="concluí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12394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List Report, Object Pages, side effect #Cep e permissões</a:t>
            </a:r>
            <a:endParaRPr lang="en-US" sz="1500" dirty="0"/>
          </a:p>
        </p:txBody>
      </p:sp>
      <p:sp>
        <p:nvSpPr>
          <p:cNvPr id="19" name="Marcador"/>
          <p:cNvSpPr/>
          <p:nvPr/>
        </p:nvSpPr>
        <p:spPr>
          <a:xfrm>
            <a:off x="626364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0" name="Image 5" descr="concluíd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412394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0372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Importação tudo ou nada e 13 testes de serviço</a:t>
            </a:r>
            <a:endParaRPr lang="en-US" sz="1500" dirty="0"/>
          </a:p>
        </p:txBody>
      </p:sp>
      <p:sp>
        <p:nvSpPr>
          <p:cNvPr id="22" name="Próxima etapa"/>
          <p:cNvSpPr/>
          <p:nvPr/>
        </p:nvSpPr>
        <p:spPr>
          <a:xfrm>
            <a:off x="731520" y="5394960"/>
            <a:ext cx="10725912" cy="777240"/>
          </a:xfrm>
          <a:prstGeom prst="roundRect">
            <a:avLst>
              <a:gd name="adj" fmla="val 16471"/>
            </a:avLst>
          </a:prstGeom>
          <a:solidFill>
            <a:srgbClr val="1B3A7A"/>
          </a:solidFill>
          <a:ln/>
        </p:spPr>
      </p:sp>
      <p:pic>
        <p:nvPicPr>
          <p:cNvPr id="23" name="Image 6" descr="próxima etap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59552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00200" y="54406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D1FF"/>
                </a:solidFill>
              </a:rPr>
              <a:t>Próximo BO ·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Estoque: SKU, colunas geradas, inativação, exclusão e importação.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00144A"/>
      </a:dk2>
      <a:lt2>
        <a:srgbClr val="F5F6F7"/>
      </a:lt2>
      <a:accent1>
        <a:srgbClr val="0070F2"/>
      </a:accent1>
      <a:accent2>
        <a:srgbClr val="049F9A"/>
      </a:accent2>
      <a:accent3>
        <a:srgbClr val="7858FF"/>
      </a:accent3>
      <a:accent4>
        <a:srgbClr val="E76500"/>
      </a:accent4>
      <a:accent5>
        <a:srgbClr val="256F3A"/>
      </a:accent5>
      <a:accent6>
        <a:srgbClr val="AA0808"/>
      </a:accent6>
      <a:hlink>
        <a:srgbClr val="0064D9"/>
      </a:hlink>
      <a:folHlink>
        <a:srgbClr val="7858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Pedidos de Compras - SAP CAP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 Clientes - Implementação</dc:title>
  <dc:subject>Projeto Pedidos de Compras em SAP CAP e SAP Fiori</dc:subject>
  <dc:creator>Adriano Bispo</dc:creator>
  <cp:lastModifiedBy>Adriano Bispo</cp:lastModifiedBy>
  <cp:revision>1</cp:revision>
  <dcterms:created xsi:type="dcterms:W3CDTF">2026-10-20T11:28:23Z</dcterms:created>
  <dcterms:modified xsi:type="dcterms:W3CDTF">2026-10-20T11:28:23Z</dcterms:modified>
</cp:coreProperties>
</file>