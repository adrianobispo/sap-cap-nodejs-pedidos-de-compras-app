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fa4534f-5446-9c45-618f-5729e42badb4}">
          <p14:sldIdLst>
            <p14:sldId id="256"/>
          </p14:sldIdLst>
        </p14:section>
        <p14:section name="Contexto" id="{e9003ffe-7eab-c20e-80d4-834eb51e301a}">
          <p14:sldIdLst>
            <p14:sldId id="257"/>
          </p14:sldIdLst>
        </p14:section>
        <p14:section name="Visão geral" id="{46bfab30-ed23-f0c7-569d-49c3d56a3421}">
          <p14:sldIdLst>
            <p14:sldId id="258"/>
            <p14:sldId id="259"/>
          </p14:sldIdLst>
        </p14:section>
        <p14:section name="Anotações" id="{83b4faf8-5ed1-1c48-cba3-b86b885a1dcb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Extensões" id="{85aef5a6-36e3-3e96-978a-fe01043a9b9b}">
          <p14:sldIdLst>
            <p14:sldId id="267"/>
            <p14:sldId id="268"/>
            <p14:sldId id="269"/>
          </p14:sldIdLst>
        </p14:section>
        <p14:section name="Navegação e launchpad" id="{22ef39aa-99b7-27f3-39de-441b8f47b350}">
          <p14:sldIdLst>
            <p14:sldId id="270"/>
            <p14:sldId id="271"/>
          </p14:sldIdLst>
        </p14:section>
        <p14:section name="Encerramento" id="{0dc873bd-2ea6-b9e8-7629-056008878688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4: a interface Fiori Elements sobre os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UI é orientada a anotações: colunas, filtros, seções, ações, criticidade e side effects vêm do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tem rota própria e um intent (objeto semântico + ação) usado no launchpad e na navegação.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SAP Fiori Application Generator lê o serviço CAP local e cria a app já ligada às anotações em app/&lt;app&gt;/annotations.cds.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HeaderInfo, SelectionFields, LineItem e DataPoint: a List Report e a Object Page saem destas anotações, sem código de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anotações do vocabulário UI e onde cada uma aparece nas quatro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Comportamento de campos e ações: textos, value helps, controle de edição, side effects e moeda.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Anotações no modelo de domínio valem em todos os serviços que expõem a entidade: cada app herda rótulos e campos somente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seções aparecem conforme o status, usando os elementos calculados do modelo (etapa 1) em @UI.Hidden.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recarregam campos após uma mudança; FieldControl e UpdateHidden usam expressões; Permissoes esconde botões do perfil Comum.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ajudas de valores e todos os side effects declarados nas anotações das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extensões JavaScript registradas no manifest.json: importação, pagamento com máscara e visibilidade das 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manifest liga a app ao serviço, declara o intent do launchpad, as rotas e as extensões de cada 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tem uma List Report e Object Pages por nível de composição. Todas usam SAPUI5 1.148.12.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Campos viram links para o registro na app de destino, localizado pela chave semântica recebida no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Sandbox do SAP Fiori launchpad em app/launchpad.html: quatro tiles de gestão e quatro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4 — Apps Fiori Elements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4 — Apps Fiori Elements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04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 Elements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de gestão geradas com SAP Fiori tools e dirigidas por anotações, com extensões, navegação e launchpad.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 Ele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4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criamos as quatro apps de gestão em Fiori Elements V4 (List Report + Object Page) no tema SAP Horizon, com a UI descrita por anotações CDS e extensões só onde o padrão não basta.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Quatro apps de gestão, uma por serviço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285850"/>
                <a:gridCol w="2110015"/>
                <a:gridCol w="4044196"/>
                <a:gridCol w="228585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Caminho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Páginas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Tile (intent)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Gestão de 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/gestaoclientes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 → Endereço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Gestão de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/gestaoestoque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ItemEstoque-manage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 de Compras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/pedidoscompras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→ Item do pedido / Item no encerramento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PedidoCompra-manage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Gestão de 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/gestaoreembolsos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572000"/>
            <a:ext cx="3575304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PanelsTopLeft"/>
          <p:cNvSpPr/>
          <p:nvPr/>
        </p:nvSpPr>
        <p:spPr>
          <a:xfrm>
            <a:off x="77724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PanelsTopLe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493227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47731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Fiori Elements V4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508760" y="5175504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List Report e Object Page para listas, filtros e detalhes.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4306824" y="4572000"/>
            <a:ext cx="3575304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parkles"/>
          <p:cNvSpPr/>
          <p:nvPr/>
        </p:nvSpPr>
        <p:spPr>
          <a:xfrm>
            <a:off x="4535424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4" name="Image 1" descr="Lu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4932274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66944" y="47731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Tema sap_horizon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5266944" y="5175504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SAPUI5 1.148 LTS com o visual Horizon em todas as apps.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8065008" y="4572000"/>
            <a:ext cx="3575304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Server"/>
          <p:cNvSpPr/>
          <p:nvPr/>
        </p:nvSpPr>
        <p:spPr>
          <a:xfrm>
            <a:off x="8293608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9" name="Image 2" descr="Lu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4932274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025128" y="47731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Servidas pelo CAP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9025128" y="5175504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cds-plugin-ui5 e npm workspaces: um único npm run watch.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GERAÇÃO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Geração das apps com SAP Fiori tools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Wand"/>
          <p:cNvSpPr/>
          <p:nvPr/>
        </p:nvSpPr>
        <p:spPr>
          <a:xfrm>
            <a:off x="749808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7" name="Image 0" descr="LuW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1109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Application Generator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Template List Report Page V4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erver"/>
          <p:cNvSpPr/>
          <p:nvPr/>
        </p:nvSpPr>
        <p:spPr>
          <a:xfrm>
            <a:off x="3566160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4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911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Local CAP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 lido do projeto, sem URL externa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Table"/>
          <p:cNvSpPr/>
          <p:nvPr/>
        </p:nvSpPr>
        <p:spPr>
          <a:xfrm>
            <a:off x="6382512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1" name="Image 2" descr="Lu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911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Entidade principal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Ex.: Itens em EstoqueService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FileCode"/>
          <p:cNvSpPr/>
          <p:nvPr/>
        </p:nvSpPr>
        <p:spPr>
          <a:xfrm>
            <a:off x="9198864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8" name="Image 3" descr="LuFile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91109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Projeto gerado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webapp, manifest.json e annotations.cds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703320"/>
            <a:ext cx="5486400" cy="1798320"/>
          </a:xfrm>
          <a:prstGeom prst="roundRect">
            <a:avLst>
              <a:gd name="adj" fmla="val 610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3886200"/>
            <a:ext cx="502920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app/gestao-estoque/.appGenInfo.json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"serviceType"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 CAP"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"serviceUrl"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".../odata/v4/estoque/"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"template"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 Report Page V4"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"ui5Theme"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"sap_horizon"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"ui5Version"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"1.148.12"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"entityRelatedConfig"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"value"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"Itens"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34" name="Bloco de código"/>
          <p:cNvSpPr/>
          <p:nvPr/>
        </p:nvSpPr>
        <p:spPr>
          <a:xfrm>
            <a:off x="6263640" y="3703320"/>
            <a:ext cx="5376672" cy="1600200"/>
          </a:xfrm>
          <a:prstGeom prst="roundRect">
            <a:avLst>
              <a:gd name="adj" fmla="val 685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5" name="Código"/>
          <p:cNvSpPr txBox="1"/>
          <p:nvPr/>
        </p:nvSpPr>
        <p:spPr>
          <a:xfrm>
            <a:off x="6492240" y="388620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app/services.cds reúne as anotações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'./common'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'./gestao-clientes/annotations'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'./gestao-estoque/annotations'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'./pedidos-compras/annotations'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'./gestao-reembolsos/annotations'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tela descrita por anotações CDS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5760720" cy="3779520"/>
          </a:xfrm>
          <a:prstGeom prst="roundRect">
            <a:avLst>
              <a:gd name="adj" fmla="val 290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30352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SemanticKey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HeaderInfo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ImageUrl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fotoItem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categoria_code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statusEstoque_code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fotoItem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![@UI.Importance]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#High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statusEstoque_code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6537960" y="1685671"/>
            <a:ext cx="5102352" cy="3120898"/>
          </a:xfrm>
          <a:prstGeom prst="roundRect">
            <a:avLst>
              <a:gd name="adj" fmla="val 351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8" name="Image 0" descr="Gestão de Estoque: List 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777111"/>
            <a:ext cx="4919472" cy="2938018"/>
          </a:xfrm>
          <a:prstGeom prst="rect">
            <a:avLst/>
          </a:prstGeom>
        </p:spPr>
      </p:pic>
      <p:sp>
        <p:nvSpPr>
          <p:cNvPr id="9" name="Avatar LuGauge"/>
          <p:cNvSpPr/>
          <p:nvPr/>
        </p:nvSpPr>
        <p:spPr>
          <a:xfrm>
            <a:off x="6583680" y="5029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1" descr="Lu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51389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269480" y="499262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Criticidade da CodeList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269480" y="5312664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cor do status vem de statusEstoque.criticality.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Vocabulário UI usado no projeto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590288"/>
          </a:xfrm>
          <a:prstGeom prst="roundRect">
            <a:avLst>
              <a:gd name="adj" fmla="val 239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811688"/>
                <a:gridCol w="3191180"/>
                <a:gridCol w="372304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Anotação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Para que serve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Exemplo no projeto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UI.HeaderInfo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Título, descrição e imagem do objeto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Pedido: numeroPedido + nome do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UI.SelectionFields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Campos da barra de filtros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Pedidos: cliente, CPF, status, data, total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UI.LineItem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Colunas e ações da tabela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Itens: foto, SKU, disponível, 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UI.PresentationVariant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Ordenação padrão e campos sempre lidos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Pedidos por createdAt desc; RequestAtLeast cpf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UI.Facets · FieldGroup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Seções da Object Page e seus campos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Cliente: Dados, Endereços, Administrativo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UI.HeaderFacets · DataPoint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Indicadores no cabeçalho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Score do cliente em barra de progresso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UI.Identification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Ações no cabeçalho da Object 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Aprovar e Rejeitar 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UI.DataFieldForActionGroup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Menu que agrupa ações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Ações: pagar, aprovar, cancelar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UI.DataFieldWithIntentBasedNavigation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Link para outra app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→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UI.Hidden · UI.*Hidden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Esconde campos, seções e botões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Seções por status; Permissoes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Vocabulários Common, Core e Measures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681728"/>
          </a:xfrm>
          <a:prstGeom prst="roundRect">
            <a:avLst>
              <a:gd name="adj" fmla="val 23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191180"/>
                <a:gridCol w="3457112"/>
                <a:gridCol w="4077619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Anotação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Para que serve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Exemplo no projeto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Common.SemanticKey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 de negócio na URL e no rascunho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cpf, sku, numeroPedido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Common.Text · TextArrangement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Mostra o texto no lugar do código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statusPedido.name #TextOnly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Common.ValueList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Ajuda de valores com colunas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ClientesAtivos, ItensAtivos, CepsCadastrados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Common.ValueListWithFixedValues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Drop-down de valores fixos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Gênero, categoria, 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Common.FieldControl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Editável, obrigatório ou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cliente: 7 na criação, 1 depois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Common.SideEffects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Recarrega campos após mudança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#Cliente, #Itens, #Valores, #Cep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Common.SemanticObject · Mapping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Liga campo a um objeto semântico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CPF → Cliente (cpf)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Common.IsActionCritical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Pede confirmação antes da 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aprovarPedido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Core.OperationAvailable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Habilita a ação por expressão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statusPedido.code = 'ABERTO'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Core.MediaType · Computed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Mídia e campos calculados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fotoCliente; dados do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Measures.ISOCurrency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Valor com moeda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precoUnitario, valorTotal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app/common.cds: rótulos e textos para todas as apps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520440"/>
          </a:xfrm>
          <a:prstGeom prst="roundRect">
            <a:avLst>
              <a:gd name="adj" fmla="val 311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@Common.FieldControl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#ReadOnly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'Descrição'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@UI.MultiLineText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'Categoria'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TextArrangement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#TextOnly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ValueListWithFixedValues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'Quantidade reservada'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@Common.FieldControl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#ReadOnly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'Preço unitário'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@Measures.ISOCurrency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 total'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@Common.FieldControl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#ReadOnly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@Measures.ISOCurrency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encerrado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Avatar LuLayers"/>
          <p:cNvSpPr/>
          <p:nvPr/>
        </p:nvSpPr>
        <p:spPr>
          <a:xfrm>
            <a:off x="726948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0" y="1609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Uma vez, em todas as apps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92938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Pedidos reaproveita os rótulos de Itens e Clientes.</a:t>
            </a:r>
            <a:endParaRPr lang="en-US" sz="1400" dirty="0"/>
          </a:p>
        </p:txBody>
      </p:sp>
      <p:sp>
        <p:nvSpPr>
          <p:cNvPr id="11" name="Avatar LuLock"/>
          <p:cNvSpPr/>
          <p:nvPr/>
        </p:nvSpPr>
        <p:spPr>
          <a:xfrm>
            <a:off x="726948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55280" y="27066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#ReadOnly no domínio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955280" y="302666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SKU, reserva, status e totais nunca são editáveis.</a:t>
            </a:r>
            <a:endParaRPr lang="en-US" sz="1400" dirty="0"/>
          </a:p>
        </p:txBody>
      </p:sp>
      <p:sp>
        <p:nvSpPr>
          <p:cNvPr id="15" name="Avatar LuEyeOff"/>
          <p:cNvSpPr/>
          <p:nvPr/>
        </p:nvSpPr>
        <p:spPr>
          <a:xfrm>
            <a:off x="726948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EyeOf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55280" y="3803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@UI.Hidden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955280" y="412394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IDs, MIME, indicadores e controles ficam fora da tela.</a:t>
            </a:r>
            <a:endParaRPr lang="en-US" sz="1400" dirty="0"/>
          </a:p>
        </p:txBody>
      </p:sp>
      <p:sp>
        <p:nvSpPr>
          <p:cNvPr id="19" name="Avatar LuFileText"/>
          <p:cNvSpPr/>
          <p:nvPr/>
        </p:nvSpPr>
        <p:spPr>
          <a:xfrm>
            <a:off x="726948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FileT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55280" y="490118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251 linhas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522122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Rótulos de todas as entidades e textos das CodeLists.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 Page dinâmica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943405"/>
            <a:ext cx="6583680" cy="3839870"/>
          </a:xfrm>
          <a:prstGeom prst="roundRect">
            <a:avLst>
              <a:gd name="adj" fmla="val 285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34845"/>
            <a:ext cx="6400800" cy="3656990"/>
          </a:xfrm>
          <a:prstGeom prst="rect">
            <a:avLst/>
          </a:prstGeom>
        </p:spPr>
      </p:pic>
      <p:sp>
        <p:nvSpPr>
          <p:cNvPr id="7" name="Bloco de código"/>
          <p:cNvSpPr/>
          <p:nvPr/>
        </p:nvSpPr>
        <p:spPr>
          <a:xfrm>
            <a:off x="7360920" y="1600200"/>
            <a:ext cx="4279392" cy="1874520"/>
          </a:xfrm>
          <a:prstGeom prst="roundRect">
            <a:avLst>
              <a:gd name="adj" fmla="val 585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589520" y="1783080"/>
            <a:ext cx="38221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$Type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'UI.ReferenceFacet'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'Itens'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'itens/@UI.LineItem'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![@UI.Hidden]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encerrado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$Type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'UI.ReferenceFacet'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'Itens'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'itensSnapshot/@UI.LineItem'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![@UI.Hidden]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naoEncerrado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Avatar LuHistory"/>
          <p:cNvSpPr/>
          <p:nvPr/>
        </p:nvSpPr>
        <p:spPr>
          <a:xfrm>
            <a:off x="740664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0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4531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092440" y="43068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 no encerrado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092440" y="46268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 e itens vêm do histórico congelado.</a:t>
            </a:r>
            <a:endParaRPr lang="en-US" sz="1400" dirty="0"/>
          </a:p>
        </p:txBody>
      </p:sp>
      <p:sp>
        <p:nvSpPr>
          <p:cNvPr id="13" name="Avatar LuLayers"/>
          <p:cNvSpPr/>
          <p:nvPr/>
        </p:nvSpPr>
        <p:spPr>
          <a:xfrm>
            <a:off x="7406640" y="5257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4" name="Image 2" descr="Lu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53675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092440" y="52212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Finalização e Cancelamento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092440" y="55412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Seções exibidas só no status correspondente.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Side effects, controle de campos e permissões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4480560"/>
          </a:xfrm>
          <a:prstGeom prst="roundRect">
            <a:avLst>
              <a:gd name="adj" fmla="val 306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RefreshCw"/>
          <p:cNvSpPr/>
          <p:nvPr/>
        </p:nvSpPr>
        <p:spPr>
          <a:xfrm>
            <a:off x="777240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31213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8105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Side effects</a:t>
            </a:r>
            <a:endParaRPr lang="en-US" sz="1600" dirty="0"/>
          </a:p>
        </p:txBody>
      </p:sp>
      <p:sp>
        <p:nvSpPr>
          <p:cNvPr id="9" name="Bloco de código"/>
          <p:cNvSpPr/>
          <p:nvPr/>
        </p:nvSpPr>
        <p:spPr>
          <a:xfrm>
            <a:off x="731520" y="2514600"/>
            <a:ext cx="3209544" cy="2514600"/>
          </a:xfrm>
          <a:prstGeom prst="roundRect">
            <a:avLst>
              <a:gd name="adj" fmla="val 43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0" name="Código"/>
          <p:cNvSpPr txBox="1"/>
          <p:nvPr/>
        </p:nvSpPr>
        <p:spPr>
          <a:xfrm>
            <a:off x="960120" y="2697480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SideEffects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#Cliente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SourceProperties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TargetProperties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'endereco_ID'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'enderecoPrincipal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Completo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'cpfCliente'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TargetEntities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Ao escolher o cliente, endereço e CPF aparecem na hora.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4306824" y="1600200"/>
            <a:ext cx="3575304" cy="4480560"/>
          </a:xfrm>
          <a:prstGeom prst="roundRect">
            <a:avLst>
              <a:gd name="adj" fmla="val 306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Pencil"/>
          <p:cNvSpPr/>
          <p:nvPr/>
        </p:nvSpPr>
        <p:spPr>
          <a:xfrm>
            <a:off x="4535424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4" name="Image 1" descr="Lu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25" y="1931213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8105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Controle de campos</a:t>
            </a:r>
            <a:endParaRPr lang="en-US" sz="1600" dirty="0"/>
          </a:p>
        </p:txBody>
      </p:sp>
      <p:sp>
        <p:nvSpPr>
          <p:cNvPr id="16" name="Bloco de código"/>
          <p:cNvSpPr/>
          <p:nvPr/>
        </p:nvSpPr>
        <p:spPr>
          <a:xfrm>
            <a:off x="4489704" y="2514600"/>
            <a:ext cx="3209544" cy="2514600"/>
          </a:xfrm>
          <a:prstGeom prst="roundRect">
            <a:avLst>
              <a:gd name="adj" fmla="val 43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7" name="Código"/>
          <p:cNvSpPr txBox="1"/>
          <p:nvPr/>
        </p:nvSpPr>
        <p:spPr>
          <a:xfrm>
            <a:off x="4718304" y="2697480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@Common.FieldControl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UpdateHidden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&lt;&gt;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DeleteHidden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35424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 editável só na criação; pedido não é excluído.</a:t>
            </a:r>
            <a:endParaRPr lang="en-US" sz="1400" dirty="0"/>
          </a:p>
        </p:txBody>
      </p:sp>
      <p:sp>
        <p:nvSpPr>
          <p:cNvPr id="19" name="Cartão"/>
          <p:cNvSpPr/>
          <p:nvPr/>
        </p:nvSpPr>
        <p:spPr>
          <a:xfrm>
            <a:off x="8065008" y="1600200"/>
            <a:ext cx="3575304" cy="4480560"/>
          </a:xfrm>
          <a:prstGeom prst="roundRect">
            <a:avLst>
              <a:gd name="adj" fmla="val 306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ShieldCheck"/>
          <p:cNvSpPr/>
          <p:nvPr/>
        </p:nvSpPr>
        <p:spPr>
          <a:xfrm>
            <a:off x="8293608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1" name="Image 2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309" y="1931213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933688" y="18105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Permissões na UI</a:t>
            </a:r>
            <a:endParaRPr lang="en-US" sz="1600" dirty="0"/>
          </a:p>
        </p:txBody>
      </p:sp>
      <p:sp>
        <p:nvSpPr>
          <p:cNvPr id="23" name="Bloco de código"/>
          <p:cNvSpPr/>
          <p:nvPr/>
        </p:nvSpPr>
        <p:spPr>
          <a:xfrm>
            <a:off x="8247888" y="2514600"/>
            <a:ext cx="3209544" cy="2514600"/>
          </a:xfrm>
          <a:prstGeom prst="roundRect">
            <a:avLst>
              <a:gd name="adj" fmla="val 43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4" name="Código"/>
          <p:cNvSpPr txBox="1"/>
          <p:nvPr/>
        </p:nvSpPr>
        <p:spPr>
          <a:xfrm>
            <a:off x="8476488" y="2697480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CreateHidden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$edmJson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$Path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'/ClientesService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EntityContainer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Permissoes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somenteLeitura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UpdateHidden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DeleteHidden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293608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perfil Comum só vê as opções de consulta.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Value helps e side effects do projeto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3858768"/>
          </a:xfrm>
          <a:prstGeom prst="roundRect">
            <a:avLst>
              <a:gd name="adj" fmla="val 28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752499"/>
                <a:gridCol w="232242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Coleção da ajuda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Pedidos.cliente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ClientesAtivos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ItensPedido.item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ItensAtivos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Enderecos.cep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CepsCadastrados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efetuarPagamento.metodo…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MetodosPagamento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Itens.statusEstoque_code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StatusEstoque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Itens.currency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Currencies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 · categoria · 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valores fixos (drop-down)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6199632" y="1554480"/>
            <a:ext cx="5440680" cy="3858768"/>
          </a:xfrm>
          <a:prstGeom prst="roundRect">
            <a:avLst>
              <a:gd name="adj" fmla="val 28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82512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236405"/>
                <a:gridCol w="28385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Side effect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Origem → recarrega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 #Cliente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cliente_ID → endereço, CPF, 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 #Itens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itens (entidade) → valorTotal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 #Valores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item, qtde → SKU, preço, totais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 #Cep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cep → logradouro ... cepStatus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 #Estoque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qtdeEstoque → disponível, 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actions do 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pedido, pagamento, snapshots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→ in.cliente.enderecos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EXTENSÕES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Extensões onde o padrão não basta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0" y="1600264"/>
            <a:ext cx="6153912" cy="3748913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Diálogo Efetuar Pagamento com másca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691704"/>
            <a:ext cx="5971032" cy="356603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0" y="5623560"/>
            <a:ext cx="6153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6B82"/>
                </a:solidFill>
              </a:rPr>
              <a:t>Diálogo Efetuar Pagamento com sap.m.MaskInput</a:t>
            </a:r>
            <a:endParaRPr lang="en-US" sz="1200" dirty="0"/>
          </a:p>
        </p:txBody>
      </p:sp>
      <p:sp>
        <p:nvSpPr>
          <p:cNvPr id="8" name="Avatar LuCreditCard"/>
          <p:cNvSpPr/>
          <p:nvPr/>
        </p:nvSpPr>
        <p:spPr>
          <a:xfrm>
            <a:off x="5486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1" descr="LuCredit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01368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165506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EfetuarPagamento.js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234440" y="19751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Máscaras 9999 9999 9999 9999, MM/AA e CVV; chama a action pelo editFlow.</a:t>
            </a:r>
            <a:endParaRPr lang="en-US" sz="1400" dirty="0"/>
          </a:p>
        </p:txBody>
      </p:sp>
      <p:sp>
        <p:nvSpPr>
          <p:cNvPr id="12" name="Avatar LuFileSpreadsheet"/>
          <p:cNvSpPr/>
          <p:nvPr/>
        </p:nvSpPr>
        <p:spPr>
          <a:xfrm>
            <a:off x="5486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3" name="Image 2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98648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275234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ImportarPlanilha.js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234440" y="307238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FileUploader, leitura em base64 e chamada da action importarPlanilha.</a:t>
            </a:r>
            <a:endParaRPr lang="en-US" sz="1400" dirty="0"/>
          </a:p>
        </p:txBody>
      </p:sp>
      <p:sp>
        <p:nvSpPr>
          <p:cNvPr id="16" name="Avatar LuEye"/>
          <p:cNvSpPr/>
          <p:nvPr/>
        </p:nvSpPr>
        <p:spPr>
          <a:xfrm>
            <a:off x="5486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3" descr="Lu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995928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384962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AcoesPedido.js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234440" y="416966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Esconde o grupo Ações se as linhas estão FINALIZADO ou CANCELADO.</a:t>
            </a:r>
            <a:endParaRPr lang="en-US" sz="1400" dirty="0"/>
          </a:p>
        </p:txBody>
      </p:sp>
      <p:sp>
        <p:nvSpPr>
          <p:cNvPr id="20" name="Avatar LuShieldCheck"/>
          <p:cNvSpPr/>
          <p:nvPr/>
        </p:nvSpPr>
        <p:spPr>
          <a:xfrm>
            <a:off x="5486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1" name="Image 4" descr="LuShield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093208"/>
            <a:ext cx="237744" cy="23774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234440" y="494690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Backend continua validando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1234440" y="526694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UI ajuda a digitar; as regras ficam no serviço.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EXTENSÕES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Anatomia do manifest.json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486400" cy="2758440"/>
          </a:xfrm>
          <a:prstGeom prst="roundRect">
            <a:avLst>
              <a:gd name="adj" fmla="val 397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029200" cy="2392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"sap.app"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"dataSources"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"mainService"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"uri"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"/odata/v4/pedidos/"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"odataVersion"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"4.0"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"crossNavigation"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"inbounds"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"PedidoCompra-manage"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"PedidoCompra"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"action"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"manage"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"sap.ui5"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"pattern"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":?query:"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"pattern"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"Pedidos({key}):?query:"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"pattern"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"Pedidos({key})/itens({key2}):?query:"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6263640" y="1554480"/>
            <a:ext cx="5376672" cy="2758440"/>
          </a:xfrm>
          <a:prstGeom prst="roundRect">
            <a:avLst>
              <a:gd name="adj" fmla="val 397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492240" y="1737360"/>
            <a:ext cx="4919472" cy="2392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PedidosObjectPage &gt; settings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"itens/@...UI.v1.LineItem"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"ResponsiveTable"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"content"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"header"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"actions"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"efetuarPagamento"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"press"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"pedidoscompras.ext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.EfetuarPagamento.abrir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"{= %{statusPedido_code}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Avatar LuLink"/>
          <p:cNvSpPr/>
          <p:nvPr/>
        </p:nvSpPr>
        <p:spPr>
          <a:xfrm>
            <a:off x="685800" y="4572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46817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53542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dataSources e inbounds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4855464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Serviço OData V4 e intent usado pelo launchpad.</a:t>
            </a:r>
            <a:endParaRPr lang="en-US" sz="1400" dirty="0"/>
          </a:p>
        </p:txBody>
      </p:sp>
      <p:sp>
        <p:nvSpPr>
          <p:cNvPr id="13" name="Avatar LuPuzzle"/>
          <p:cNvSpPr/>
          <p:nvPr/>
        </p:nvSpPr>
        <p:spPr>
          <a:xfrm>
            <a:off x="6400800" y="4572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468172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086600" y="4535424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controlConfiguration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086600" y="4855464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 inline e ações customizadas por página.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EXTENSÕES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Rotas e páginas das quatro apps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169664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127454"/>
                <a:gridCol w="3900332"/>
                <a:gridCol w="2304741"/>
                <a:gridCol w="239338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Rota (pattern)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Página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contextPath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:?query: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ListReport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Clientes({key})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Clientes({key})/enderecos({key2})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/Clientes/enderecos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:?query:  ·  Itens({key})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ListReport · 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pedidoscompras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:?query:  ·  Pedidos({key})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ListReport · 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Pedidos({key})/itens({key2})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/Pedidos/itens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Pedidos({key})/itensSnapshot({key2})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/Pedidos/itensSnapshot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:?query:  ·  Reembolsos({key})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ListReport · ObjectPage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NAVEGAÇÃO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Navegação entre apps por objetos semânticos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766560" cy="4133088"/>
          </a:xfrm>
          <a:prstGeom prst="roundRect">
            <a:avLst>
              <a:gd name="adj" fmla="val 26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400800" cy="914400"/>
        </p:xfrm>
        <a:graphic>
          <a:graphicData uri="http://schemas.openxmlformats.org/drawingml/2006/table">
            <a:tbl>
              <a:tblPr/>
              <a:tblGrid>
                <a:gridCol w="1902941"/>
                <a:gridCol w="2248930"/>
                <a:gridCol w="224893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Origem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Campos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Destino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Cliente, CPF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Itens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Item, SKU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ItemEstoque-manage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Solicitação de 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PedidoCompra-manage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Cliente, CPF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Apps de análise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Botão Abrir gestão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 do domínio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589520" y="1600200"/>
            <a:ext cx="4050792" cy="1996440"/>
          </a:xfrm>
          <a:prstGeom prst="roundRect">
            <a:avLst>
              <a:gd name="adj" fmla="val 549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818120" y="1783080"/>
            <a:ext cx="3593592" cy="163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@Common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SemanticObjectMapping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LocalProperty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SemanticObjectProperty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7589520" y="4526280"/>
            <a:ext cx="405079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18120" y="4526280"/>
            <a:ext cx="36393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Requisito: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launchpad liga ClientSideTargetResolution; sem ela o Fiori Elements esconde os links.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LAUNCHPAD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Launchpad local com os oito tiles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69415"/>
            <a:ext cx="7223760" cy="4387850"/>
          </a:xfrm>
          <a:prstGeom prst="roundRect">
            <a:avLst>
              <a:gd name="adj" fmla="val 250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Launchpad local com os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60855"/>
            <a:ext cx="7040880" cy="4204970"/>
          </a:xfrm>
          <a:prstGeom prst="rect">
            <a:avLst/>
          </a:prstGeom>
        </p:spPr>
      </p:pic>
      <p:sp>
        <p:nvSpPr>
          <p:cNvPr id="7" name="Bloco de código"/>
          <p:cNvSpPr/>
          <p:nvPr/>
        </p:nvSpPr>
        <p:spPr>
          <a:xfrm>
            <a:off x="8001000" y="1600200"/>
            <a:ext cx="3639312" cy="1508760"/>
          </a:xfrm>
          <a:prstGeom prst="roundRect">
            <a:avLst>
              <a:gd name="adj" fmla="val 727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8229600" y="1783080"/>
            <a:ext cx="31821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"ItemEstoque-manage"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Estoque"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"sap-icon://product"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applicationType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"URL"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"/gestaoestoque"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Avatar LuCompass"/>
          <p:cNvSpPr/>
          <p:nvPr/>
        </p:nvSpPr>
        <p:spPr>
          <a:xfrm>
            <a:off x="804672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1" descr="LuComp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431596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32520" y="416966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Mesmos intents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732520" y="448970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Iguais aos inbounds dos manifests.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4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V4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Vocabulários UI, Common, Core e Measures aplicados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Object Page dinâmica conforme o status do pedido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Value helps, side effects, controle de campos e permissões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Extensões de importação, pagamento e visibilidade das ações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Manifest, rotas, objetos semânticos e launchpad local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Análises: camada analítica com $apply e quatro apps SAPUI5 freestyle.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4 - Apps Fiori Elements</dc:title>
  <dc:subject>Projeto Pedidos de Compras em SAP CAP e SAP Fiori</dc:subject>
  <dc:creator>Adriano Bispo</dc:creator>
  <cp:lastModifiedBy>Adriano Bispo</cp:lastModifiedBy>
  <cp:revision>1</cp:revision>
  <dcterms:created xsi:type="dcterms:W3CDTF">2026-10-20T11:28:08Z</dcterms:created>
  <dcterms:modified xsi:type="dcterms:W3CDTF">2026-10-20T11:28:08Z</dcterms:modified>
</cp:coreProperties>
</file>