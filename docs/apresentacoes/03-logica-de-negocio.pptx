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4229ae5-b53b-5b7b-afb0-c30fe61beaac}">
          <p14:sldIdLst>
            <p14:sldId id="256"/>
          </p14:sldIdLst>
        </p14:section>
        <p14:section name="Contexto" id="{6f5974c4-4289-3d8f-2c34-3ff8ecb80821}">
          <p14:sldIdLst>
            <p14:sldId id="257"/>
          </p14:sldIdLst>
        </p14:section>
        <p14:section name="Organização" id="{274f7668-0ebf-7b1a-e6f4-5981195f9737}">
          <p14:sldIdLst>
            <p14:sldId id="258"/>
            <p14:sldId id="259"/>
          </p14:sldIdLst>
        </p14:section>
        <p14:section name="Pedido e estoque" id="{1d8a57be-2433-0f6d-1ab9-66649defc260}">
          <p14:sldIdLst>
            <p14:sldId id="260"/>
            <p14:sldId id="261"/>
            <p14:sldId id="262"/>
          </p14:sldIdLst>
        </p14:section>
        <p14:section name="Pagamento e reembolso" id="{6f40c0de-649a-160b-0cac-c650a9938f35}">
          <p14:sldIdLst>
            <p14:sldId id="263"/>
            <p14:sldId id="264"/>
          </p14:sldIdLst>
        </p14:section>
        <p14:section name="Integrações" id="{af403a6f-3a29-9656-a6bc-b7b447b8050e}">
          <p14:sldIdLst>
            <p14:sldId id="265"/>
            <p14:sldId id="266"/>
            <p14:sldId id="267"/>
          </p14:sldIdLst>
        </p14:section>
        <p14:section name="Encerramento" id="{a5d42f42-ceb7-da6e-7493-02b44dd1480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etapa 3: onde as regras de negócio são implementadas.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Qualquer erro numa requisição desfaz tudo: estoque, número do pedido e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Handlers finos chamam módulos de srv/lib, que concentram as regras que atravessam domínios.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serviço é uma classe que estende cds.ApplicationService e registra handlers em init().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primeiro Salvar valida, gera o número, fixa os preços e reserva o estoque, tudo numa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movimentos não são actions OData: são funções internas chamadas pelo domínio de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condição usa o estado atual do banco, nunca valores da UI. Se outra transação chegou antes, nenhuma linha muda e a ação é recusada.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simulação decide pela bandeira e pelo CVV. Número, validade e CVV ficam só em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Cancelar um pedido pago não cancela direto: abre uma solicitação de reembolso decidida em outra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consulta é toda no backend, durante o PATCH do rascunho. Side effects recarregam os campos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Clientes, Estoque e Pedidos aceitam .xlsx ou .csv. Todas as linhas são validadas antes de gravar.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modelo, serviços, apps e testes. Muda a linguagem dos handlers, das regras e dos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etapa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1EFF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Pedidos de Compras · SAP CAP 10 + SAP Fiori · Design System SAP Horizon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Pedidos de Compras · SAP CAP + SAP Fiori   |   Etapa 3 — Lógica de Negócio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89D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3152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D1FF"/>
                </a:solidFill>
              </a:rPr>
              <a:t>Pedidos de Compras · SAP CAP + SAP Fiori   |   Etapa 3 — Lógica de Negócio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03 DE 06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Lógica de Negócio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Handlers dos serviços e regras de domínio em srv/lib: estoque, concorrência, pagamento, reembolso, CEP e importação.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Lógica de Negó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750808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317736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1" name="Etapa 4"/>
          <p:cNvSpPr/>
          <p:nvPr/>
        </p:nvSpPr>
        <p:spPr>
          <a:xfrm>
            <a:off x="9884664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451592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3" name="Etapa 6"/>
          <p:cNvSpPr/>
          <p:nvPr/>
        </p:nvSpPr>
        <p:spPr>
          <a:xfrm>
            <a:off x="11018520" y="507492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Etapa 3 de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do projeto em seis etapas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6" name="Avatar LuDatabase"/>
          <p:cNvSpPr/>
          <p:nvPr/>
        </p:nvSpPr>
        <p:spPr>
          <a:xfrm>
            <a:off x="7772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7" name="Image 0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79346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Modelagem de Dados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CDS: tipos, CodeLists e entidades</a:t>
            </a:r>
            <a:endParaRPr lang="en-US" sz="1200" dirty="0"/>
          </a:p>
        </p:txBody>
      </p:sp>
      <p:sp>
        <p:nvSpPr>
          <p:cNvPr id="11" name="Cartão"/>
          <p:cNvSpPr/>
          <p:nvPr/>
        </p:nvSpPr>
        <p:spPr>
          <a:xfrm>
            <a:off x="242316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2" name="Avatar LuServer"/>
          <p:cNvSpPr/>
          <p:nvPr/>
        </p:nvSpPr>
        <p:spPr>
          <a:xfrm>
            <a:off x="265176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3" name="Image 1" descr="Lu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434" y="207934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Serviços OData V4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Projeções, draft, actions e autorização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429768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CodeXml"/>
          <p:cNvSpPr/>
          <p:nvPr/>
        </p:nvSpPr>
        <p:spPr>
          <a:xfrm>
            <a:off x="452628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19" name="Image 2" descr="LuCodeXm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07934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2628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ETAPA 03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2628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Lógica de Negócio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52628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Handlers, srv/lib e transações</a:t>
            </a:r>
            <a:endParaRPr lang="en-US" sz="1200" dirty="0"/>
          </a:p>
        </p:txBody>
      </p:sp>
      <p:sp>
        <p:nvSpPr>
          <p:cNvPr id="23" name="Cartão"/>
          <p:cNvSpPr/>
          <p:nvPr/>
        </p:nvSpPr>
        <p:spPr>
          <a:xfrm>
            <a:off x="617220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24" name="Avatar LuLayoutDashboard"/>
          <p:cNvSpPr/>
          <p:nvPr/>
        </p:nvSpPr>
        <p:spPr>
          <a:xfrm>
            <a:off x="640080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5" name="Image 3" descr="LuLayoutDash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20793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Apps Fiori Elements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Anotações, extensões e launchpad</a:t>
            </a:r>
            <a:endParaRPr lang="en-US" sz="1200" dirty="0"/>
          </a:p>
        </p:txBody>
      </p:sp>
      <p:sp>
        <p:nvSpPr>
          <p:cNvPr id="29" name="Cartão"/>
          <p:cNvSpPr/>
          <p:nvPr/>
        </p:nvSpPr>
        <p:spPr>
          <a:xfrm>
            <a:off x="804672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0" name="Avatar LuChartColumn"/>
          <p:cNvSpPr/>
          <p:nvPr/>
        </p:nvSpPr>
        <p:spPr>
          <a:xfrm>
            <a:off x="827532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1" name="Image 4" descr="Lu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994" y="20793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Análises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27532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$apply e apps SAPUI5 freestyle</a:t>
            </a:r>
            <a:endParaRPr lang="en-US" sz="1200" dirty="0"/>
          </a:p>
        </p:txBody>
      </p:sp>
      <p:sp>
        <p:nvSpPr>
          <p:cNvPr id="35" name="Cartão"/>
          <p:cNvSpPr/>
          <p:nvPr/>
        </p:nvSpPr>
        <p:spPr>
          <a:xfrm>
            <a:off x="9921240" y="1691640"/>
            <a:ext cx="1700784" cy="25146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36" name="Avatar LuRocket"/>
          <p:cNvSpPr/>
          <p:nvPr/>
        </p:nvSpPr>
        <p:spPr>
          <a:xfrm>
            <a:off x="10149840" y="194767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37" name="Image 5" descr="LuRock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1514" y="2079346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49840" y="26517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ETAPA 06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10149840" y="29077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Testes e Publicação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10149840" y="347472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Qualidade, build e SAP BTP</a:t>
            </a:r>
            <a:endParaRPr lang="en-US" sz="1200" dirty="0"/>
          </a:p>
        </p:txBody>
      </p:sp>
      <p:sp>
        <p:nvSpPr>
          <p:cNvPr id="41" name="Cartão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42" name="Avatar LuTarget"/>
          <p:cNvSpPr/>
          <p:nvPr/>
        </p:nvSpPr>
        <p:spPr>
          <a:xfrm>
            <a:off x="822960" y="4800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70F2"/>
          </a:solidFill>
          <a:ln/>
        </p:spPr>
      </p:sp>
      <p:pic>
        <p:nvPicPr>
          <p:cNvPr id="43" name="Image 6" descr="Lu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4932274"/>
            <a:ext cx="285293" cy="28529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645920" y="47091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Nesta etapa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implementamos as regras que o CDS não expressa sozinho: handlers por serviço e módulos de domínio em srv/lib, sempre dentro da transação da requisição.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ORGANIZAÇÃO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mora cada regra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2659317"/>
                <a:gridCol w="80665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Módulo (srv/lib)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Responsabilidade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Registro, edição, pagamento, aprovação, cancelamento, reembolso, snapshots e transições atômicas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estoque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Reserva, liberação e baixa com UPDATE condicional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numeracao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Sequenciais de pedido (10 dígitos) e de SKU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viacep · enderecos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Consulta de CEP com cache e timeout; preenchimento e validações do Save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pagamento-simulado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Simulação do cartão sem persistir dados sensíveis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planilha · importacao*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Leitor .xlsx/.csv sem bibliotecas e importações tudo ou nada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permissoes · mensagens · util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Singleton Permissoes, mensagens i18n, CPF, e-mail, imagens, arredondamento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ORGANIZAÇÃO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Handlers: before, on e after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949440" cy="4251960"/>
          </a:xfrm>
          <a:prstGeom prst="roundRect">
            <a:avLst>
              <a:gd name="adj" fmla="val 2581"/>
            </a:avLst>
          </a:prstGeom>
          <a:solidFill>
            <a:srgbClr val="1D2D3E"/>
          </a:solidFill>
          <a:ln/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64922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class PedidosService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extends cds.ApplicationService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Pedidos, ItensPedido } = this.entities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Rascunho novo: status e moeda iniciais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this.before('NEW', Pedidos.drafts, req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Object.assign(req.data,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statusPedido_code: STATUS.aberto,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statusPagamento_code: STATUS_PAGAMENTO.pendente,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currency_code: MOEDA_PADRAO, valorTotal: 0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4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Troca de cliente: endereço principal atual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this.before('PATCH', Pedidos.drafts, async req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removerCamposControlados(req.data)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super.init()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Avatar LuClock"/>
          <p:cNvSpPr/>
          <p:nvPr/>
        </p:nvSpPr>
        <p:spPr>
          <a:xfrm>
            <a:off x="786384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0" descr="Lu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18013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49640" y="16550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before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197510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Valida e completa os dados antes da gravação.</a:t>
            </a:r>
            <a:endParaRPr lang="en-US" sz="1400" dirty="0"/>
          </a:p>
        </p:txBody>
      </p:sp>
      <p:sp>
        <p:nvSpPr>
          <p:cNvPr id="11" name="Avatar LuPlug"/>
          <p:cNvSpPr/>
          <p:nvPr/>
        </p:nvSpPr>
        <p:spPr>
          <a:xfrm>
            <a:off x="786384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1" descr="LuPl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28986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49640" y="27523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549640" y="307238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Implementa as actions: pagar, aprovar, cancelar.</a:t>
            </a:r>
            <a:endParaRPr lang="en-US" sz="1400" dirty="0"/>
          </a:p>
        </p:txBody>
      </p:sp>
      <p:sp>
        <p:nvSpPr>
          <p:cNvPr id="15" name="Avatar LuCircleCheck"/>
          <p:cNvSpPr/>
          <p:nvPr/>
        </p:nvSpPr>
        <p:spPr>
          <a:xfrm>
            <a:off x="786384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2" descr="LuCirc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39959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49640" y="38496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after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549640" y="416966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Recalcula totais depois de NEW e PATCH.</a:t>
            </a:r>
            <a:endParaRPr lang="en-US" sz="1400" dirty="0"/>
          </a:p>
        </p:txBody>
      </p:sp>
      <p:sp>
        <p:nvSpPr>
          <p:cNvPr id="19" name="Avatar LuMessageSquare"/>
          <p:cNvSpPr/>
          <p:nvPr/>
        </p:nvSpPr>
        <p:spPr>
          <a:xfrm>
            <a:off x="786384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3" descr="LuMessage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509320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549640" y="494690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Mensagens por chave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8549640" y="526694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req.error com chaves do _i18n, ex.: ITEM_SEM_ESTOQUE.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PEDIDO E ESTOQUE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Registro do pedido: do rascunho ao status ABERTO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798909" y="1463040"/>
            <a:ext cx="4620103" cy="4800600"/>
          </a:xfrm>
          <a:prstGeom prst="roundRect">
            <a:avLst>
              <a:gd name="adj" fmla="val 237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Fluxograma do registro do pe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49" y="1554480"/>
            <a:ext cx="4437223" cy="4617720"/>
          </a:xfrm>
          <a:prstGeom prst="rect">
            <a:avLst/>
          </a:prstGeom>
        </p:spPr>
      </p:pic>
      <p:sp>
        <p:nvSpPr>
          <p:cNvPr id="7" name="Avatar LuUsers"/>
          <p:cNvSpPr/>
          <p:nvPr/>
        </p:nvSpPr>
        <p:spPr>
          <a:xfrm>
            <a:off x="603504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1" descr="Lu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0136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720840" y="165506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Usuário informa só cliente e itens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6720840" y="197510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Endereço, dados do cliente, preços, totais, número e status vêm do backend.</a:t>
            </a:r>
            <a:endParaRPr lang="en-US" sz="1400" dirty="0"/>
          </a:p>
        </p:txBody>
      </p:sp>
      <p:sp>
        <p:nvSpPr>
          <p:cNvPr id="11" name="Avatar LuCalculator"/>
          <p:cNvSpPr/>
          <p:nvPr/>
        </p:nvSpPr>
        <p:spPr>
          <a:xfrm>
            <a:off x="603504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2" descr="LuCalc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8986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20840" y="275234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Preço provisório no rascunho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6720840" y="30723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Fixado no registro; valores enviados pela UI são descartados.</a:t>
            </a:r>
            <a:endParaRPr lang="en-US" sz="1400" dirty="0"/>
          </a:p>
        </p:txBody>
      </p:sp>
      <p:sp>
        <p:nvSpPr>
          <p:cNvPr id="15" name="Avatar LuHash"/>
          <p:cNvSpPr/>
          <p:nvPr/>
        </p:nvSpPr>
        <p:spPr>
          <a:xfrm>
            <a:off x="603504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3" descr="LuHa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399592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720840" y="384962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Número sequencial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6720840" y="416966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0000000042, gerado na mesma transação: Save que falha não deixa buraco.</a:t>
            </a:r>
            <a:endParaRPr lang="en-US" sz="1400" dirty="0"/>
          </a:p>
        </p:txBody>
      </p:sp>
      <p:sp>
        <p:nvSpPr>
          <p:cNvPr id="19" name="Avatar LuPackage"/>
          <p:cNvSpPr/>
          <p:nvPr/>
        </p:nvSpPr>
        <p:spPr>
          <a:xfrm>
            <a:off x="603504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4" descr="LuPack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509320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720840" y="49469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Edição pela diferença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6720840" y="526694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 pedido ABERTO, a reserva é ajustada só pelo que mudou.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PEDIDO E ESTOQUE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Reserva, liberação e baixa de estoque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1418302"/>
                <a:gridCol w="3545756"/>
                <a:gridCol w="2925249"/>
                <a:gridCol w="283660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Movimento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Quando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Efeito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Condição avaliada no banco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Reservar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Registro do pedido; acréscimo na edição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qtdeReservada += q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item ativo e disponível &gt;= q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Liberar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Redução na edição; cancelamento; reembolso aprovado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qtdeReservada -= q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qtdeReservada &gt;= q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Baixar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Aprovação do 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qtdeReservada -= q e qtdeEstoque -= q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reservada &gt;= q e estoque &gt;= q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434840"/>
            <a:ext cx="11091672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Status do estoque (coluna gerada a partir do saldo)</a:t>
            </a:r>
            <a:endParaRPr lang="en-US" sz="1600" dirty="0"/>
          </a:p>
        </p:txBody>
      </p:sp>
      <p:sp>
        <p:nvSpPr>
          <p:cNvPr id="9" name="Status SEM_ESTOQUE"/>
          <p:cNvSpPr txBox="1"/>
          <p:nvPr/>
        </p:nvSpPr>
        <p:spPr>
          <a:xfrm>
            <a:off x="822960" y="5120640"/>
            <a:ext cx="155448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SEM_ESTOQUE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251460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disponível &lt;= 0</a:t>
            </a:r>
            <a:endParaRPr lang="en-US" sz="1400" dirty="0"/>
          </a:p>
        </p:txBody>
      </p:sp>
      <p:sp>
        <p:nvSpPr>
          <p:cNvPr id="11" name="Status ACABANDO"/>
          <p:cNvSpPr txBox="1"/>
          <p:nvPr/>
        </p:nvSpPr>
        <p:spPr>
          <a:xfrm>
            <a:off x="4389120" y="5120640"/>
            <a:ext cx="1554480" cy="274320"/>
          </a:xfrm>
          <a:prstGeom prst="roundRect">
            <a:avLst>
              <a:gd name="adj" fmla="val 46667"/>
            </a:avLst>
          </a:prstGeom>
          <a:solidFill>
            <a:srgbClr val="FFF3B8"/>
          </a:solidFill>
          <a:ln w="9525">
            <a:solidFill>
              <a:srgbClr val="B44F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ACABANDO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08076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1 a 10 disponíveis</a:t>
            </a:r>
            <a:endParaRPr lang="en-US" sz="1400" dirty="0"/>
          </a:p>
        </p:txBody>
      </p:sp>
      <p:sp>
        <p:nvSpPr>
          <p:cNvPr id="13" name="Status EM_ESTOQUE"/>
          <p:cNvSpPr txBox="1"/>
          <p:nvPr/>
        </p:nvSpPr>
        <p:spPr>
          <a:xfrm>
            <a:off x="7955280" y="5120640"/>
            <a:ext cx="155448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EM_ESTOQUE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9646920" y="5074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11 ou mais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PEDIDO E ESTOQUE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Concorrência: UPDATE condicional e atômico</a:t>
            </a:r>
            <a:endParaRPr lang="en-US" sz="3200" dirty="0"/>
          </a:p>
        </p:txBody>
      </p:sp>
      <p:sp>
        <p:nvSpPr>
          <p:cNvPr id="5" name="Bloco de código"/>
          <p:cNvSpPr/>
          <p:nvPr/>
        </p:nvSpPr>
        <p:spPr>
          <a:xfrm>
            <a:off x="548640" y="1600200"/>
            <a:ext cx="6035040" cy="2240280"/>
          </a:xfrm>
          <a:prstGeom prst="roundRect">
            <a:avLst>
              <a:gd name="adj" fmla="val 4898"/>
            </a:avLst>
          </a:prstGeom>
          <a:solidFill>
            <a:srgbClr val="1D2D3E"/>
          </a:solidFill>
          <a:ln/>
          <a:effectLst>
            <a:outerShdw sx="100000" sy="100000" kx="0" ky="0" algn="bl" rotWithShape="0" blurRad="101600" dist="25400" dir="5400000">
              <a:srgbClr val="223649">
                <a:alpha val="18000"/>
              </a:srgbClr>
            </a:outerShdw>
          </a:effectLst>
        </p:spPr>
      </p:sp>
      <p:sp>
        <p:nvSpPr>
          <p:cNvPr id="6" name="Código"/>
          <p:cNvSpPr txBox="1"/>
          <p:nvPr/>
        </p:nvSpPr>
        <p:spPr>
          <a:xfrm>
            <a:off x="777240" y="1783080"/>
            <a:ext cx="5577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transicionarPedido(req, pedido, dados)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alterados = await UPDATE(Pedidos).with(dados).where({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pedido.ID,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statusPedido_code:    pedido.statusPedido_code,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statusPagamento_code: pedido.statusPagamento_code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(alterados === 1) return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erro(req, 409, 'PEDIDO_ALTERADO_CONCORRENTE')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E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Cartão"/>
          <p:cNvSpPr/>
          <p:nvPr/>
        </p:nvSpPr>
        <p:spPr>
          <a:xfrm>
            <a:off x="6858000" y="1600200"/>
            <a:ext cx="4782312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Duas ações sobre o mesmo pedido</a:t>
            </a:r>
            <a:endParaRPr lang="en-US" sz="1600" dirty="0"/>
          </a:p>
        </p:txBody>
      </p:sp>
      <p:sp>
        <p:nvSpPr>
          <p:cNvPr id="9" name="Avatar LuCircleCheck"/>
          <p:cNvSpPr/>
          <p:nvPr/>
        </p:nvSpPr>
        <p:spPr>
          <a:xfrm>
            <a:off x="7132320" y="23774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10" name="Image 0" descr="Lu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021" y="24981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81812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Cancelar pedido</a:t>
            </a:r>
            <a:endParaRPr lang="en-US" sz="1500" dirty="0"/>
          </a:p>
        </p:txBody>
      </p:sp>
      <p:sp>
        <p:nvSpPr>
          <p:cNvPr id="12" name="Status 1 linha alterada"/>
          <p:cNvSpPr txBox="1"/>
          <p:nvPr/>
        </p:nvSpPr>
        <p:spPr>
          <a:xfrm>
            <a:off x="7818120" y="2743200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F5FAE5"/>
          </a:solidFill>
          <a:ln w="9525">
            <a:solidFill>
              <a:srgbClr val="256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1 linha alterada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Status muda e a reserva é liberada</a:t>
            </a:r>
            <a:endParaRPr lang="en-US" sz="1400" dirty="0"/>
          </a:p>
        </p:txBody>
      </p:sp>
      <p:sp>
        <p:nvSpPr>
          <p:cNvPr id="14" name="Avatar LuTriangleAlert"/>
          <p:cNvSpPr/>
          <p:nvPr/>
        </p:nvSpPr>
        <p:spPr>
          <a:xfrm>
            <a:off x="7132320" y="41605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5" name="Image 1" descr="Lu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21" y="42812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818120" y="41330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Efetuar Pagamento</a:t>
            </a:r>
            <a:endParaRPr lang="en-US" sz="1500" dirty="0"/>
          </a:p>
        </p:txBody>
      </p:sp>
      <p:sp>
        <p:nvSpPr>
          <p:cNvPr id="17" name="Status 0 linhas alteradas"/>
          <p:cNvSpPr txBox="1"/>
          <p:nvPr/>
        </p:nvSpPr>
        <p:spPr>
          <a:xfrm>
            <a:off x="7818120" y="4526280"/>
            <a:ext cx="1828800" cy="274320"/>
          </a:xfrm>
          <a:prstGeom prst="roundRect">
            <a:avLst>
              <a:gd name="adj" fmla="val 46667"/>
            </a:avLst>
          </a:prstGeom>
          <a:solidFill>
            <a:srgbClr val="FFEAF4"/>
          </a:solidFill>
          <a:ln w="9525">
            <a:solidFill>
              <a:srgbClr val="AA080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0 linhas alteradas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HTTP 409, nada é gravado</a:t>
            </a:r>
            <a:endParaRPr lang="en-US" sz="1400" dirty="0"/>
          </a:p>
        </p:txBody>
      </p:sp>
      <p:sp>
        <p:nvSpPr>
          <p:cNvPr id="19" name="Avatar LuLock"/>
          <p:cNvSpPr/>
          <p:nvPr/>
        </p:nvSpPr>
        <p:spPr>
          <a:xfrm>
            <a:off x="685800" y="4160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20" name="Image 2" descr="Lu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2702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412394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Bloqueio até o commit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4443984"/>
            <a:ext cx="5074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Sem dupla reserva, dupla baixa ou dupla liberação.</a:t>
            </a:r>
            <a:endParaRPr lang="en-US" sz="1400" dirty="0"/>
          </a:p>
        </p:txBody>
      </p:sp>
      <p:sp>
        <p:nvSpPr>
          <p:cNvPr id="23" name="Avatar LuRefreshCw"/>
          <p:cNvSpPr/>
          <p:nvPr/>
        </p:nvSpPr>
        <p:spPr>
          <a:xfrm>
            <a:off x="685800" y="5120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24" name="Image 3" descr="LuRefreshC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23036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71600" y="508406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Mesma conferência em outros pontos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371600" y="5404104"/>
            <a:ext cx="5074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Save da edição do pedido e decisão do reembolso.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PAGAMENTO E REEMBOLSO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Pagamento simulado, sem dados sensíveis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61078" y="1463040"/>
            <a:ext cx="4912885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Fluxograma do Efetuar Paga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518" y="1554480"/>
            <a:ext cx="4730005" cy="461772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5760720" y="1600200"/>
            <a:ext cx="5879592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513832" cy="914400"/>
        </p:xfrm>
        <a:graphic>
          <a:graphicData uri="http://schemas.openxmlformats.org/drawingml/2006/table">
            <a:tbl>
              <a:tblPr/>
              <a:tblGrid>
                <a:gridCol w="1069848"/>
                <a:gridCol w="2304288"/>
                <a:gridCol w="21396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Cenário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Aprovado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4111 1111 1111 1111 · CVV 123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Aguardando aprovação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Recusado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mesmo cartão · CVV 000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Segue ABERTO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Mastercard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5555 5555 5555 4444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Bandeira MASTERCARD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Inválido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validade vencida ou CVV curto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Erro, não é recusa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Avatar LuLock"/>
          <p:cNvSpPr/>
          <p:nvPr/>
        </p:nvSpPr>
        <p:spPr>
          <a:xfrm>
            <a:off x="5897880" y="5120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10" name="Image 1" descr="Lu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523036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583680" y="50840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Grava só o resultado seguro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6583680" y="540410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Bandeira, últimos 4 dígitos, máscara, autorização e mensagem.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PAGAMENTO E REEMBOLSO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Aprovação, cancelamento e reembolso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55681" y="1463040"/>
            <a:ext cx="7118239" cy="48006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Fluxograma do cancelamento e do reembol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121" y="1554480"/>
            <a:ext cx="6935359" cy="4617720"/>
          </a:xfrm>
          <a:prstGeom prst="rect">
            <a:avLst/>
          </a:prstGeom>
        </p:spPr>
      </p:pic>
      <p:sp>
        <p:nvSpPr>
          <p:cNvPr id="7" name="Avatar LuBadgeCheck"/>
          <p:cNvSpPr/>
          <p:nvPr/>
        </p:nvSpPr>
        <p:spPr>
          <a:xfrm>
            <a:off x="800100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8" name="Image 1" descr="LuBadg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180136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86800" y="165506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Aprovar pedido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686800" y="197510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Baixa o estoque, gera snapshots e finaliza.</a:t>
            </a:r>
            <a:endParaRPr lang="en-US" sz="1400" dirty="0"/>
          </a:p>
        </p:txBody>
      </p:sp>
      <p:sp>
        <p:nvSpPr>
          <p:cNvPr id="11" name="Avatar LuUndo2"/>
          <p:cNvSpPr/>
          <p:nvPr/>
        </p:nvSpPr>
        <p:spPr>
          <a:xfrm>
            <a:off x="800100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12" name="Image 2" descr="LuUndo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28986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686800" y="275234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Cancelar pago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686800" y="307238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Abre o reembolso e mantém a reserva.</a:t>
            </a:r>
            <a:endParaRPr lang="en-US" sz="1400" dirty="0"/>
          </a:p>
        </p:txBody>
      </p:sp>
      <p:sp>
        <p:nvSpPr>
          <p:cNvPr id="15" name="Avatar LuCircleCheck"/>
          <p:cNvSpPr/>
          <p:nvPr/>
        </p:nvSpPr>
        <p:spPr>
          <a:xfrm>
            <a:off x="800100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16" name="Image 3" descr="Lu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99592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686800" y="38496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Reembolso aprovado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8686800" y="416966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Libera reserva, cancela e marca DEVOLVIDO.</a:t>
            </a:r>
            <a:endParaRPr lang="en-US" sz="1400" dirty="0"/>
          </a:p>
        </p:txBody>
      </p:sp>
      <p:sp>
        <p:nvSpPr>
          <p:cNvPr id="19" name="Avatar LuTriangleAlert"/>
          <p:cNvSpPr/>
          <p:nvPr/>
        </p:nvSpPr>
        <p:spPr>
          <a:xfrm>
            <a:off x="800100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20" name="Image 4" descr="LuTriangleAle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728" y="509320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686800" y="49469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Reembolso rejeitado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8686800" y="5266944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Pedido volta ao status anterior.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INTEGRAÇÕES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Endereço pelo CEP com a API ViaCEP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707469" y="1463040"/>
            <a:ext cx="4620103" cy="4800600"/>
          </a:xfrm>
          <a:prstGeom prst="roundRect">
            <a:avLst>
              <a:gd name="adj" fmla="val 237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pic>
        <p:nvPicPr>
          <p:cNvPr id="6" name="Image 0" descr="Fluxograma da consulta de C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09" y="1554480"/>
            <a:ext cx="4437223" cy="4617720"/>
          </a:xfrm>
          <a:prstGeom prst="rect">
            <a:avLst/>
          </a:prstGeom>
        </p:spPr>
      </p:pic>
      <p:sp>
        <p:nvSpPr>
          <p:cNvPr id="7" name="Avatar LuMapPin"/>
          <p:cNvSpPr/>
          <p:nvPr/>
        </p:nvSpPr>
        <p:spPr>
          <a:xfrm>
            <a:off x="5852160" y="16916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8" name="Image 1" descr="LuMap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01368"/>
            <a:ext cx="237744" cy="2377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537960" y="165506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Reaproveita CEP conhecido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6537960" y="1975104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CEP já validado no cadastro não gera nova chamada; cache de 100 CEPs por processo.</a:t>
            </a:r>
            <a:endParaRPr lang="en-US" sz="1400" dirty="0"/>
          </a:p>
        </p:txBody>
      </p:sp>
      <p:sp>
        <p:nvSpPr>
          <p:cNvPr id="11" name="Avatar LuClock"/>
          <p:cNvSpPr/>
          <p:nvPr/>
        </p:nvSpPr>
        <p:spPr>
          <a:xfrm>
            <a:off x="5852160" y="2788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2" name="Image 2" descr="Lu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8986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37960" y="275234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fetch nativo com timeout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6537960" y="3072384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URL em cds.requires.viacep; 5 s de limite; indisponível vira aviso e bloqueia o Save.</a:t>
            </a:r>
            <a:endParaRPr lang="en-US" sz="1400" dirty="0"/>
          </a:p>
        </p:txBody>
      </p:sp>
      <p:sp>
        <p:nvSpPr>
          <p:cNvPr id="15" name="Avatar LuBadgeCheck"/>
          <p:cNvSpPr/>
          <p:nvPr/>
        </p:nvSpPr>
        <p:spPr>
          <a:xfrm>
            <a:off x="585216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6" name="Image 3" descr="LuBadg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99592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537960" y="384962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cepStatus V · I · X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6537960" y="4169664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Validado, inválido ou indisponível, gravado no endereço.</a:t>
            </a:r>
            <a:endParaRPr lang="en-US" sz="1400" dirty="0"/>
          </a:p>
        </p:txBody>
      </p:sp>
      <p:sp>
        <p:nvSpPr>
          <p:cNvPr id="19" name="Avatar LuPencil"/>
          <p:cNvSpPr/>
          <p:nvPr/>
        </p:nvSpPr>
        <p:spPr>
          <a:xfrm>
            <a:off x="5852160" y="4983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20" name="Image 4" descr="LuPenc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509320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537960" y="494690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CEP geral de município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6537960" y="5266944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Logradouro e bairro ficam editáveis e obrigatórios.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INTEGRAÇÕES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Importação em massa por planilha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694944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1126156"/>
                <a:gridCol w="1905802"/>
                <a:gridCol w="355172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App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Uma linha é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Colunas obrigatórias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Clientes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cliente + endereço principal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CPF, Nome, E-mail, Telefone, Nascimento, CEP, Número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Estoque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um item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Nome, Categoria, Quantidade, Preço unitário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Pedidos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um item de um pedido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Pedido (referência), CPF, SKU, Quantidade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7772400" y="1600200"/>
            <a:ext cx="386791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8" name="Avatar LuShieldCheck"/>
          <p:cNvSpPr/>
          <p:nvPr/>
        </p:nvSpPr>
        <p:spPr>
          <a:xfrm>
            <a:off x="800100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pic>
        <p:nvPicPr>
          <p:cNvPr id="9" name="Image 0" descr="LuShiel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2674" y="1960474"/>
            <a:ext cx="285293" cy="28529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32520" y="180136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Tudo ou nada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732520" y="2203704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Qualquer erro cancela e lista o motivo por linha.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7772400" y="3118104"/>
            <a:ext cx="386791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3" name="Avatar LuFileSpreadsheet"/>
          <p:cNvSpPr/>
          <p:nvPr/>
        </p:nvSpPr>
        <p:spPr>
          <a:xfrm>
            <a:off x="8001000" y="3346704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DAFDF5"/>
          </a:solidFill>
          <a:ln/>
        </p:spPr>
      </p:sp>
      <p:pic>
        <p:nvPicPr>
          <p:cNvPr id="14" name="Image 1" descr="LuFileSpreadshe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674" y="3478378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32520" y="331927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Leitor próprio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732520" y="3721608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XLSX lido como ZIP + XML; até 500 linhas e 50 MB.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7772400" y="4636008"/>
            <a:ext cx="3867912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sp>
        <p:nvSpPr>
          <p:cNvPr id="18" name="Avatar LuKeyRound"/>
          <p:cNvSpPr/>
          <p:nvPr/>
        </p:nvSpPr>
        <p:spPr>
          <a:xfrm>
            <a:off x="8001000" y="486460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1ECFF"/>
          </a:solidFill>
          <a:ln/>
        </p:spPr>
      </p:sp>
      <p:pic>
        <p:nvPicPr>
          <p:cNvPr id="19" name="Image 2" descr="LuKeyRou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674" y="4996282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732520" y="4837176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duplicidade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8732520" y="5239512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CPF, nome do item e referência do pedido.</a:t>
            </a:r>
            <a:endParaRPr lang="en-US" sz="1400" dirty="0"/>
          </a:p>
        </p:txBody>
      </p:sp>
      <p:sp>
        <p:nvSpPr>
          <p:cNvPr id="22" name="Cartão"/>
          <p:cNvSpPr/>
          <p:nvPr/>
        </p:nvSpPr>
        <p:spPr>
          <a:xfrm>
            <a:off x="548640" y="4892040"/>
            <a:ext cx="6949440" cy="1188720"/>
          </a:xfrm>
          <a:prstGeom prst="roundRect">
            <a:avLst>
              <a:gd name="adj" fmla="val 9231"/>
            </a:avLst>
          </a:prstGeom>
          <a:solidFill>
            <a:srgbClr val="EBF8FF"/>
          </a:solidFill>
          <a:ln w="9525">
            <a:solidFill>
              <a:srgbClr val="D1EFFF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77240" y="4892040"/>
            <a:ext cx="6537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criação passa pelo próprio serviço: valem as mesmas regras da tela (CPF, ViaCEP, SKU, número do pedido e reserva de estoque).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IMPLEMENTAÇÕES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JavaScript e TypeScript: duas implementações</a:t>
            </a:r>
            <a:endParaRPr lang="en-US" sz="3200" dirty="0"/>
          </a:p>
        </p:txBody>
      </p:sp>
      <p:sp>
        <p:nvSpPr>
          <p:cNvPr id="5" name="Cartão"/>
          <p:cNvSpPr/>
          <p:nvPr/>
        </p:nvSpPr>
        <p:spPr>
          <a:xfrm>
            <a:off x="548640" y="1600200"/>
            <a:ext cx="11091672" cy="4133088"/>
          </a:xfrm>
          <a:prstGeom prst="roundRect">
            <a:avLst>
              <a:gd name="adj" fmla="val 2655"/>
            </a:avLst>
          </a:prstGeom>
          <a:solidFill>
            <a:schemeClr val="bg1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101600" dist="25400" dir="5400000">
              <a:srgbClr val="223649">
                <a:alpha val="14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5912" cy="914400"/>
        </p:xfrm>
        <a:graphic>
          <a:graphicData uri="http://schemas.openxmlformats.org/drawingml/2006/table">
            <a:tbl>
              <a:tblPr/>
              <a:tblGrid>
                <a:gridCol w="2304741"/>
                <a:gridCol w="4077619"/>
                <a:gridCol w="434355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nodejs-padrao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nodejs-typescript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A8B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Linguagem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JavaScript ESM (srv/*.js)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TypeScript 6 strict (srv/*.ts)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Entidades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this.entities, cds.entities(...)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Classes do cds-typer em #cds-models/*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Parâmetros de actions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req.data sem tipo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Tipos derivados do modelo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Execução local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cds watch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cds-tsx watch (tsx)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Build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cds build copia os .js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cds build compila com tsc para gen/srv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Testes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74 (node --test)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6B82"/>
                          </a:solidFill>
                        </a:rPr>
                        <a:t>76 (node --import tsx --test)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DA ETAPA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construímos na etapa 3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Handlers finos por serviço e regras de domínio em srv/lib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Pedido registrado com número, preços fixados e reserva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Movimentos de estoque e transições de status atômicos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Pagamento simulado sem gravar dados do cartão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Reembolso com aprovação ou retomada do pedido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ViaCEP e importação por planilha tudo ou nada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Próxima etapa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Apps Fiori Elements: geração com Fiori tools, anotações, extensões e launchpad.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7858FF"/>
      </a:accent3>
      <a:accent4>
        <a:srgbClr val="E76500"/>
      </a:accent4>
      <a:accent5>
        <a:srgbClr val="256F3A"/>
      </a:accent5>
      <a:accent6>
        <a:srgbClr val="AA0808"/>
      </a:accent6>
      <a:hlink>
        <a:srgbClr val="0064D9"/>
      </a:hlink>
      <a:folHlink>
        <a:srgbClr val="7858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Pedidos de Compras - SAP CAP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3 - Lógica de Negócio</dc:title>
  <dc:subject>Projeto Pedidos de Compras em SAP CAP e SAP Fiori</dc:subject>
  <dc:creator>Adriano Bispo</dc:creator>
  <cp:lastModifiedBy>Adriano Bispo</cp:lastModifiedBy>
  <cp:revision>1</cp:revision>
  <dcterms:created xsi:type="dcterms:W3CDTF">2026-10-20T02:32:10Z</dcterms:created>
  <dcterms:modified xsi:type="dcterms:W3CDTF">2026-10-20T02:32:10Z</dcterms:modified>
</cp:coreProperties>
</file>