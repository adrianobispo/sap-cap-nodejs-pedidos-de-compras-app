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92d512d-bbf1-fa7e-a1fb-e1ba5d8860bf}">
          <p14:sldIdLst>
            <p14:sldId id="256"/>
          </p14:sldIdLst>
        </p14:section>
        <p14:section name="Contexto" id="{6e3b7e41-c324-96af-a7ee-06790161a772}">
          <p14:sldIdLst>
            <p14:sldId id="257"/>
          </p14:sldIdLst>
        </p14:section>
        <p14:section name="Visão geral" id="{4264e36c-295f-8fd3-b7a7-4bac0acefd4c}">
          <p14:sldIdLst>
            <p14:sldId id="258"/>
            <p14:sldId id="259"/>
          </p14:sldIdLst>
        </p14:section>
        <p14:section name="Anotações" id="{6c0a4282-8d67-d12c-d738-c6d0ffa1e66d}">
          <p14:sldIdLst>
            <p14:sldId id="260"/>
            <p14:sldId id="261"/>
            <p14:sldId id="262"/>
          </p14:sldIdLst>
        </p14:section>
        <p14:section name="Extensões" id="{934e99cc-c43e-ce8a-6e1c-4502139c03e4}">
          <p14:sldIdLst>
            <p14:sldId id="263"/>
            <p14:sldId id="264"/>
            <p14:sldId id="265"/>
          </p14:sldIdLst>
        </p14:section>
        <p14:section name="Encerramento" id="{f6738b71-6f23-ee07-2c6b-659499d7439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etapa 4: a interface Fiori Elements sobre os serviços OData 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UI é orientada a anotações: colunas, filtros, seções, ações, criticidade e side effects vêm do CDS.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app tem rota própria e um intent (objeto semântico + ação) usado no launchpad e na navegação.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SAP Fiori Application Generator lê o serviço CAP local e cria a app já ligada às anotações em app/&lt;app&gt;/annotations.cds.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HeaderInfo, SelectionFields, LineItem e DataPoint: a List Report e a Object Page saem destas anotações, sem código de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seções aparecem conforme o status, usando os elementos calculados do modelo (etapa 1) em @UI.Hidden.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 effects recarregam campos após uma mudança; FieldControl e UpdateHidden usam expressões; Permissoes esconde botões do perfil Comum.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ações customizadas registradas no manifest.json: o diálogo de importação e o diálogo de pagamento com máscara.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Campos viram links para o registro na app de destino, localizado pela chave semântica recebida no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Sandbox do SAP Fiori launchpad em app/launchpad.html: quatro tiles de gestão e quatro de análise.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etapa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Etapa 4 — Apps Fiori Elements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Etapa 4 — Apps Fiori Elements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04 DE 06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Apps Fiori Elements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Quatro apps de gestão geradas com SAP Fiori tools e dirigidas por anotações, com extensões, navegação e launchpad.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Apps Fiori El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750808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317736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9884664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2" name="Etapa 5"/>
          <p:cNvSpPr/>
          <p:nvPr/>
        </p:nvSpPr>
        <p:spPr>
          <a:xfrm>
            <a:off x="10451592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Etapa 6"/>
          <p:cNvSpPr/>
          <p:nvPr/>
        </p:nvSpPr>
        <p:spPr>
          <a:xfrm>
            <a:off x="11018520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Etapa 4 de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jornada do projeto em seis etapas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Database"/>
          <p:cNvSpPr/>
          <p:nvPr/>
        </p:nvSpPr>
        <p:spPr>
          <a:xfrm>
            <a:off x="7772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79346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Modelagem de Dados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CDS: tipos, CodeLists e entidades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42316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Server"/>
          <p:cNvSpPr/>
          <p:nvPr/>
        </p:nvSpPr>
        <p:spPr>
          <a:xfrm>
            <a:off x="265176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434" y="207934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5176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65176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Serviços OData V4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65176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Projeções, draft, actions e autorização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429768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CodeXml"/>
          <p:cNvSpPr/>
          <p:nvPr/>
        </p:nvSpPr>
        <p:spPr>
          <a:xfrm>
            <a:off x="452628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9" name="Image 2" descr="LuCodeXm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54" y="2079346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2628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52628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Lógica de Negócio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52628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Handlers, srv/lib e transações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617220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LayoutDashboard"/>
          <p:cNvSpPr/>
          <p:nvPr/>
        </p:nvSpPr>
        <p:spPr>
          <a:xfrm>
            <a:off x="640080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25" name="Image 3" descr="LuLayout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2079346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ETAPA 04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Apps Fiori Elements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Anotações, extensões e launchpad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804672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ChartColumn"/>
          <p:cNvSpPr/>
          <p:nvPr/>
        </p:nvSpPr>
        <p:spPr>
          <a:xfrm>
            <a:off x="827532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1" name="Image 4" descr="LuChartColum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4" y="20793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Análises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$apply e apps SAPUI5 freestyle</a:t>
            </a:r>
            <a:endParaRPr lang="en-US" sz="1200" dirty="0"/>
          </a:p>
        </p:txBody>
      </p:sp>
      <p:sp>
        <p:nvSpPr>
          <p:cNvPr id="35" name="Cartão"/>
          <p:cNvSpPr/>
          <p:nvPr/>
        </p:nvSpPr>
        <p:spPr>
          <a:xfrm>
            <a:off x="99212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6" name="Avatar LuRocket"/>
          <p:cNvSpPr/>
          <p:nvPr/>
        </p:nvSpPr>
        <p:spPr>
          <a:xfrm>
            <a:off x="101498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7" name="Image 5" descr="LuRock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1514" y="2079346"/>
            <a:ext cx="285293" cy="28529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1498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06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101498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Testes e Publicação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101498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Qualidade, build e SAP BTP</a:t>
            </a:r>
            <a:endParaRPr lang="en-US" sz="1200" dirty="0"/>
          </a:p>
        </p:txBody>
      </p:sp>
      <p:sp>
        <p:nvSpPr>
          <p:cNvPr id="41" name="Cartão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2" name="Avatar LuTarget"/>
          <p:cNvSpPr/>
          <p:nvPr/>
        </p:nvSpPr>
        <p:spPr>
          <a:xfrm>
            <a:off x="822960" y="4800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3" name="Image 6" descr="LuTarg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4" y="4932274"/>
            <a:ext cx="285293" cy="28529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645920" y="47091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Nesta etapa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criamos as quatro apps de gestão em Fiori Elements V4 (List Report + Object Page) no tema SAP Horizon, com a UI descrita por anotações CDS e extensões só onde o padrão não basta.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Quatro apps de gestão, uma por serviço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11091672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5912" cy="914400"/>
        </p:xfrm>
        <a:graphic>
          <a:graphicData uri="http://schemas.openxmlformats.org/drawingml/2006/table">
            <a:tbl>
              <a:tblPr/>
              <a:tblGrid>
                <a:gridCol w="2285850"/>
                <a:gridCol w="2110015"/>
                <a:gridCol w="4044196"/>
                <a:gridCol w="228585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App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Caminho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Páginas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Tile (intent)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Gestão de Clientes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/gestaoclientes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Cliente → Endereço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Gestão de Estoque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/gestaoestoque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ItemEstoque-manage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Pedidos de Compras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/pedidoscompras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Pedido → Item do pedido / Item no encerramento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PedidoCompra-manage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Gestão de Reembolsos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/gestaoreembolsos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Reembolso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4572000"/>
            <a:ext cx="3575304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Avatar LuPanelsTopLeft"/>
          <p:cNvSpPr/>
          <p:nvPr/>
        </p:nvSpPr>
        <p:spPr>
          <a:xfrm>
            <a:off x="777240" y="4800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9" name="Image 0" descr="LuPanelsTopLe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4932274"/>
            <a:ext cx="285293" cy="28529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47731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Fiori Elements V4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508760" y="5175504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List Report e Object Page para listas, filtros e detalhes.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306824" y="4572000"/>
            <a:ext cx="3575304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Sparkles"/>
          <p:cNvSpPr/>
          <p:nvPr/>
        </p:nvSpPr>
        <p:spPr>
          <a:xfrm>
            <a:off x="4535424" y="4800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4" name="Image 1" descr="Lu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493227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66944" y="47731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Tema sap_horizon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266944" y="5175504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SAPUI5 1.148 LTS com o visual Horizon em todas as apps.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8065008" y="4572000"/>
            <a:ext cx="3575304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Server"/>
          <p:cNvSpPr/>
          <p:nvPr/>
        </p:nvSpPr>
        <p:spPr>
          <a:xfrm>
            <a:off x="8293608" y="4800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9" name="Image 2" descr="Lu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282" y="4932274"/>
            <a:ext cx="285293" cy="28529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25128" y="477316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Servidas pelo CAP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9025128" y="5175504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cds-plugin-ui5 e npm workspaces: um único npm run watch.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GERAÇÃO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Geração das apps com SAP Fiori tools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642616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Wand"/>
          <p:cNvSpPr/>
          <p:nvPr/>
        </p:nvSpPr>
        <p:spPr>
          <a:xfrm>
            <a:off x="777240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7" name="Image 0" descr="LuW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31213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0604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Application Generator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816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Template List Report Page V4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191256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12" name="Cartão"/>
          <p:cNvSpPr/>
          <p:nvPr/>
        </p:nvSpPr>
        <p:spPr>
          <a:xfrm>
            <a:off x="3364992" y="1600200"/>
            <a:ext cx="2642616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Server"/>
          <p:cNvSpPr/>
          <p:nvPr/>
        </p:nvSpPr>
        <p:spPr>
          <a:xfrm>
            <a:off x="3593592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4" name="Image 1" descr="Lu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1931213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2239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593592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Local CAP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593592" y="2816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Serviço lido do projeto, sem URL externa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007608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19" name="Cartão"/>
          <p:cNvSpPr/>
          <p:nvPr/>
        </p:nvSpPr>
        <p:spPr>
          <a:xfrm>
            <a:off x="6181344" y="1600200"/>
            <a:ext cx="2642616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Table"/>
          <p:cNvSpPr/>
          <p:nvPr/>
        </p:nvSpPr>
        <p:spPr>
          <a:xfrm>
            <a:off x="6409944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1" name="Image 2" descr="Lu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645" y="193121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38744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6409944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Entidade principal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9944" y="2816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Ex.: Itens em EstoqueService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823960" y="228600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26" name="Cartão"/>
          <p:cNvSpPr/>
          <p:nvPr/>
        </p:nvSpPr>
        <p:spPr>
          <a:xfrm>
            <a:off x="8997696" y="1600200"/>
            <a:ext cx="2642616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Avatar LuFileCode"/>
          <p:cNvSpPr/>
          <p:nvPr/>
        </p:nvSpPr>
        <p:spPr>
          <a:xfrm>
            <a:off x="9226296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8" name="Image 3" descr="LuFile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997" y="1931213"/>
            <a:ext cx="261518" cy="26151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055096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9226296" y="24505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Projeto gerado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226296" y="28163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webapp, manifest.json e annotations.cds</a:t>
            </a:r>
            <a:endParaRPr lang="en-US" sz="1300" dirty="0"/>
          </a:p>
        </p:txBody>
      </p:sp>
      <p:sp>
        <p:nvSpPr>
          <p:cNvPr id="32" name="Bloco de código"/>
          <p:cNvSpPr/>
          <p:nvPr/>
        </p:nvSpPr>
        <p:spPr>
          <a:xfrm>
            <a:off x="548640" y="3703320"/>
            <a:ext cx="5486400" cy="1798320"/>
          </a:xfrm>
          <a:prstGeom prst="roundRect">
            <a:avLst>
              <a:gd name="adj" fmla="val 6102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33" name="Código"/>
          <p:cNvSpPr txBox="1"/>
          <p:nvPr/>
        </p:nvSpPr>
        <p:spPr>
          <a:xfrm>
            <a:off x="777240" y="3886200"/>
            <a:ext cx="502920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app/gestao-estoque/.appGenInfo.json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"serviceType"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 CAP"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"serviceUrl"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".../odata/v4/estoque/"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"template"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 Report Page V4"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"ui5Theme"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"sap_horizon"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"ui5Version"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"1.148.12"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"entityRelatedConfig"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"value"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"Itens"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34" name="Bloco de código"/>
          <p:cNvSpPr/>
          <p:nvPr/>
        </p:nvSpPr>
        <p:spPr>
          <a:xfrm>
            <a:off x="6263640" y="3703320"/>
            <a:ext cx="5376672" cy="1600200"/>
          </a:xfrm>
          <a:prstGeom prst="roundRect">
            <a:avLst>
              <a:gd name="adj" fmla="val 6857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35" name="Código"/>
          <p:cNvSpPr txBox="1"/>
          <p:nvPr/>
        </p:nvSpPr>
        <p:spPr>
          <a:xfrm>
            <a:off x="6492240" y="388620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app/services.cds reúne as anotações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'./common'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'./gestao-clientes/annotations'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'./gestao-estoque/annotations'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'./pedidos-compras/annotations'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'./gestao-reembolsos/annotations'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ANOTAÇÕES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tela descrita por anotações CDS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5760720" cy="3779520"/>
          </a:xfrm>
          <a:prstGeom prst="roundRect">
            <a:avLst>
              <a:gd name="adj" fmla="val 290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530352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SemanticKey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HeaderInfo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ImageUrl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fotoItem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SelectionFields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categoria_code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statusEstoque_code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fotoItem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'Foto'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![@UI.Importance]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qtdeDisponivel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statusEstoque_code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Cartão"/>
          <p:cNvSpPr/>
          <p:nvPr/>
        </p:nvSpPr>
        <p:spPr>
          <a:xfrm>
            <a:off x="6537960" y="1685671"/>
            <a:ext cx="5102352" cy="3120898"/>
          </a:xfrm>
          <a:prstGeom prst="roundRect">
            <a:avLst>
              <a:gd name="adj" fmla="val 351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8" name="Image 0" descr="Gestão de Estoque: List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777111"/>
            <a:ext cx="4919472" cy="2938018"/>
          </a:xfrm>
          <a:prstGeom prst="rect">
            <a:avLst/>
          </a:prstGeom>
        </p:spPr>
      </p:pic>
      <p:sp>
        <p:nvSpPr>
          <p:cNvPr id="9" name="Avatar LuGauge"/>
          <p:cNvSpPr/>
          <p:nvPr/>
        </p:nvSpPr>
        <p:spPr>
          <a:xfrm>
            <a:off x="6583680" y="5029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10" name="Image 1" descr="LuGau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513892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269480" y="499262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Criticidade da CodeList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269480" y="531266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cor do status vem de statusEstoque.criticality.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ANOTAÇÕES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 Page dinâmica do pedido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943405"/>
            <a:ext cx="6583680" cy="3839870"/>
          </a:xfrm>
          <a:prstGeom prst="roundRect">
            <a:avLst>
              <a:gd name="adj" fmla="val 285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Object Page de um pedido finaliz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34845"/>
            <a:ext cx="6400800" cy="3656990"/>
          </a:xfrm>
          <a:prstGeom prst="rect">
            <a:avLst/>
          </a:prstGeom>
        </p:spPr>
      </p:pic>
      <p:sp>
        <p:nvSpPr>
          <p:cNvPr id="7" name="Bloco de código"/>
          <p:cNvSpPr/>
          <p:nvPr/>
        </p:nvSpPr>
        <p:spPr>
          <a:xfrm>
            <a:off x="7360920" y="1600200"/>
            <a:ext cx="4279392" cy="1874520"/>
          </a:xfrm>
          <a:prstGeom prst="roundRect">
            <a:avLst>
              <a:gd name="adj" fmla="val 585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589520" y="1783080"/>
            <a:ext cx="38221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$Type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'UI.ReferenceFacet'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'Itens'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'itens/@UI.LineItem'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![@UI.Hidden]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encerrado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$Type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'UI.ReferenceFacet'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'Itens'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'itensSnapshot/@UI.LineItem'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![@UI.Hidden]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naoEncerrado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Avatar LuHistory"/>
          <p:cNvSpPr/>
          <p:nvPr/>
        </p:nvSpPr>
        <p:spPr>
          <a:xfrm>
            <a:off x="7406640" y="4343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0" name="Image 1" descr="Lu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445312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92440" y="430682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Snapshots no encerrado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092440" y="46268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Cliente e itens vêm do histórico congelado.</a:t>
            </a:r>
            <a:endParaRPr lang="en-US" sz="1400" dirty="0"/>
          </a:p>
        </p:txBody>
      </p:sp>
      <p:sp>
        <p:nvSpPr>
          <p:cNvPr id="13" name="Avatar LuLayers"/>
          <p:cNvSpPr/>
          <p:nvPr/>
        </p:nvSpPr>
        <p:spPr>
          <a:xfrm>
            <a:off x="7406640" y="5257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4" name="Image 2" descr="LuLay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53675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92440" y="522122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Finalização e Cancelamento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092440" y="554126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Seções exibidas só no status correspondente.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ANOTAÇÕES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Side effects, controle de campos e permissões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3575304" cy="4480560"/>
          </a:xfrm>
          <a:prstGeom prst="roundRect">
            <a:avLst>
              <a:gd name="adj" fmla="val 306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RefreshCw"/>
          <p:cNvSpPr/>
          <p:nvPr/>
        </p:nvSpPr>
        <p:spPr>
          <a:xfrm>
            <a:off x="777240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RefreshC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31213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810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Side effects</a:t>
            </a:r>
            <a:endParaRPr lang="en-US" sz="1600" dirty="0"/>
          </a:p>
        </p:txBody>
      </p:sp>
      <p:sp>
        <p:nvSpPr>
          <p:cNvPr id="9" name="Bloco de código"/>
          <p:cNvSpPr/>
          <p:nvPr/>
        </p:nvSpPr>
        <p:spPr>
          <a:xfrm>
            <a:off x="731520" y="2514600"/>
            <a:ext cx="3209544" cy="2514600"/>
          </a:xfrm>
          <a:prstGeom prst="roundRect">
            <a:avLst>
              <a:gd name="adj" fmla="val 436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10" name="Código"/>
          <p:cNvSpPr txBox="1"/>
          <p:nvPr/>
        </p:nvSpPr>
        <p:spPr>
          <a:xfrm>
            <a:off x="960120" y="2697480"/>
            <a:ext cx="27523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SideEffects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#Cliente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SourceProperties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TargetProperties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'endereco_ID'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'enderecoPrincipal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Completo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'cpfCliente'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TargetEntities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51937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Ao escolher o cliente, endereço e CPF aparecem na hora.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306824" y="1600200"/>
            <a:ext cx="3575304" cy="4480560"/>
          </a:xfrm>
          <a:prstGeom prst="roundRect">
            <a:avLst>
              <a:gd name="adj" fmla="val 306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Pencil"/>
          <p:cNvSpPr/>
          <p:nvPr/>
        </p:nvSpPr>
        <p:spPr>
          <a:xfrm>
            <a:off x="4535424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4" name="Image 1" descr="LuPenc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125" y="1931213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5504" y="1810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Controle de campos</a:t>
            </a:r>
            <a:endParaRPr lang="en-US" sz="1600" dirty="0"/>
          </a:p>
        </p:txBody>
      </p:sp>
      <p:sp>
        <p:nvSpPr>
          <p:cNvPr id="16" name="Bloco de código"/>
          <p:cNvSpPr/>
          <p:nvPr/>
        </p:nvSpPr>
        <p:spPr>
          <a:xfrm>
            <a:off x="4489704" y="2514600"/>
            <a:ext cx="3209544" cy="2514600"/>
          </a:xfrm>
          <a:prstGeom prst="roundRect">
            <a:avLst>
              <a:gd name="adj" fmla="val 436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17" name="Código"/>
          <p:cNvSpPr txBox="1"/>
          <p:nvPr/>
        </p:nvSpPr>
        <p:spPr>
          <a:xfrm>
            <a:off x="4718304" y="2697480"/>
            <a:ext cx="27523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@Common.FieldControl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UpdateHidden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'ABERTO'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DeleteHidden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535424" y="51937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Cliente editável só na criação; pedido não é excluído.</a:t>
            </a:r>
            <a:endParaRPr lang="en-US" sz="1400" dirty="0"/>
          </a:p>
        </p:txBody>
      </p:sp>
      <p:sp>
        <p:nvSpPr>
          <p:cNvPr id="19" name="Cartão"/>
          <p:cNvSpPr/>
          <p:nvPr/>
        </p:nvSpPr>
        <p:spPr>
          <a:xfrm>
            <a:off x="8065008" y="1600200"/>
            <a:ext cx="3575304" cy="4480560"/>
          </a:xfrm>
          <a:prstGeom prst="roundRect">
            <a:avLst>
              <a:gd name="adj" fmla="val 306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ShieldCheck"/>
          <p:cNvSpPr/>
          <p:nvPr/>
        </p:nvSpPr>
        <p:spPr>
          <a:xfrm>
            <a:off x="8293608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1" name="Image 2" descr="Lu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309" y="193121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33688" y="1810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Permissões na UI</a:t>
            </a:r>
            <a:endParaRPr lang="en-US" sz="1600" dirty="0"/>
          </a:p>
        </p:txBody>
      </p:sp>
      <p:sp>
        <p:nvSpPr>
          <p:cNvPr id="23" name="Bloco de código"/>
          <p:cNvSpPr/>
          <p:nvPr/>
        </p:nvSpPr>
        <p:spPr>
          <a:xfrm>
            <a:off x="8247888" y="2514600"/>
            <a:ext cx="3209544" cy="2514600"/>
          </a:xfrm>
          <a:prstGeom prst="roundRect">
            <a:avLst>
              <a:gd name="adj" fmla="val 436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24" name="Código"/>
          <p:cNvSpPr txBox="1"/>
          <p:nvPr/>
        </p:nvSpPr>
        <p:spPr>
          <a:xfrm>
            <a:off x="8476488" y="2697480"/>
            <a:ext cx="27523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CreateHidden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$edmJson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'/ClientesService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EntityContainer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somenteLeitura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UpdateHidden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DeleteHidden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8293608" y="51937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perfil Comum só vê as opções de consulta.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EXTENSÕES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Extensões onde o padrão não basta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0" y="1600264"/>
            <a:ext cx="6153912" cy="3748913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Diálogo Efetuar Pagamento com másca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91704"/>
            <a:ext cx="5971032" cy="356603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0" y="5623560"/>
            <a:ext cx="6153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6B82"/>
                </a:solidFill>
              </a:rPr>
              <a:t>Diálogo Efetuar Pagamento com sap.m.MaskInput</a:t>
            </a:r>
            <a:endParaRPr lang="en-US" sz="1200" dirty="0"/>
          </a:p>
        </p:txBody>
      </p:sp>
      <p:sp>
        <p:nvSpPr>
          <p:cNvPr id="8" name="Avatar LuCreditCard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9" name="Image 1" descr="LuCreditC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0136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34440" y="165506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EfetuarPagamento.js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234440" y="197510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Máscaras 9999 9999 9999 9999, MM/AA e CVV; chama a action pelo editFlow.</a:t>
            </a:r>
            <a:endParaRPr lang="en-US" sz="1400" dirty="0"/>
          </a:p>
        </p:txBody>
      </p:sp>
      <p:sp>
        <p:nvSpPr>
          <p:cNvPr id="12" name="Avatar LuFileSpreadsheet"/>
          <p:cNvSpPr/>
          <p:nvPr/>
        </p:nvSpPr>
        <p:spPr>
          <a:xfrm>
            <a:off x="54864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3" name="Image 2" descr="LuFileSpreadshe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9864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275234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ImportarPlanilha.js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234440" y="307238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Escolha de .xlsx/.csv e chamada da action importarPlanilha.</a:t>
            </a:r>
            <a:endParaRPr lang="en-US" sz="1400" dirty="0"/>
          </a:p>
        </p:txBody>
      </p:sp>
      <p:sp>
        <p:nvSpPr>
          <p:cNvPr id="16" name="Avatar LuPuzzle"/>
          <p:cNvSpPr/>
          <p:nvPr/>
        </p:nvSpPr>
        <p:spPr>
          <a:xfrm>
            <a:off x="54864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7" name="Image 3" descr="LuPuzz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9592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384962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Registro no manifest.json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234440" y="416966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Ações em controlConfiguration, com press, enabled e visible.</a:t>
            </a:r>
            <a:endParaRPr lang="en-US" sz="1400" dirty="0"/>
          </a:p>
        </p:txBody>
      </p:sp>
      <p:sp>
        <p:nvSpPr>
          <p:cNvPr id="20" name="Avatar LuShieldCheck"/>
          <p:cNvSpPr/>
          <p:nvPr/>
        </p:nvSpPr>
        <p:spPr>
          <a:xfrm>
            <a:off x="54864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1" name="Image 4" descr="LuShiel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09320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234440" y="494690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Backend continua validando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1234440" y="526694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UI ajuda a digitar; as regras ficam no serviço.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NAVEGAÇÃO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Navegação entre apps por objetos semânticos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6766560" cy="4133088"/>
          </a:xfrm>
          <a:prstGeom prst="roundRect">
            <a:avLst>
              <a:gd name="adj" fmla="val 26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6400800" cy="914400"/>
        </p:xfrm>
        <a:graphic>
          <a:graphicData uri="http://schemas.openxmlformats.org/drawingml/2006/table">
            <a:tbl>
              <a:tblPr/>
              <a:tblGrid>
                <a:gridCol w="1902941"/>
                <a:gridCol w="2248930"/>
                <a:gridCol w="224893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Origem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Campos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Destino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Pedidos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Cliente, CPF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Itens do 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Item, SKU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ItemEstoque-manage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Pedidos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Solicitação de reembolso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Reembolsos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PedidoCompra-manage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Reembolsos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Cliente, CPF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Cliente-manage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Apps de análise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Botão Abrir gestão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 do domínio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loco de código"/>
          <p:cNvSpPr/>
          <p:nvPr/>
        </p:nvSpPr>
        <p:spPr>
          <a:xfrm>
            <a:off x="7589520" y="1600200"/>
            <a:ext cx="4050792" cy="1996440"/>
          </a:xfrm>
          <a:prstGeom prst="roundRect">
            <a:avLst>
              <a:gd name="adj" fmla="val 5496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818120" y="1783080"/>
            <a:ext cx="3593592" cy="163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@Common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SemanticObjectMapping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LocalProperty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cpfCliente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SemanticObjectProperty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'cpf'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9" name="Cartão"/>
          <p:cNvSpPr/>
          <p:nvPr/>
        </p:nvSpPr>
        <p:spPr>
          <a:xfrm>
            <a:off x="7589520" y="4526280"/>
            <a:ext cx="4050792" cy="1554480"/>
          </a:xfrm>
          <a:prstGeom prst="roundRect">
            <a:avLst>
              <a:gd name="adj" fmla="val 705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0" y="452628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Requisito: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launchpad liga ClientSideTargetResolution; sem ela o Fiori Elements esconde os links.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LAUNCHPAD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Launchpad local com os oito tiles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69415"/>
            <a:ext cx="7223760" cy="4387850"/>
          </a:xfrm>
          <a:prstGeom prst="roundRect">
            <a:avLst>
              <a:gd name="adj" fmla="val 2501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Launchpad local com os oito ti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60855"/>
            <a:ext cx="7040880" cy="4204970"/>
          </a:xfrm>
          <a:prstGeom prst="rect">
            <a:avLst/>
          </a:prstGeom>
        </p:spPr>
      </p:pic>
      <p:sp>
        <p:nvSpPr>
          <p:cNvPr id="7" name="Bloco de código"/>
          <p:cNvSpPr/>
          <p:nvPr/>
        </p:nvSpPr>
        <p:spPr>
          <a:xfrm>
            <a:off x="8001000" y="1600200"/>
            <a:ext cx="3639312" cy="1508760"/>
          </a:xfrm>
          <a:prstGeom prst="roundRect">
            <a:avLst>
              <a:gd name="adj" fmla="val 727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8229600" y="1783080"/>
            <a:ext cx="3182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"ItemEstoque-manage"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"Gestão de Estoque"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"sap-icon://product"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applicationType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"URL"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"/gestaoestoque"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Avatar LuCompass"/>
          <p:cNvSpPr/>
          <p:nvPr/>
        </p:nvSpPr>
        <p:spPr>
          <a:xfrm>
            <a:off x="8046720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1" descr="LuCom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43159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32520" y="41696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Mesmos intents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732520" y="44897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Iguais aos inbounds dos manifests.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DA ETAPA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construímos na etapa 4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Quatro apps Fiori Elements V4 geradas com SAP Fiori tools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UI descrita por anotações CDS no tema SAP Horizon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Object Page dinâmica conforme o status do pedido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Side effects, controle de campos e permissões na UI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Extensões de importação e de pagamento com máscara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Navegação por objetos semânticos e launchpad local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Próxima etapa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Análises: camada analítica com $apply e quatro apps SAPUI5 freestyle.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4 - Apps Fiori Elements</dc:title>
  <dc:subject>Projeto Pedidos de Compras em SAP CAP e SAP Fiori</dc:subject>
  <dc:creator>Adriano Bispo</dc:creator>
  <cp:lastModifiedBy>Adriano Bispo</cp:lastModifiedBy>
  <cp:revision>1</cp:revision>
  <dcterms:created xsi:type="dcterms:W3CDTF">2026-10-20T02:46:42Z</dcterms:created>
  <dcterms:modified xsi:type="dcterms:W3CDTF">2026-10-20T02:46:42Z</dcterms:modified>
</cp:coreProperties>
</file>