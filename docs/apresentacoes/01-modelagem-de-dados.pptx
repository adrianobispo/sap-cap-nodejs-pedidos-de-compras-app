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2e09fcd3-2f31-9d6a-8e43-56d0a097c0f6}">
          <p14:sldIdLst>
            <p14:sldId id="256"/>
          </p14:sldIdLst>
        </p14:section>
        <p14:section name="Contexto" id="{0954d782-9984-aafc-c377-0c6e9b9c1fa5}">
          <p14:sldIdLst>
            <p14:sldId id="257"/>
          </p14:sldIdLst>
        </p14:section>
        <p14:section name="Domínio" id="{ed2079d3-15bd-8f3f-3059-58441fc96842}">
          <p14:sldIdLst>
            <p14:sldId id="258"/>
            <p14:sldId id="259"/>
          </p14:sldIdLst>
        </p14:section>
        <p14:section name="Tipos e CodeLists" id="{4edb01cf-3a64-300b-d2f9-9ccdfe7e8206}">
          <p14:sldIdLst>
            <p14:sldId id="260"/>
            <p14:sldId id="261"/>
          </p14:sldIdLst>
        </p14:section>
        <p14:section name="Entidades e relações" id="{49c82adb-c885-fdff-4045-df5d31524002}">
          <p14:sldIdLst>
            <p14:sldId id="262"/>
            <p14:sldId id="263"/>
            <p14:sldId id="264"/>
            <p14:sldId id="265"/>
          </p14:sldIdLst>
        </p14:section>
        <p14:section name="Integridade e persistência" id="{35057deb-8d7e-4a7f-ee8b-3d94ee485e7a}">
          <p14:sldIdLst>
            <p14:sldId id="266"/>
            <p14:sldId id="267"/>
          </p14:sldIdLst>
        </p14:section>
        <p14:section name="Encerramento" id="{bf2198bb-d1e9-5984-1c40-4f399c336c98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da etapa 1. O objetivo é mostrar como o domínio de negócio virou o modelo CDS que sustenta todo 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modelo de dados é a fundação: serviços, handlers, anotações de UI e análises partem dele.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escrever CDS, mapeamos as áreas do negócio e o que cada uma precisa guardar.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Separação clara: tipos e CodeLists em common.cds, entidades em schema.cds, dados em CSV e validações no srv.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Tipos semânticos evitam repetir tamanhos e precisão; o aspect CodeListOrdenada padroniza todas as listas de valores.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CodeLists com enum garantem códigos válidos e alimentam a criticidade (cores) nas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Composições (linha contínua) têm ciclo de vida junto do pai e entram no rascunho; associações (tracejado) só referenciam.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cuid e managed vêm de @sap/cds/common. A composição faz os endereços serem editados no mesmo rascunho do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sabores: calculados na leitura (sem coluna) e stored (coluna gerada pelo banco, filtrável e sempre consistente).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pedido concentra as composições. Os snapshots congelam cliente e itens no encerramento, preservando o histórico.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Regras simples ficam no modelo e são avaliadas pelo CAP no rascunho e no Save; regras que dependem de algoritmo ou de outros registros ficam nos handlers.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mesmo modelo roda em SQLite no desenvolvimento e no SAP HANA Cloud em produção, sem mudar uma linha de CDS.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da etapa 1 e ponte para a etapa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D1EFFF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Pedidos de Compras · SAP CAP 10 + SAP Fiori · Design System SAP Horizon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Pedidos de Compras · SAP CAP + SAP Fiori   |   Etapa 1 — Modelagem de Dados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73152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D1FF"/>
                </a:solidFill>
              </a:rPr>
              <a:t>Pedidos de Compras · SAP CAP + SAP Fiori   |   Etapa 1 — Modelagem de Dados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01 DE 06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Modelagem de Dados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Do domínio de pedidos de compras ao modelo CDS: tipos, CodeLists, entidades, relacionamentos e persistência.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Modelagem de Dad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9" name="Etapa 2"/>
          <p:cNvSpPr/>
          <p:nvPr/>
        </p:nvSpPr>
        <p:spPr>
          <a:xfrm>
            <a:off x="8750808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317736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9884664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451592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Etapa 6"/>
          <p:cNvSpPr/>
          <p:nvPr/>
        </p:nvSpPr>
        <p:spPr>
          <a:xfrm>
            <a:off x="11018520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1 de 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CONTEXTO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jornada do projeto em seis etapas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285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Database"/>
          <p:cNvSpPr/>
          <p:nvPr/>
        </p:nvSpPr>
        <p:spPr>
          <a:xfrm>
            <a:off x="7772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7" name="Image 0" descr="Lu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079346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ETAPA 01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Modelagem de Dados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CDS: tipos, CodeLists e entidades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242316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2" name="Avatar LuServer"/>
          <p:cNvSpPr/>
          <p:nvPr/>
        </p:nvSpPr>
        <p:spPr>
          <a:xfrm>
            <a:off x="265176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3" name="Image 1" descr="LuSer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3434" y="2079346"/>
            <a:ext cx="285293" cy="28529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65176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02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265176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Serviços OData V4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265176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Projeções, draft, actions e autorização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429768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CodeXml"/>
          <p:cNvSpPr/>
          <p:nvPr/>
        </p:nvSpPr>
        <p:spPr>
          <a:xfrm>
            <a:off x="452628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9" name="Image 2" descr="LuCodeXm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7954" y="2079346"/>
            <a:ext cx="285293" cy="28529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52628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03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452628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Lógica de Negócio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52628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Handlers, srv/lib e transações</a:t>
            </a:r>
            <a:endParaRPr lang="en-US" sz="1200" dirty="0"/>
          </a:p>
        </p:txBody>
      </p:sp>
      <p:sp>
        <p:nvSpPr>
          <p:cNvPr id="23" name="Cartão"/>
          <p:cNvSpPr/>
          <p:nvPr/>
        </p:nvSpPr>
        <p:spPr>
          <a:xfrm>
            <a:off x="617220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4" name="Avatar LuLayoutDashboard"/>
          <p:cNvSpPr/>
          <p:nvPr/>
        </p:nvSpPr>
        <p:spPr>
          <a:xfrm>
            <a:off x="640080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5" name="Image 3" descr="LuLayoutDashbo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2474" y="2079346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40080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04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640080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Apps Fiori Elements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640080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Anotações, extensões e launchpad</a:t>
            </a:r>
            <a:endParaRPr lang="en-US" sz="1200" dirty="0"/>
          </a:p>
        </p:txBody>
      </p:sp>
      <p:sp>
        <p:nvSpPr>
          <p:cNvPr id="29" name="Cartão"/>
          <p:cNvSpPr/>
          <p:nvPr/>
        </p:nvSpPr>
        <p:spPr>
          <a:xfrm>
            <a:off x="804672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0" name="Avatar LuChartColumn"/>
          <p:cNvSpPr/>
          <p:nvPr/>
        </p:nvSpPr>
        <p:spPr>
          <a:xfrm>
            <a:off x="827532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1" name="Image 4" descr="LuChartColum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6994" y="2079346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27532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05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827532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Análises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$apply e apps SAPUI5 freestyle</a:t>
            </a:r>
            <a:endParaRPr lang="en-US" sz="1200" dirty="0"/>
          </a:p>
        </p:txBody>
      </p:sp>
      <p:sp>
        <p:nvSpPr>
          <p:cNvPr id="35" name="Cartão"/>
          <p:cNvSpPr/>
          <p:nvPr/>
        </p:nvSpPr>
        <p:spPr>
          <a:xfrm>
            <a:off x="99212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6" name="Avatar LuRocket"/>
          <p:cNvSpPr/>
          <p:nvPr/>
        </p:nvSpPr>
        <p:spPr>
          <a:xfrm>
            <a:off x="101498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7" name="Image 5" descr="LuRock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1514" y="2079346"/>
            <a:ext cx="285293" cy="285293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01498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06</a:t>
            </a:r>
            <a:endParaRPr lang="en-US" sz="1100" dirty="0"/>
          </a:p>
        </p:txBody>
      </p:sp>
      <p:sp>
        <p:nvSpPr>
          <p:cNvPr id="39" name="Text 30"/>
          <p:cNvSpPr txBox="1"/>
          <p:nvPr/>
        </p:nvSpPr>
        <p:spPr>
          <a:xfrm>
            <a:off x="101498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Testes e Publicação</a:t>
            </a:r>
            <a:endParaRPr lang="en-US" sz="1500" dirty="0"/>
          </a:p>
        </p:txBody>
      </p:sp>
      <p:sp>
        <p:nvSpPr>
          <p:cNvPr id="40" name="Text 31"/>
          <p:cNvSpPr txBox="1"/>
          <p:nvPr/>
        </p:nvSpPr>
        <p:spPr>
          <a:xfrm>
            <a:off x="101498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Qualidade, build e SAP BTP</a:t>
            </a:r>
            <a:endParaRPr lang="en-US" sz="1200" dirty="0"/>
          </a:p>
        </p:txBody>
      </p:sp>
      <p:sp>
        <p:nvSpPr>
          <p:cNvPr id="41" name="Cartão"/>
          <p:cNvSpPr/>
          <p:nvPr/>
        </p:nvSpPr>
        <p:spPr>
          <a:xfrm>
            <a:off x="548640" y="4526280"/>
            <a:ext cx="11091672" cy="1554480"/>
          </a:xfrm>
          <a:prstGeom prst="roundRect">
            <a:avLst>
              <a:gd name="adj" fmla="val 7059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42" name="Avatar LuTarget"/>
          <p:cNvSpPr/>
          <p:nvPr/>
        </p:nvSpPr>
        <p:spPr>
          <a:xfrm>
            <a:off x="822960" y="48006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43" name="Image 6" descr="LuTarge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634" y="4932274"/>
            <a:ext cx="285293" cy="285293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1645920" y="4709160"/>
            <a:ext cx="9784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Nesta etapa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traduzimos o domínio (clientes, estoque, pedidos e reembolsos) em um modelo CDS único no namespace pedidoscompras, base para os serviços, as regras e as apps das próximas etapas.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DOMÍNIO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ponto de partida: quatro áreas de negócio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2642616" cy="260604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Users"/>
          <p:cNvSpPr/>
          <p:nvPr/>
        </p:nvSpPr>
        <p:spPr>
          <a:xfrm>
            <a:off x="822960" y="187452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Us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2010583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2960" y="2578608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Clientes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99008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CPF, contato, score e vários endereços; um deles é o principal, validado pelo CEP.</a:t>
            </a:r>
            <a:endParaRPr lang="en-US" sz="1400" dirty="0"/>
          </a:p>
        </p:txBody>
      </p:sp>
      <p:sp>
        <p:nvSpPr>
          <p:cNvPr id="10" name="Cartão"/>
          <p:cNvSpPr/>
          <p:nvPr/>
        </p:nvSpPr>
        <p:spPr>
          <a:xfrm>
            <a:off x="3364992" y="1600200"/>
            <a:ext cx="2642616" cy="260604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1" name="Avatar LuPackage"/>
          <p:cNvSpPr/>
          <p:nvPr/>
        </p:nvSpPr>
        <p:spPr>
          <a:xfrm>
            <a:off x="3639312" y="187452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Pack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5375" y="2010583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639312" y="2578608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Estoque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3639312" y="299008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Itens com SKU, foto, categoria, preço e saldo: em estoque, reservado e disponível.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6181344" y="1600200"/>
            <a:ext cx="2642616" cy="260604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6" name="Avatar LuShoppingCart"/>
          <p:cNvSpPr/>
          <p:nvPr/>
        </p:nvSpPr>
        <p:spPr>
          <a:xfrm>
            <a:off x="6455664" y="187452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7" name="Image 2" descr="LuShoppingC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1727" y="2010583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455664" y="2578608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Pedidos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6455664" y="299008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Cliente, itens, pagamento simulado e histórico congelado no encerramento.</a:t>
            </a:r>
            <a:endParaRPr lang="en-US" sz="1400" dirty="0"/>
          </a:p>
        </p:txBody>
      </p:sp>
      <p:sp>
        <p:nvSpPr>
          <p:cNvPr id="20" name="Cartão"/>
          <p:cNvSpPr/>
          <p:nvPr/>
        </p:nvSpPr>
        <p:spPr>
          <a:xfrm>
            <a:off x="8997696" y="1600200"/>
            <a:ext cx="2642616" cy="260604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1" name="Avatar LuUndo2"/>
          <p:cNvSpPr/>
          <p:nvPr/>
        </p:nvSpPr>
        <p:spPr>
          <a:xfrm>
            <a:off x="9272016" y="187452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2" name="Image 3" descr="LuUndo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8079" y="2010583"/>
            <a:ext cx="294803" cy="294803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272016" y="2578608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Reembolsos</a:t>
            </a:r>
            <a:endParaRPr lang="en-US" sz="1600" dirty="0"/>
          </a:p>
        </p:txBody>
      </p:sp>
      <p:sp>
        <p:nvSpPr>
          <p:cNvPr id="24" name="Text 17"/>
          <p:cNvSpPr txBox="1"/>
          <p:nvPr/>
        </p:nvSpPr>
        <p:spPr>
          <a:xfrm>
            <a:off x="9272016" y="299008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Solicitação aberta ao cancelar um pedido pago; aprovada ou rejeitada.</a:t>
            </a:r>
            <a:endParaRPr lang="en-US" sz="1400" dirty="0"/>
          </a:p>
        </p:txBody>
      </p:sp>
      <p:sp>
        <p:nvSpPr>
          <p:cNvPr id="25" name="Cartão"/>
          <p:cNvSpPr/>
          <p:nvPr/>
        </p:nvSpPr>
        <p:spPr>
          <a:xfrm>
            <a:off x="548640" y="4480560"/>
            <a:ext cx="3593592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6" name="Text 19"/>
          <p:cNvSpPr txBox="1"/>
          <p:nvPr/>
        </p:nvSpPr>
        <p:spPr>
          <a:xfrm>
            <a:off x="822960" y="45720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10</a:t>
            </a:r>
            <a:endParaRPr lang="en-US" sz="4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53949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entidades persistentes</a:t>
            </a:r>
            <a:endParaRPr lang="en-US" sz="1400" dirty="0"/>
          </a:p>
        </p:txBody>
      </p:sp>
      <p:sp>
        <p:nvSpPr>
          <p:cNvPr id="28" name="Cartão"/>
          <p:cNvSpPr/>
          <p:nvPr/>
        </p:nvSpPr>
        <p:spPr>
          <a:xfrm>
            <a:off x="4297680" y="4480560"/>
            <a:ext cx="3593592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9" name="Text 22"/>
          <p:cNvSpPr txBox="1"/>
          <p:nvPr/>
        </p:nvSpPr>
        <p:spPr>
          <a:xfrm>
            <a:off x="4572000" y="45720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7</a:t>
            </a:r>
            <a:endParaRPr lang="en-US" sz="4800" dirty="0"/>
          </a:p>
        </p:txBody>
      </p:sp>
      <p:sp>
        <p:nvSpPr>
          <p:cNvPr id="30" name="Text 23"/>
          <p:cNvSpPr txBox="1"/>
          <p:nvPr/>
        </p:nvSpPr>
        <p:spPr>
          <a:xfrm>
            <a:off x="4572000" y="53949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CodeLists com texto e criticidade</a:t>
            </a:r>
            <a:endParaRPr lang="en-US" sz="1400" dirty="0"/>
          </a:p>
        </p:txBody>
      </p:sp>
      <p:sp>
        <p:nvSpPr>
          <p:cNvPr id="31" name="Cartão"/>
          <p:cNvSpPr/>
          <p:nvPr/>
        </p:nvSpPr>
        <p:spPr>
          <a:xfrm>
            <a:off x="8046720" y="4480560"/>
            <a:ext cx="3593592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8321040" y="45720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100</a:t>
            </a:r>
            <a:endParaRPr lang="en-US" sz="4800" dirty="0"/>
          </a:p>
        </p:txBody>
      </p:sp>
      <p:sp>
        <p:nvSpPr>
          <p:cNvPr id="33" name="Text 26"/>
          <p:cNvSpPr txBox="1"/>
          <p:nvPr/>
        </p:nvSpPr>
        <p:spPr>
          <a:xfrm>
            <a:off x="8321040" y="53949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clientes, itens e pedidos de demonstração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ORGANIZAÇÃO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Onde o modelo vive e como os nomes são dados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5120640" cy="3383280"/>
          </a:xfrm>
          <a:prstGeom prst="roundRect">
            <a:avLst>
              <a:gd name="adj" fmla="val 3243"/>
            </a:avLst>
          </a:prstGeom>
          <a:solidFill>
            <a:srgbClr val="1D2D3E"/>
          </a:solidFill>
          <a:ln/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4663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nodejs-padrao/ (igual em nodejs-typescript/)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common.cds        tipos e CodeLists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schema.cds        entidades e relações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data/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pedidoscompras-Clientes.csv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pedidoscompras-Itens.csv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pedidoscompras-StatusPedido.csv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sap.common-Currencies.csv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 (18 arquivos)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srv/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validacoes.cds    @mandatory / @assert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gerar-dados-demo.js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preparar-sqlite.js</a:t>
            </a:r>
            <a:endParaRPr lang="en-US" sz="1300" dirty="0"/>
          </a:p>
        </p:txBody>
      </p:sp>
      <p:sp>
        <p:nvSpPr>
          <p:cNvPr id="7" name="Avatar LuFolderTree"/>
          <p:cNvSpPr/>
          <p:nvPr/>
        </p:nvSpPr>
        <p:spPr>
          <a:xfrm>
            <a:off x="6035040" y="1691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FolderTr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18013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720840" y="1655064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Namespace único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720840" y="1975104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Tudo em pedidoscompras; os CSVs seguem &lt;namespace&gt;-&lt;Entidade&gt;.csv.</a:t>
            </a:r>
            <a:endParaRPr lang="en-US" sz="1400" dirty="0"/>
          </a:p>
        </p:txBody>
      </p:sp>
      <p:sp>
        <p:nvSpPr>
          <p:cNvPr id="11" name="Avatar LuBookOpen"/>
          <p:cNvSpPr/>
          <p:nvPr/>
        </p:nvSpPr>
        <p:spPr>
          <a:xfrm>
            <a:off x="6035040" y="2788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BookO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28986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720840" y="2752344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Entidades no plural, em português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6720840" y="3072384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Clientes, Itens, Pedidos; CodeLists pelo conceito (Generos, StatusPedido).</a:t>
            </a:r>
            <a:endParaRPr lang="en-US" sz="1400" dirty="0"/>
          </a:p>
        </p:txBody>
      </p:sp>
      <p:sp>
        <p:nvSpPr>
          <p:cNvPr id="15" name="Avatar LuBraces"/>
          <p:cNvSpPr/>
          <p:nvPr/>
        </p:nvSpPr>
        <p:spPr>
          <a:xfrm>
            <a:off x="6035040" y="3886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Brac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399592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720840" y="3849624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camelCase e UPPER_SNAKE_CASE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6720840" y="4169664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Campos em camelCase; códigos de status como AGUARDANDO_APROVACAO.</a:t>
            </a:r>
            <a:endParaRPr lang="en-US" sz="1400" dirty="0"/>
          </a:p>
        </p:txBody>
      </p:sp>
      <p:sp>
        <p:nvSpPr>
          <p:cNvPr id="19" name="Avatar LuLink"/>
          <p:cNvSpPr/>
          <p:nvPr/>
        </p:nvSpPr>
        <p:spPr>
          <a:xfrm>
            <a:off x="6035040" y="4983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3" descr="LuL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509320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720840" y="4946904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Chaves estrangeiras geradas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6720840" y="5266944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Associações viram &lt;associação&gt;_&lt;chave&gt;: cliente_ID, statusPedido_code.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TIPOS E CODELISTS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Tipos reutilizáveis e o aspect das CodeLists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6035040" cy="3779520"/>
          </a:xfrm>
          <a:prstGeom prst="roundRect">
            <a:avLst>
              <a:gd name="adj" fmla="val 2903"/>
            </a:avLst>
          </a:prstGeom>
          <a:solidFill>
            <a:srgbClr val="1D2D3E"/>
          </a:solidFill>
          <a:ln/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5577840" cy="3413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namespace pedidoscompras;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{ sap.common.CodeList } from '@sap/cds/common';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 Cpf      : String(11);   // só dígitos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 Cep      : String(8);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 Telefone : String(11);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 Valor    : Decimal(15, 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9B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Criticidade Fiori: 0 neutra ... 3 positiva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 Criticidade : Integer enum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Neutra = 0; Negativa = 1; Critica = 2; Positiva = 3;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aspect CodeListOrdenada : CodeList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ordem       : Integer;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criticality : Criticidade default 0;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Avatar LuHash"/>
          <p:cNvSpPr/>
          <p:nvPr/>
        </p:nvSpPr>
        <p:spPr>
          <a:xfrm>
            <a:off x="6949440" y="1691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Ha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9168" y="18013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635240" y="1655064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Dígitos no banco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635240" y="1975104"/>
            <a:ext cx="397764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CPF, CEP e telefone são gravados sem máscara; a formatação vem de elementos calculados.</a:t>
            </a:r>
            <a:endParaRPr lang="en-US" sz="1400" dirty="0"/>
          </a:p>
        </p:txBody>
      </p:sp>
      <p:sp>
        <p:nvSpPr>
          <p:cNvPr id="11" name="Avatar LuLayers"/>
          <p:cNvSpPr/>
          <p:nvPr/>
        </p:nvSpPr>
        <p:spPr>
          <a:xfrm>
            <a:off x="6949440" y="30175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Lay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168" y="31272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635240" y="2980944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CodeList padrão do CAP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635240" y="3300984"/>
            <a:ext cx="397764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code, name e descr traduzíveis, prontos para value help e textos no Fiori.</a:t>
            </a:r>
            <a:endParaRPr lang="en-US" sz="1400" dirty="0"/>
          </a:p>
        </p:txBody>
      </p:sp>
      <p:sp>
        <p:nvSpPr>
          <p:cNvPr id="15" name="Avatar LuGauge"/>
          <p:cNvSpPr/>
          <p:nvPr/>
        </p:nvSpPr>
        <p:spPr>
          <a:xfrm>
            <a:off x="6949440" y="43434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Gau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445312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635240" y="4306824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Ordem e criticidade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7635240" y="4626864"/>
            <a:ext cx="397764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Cada valor traz a ordem de exibição e a cor semântica usada nas listas.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TIPOS E CODELISTS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Sete CodeLists dirigem status e classificações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11091672" cy="4315968"/>
          </a:xfrm>
          <a:prstGeom prst="roundRect">
            <a:avLst>
              <a:gd name="adj" fmla="val 254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725912" cy="914400"/>
        </p:xfrm>
        <a:graphic>
          <a:graphicData uri="http://schemas.openxmlformats.org/drawingml/2006/table">
            <a:tbl>
              <a:tblPr/>
              <a:tblGrid>
                <a:gridCol w="2106876"/>
                <a:gridCol w="6129093"/>
                <a:gridCol w="2489944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CodeList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Códigos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Onde aparece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StatusPedido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ABERTO · AGUARDANDO_APROVACAO · PROCESSANDO_REEMBOLSO · CANCELADO · FINALIZADO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Ciclo de vida do pedido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StatusPagamento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PENDENTE · APROVADO · RECUSADO · DEVOLVIDO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Pedido e pagamento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StatusReembolso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PENDENTE · APROVADO · REJEITADO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Gestão de Reembolsos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StatusEstoque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SEM_ESTOQUE · ACABANDO · EM_ESTOQUE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Coluna gerada nos itens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MetodosPagamento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CARTAO_CREDITO · CARTAO_DEBITO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Ação Efetuar Pagamento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Categorias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Categorias dos itens (base do prefixo do SKU)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Gestão de Estoque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Generos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Gênero do cliente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Gestão de Clientes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ENTIDADES E RELAÇÕES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modelo de entidades e seus relacionamentos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1920240" y="2514600"/>
            <a:ext cx="0" cy="201168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  <a:headEnd type="diamond"/>
          </a:ln>
        </p:spPr>
      </p:sp>
      <p:sp>
        <p:nvSpPr>
          <p:cNvPr id="6" name="Text 3"/>
          <p:cNvSpPr txBox="1"/>
          <p:nvPr/>
        </p:nvSpPr>
        <p:spPr>
          <a:xfrm>
            <a:off x="1965960" y="33832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1:N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 flipH="1">
            <a:off x="3108960" y="2075688"/>
            <a:ext cx="178308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  <a:tailEnd type="triangle"/>
          </a:ln>
        </p:spPr>
      </p:sp>
      <p:sp>
        <p:nvSpPr>
          <p:cNvPr id="8" name="Text 5"/>
          <p:cNvSpPr txBox="1"/>
          <p:nvPr/>
        </p:nvSpPr>
        <p:spPr>
          <a:xfrm>
            <a:off x="3703320" y="181051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N:1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080760" y="2514600"/>
            <a:ext cx="0" cy="54864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  <a:tailEnd type="triangle"/>
          </a:ln>
        </p:spPr>
      </p:sp>
      <p:sp>
        <p:nvSpPr>
          <p:cNvPr id="10" name="Shape 7"/>
          <p:cNvSpPr/>
          <p:nvPr/>
        </p:nvSpPr>
        <p:spPr>
          <a:xfrm flipH="1" flipV="1">
            <a:off x="3108960" y="2377440"/>
            <a:ext cx="1783080" cy="91440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3749040" y="285292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N:1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 flipH="1">
            <a:off x="3108960" y="3703320"/>
            <a:ext cx="1783080" cy="100584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3383280" y="397764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entrega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 flipV="1">
            <a:off x="7269480" y="2194560"/>
            <a:ext cx="1783080" cy="109728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  <a:headEnd type="diamond"/>
          </a:ln>
        </p:spPr>
      </p:sp>
      <p:sp>
        <p:nvSpPr>
          <p:cNvPr id="15" name="Text 12"/>
          <p:cNvSpPr txBox="1"/>
          <p:nvPr/>
        </p:nvSpPr>
        <p:spPr>
          <a:xfrm>
            <a:off x="7955280" y="24688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1:1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269480" y="3493008"/>
            <a:ext cx="178308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  <a:headEnd type="diamond"/>
          </a:ln>
        </p:spPr>
      </p:sp>
      <p:sp>
        <p:nvSpPr>
          <p:cNvPr id="17" name="Text 14"/>
          <p:cNvSpPr txBox="1"/>
          <p:nvPr/>
        </p:nvSpPr>
        <p:spPr>
          <a:xfrm>
            <a:off x="7882128" y="320040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1:N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0241280" y="3931920"/>
            <a:ext cx="0" cy="59436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6080760" y="3931920"/>
            <a:ext cx="0" cy="59436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  <a:headEnd type="diamond"/>
          </a:ln>
        </p:spPr>
      </p:sp>
      <p:sp>
        <p:nvSpPr>
          <p:cNvPr id="20" name="Cartão"/>
          <p:cNvSpPr/>
          <p:nvPr/>
        </p:nvSpPr>
        <p:spPr>
          <a:xfrm>
            <a:off x="731520" y="1645920"/>
            <a:ext cx="237744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96112" y="1737360"/>
            <a:ext cx="20482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Clientes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96112" y="209397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cpf · nome · score</a:t>
            </a:r>
            <a:endParaRPr lang="en-US" sz="1100" dirty="0"/>
          </a:p>
        </p:txBody>
      </p:sp>
      <p:sp>
        <p:nvSpPr>
          <p:cNvPr id="23" name="Cartão"/>
          <p:cNvSpPr/>
          <p:nvPr/>
        </p:nvSpPr>
        <p:spPr>
          <a:xfrm>
            <a:off x="731520" y="4526280"/>
            <a:ext cx="237744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96112" y="4617720"/>
            <a:ext cx="20482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Enderecos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96112" y="497433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cep · uf · principal</a:t>
            </a:r>
            <a:endParaRPr lang="en-US" sz="1100" dirty="0"/>
          </a:p>
        </p:txBody>
      </p:sp>
      <p:sp>
        <p:nvSpPr>
          <p:cNvPr id="26" name="Cartão"/>
          <p:cNvSpPr/>
          <p:nvPr/>
        </p:nvSpPr>
        <p:spPr>
          <a:xfrm>
            <a:off x="4892040" y="1645920"/>
            <a:ext cx="237744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5056632" y="1737360"/>
            <a:ext cx="20482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Reembolsos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056632" y="209397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status · valor · motivo</a:t>
            </a:r>
            <a:endParaRPr lang="en-US" sz="1100" dirty="0"/>
          </a:p>
        </p:txBody>
      </p:sp>
      <p:sp>
        <p:nvSpPr>
          <p:cNvPr id="29" name="Cartão"/>
          <p:cNvSpPr/>
          <p:nvPr/>
        </p:nvSpPr>
        <p:spPr>
          <a:xfrm>
            <a:off x="4892040" y="3063240"/>
            <a:ext cx="237744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056632" y="3154680"/>
            <a:ext cx="20482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Pedidos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5056632" y="351129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numeroPedido · status · total</a:t>
            </a:r>
            <a:endParaRPr lang="en-US" sz="1100" dirty="0"/>
          </a:p>
        </p:txBody>
      </p:sp>
      <p:sp>
        <p:nvSpPr>
          <p:cNvPr id="32" name="Cartão"/>
          <p:cNvSpPr/>
          <p:nvPr/>
        </p:nvSpPr>
        <p:spPr>
          <a:xfrm>
            <a:off x="9052560" y="1645920"/>
            <a:ext cx="237744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9217152" y="1737360"/>
            <a:ext cx="20482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Pagamentos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9217152" y="209397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bandeira · últimos 4</a:t>
            </a:r>
            <a:endParaRPr lang="en-US" sz="1100" dirty="0"/>
          </a:p>
        </p:txBody>
      </p:sp>
      <p:sp>
        <p:nvSpPr>
          <p:cNvPr id="35" name="Cartão"/>
          <p:cNvSpPr/>
          <p:nvPr/>
        </p:nvSpPr>
        <p:spPr>
          <a:xfrm>
            <a:off x="9052560" y="3063240"/>
            <a:ext cx="237744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9217152" y="3154680"/>
            <a:ext cx="20482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ItensPedido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9217152" y="351129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qtde · preço fixado</a:t>
            </a:r>
            <a:endParaRPr lang="en-US" sz="1100" dirty="0"/>
          </a:p>
        </p:txBody>
      </p:sp>
      <p:sp>
        <p:nvSpPr>
          <p:cNvPr id="38" name="Cartão"/>
          <p:cNvSpPr/>
          <p:nvPr/>
        </p:nvSpPr>
        <p:spPr>
          <a:xfrm>
            <a:off x="9052560" y="4526280"/>
            <a:ext cx="237744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5875">
            <a:solidFill>
              <a:srgbClr val="049F9A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9217152" y="4617720"/>
            <a:ext cx="20482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Itens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9217152" y="497433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sku · qtdeDisponivel</a:t>
            </a:r>
            <a:endParaRPr lang="en-US" sz="1100" dirty="0"/>
          </a:p>
        </p:txBody>
      </p:sp>
      <p:sp>
        <p:nvSpPr>
          <p:cNvPr id="41" name="Cartão"/>
          <p:cNvSpPr/>
          <p:nvPr/>
        </p:nvSpPr>
        <p:spPr>
          <a:xfrm>
            <a:off x="4709160" y="4526280"/>
            <a:ext cx="274320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4873752" y="4617720"/>
            <a:ext cx="2414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Snapshots</a:t>
            </a:r>
            <a:endParaRPr lang="en-US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4873752" y="4974336"/>
            <a:ext cx="2414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cliente e itens congelados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31520" y="5833872"/>
            <a:ext cx="64008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  <a:headEnd type="diamond"/>
          </a:ln>
        </p:spPr>
      </p:sp>
      <p:sp>
        <p:nvSpPr>
          <p:cNvPr id="45" name="Text 42"/>
          <p:cNvSpPr txBox="1"/>
          <p:nvPr/>
        </p:nvSpPr>
        <p:spPr>
          <a:xfrm>
            <a:off x="1508760" y="57058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Composição (ciclo de vida junto do pai)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5486400" y="5833872"/>
            <a:ext cx="64008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  <a:tailEnd type="triangle"/>
          </a:ln>
        </p:spPr>
      </p:sp>
      <p:sp>
        <p:nvSpPr>
          <p:cNvPr id="47" name="Text 44"/>
          <p:cNvSpPr txBox="1"/>
          <p:nvPr/>
        </p:nvSpPr>
        <p:spPr>
          <a:xfrm>
            <a:off x="6263640" y="5705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Associação (referência)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8686800" y="57058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B82"/>
                </a:solidFill>
              </a:rPr>
              <a:t>Omitidos: Numeracoes e as CodeLists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ENTIDADES E RELAÇÕES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Clientes e endereços: composição e associação filtrada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6400800" cy="3779520"/>
          </a:xfrm>
          <a:prstGeom prst="roundRect">
            <a:avLst>
              <a:gd name="adj" fmla="val 2903"/>
            </a:avLst>
          </a:prstGeom>
          <a:solidFill>
            <a:srgbClr val="1D2D3E"/>
          </a:solidFill>
          <a:ln/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5943600" cy="3413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 Clientes : cuid, managed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cpf            : Cpf;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nome           : String(255);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email          : String(100);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telefone       : Telefone;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genero         : Association to Generos;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dataNascimento : Date;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clienteAtivo   : Boolean default true;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scoreCliente   : Decimal(5, 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enderecos      : Composition of many Enderecos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on enderecos.cliente = $self;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enderecoPrincipal : Association to one Enderecos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on  enderecoPrincipal.cliente   = $self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and enderecoPrincipal.principal = true;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pedidos        : Association to many Pedidos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on pedidos.cliente = $self;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Avatar LuKeyRound"/>
          <p:cNvSpPr/>
          <p:nvPr/>
        </p:nvSpPr>
        <p:spPr>
          <a:xfrm>
            <a:off x="7315200" y="1691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KeyRo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4928" y="18013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001000" y="165506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cuid + managed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001000" y="1975104"/>
            <a:ext cx="3611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Chave UUID e createdAt/By, modifiedAt/By preenchidos pelo CAP.</a:t>
            </a:r>
            <a:endParaRPr lang="en-US" sz="1400" dirty="0"/>
          </a:p>
        </p:txBody>
      </p:sp>
      <p:sp>
        <p:nvSpPr>
          <p:cNvPr id="11" name="Avatar LuLayers"/>
          <p:cNvSpPr/>
          <p:nvPr/>
        </p:nvSpPr>
        <p:spPr>
          <a:xfrm>
            <a:off x="7315200" y="2788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Lay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4928" y="28986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001000" y="275234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Composition of many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001000" y="3072384"/>
            <a:ext cx="3611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Endereços pertencem ao cliente: criados, editados e excluídos com ele.</a:t>
            </a:r>
            <a:endParaRPr lang="en-US" sz="1400" dirty="0"/>
          </a:p>
        </p:txBody>
      </p:sp>
      <p:sp>
        <p:nvSpPr>
          <p:cNvPr id="15" name="Avatar LuFilter"/>
          <p:cNvSpPr/>
          <p:nvPr/>
        </p:nvSpPr>
        <p:spPr>
          <a:xfrm>
            <a:off x="7315200" y="3886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Fil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4928" y="399592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001000" y="384962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Associação com condição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8001000" y="4169664"/>
            <a:ext cx="3611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enderecoPrincipal aponta só para o endereço com principal = true.</a:t>
            </a:r>
            <a:endParaRPr lang="en-US" sz="1400" dirty="0"/>
          </a:p>
        </p:txBody>
      </p:sp>
      <p:sp>
        <p:nvSpPr>
          <p:cNvPr id="19" name="Avatar LuImage"/>
          <p:cNvSpPr/>
          <p:nvPr/>
        </p:nvSpPr>
        <p:spPr>
          <a:xfrm>
            <a:off x="7315200" y="4983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3" descr="LuIm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4928" y="509320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001000" y="494690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Foto como mídia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8001000" y="5266944"/>
            <a:ext cx="3611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LargeBinary com @Core.MediaType e tipos aceitos: JPEG, PNG e WebP.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ENTIDADES E RELAÇÕES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Elementos calculados: na leitura e armazenados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5440680" cy="374904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SquareFunction"/>
          <p:cNvSpPr/>
          <p:nvPr/>
        </p:nvSpPr>
        <p:spPr>
          <a:xfrm>
            <a:off x="822960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SquareFun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96047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54480" y="18745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Calculados na leitura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514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Expressão avaliada na consulta; nenhuma coluna na tabela.</a:t>
            </a:r>
            <a:endParaRPr lang="en-US" sz="1400" dirty="0"/>
          </a:p>
        </p:txBody>
      </p:sp>
      <p:sp>
        <p:nvSpPr>
          <p:cNvPr id="10" name="Bloco de código"/>
          <p:cNvSpPr/>
          <p:nvPr/>
        </p:nvSpPr>
        <p:spPr>
          <a:xfrm>
            <a:off x="822960" y="3017520"/>
            <a:ext cx="4892040" cy="1874520"/>
          </a:xfrm>
          <a:prstGeom prst="roundRect">
            <a:avLst>
              <a:gd name="adj" fmla="val 5854"/>
            </a:avLst>
          </a:prstGeom>
          <a:solidFill>
            <a:srgbClr val="1D2D3E"/>
          </a:solidFill>
          <a:ln/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11" name="Código"/>
          <p:cNvSpPr txBox="1"/>
          <p:nvPr/>
        </p:nvSpPr>
        <p:spPr>
          <a:xfrm>
            <a:off x="1051560" y="3200400"/>
            <a:ext cx="4434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cpfFormatado : String(14) =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substring(cpf, 0, 3) || '.' || ...;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scoreCriticality : Integer = case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when scoreCliente &lt;= 40 then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when scoreCliente &lt;  70 then 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else 3 end;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9B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encerrado, naoFinalizado... (Pedidos)</a:t>
            </a:r>
            <a:endParaRPr lang="en-US" sz="1200" dirty="0"/>
          </a:p>
        </p:txBody>
      </p:sp>
      <p:sp>
        <p:nvSpPr>
          <p:cNvPr id="12" name="Cartão"/>
          <p:cNvSpPr/>
          <p:nvPr/>
        </p:nvSpPr>
        <p:spPr>
          <a:xfrm>
            <a:off x="6199632" y="1600200"/>
            <a:ext cx="5440680" cy="374904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Database"/>
          <p:cNvSpPr/>
          <p:nvPr/>
        </p:nvSpPr>
        <p:spPr>
          <a:xfrm>
            <a:off x="6473952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Datab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5626" y="1960474"/>
            <a:ext cx="285293" cy="28529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205472" y="18745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Armazenados (stored)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6473952" y="2514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Coluna gerada pelo banco, recalculada a cada alteração.</a:t>
            </a:r>
            <a:endParaRPr lang="en-US" sz="1400" dirty="0"/>
          </a:p>
        </p:txBody>
      </p:sp>
      <p:sp>
        <p:nvSpPr>
          <p:cNvPr id="17" name="Bloco de código"/>
          <p:cNvSpPr/>
          <p:nvPr/>
        </p:nvSpPr>
        <p:spPr>
          <a:xfrm>
            <a:off x="6473952" y="3017520"/>
            <a:ext cx="4892040" cy="2057400"/>
          </a:xfrm>
          <a:prstGeom prst="roundRect">
            <a:avLst>
              <a:gd name="adj" fmla="val 5333"/>
            </a:avLst>
          </a:prstGeom>
          <a:solidFill>
            <a:srgbClr val="1D2D3E"/>
          </a:solidFill>
          <a:ln/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18" name="Código"/>
          <p:cNvSpPr txBox="1"/>
          <p:nvPr/>
        </p:nvSpPr>
        <p:spPr>
          <a:xfrm>
            <a:off x="6702552" y="3200400"/>
            <a:ext cx="4434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qtdeDisponivel : Integer =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qtdeEstoque - qtdeReservada stored;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statusEstoque_code : String(30) = case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when qtdeEstoque - qtdeReservada &lt;=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then 'SEM_ESTOQUE'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when qtdeEstoque - qtdeReservada &lt;= 10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then 'ACABANDO'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else 'EM_ESTOQUE' end stored;</a:t>
            </a:r>
            <a:endParaRPr lang="en-US" sz="1200" dirty="0"/>
          </a:p>
        </p:txBody>
      </p:sp>
      <p:sp>
        <p:nvSpPr>
          <p:cNvPr id="19" name="Cartão"/>
          <p:cNvSpPr/>
          <p:nvPr/>
        </p:nvSpPr>
        <p:spPr>
          <a:xfrm>
            <a:off x="548640" y="5532120"/>
            <a:ext cx="11091672" cy="594360"/>
          </a:xfrm>
          <a:prstGeom prst="roundRect">
            <a:avLst>
              <a:gd name="adj" fmla="val 18462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22960" y="553212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Regra prática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use stored quando o valor precisa ser filtrado, ordenado ou agregado pelo banco; senão, calcule na leitura.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ENTIDADES E RELAÇÕES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Pedidos: composições, pagamento e histórico imutável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6309360" cy="3581400"/>
          </a:xfrm>
          <a:prstGeom prst="roundRect">
            <a:avLst>
              <a:gd name="adj" fmla="val 3064"/>
            </a:avLst>
          </a:prstGeom>
          <a:solidFill>
            <a:srgbClr val="1D2D3E"/>
          </a:solidFill>
          <a:ln/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5852160" cy="3215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 Pedidos : cuid, managed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numeroPedido   : String(10);   // 0000000042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cliente        : Association to Clientes;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endereco       : Association to Enderecos;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itens          : Composition of many ItensPedido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on itens.pedido = $self;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pagamento      : Composition of one Pagamentos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on pagamento.pedido = $self;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clienteSnapshot: Composition of one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PedidosClienteSnapshots ...;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itensSnapshot  : Composition of many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PedidosItensSnapshots ...;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statusPedido   : Association to StatusPedido;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statusPagamento: Association to StatusPagamento;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valorTotal     : Valor default 0;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Avatar LuCreditCard"/>
          <p:cNvSpPr/>
          <p:nvPr/>
        </p:nvSpPr>
        <p:spPr>
          <a:xfrm>
            <a:off x="7223760" y="1691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CreditC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33488" y="18013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909560" y="165506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Só a última tentativa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909560" y="1975104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Pagamentos guarda bandeira e últimos 4 dígitos; cartão, validade e CVV nunca.</a:t>
            </a:r>
            <a:endParaRPr lang="en-US" sz="1400" dirty="0"/>
          </a:p>
        </p:txBody>
      </p:sp>
      <p:sp>
        <p:nvSpPr>
          <p:cNvPr id="11" name="Avatar LuHistory"/>
          <p:cNvSpPr/>
          <p:nvPr/>
        </p:nvSpPr>
        <p:spPr>
          <a:xfrm>
            <a:off x="7223760" y="2788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Hist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3488" y="28986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909560" y="275234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Snapshots no encerramento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909560" y="3072384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Cliente, endereço e itens congelados ao finalizar ou cancelar o pedido.</a:t>
            </a:r>
            <a:endParaRPr lang="en-US" sz="1400" dirty="0"/>
          </a:p>
        </p:txBody>
      </p:sp>
      <p:sp>
        <p:nvSpPr>
          <p:cNvPr id="15" name="Avatar LuHash"/>
          <p:cNvSpPr/>
          <p:nvPr/>
        </p:nvSpPr>
        <p:spPr>
          <a:xfrm>
            <a:off x="7223760" y="3886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Has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3488" y="399592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909560" y="384962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Numeracoes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7909560" y="4169664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Último número de PEDIDO e SKU, incrementado dentro da transação.</a:t>
            </a:r>
            <a:endParaRPr lang="en-US" sz="1400" dirty="0"/>
          </a:p>
        </p:txBody>
      </p:sp>
      <p:sp>
        <p:nvSpPr>
          <p:cNvPr id="19" name="Avatar LuUndo2"/>
          <p:cNvSpPr/>
          <p:nvPr/>
        </p:nvSpPr>
        <p:spPr>
          <a:xfrm>
            <a:off x="7223760" y="4983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3" descr="LuUndo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3488" y="509320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909560" y="494690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Reembolsos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7909560" y="5266944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Guarda o status anterior do pedido para restaurá-lo se rejeitado.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INTEGRIDADE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Unicidade e validações declarativas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5532120" cy="2194560"/>
          </a:xfrm>
          <a:prstGeom prst="roundRect">
            <a:avLst>
              <a:gd name="adj" fmla="val 5000"/>
            </a:avLst>
          </a:prstGeom>
          <a:solidFill>
            <a:srgbClr val="1D2D3E"/>
          </a:solidFill>
          <a:ln/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5074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db/schema.cds: UNIQUE nas tabelas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 Clientes with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@assert.unique.cpf: [cpf];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 Itens with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@assert.unique.sku: [sku];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 Pedidos with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@assert.unique.numeroPedido: [numeroPedido];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 Enderecos with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@assert.unique.cepPorCliente: [cliente, cep];</a:t>
            </a:r>
            <a:endParaRPr lang="en-US" sz="1300" dirty="0"/>
          </a:p>
        </p:txBody>
      </p:sp>
      <p:sp>
        <p:nvSpPr>
          <p:cNvPr id="7" name="Avatar LuKeyRound"/>
          <p:cNvSpPr/>
          <p:nvPr/>
        </p:nvSpPr>
        <p:spPr>
          <a:xfrm>
            <a:off x="685800" y="4114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KeyRo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422452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4078224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UNIQUE no banco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1371600" y="4398264"/>
            <a:ext cx="4617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CPF, SKU, número do pedido e CEP por cliente.</a:t>
            </a:r>
            <a:endParaRPr lang="en-US" sz="1400" dirty="0"/>
          </a:p>
        </p:txBody>
      </p:sp>
      <p:sp>
        <p:nvSpPr>
          <p:cNvPr id="11" name="Avatar LuMessageSquare"/>
          <p:cNvSpPr/>
          <p:nvPr/>
        </p:nvSpPr>
        <p:spPr>
          <a:xfrm>
            <a:off x="685800" y="5074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MessageSqua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51846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71600" y="5038344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Mensagens por chave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371600" y="5358384"/>
            <a:ext cx="4617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Códigos como EMAIL_INVALIDO vêm de _i18n/messages.properties.</a:t>
            </a:r>
            <a:endParaRPr lang="en-US" sz="1400" dirty="0"/>
          </a:p>
        </p:txBody>
      </p:sp>
      <p:sp>
        <p:nvSpPr>
          <p:cNvPr id="15" name="Bloco de código"/>
          <p:cNvSpPr/>
          <p:nvPr/>
        </p:nvSpPr>
        <p:spPr>
          <a:xfrm>
            <a:off x="6263640" y="1600200"/>
            <a:ext cx="5376672" cy="4480560"/>
          </a:xfrm>
          <a:prstGeom prst="roundRect">
            <a:avLst>
              <a:gd name="adj" fmla="val 2449"/>
            </a:avLst>
          </a:prstGeom>
          <a:solidFill>
            <a:srgbClr val="1D2D3E"/>
          </a:solidFill>
          <a:ln/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16" name="Código"/>
          <p:cNvSpPr txBox="1"/>
          <p:nvPr/>
        </p:nvSpPr>
        <p:spPr>
          <a:xfrm>
            <a:off x="6492240" y="1783080"/>
            <a:ext cx="491947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srv/validacoes.cds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 db.Clientes with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cpf   @mandatory;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email @mandatory @assert.format: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$value : '^[a-z0-9._%+-]+@...$',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message: 'EMAIL_INVALIDO' };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dataNascimento @mandatory @assert: 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case when dataNascimento &gt; $now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then 'DATA_NASCIMENTO_FUTURA' end);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 db.ItensPedido with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qtdeItemPedido @mandatory @assert: 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case when qtdeItemPedido &lt;= 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then 'ITEM_QTDE_INVALIDA' end);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PERSISTÊNCIA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Dados iniciais e bancos por perfil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2642616" cy="2423160"/>
          </a:xfrm>
          <a:prstGeom prst="roundRect">
            <a:avLst>
              <a:gd name="adj" fmla="val 4528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FileSpreadsheet"/>
          <p:cNvSpPr/>
          <p:nvPr/>
        </p:nvSpPr>
        <p:spPr>
          <a:xfrm>
            <a:off x="822960" y="187452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7" name="Image 0" descr="LuFileSpreadshe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2010583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2960" y="2578608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CSV em db/data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990088"/>
            <a:ext cx="20939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CodeLists e dados de demonstração gerados por npm run dados:demo.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3191256" y="25146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›</a:t>
            </a:r>
            <a:endParaRPr lang="en-US" sz="2400" dirty="0"/>
          </a:p>
        </p:txBody>
      </p:sp>
      <p:sp>
        <p:nvSpPr>
          <p:cNvPr id="11" name="Cartão"/>
          <p:cNvSpPr/>
          <p:nvPr/>
        </p:nvSpPr>
        <p:spPr>
          <a:xfrm>
            <a:off x="3364992" y="1600200"/>
            <a:ext cx="2642616" cy="2423160"/>
          </a:xfrm>
          <a:prstGeom prst="roundRect">
            <a:avLst>
              <a:gd name="adj" fmla="val 4528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2" name="Avatar LuTerminal"/>
          <p:cNvSpPr/>
          <p:nvPr/>
        </p:nvSpPr>
        <p:spPr>
          <a:xfrm>
            <a:off x="3639312" y="187452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3" name="Image 1" descr="LuTermin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5375" y="2010583"/>
            <a:ext cx="294803" cy="29480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639312" y="2578608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cds deploy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3639312" y="2990088"/>
            <a:ext cx="20939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Cria as tabelas, as colunas geradas e carrega os CSVs.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6007608" y="25146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›</a:t>
            </a:r>
            <a:endParaRPr lang="en-US" sz="2400" dirty="0"/>
          </a:p>
        </p:txBody>
      </p:sp>
      <p:sp>
        <p:nvSpPr>
          <p:cNvPr id="17" name="Cartão"/>
          <p:cNvSpPr/>
          <p:nvPr/>
        </p:nvSpPr>
        <p:spPr>
          <a:xfrm>
            <a:off x="6181344" y="1600200"/>
            <a:ext cx="2642616" cy="2423160"/>
          </a:xfrm>
          <a:prstGeom prst="roundRect">
            <a:avLst>
              <a:gd name="adj" fmla="val 4528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Database"/>
          <p:cNvSpPr/>
          <p:nvPr/>
        </p:nvSpPr>
        <p:spPr>
          <a:xfrm>
            <a:off x="6455664" y="187452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9" name="Image 2" descr="LuDatab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1727" y="2010583"/>
            <a:ext cx="294803" cy="29480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455664" y="2578608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SQLite em arquivo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6455664" y="2990088"/>
            <a:ext cx="20939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db.sqlite no perfil [development], mantido entre reinícios.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8823960" y="25146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›</a:t>
            </a:r>
            <a:endParaRPr lang="en-US" sz="2400" dirty="0"/>
          </a:p>
        </p:txBody>
      </p:sp>
      <p:sp>
        <p:nvSpPr>
          <p:cNvPr id="23" name="Cartão"/>
          <p:cNvSpPr/>
          <p:nvPr/>
        </p:nvSpPr>
        <p:spPr>
          <a:xfrm>
            <a:off x="8997696" y="1600200"/>
            <a:ext cx="2642616" cy="2423160"/>
          </a:xfrm>
          <a:prstGeom prst="roundRect">
            <a:avLst>
              <a:gd name="adj" fmla="val 4528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4" name="Avatar LuCloud"/>
          <p:cNvSpPr/>
          <p:nvPr/>
        </p:nvSpPr>
        <p:spPr>
          <a:xfrm>
            <a:off x="9272016" y="187452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5" name="Image 3" descr="LuClo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8079" y="2010583"/>
            <a:ext cx="294803" cy="29480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272016" y="2578608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SAP HANA Cloud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9272016" y="2990088"/>
            <a:ext cx="20939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Perfil [production] com @cap-js/hana e container HDI.</a:t>
            </a:r>
            <a:endParaRPr lang="en-US" sz="1400" dirty="0"/>
          </a:p>
        </p:txBody>
      </p:sp>
      <p:sp>
        <p:nvSpPr>
          <p:cNvPr id="28" name="Bloco de código"/>
          <p:cNvSpPr/>
          <p:nvPr/>
        </p:nvSpPr>
        <p:spPr>
          <a:xfrm>
            <a:off x="548640" y="4251960"/>
            <a:ext cx="11091672" cy="1203960"/>
          </a:xfrm>
          <a:prstGeom prst="roundRect">
            <a:avLst>
              <a:gd name="adj" fmla="val 9114"/>
            </a:avLst>
          </a:prstGeom>
          <a:solidFill>
            <a:srgbClr val="1D2D3E"/>
          </a:solidFill>
          <a:ln/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29" name="Código"/>
          <p:cNvSpPr txBox="1"/>
          <p:nvPr/>
        </p:nvSpPr>
        <p:spPr>
          <a:xfrm>
            <a:off x="777240" y="4434840"/>
            <a:ext cx="10634472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"requires":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"[development]": { "db": { "kind": "sqlite", "credentials": { "url": "db.sqlite" } } },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"[production]":  { "db": "hana"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     // testes: sempre SQLite em memória, sem tocar no db.sqlite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1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Domínio mapeado em quatro áreas: clientes, estoque, pedidos e reembolsos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Tipos semânticos e sete CodeLists com ordem e criticidade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Dez entidades com composições, associações e chaves UUID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Elementos calculados na leitura e colunas geradas (stored)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Unicidade e validações declarativas no próprio modelo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Dados de demonstração em CSV, SQLite local e HANA em produção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Próxima etapa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Serviços OData V4: projeções, rascunho, actions e autorização sobre este modelo.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">
  <a:themeElements>
    <a:clrScheme name="SAP Horizon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7858FF"/>
      </a:accent3>
      <a:accent4>
        <a:srgbClr val="E76500"/>
      </a:accent4>
      <a:accent5>
        <a:srgbClr val="256F3A"/>
      </a:accent5>
      <a:accent6>
        <a:srgbClr val="AA0808"/>
      </a:accent6>
      <a:hlink>
        <a:srgbClr val="0064D9"/>
      </a:hlink>
      <a:folHlink>
        <a:srgbClr val="7858FF"/>
      </a:folHlink>
    </a:clrScheme>
    <a:fontScheme name="SAP Horiz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Pedidos de Compras - SAP CAP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1 - Modelagem de Dados</dc:title>
  <dc:subject>Projeto Pedidos de Compras em SAP CAP e SAP Fiori</dc:subject>
  <dc:creator>Adriano Bispo</dc:creator>
  <cp:lastModifiedBy>Adriano Bispo</cp:lastModifiedBy>
  <cp:revision>1</cp:revision>
  <dcterms:created xsi:type="dcterms:W3CDTF">2026-10-20T02:31:02Z</dcterms:created>
  <dcterms:modified xsi:type="dcterms:W3CDTF">2026-10-20T02:31:02Z</dcterms:modified>
</cp:coreProperties>
</file>