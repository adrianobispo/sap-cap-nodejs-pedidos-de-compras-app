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0bacabe-9188-f6be-aad3-1df452e7c88b}">
          <p14:sldIdLst>
            <p14:sldId id="256"/>
          </p14:sldIdLst>
        </p14:section>
        <p14:section name="Contexto" id="{1b81290b-a75d-6826-071a-75842c6c0b77}">
          <p14:sldIdLst>
            <p14:sldId id="257"/>
          </p14:sldIdLst>
        </p14:section>
        <p14:section name="Camada analítica" id="{5f0ecff6-d705-db9e-6e92-008fbabe2f7b}">
          <p14:sldIdLst>
            <p14:sldId id="258"/>
            <p14:sldId id="259"/>
            <p14:sldId id="260"/>
          </p14:sldIdLst>
        </p14:section>
        <p14:section name="Domínios" id="{f1490164-1f93-594f-8a2b-02039972fca5}">
          <p14:sldIdLst>
            <p14:sldId id="261"/>
            <p14:sldId id="262"/>
            <p14:sldId id="263"/>
            <p14:sldId id="264"/>
          </p14:sldIdLst>
        </p14:section>
        <p14:section name="Apps freestyle" id="{510c60af-28f6-c07a-c482-e676526ad7d4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cerramento" id="{814cfac2-a4b3-110b-2434-86d212b5bdb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etapa 5: indicadores e gráficos sobre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agregação acontece no banco; as apps só montam a consulta e desenham 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visão é um select sobre uma entidade do modelo, com dimensões para agrupar e medidas com agregação padrão.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@Aggregation.default define o método de cada medida; ApplySupported declara o que pode ser agrupado e agregado.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Expressões portáveis do CAP transformam campos do modelo em dimensões prontas para agrupar.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pedidos, definidos em model/Scenarios.js.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estoque; o top 10 limita a consulta aos mais reservados.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cenários do domínio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têm a mesma estrutura; muda só o catálogo de cenários do domínio em Scenarios.js.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Medidas, dimensões, filtros, indicadores e os cinco cenários ficam declarados em um só arquivo por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AnalyticsQuery monta o descritor; AnalyticsService o executa com o modelo OData V4; AnalysisChart desenha com sap.viz.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 de filtros, indicadores no topo e cinco gráficos. Cada gráfico abre a página de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experiência para os quatro domínios: pedidos, clientes, estoque e reembolsos.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das consultas é testada no navegador, sem servidor de dados: só descritores e catálogo.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 etapa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1EF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Pedidos de Compras · SAP CAP 10 + SAP Fiori · Design System SAP Horizon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89D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73152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D1FF"/>
                </a:solidFill>
              </a:rPr>
              <a:t>Pedidos de Compras · SAP CAP + SAP Fiori   |   Etapa 5 — Análises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Análises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Camada analítica somente leitura com agregações $apply e quatro apps SAPUI5 freestyle com 20 análises.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nál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73252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28116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982980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37844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3" name="Etapa 6"/>
          <p:cNvSpPr/>
          <p:nvPr/>
        </p:nvSpPr>
        <p:spPr>
          <a:xfrm>
            <a:off x="10927080" y="5074920"/>
            <a:ext cx="438912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jornada do projeto em seis etapas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Database"/>
          <p:cNvSpPr/>
          <p:nvPr/>
        </p:nvSpPr>
        <p:spPr>
          <a:xfrm>
            <a:off x="7772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079346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Modelagem de Dados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CDS: tipos, CodeLists e entidades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242316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2" name="Avatar LuServer"/>
          <p:cNvSpPr/>
          <p:nvPr/>
        </p:nvSpPr>
        <p:spPr>
          <a:xfrm>
            <a:off x="265176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3" name="Image 1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3434" y="2079346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02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65176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Serviços OData V4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176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Projeções, draft, actions e autorização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429768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CodeXml"/>
          <p:cNvSpPr/>
          <p:nvPr/>
        </p:nvSpPr>
        <p:spPr>
          <a:xfrm>
            <a:off x="452628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9" name="Image 2" descr="LuCodeXm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079346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52628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03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52628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Lógica de Negócio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52628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Handlers, srv/lib e transações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17220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4" name="Avatar LuLayoutDashboard"/>
          <p:cNvSpPr/>
          <p:nvPr/>
        </p:nvSpPr>
        <p:spPr>
          <a:xfrm>
            <a:off x="640080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25" name="Image 3" descr="LuLayoutDashbo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4" y="2079346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40080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04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640080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Apps Fiori Elements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640080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Anotações, extensões e launchpad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804672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285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0" name="Avatar LuChartColumn"/>
          <p:cNvSpPr/>
          <p:nvPr/>
        </p:nvSpPr>
        <p:spPr>
          <a:xfrm>
            <a:off x="827532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31" name="Image 4" descr="LuChartColum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2079346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7532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ETAPA 05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Análises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$apply e apps SAPUI5 freestyle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921240" y="1691640"/>
            <a:ext cx="1700784" cy="251460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36" name="Avatar LuRocket"/>
          <p:cNvSpPr/>
          <p:nvPr/>
        </p:nvSpPr>
        <p:spPr>
          <a:xfrm>
            <a:off x="10149840" y="1947672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7" name="Image 5" descr="LuRock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1514" y="2079346"/>
            <a:ext cx="285293" cy="285293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49840" y="265176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ETAPA 06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10149840" y="2907792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Testes e Publicação</a:t>
            </a:r>
            <a:endParaRPr lang="en-US" sz="1500" dirty="0"/>
          </a:p>
        </p:txBody>
      </p:sp>
      <p:sp>
        <p:nvSpPr>
          <p:cNvPr id="40" name="Text 31"/>
          <p:cNvSpPr txBox="1"/>
          <p:nvPr/>
        </p:nvSpPr>
        <p:spPr>
          <a:xfrm>
            <a:off x="10149840" y="347472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Qualidade, build e SAP BTP</a:t>
            </a:r>
            <a:endParaRPr lang="en-US" sz="1200" dirty="0"/>
          </a:p>
        </p:txBody>
      </p:sp>
      <p:sp>
        <p:nvSpPr>
          <p:cNvPr id="41" name="Cartão"/>
          <p:cNvSpPr/>
          <p:nvPr/>
        </p:nvSpPr>
        <p:spPr>
          <a:xfrm>
            <a:off x="548640" y="4526280"/>
            <a:ext cx="11091672" cy="1554480"/>
          </a:xfrm>
          <a:prstGeom prst="roundRect">
            <a:avLst>
              <a:gd name="adj" fmla="val 7059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42" name="Avatar LuTarget"/>
          <p:cNvSpPr/>
          <p:nvPr/>
        </p:nvSpPr>
        <p:spPr>
          <a:xfrm>
            <a:off x="822960" y="4800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0070F2"/>
          </a:solidFill>
          <a:ln/>
        </p:spPr>
      </p:sp>
      <p:pic>
        <p:nvPicPr>
          <p:cNvPr id="43" name="Image 6" descr="LuTarge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4" y="4932274"/>
            <a:ext cx="285293" cy="285293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1645920" y="4709160"/>
            <a:ext cx="9784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Nesta etapa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criamos o AnaliticoService, com visões de dimensões e medidas agregadas no servidor via $apply, e quatro apps freestyle com filtros, indicadores, gráficos e detalhe.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Quatro visões analíticas somente leitura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11091672" cy="3026664"/>
          </a:xfrm>
          <a:prstGeom prst="roundRect">
            <a:avLst>
              <a:gd name="adj" fmla="val 3625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37360"/>
          <a:ext cx="10725912" cy="914400"/>
        </p:xfrm>
        <a:graphic>
          <a:graphicData uri="http://schemas.openxmlformats.org/drawingml/2006/table">
            <a:tbl>
              <a:tblPr/>
              <a:tblGrid>
                <a:gridCol w="2022098"/>
                <a:gridCol w="1318760"/>
                <a:gridCol w="3692527"/>
                <a:gridCol w="3692527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Visão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Origem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Dimensões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Medidas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status do pagamento, UF, mês de criação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valorTotal (SUM), valorMedio (AVG), qtdePedidos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Clientes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gênero, UF, faixa de score, mês de cadastro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qtdeClientes (SUM), scoreMedio (AVG)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ItensAnalise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Itens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categoria, status do estoque, item ativo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qtdeEstoque, qtdeReservada, qtdeDisponivel, valorEstoque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ReembolsosAnalise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status, motivo, UF, mês da solicitação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valorReembolso (SUM), qtdeReembolsos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Avatar LuLock"/>
          <p:cNvSpPr/>
          <p:nvPr/>
        </p:nvSpPr>
        <p:spPr>
          <a:xfrm>
            <a:off x="777240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9" name="Image 0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5206594"/>
            <a:ext cx="285293" cy="285293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@readonly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1508760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Nenhuma escrita: só leitura e agregação.</a:t>
            </a:r>
            <a:endParaRPr lang="en-US" sz="1400" dirty="0"/>
          </a:p>
        </p:txBody>
      </p:sp>
      <p:sp>
        <p:nvSpPr>
          <p:cNvPr id="12" name="Cartão"/>
          <p:cNvSpPr/>
          <p:nvPr/>
        </p:nvSpPr>
        <p:spPr>
          <a:xfrm>
            <a:off x="4306824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ShieldCheck"/>
          <p:cNvSpPr/>
          <p:nvPr/>
        </p:nvSpPr>
        <p:spPr>
          <a:xfrm>
            <a:off x="4535424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098" y="5206594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66944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Comum e Admin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5266944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@requires: os dois perfis consultam.</a:t>
            </a:r>
            <a:endParaRPr lang="en-US" sz="1400" dirty="0"/>
          </a:p>
        </p:txBody>
      </p:sp>
      <p:sp>
        <p:nvSpPr>
          <p:cNvPr id="17" name="Cartão"/>
          <p:cNvSpPr/>
          <p:nvPr/>
        </p:nvSpPr>
        <p:spPr>
          <a:xfrm>
            <a:off x="8065008" y="4846320"/>
            <a:ext cx="3575304" cy="123444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8" name="Avatar LuSigma"/>
          <p:cNvSpPr/>
          <p:nvPr/>
        </p:nvSpPr>
        <p:spPr>
          <a:xfrm>
            <a:off x="8293608" y="50749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9" name="Image 2" descr="LuSigm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5282" y="5206594"/>
            <a:ext cx="285293" cy="285293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025128" y="5047488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Custom aggregates</a:t>
            </a:r>
            <a:endParaRPr lang="en-US" sz="1600" dirty="0"/>
          </a:p>
        </p:txBody>
      </p:sp>
      <p:sp>
        <p:nvSpPr>
          <p:cNvPr id="21" name="Text 14"/>
          <p:cNvSpPr txBox="1"/>
          <p:nvPr/>
        </p:nvSpPr>
        <p:spPr>
          <a:xfrm>
            <a:off x="9025128" y="5449824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cliente pede a medida sem informar o método.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Agregações no servidor com $apply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600200"/>
            <a:ext cx="6400800" cy="3886200"/>
          </a:xfrm>
          <a:prstGeom prst="roundRect">
            <a:avLst>
              <a:gd name="adj" fmla="val 2824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83080"/>
            <a:ext cx="594360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@Aggregation.ApplySupported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Transformations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'aggregate'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'groupby'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'filter'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'orderby'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'top'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AggregatableProperties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@Aggregation.CustomAggregate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'Edm.Decimal'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@readonly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PedidosAnalise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enderecoPrincipal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year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month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createdAt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pPr indent="0" marL="0">
              <a:buNone/>
            </a:pPr>
            <a:r>
              <a:rPr lang="en-US" sz="12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@Aggregation.default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2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2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buNone/>
            </a:pPr>
            <a:r>
              <a:rPr lang="en-US" sz="12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Bloco de código"/>
          <p:cNvSpPr/>
          <p:nvPr/>
        </p:nvSpPr>
        <p:spPr>
          <a:xfrm>
            <a:off x="7178040" y="160020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406640" y="1783080"/>
            <a:ext cx="40050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/odata/v4/analitico/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PedidosAnalise?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$apply</a:t>
            </a:r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groupby((statusPedido,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statusPedidoTexto,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currency),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aggregate(valorTotal))</a:t>
            </a:r>
            <a:endParaRPr lang="en-US" sz="1300" dirty="0"/>
          </a:p>
        </p:txBody>
      </p:sp>
      <p:sp>
        <p:nvSpPr>
          <p:cNvPr id="9" name="Avatar LuDatabase"/>
          <p:cNvSpPr/>
          <p:nvPr/>
        </p:nvSpPr>
        <p:spPr>
          <a:xfrm>
            <a:off x="7223760" y="36118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0" name="Image 0" descr="Lu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3721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909560" y="35753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Uma linha por grupo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3895344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banco devolve só os totais, não os registros.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CAMADA ANALÍTICA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Truques de modelagem nas visões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11091672" cy="3730752"/>
          </a:xfrm>
          <a:prstGeom prst="roundRect">
            <a:avLst>
              <a:gd name="adj" fmla="val 2941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725912" cy="914400"/>
        </p:xfrm>
        <a:graphic>
          <a:graphicData uri="http://schemas.openxmlformats.org/drawingml/2006/table">
            <a:tbl>
              <a:tblPr/>
              <a:tblGrid>
                <a:gridCol w="2038810"/>
                <a:gridCol w="5584566"/>
                <a:gridCol w="310253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Elemento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Expressão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Para quê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cast(year(createdAt) * 100 + month(createdAt) as String(6))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Agrupar por mês: 202607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as qtdePedidos com @Aggregation.default: #SUM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Contar linhas somando 1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 com @Aggregation.default: #AVG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Ticket médio pelo banco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case when score &lt; 40 'BAIXO' when &lt;= 70 'MEDIO' else 'ALTO'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Faixas de score dos clientes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cast(precoUnitario * qtdeEstoque as Decimal(17,2))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Valor do estoque físico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cliente.enderecoPrincipal.uf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UF via associação filtrada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statusPedidoTexto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statusPedido.name + @Common.Text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Rótulo no 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20000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32120"/>
            <a:ext cx="10680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Portável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year, month, cast e case são traduzidos pelo CAP para SQLite e para o SAP HANA.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Valor total, pedidos e ticket médio.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Status, pagamento, UF e mês (listas).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Clientes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Clientes e score médio.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Gênero, ativo (Sim/Não), UF, faixa e busca por nome.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Itens do Estoque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Itens, em estoque, reservada, disponível e valor.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Categoria, situação e busca por nome ou SKU.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DOMÍNIOS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Análise de Pedidos de Reembolsos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7315200" cy="3035808"/>
          </a:xfrm>
          <a:prstGeom prst="roundRect">
            <a:avLst>
              <a:gd name="adj" fmla="val 3614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2488071"/>
                <a:gridCol w="1630116"/>
                <a:gridCol w="1973298"/>
                <a:gridCol w="85795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Cenário (id)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Dimensão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Medida(s)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Gráfico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rosca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coluna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138160" y="1536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6B82"/>
                </a:solidFill>
              </a:rPr>
              <a:t>ENTITY SET</a:t>
            </a:r>
            <a:endParaRPr lang="en-US" sz="1100" dirty="0"/>
          </a:p>
        </p:txBody>
      </p:sp>
      <p:sp>
        <p:nvSpPr>
          <p:cNvPr id="8" name="Cartão"/>
          <p:cNvSpPr/>
          <p:nvPr/>
        </p:nvSpPr>
        <p:spPr>
          <a:xfrm>
            <a:off x="8138160" y="1828800"/>
            <a:ext cx="3502152" cy="457200"/>
          </a:xfrm>
          <a:prstGeom prst="roundRect">
            <a:avLst>
              <a:gd name="adj" fmla="val 24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7532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ReembolsosAnalise</a:t>
            </a:r>
            <a:endParaRPr lang="en-US" sz="1200" dirty="0"/>
          </a:p>
        </p:txBody>
      </p:sp>
      <p:sp>
        <p:nvSpPr>
          <p:cNvPr id="10" name="Avatar LuGauge"/>
          <p:cNvSpPr/>
          <p:nvPr/>
        </p:nvSpPr>
        <p:spPr>
          <a:xfrm>
            <a:off x="8138160" y="260604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1" name="Image 0" descr="LuGau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6915" y="2704795"/>
            <a:ext cx="213970" cy="21397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778240" y="256946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Indicadores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778240" y="288950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Reembolsos e valor.</a:t>
            </a:r>
            <a:endParaRPr lang="en-US" sz="1400" dirty="0"/>
          </a:p>
        </p:txBody>
      </p:sp>
      <p:sp>
        <p:nvSpPr>
          <p:cNvPr id="14" name="Avatar LuFilter"/>
          <p:cNvSpPr/>
          <p:nvPr/>
        </p:nvSpPr>
        <p:spPr>
          <a:xfrm>
            <a:off x="8138160" y="39319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5" name="Image 1" descr="Lu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915" y="4030675"/>
            <a:ext cx="213970" cy="21397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778240" y="3895344"/>
            <a:ext cx="2862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Filtros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8778240" y="4215384"/>
            <a:ext cx="286207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Status, UF e mês da solicitação.</a:t>
            </a:r>
            <a:endParaRPr lang="en-US" sz="1400" dirty="0"/>
          </a:p>
        </p:txBody>
      </p:sp>
      <p:sp>
        <p:nvSpPr>
          <p:cNvPr id="18" name="Cartão"/>
          <p:cNvSpPr/>
          <p:nvPr/>
        </p:nvSpPr>
        <p:spPr>
          <a:xfrm>
            <a:off x="548640" y="4892040"/>
            <a:ext cx="7315200" cy="1188720"/>
          </a:xfrm>
          <a:prstGeom prst="roundRect">
            <a:avLst>
              <a:gd name="adj" fmla="val 9231"/>
            </a:avLst>
          </a:prstGeom>
          <a:solidFill>
            <a:srgbClr val="EBF8FF"/>
          </a:solidFill>
          <a:ln w="9525">
            <a:solidFill>
              <a:srgbClr val="D1EFF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777240" y="489204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Ordenação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BY_MEASURE ordena pela medida (maior primeiro); BY_DIMENSION pela dimensão (meses em ordem).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comum às quatro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6" name="Avatar LuFilter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7" name="Image 0" descr="Lu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911096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24328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FilterBar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Filtros do domínio (lista, booleano, busca)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3191256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Cartão"/>
          <p:cNvSpPr/>
          <p:nvPr/>
        </p:nvSpPr>
        <p:spPr>
          <a:xfrm>
            <a:off x="3364992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3" name="Avatar LuBraces"/>
          <p:cNvSpPr/>
          <p:nvPr/>
        </p:nvSpPr>
        <p:spPr>
          <a:xfrm>
            <a:off x="3566160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Bra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1911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0680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566160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AnalyticsQuery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3566160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Monta groupby, aggregate e filter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007608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Cartão"/>
          <p:cNvSpPr/>
          <p:nvPr/>
        </p:nvSpPr>
        <p:spPr>
          <a:xfrm>
            <a:off x="6181344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0" name="Avatar LuNetwork"/>
          <p:cNvSpPr/>
          <p:nvPr/>
        </p:nvSpPr>
        <p:spPr>
          <a:xfrm>
            <a:off x="6382512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21" name="Image 2" descr="LuNetwo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91109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57032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6382512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AnalyticsService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6382512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ODataListBinding com $$aggregation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8823960" y="22860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›</a:t>
            </a:r>
            <a:endParaRPr lang="en-US" sz="2200" dirty="0"/>
          </a:p>
        </p:txBody>
      </p:sp>
      <p:sp>
        <p:nvSpPr>
          <p:cNvPr id="26" name="Cartão"/>
          <p:cNvSpPr/>
          <p:nvPr/>
        </p:nvSpPr>
        <p:spPr>
          <a:xfrm>
            <a:off x="8997696" y="1600200"/>
            <a:ext cx="2642616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27" name="Avatar LuChartColumn"/>
          <p:cNvSpPr/>
          <p:nvPr/>
        </p:nvSpPr>
        <p:spPr>
          <a:xfrm>
            <a:off x="9198864" y="180136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8" name="Image 3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8592" y="1911096"/>
            <a:ext cx="237744" cy="23774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1073384" y="176479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1E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9198864" y="2368296"/>
            <a:ext cx="2276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AnalysisChart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198864" y="27432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VizFrame (sap.viz) com o resultado</a:t>
            </a:r>
            <a:endParaRPr lang="en-US" sz="1300" dirty="0"/>
          </a:p>
        </p:txBody>
      </p:sp>
      <p:sp>
        <p:nvSpPr>
          <p:cNvPr id="32" name="Bloco de código"/>
          <p:cNvSpPr/>
          <p:nvPr/>
        </p:nvSpPr>
        <p:spPr>
          <a:xfrm>
            <a:off x="548640" y="3703320"/>
            <a:ext cx="5120640" cy="1798320"/>
          </a:xfrm>
          <a:prstGeom prst="roundRect">
            <a:avLst>
              <a:gd name="adj" fmla="val 610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33" name="Código"/>
          <p:cNvSpPr txBox="1"/>
          <p:nvPr/>
        </p:nvSpPr>
        <p:spPr>
          <a:xfrm>
            <a:off x="777240" y="3886200"/>
            <a:ext cx="466344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medidas, dimensões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pPr indent="0" marL="0">
              <a:buNone/>
            </a:pPr>
            <a:r>
              <a:rPr lang="en-US" sz="13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regra do $apply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3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control/FilterBar.js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view/Dashboard · Detail.view.xml</a:t>
            </a:r>
            <a:endParaRPr lang="en-US" sz="1300" dirty="0"/>
          </a:p>
        </p:txBody>
      </p:sp>
      <p:sp>
        <p:nvSpPr>
          <p:cNvPr id="34" name="Avatar LuTestTube"/>
          <p:cNvSpPr/>
          <p:nvPr/>
        </p:nvSpPr>
        <p:spPr>
          <a:xfrm>
            <a:off x="6035040" y="3794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35" name="Image 4" descr="LuTestTub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3904488"/>
            <a:ext cx="237744" cy="23774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720840" y="375818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Regra testável sem UI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6720840" y="407822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AnalyticsQuery devolve descritores simples, cobertos por QUnit.</a:t>
            </a:r>
            <a:endParaRPr lang="en-US" sz="1400" dirty="0"/>
          </a:p>
        </p:txBody>
      </p:sp>
      <p:sp>
        <p:nvSpPr>
          <p:cNvPr id="38" name="Avatar LuRoute"/>
          <p:cNvSpPr/>
          <p:nvPr/>
        </p:nvSpPr>
        <p:spPr>
          <a:xfrm>
            <a:off x="6035040" y="48463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39" name="Image 5" descr="Lu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4956048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6720840" y="4809744"/>
            <a:ext cx="4892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→ Detalhe</a:t>
            </a:r>
            <a:endParaRPr lang="en-US" sz="1500" dirty="0"/>
          </a:p>
        </p:txBody>
      </p:sp>
      <p:sp>
        <p:nvSpPr>
          <p:cNvPr id="41" name="Text 32"/>
          <p:cNvSpPr txBox="1"/>
          <p:nvPr/>
        </p:nvSpPr>
        <p:spPr>
          <a:xfrm>
            <a:off x="6720840" y="5129784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análise abre gráfico ampliado e tabela; Abrir gestão leva à app do domínio.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Scenarios.js: o catálogo do domínio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6766560" cy="3429000"/>
          </a:xfrm>
          <a:prstGeom prst="roundRect">
            <a:avLst>
              <a:gd name="adj" fmla="val 320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63093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"money"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"money"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"statusPedidoTexto"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"month"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       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"PedidosAnalise"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"PedidoCompra-manage"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"valorTotal"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"valorMedio"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"PedValorPorStatus"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"statusPedido"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"valorTotal"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BY_MEASURE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Avatar LuDollarSign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8" name="Image 0" descr="LuDollar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currency: true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192938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 moeda entra no groupby da medida monetária.</a:t>
            </a:r>
            <a:endParaRPr lang="en-US" sz="1400" dirty="0"/>
          </a:p>
        </p:txBody>
      </p:sp>
      <p:sp>
        <p:nvSpPr>
          <p:cNvPr id="11" name="Avatar LuSigma"/>
          <p:cNvSpPr/>
          <p:nvPr/>
        </p:nvSpPr>
        <p:spPr>
          <a:xfrm>
            <a:off x="7635240" y="27432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2" name="Image 1" descr="LuSig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28529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270662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avg: true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302666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Médias não são somadas ao juntar linhas.</a:t>
            </a:r>
            <a:endParaRPr lang="en-US" sz="1400" dirty="0"/>
          </a:p>
        </p:txBody>
      </p:sp>
      <p:sp>
        <p:nvSpPr>
          <p:cNvPr id="15" name="Avatar LuCalendar"/>
          <p:cNvSpPr/>
          <p:nvPr/>
        </p:nvSpPr>
        <p:spPr>
          <a:xfrm>
            <a:off x="7635240" y="38404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6" name="Image 2" descr="LuCalend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3950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321040" y="380390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kind: month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412394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AAAAMM vira rótulo de mês no gráfico.</a:t>
            </a:r>
            <a:endParaRPr lang="en-US" sz="1400" dirty="0"/>
          </a:p>
        </p:txBody>
      </p:sp>
      <p:sp>
        <p:nvSpPr>
          <p:cNvPr id="19" name="Avatar LuArrowRight"/>
          <p:cNvSpPr/>
          <p:nvPr/>
        </p:nvSpPr>
        <p:spPr>
          <a:xfrm>
            <a:off x="7635240" y="4937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20" name="Image 3" descr="Lu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504748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321040" y="49011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manage.intent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8321040" y="5221224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Destino do botão Abrir gestão.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 consulta ao gráfico</a:t>
            </a:r>
            <a:endParaRPr lang="en-US" sz="3200" dirty="0"/>
          </a:p>
        </p:txBody>
      </p:sp>
      <p:sp>
        <p:nvSpPr>
          <p:cNvPr id="5" name="Bloco de código"/>
          <p:cNvSpPr/>
          <p:nvPr/>
        </p:nvSpPr>
        <p:spPr>
          <a:xfrm>
            <a:off x="548640" y="1554480"/>
            <a:ext cx="5486400" cy="2255520"/>
          </a:xfrm>
          <a:prstGeom prst="roundRect">
            <a:avLst>
              <a:gd name="adj" fmla="val 486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6" name="Código"/>
          <p:cNvSpPr txBox="1"/>
          <p:nvPr/>
        </p:nvSpPr>
        <p:spPr>
          <a:xfrm>
            <a:off x="777240" y="1737360"/>
            <a:ext cx="5029200" cy="188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model/AnalyticsQuery.js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buildScenarioQuery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mFiltros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dimensionFields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needsCurrency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"currency"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oDomain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toAggregation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aGroup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oScenario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buildFilters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mFiltros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oDomain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Bloco de código"/>
          <p:cNvSpPr/>
          <p:nvPr/>
        </p:nvSpPr>
        <p:spPr>
          <a:xfrm>
            <a:off x="548640" y="4160520"/>
            <a:ext cx="5486400" cy="1417320"/>
          </a:xfrm>
          <a:prstGeom prst="roundRect">
            <a:avLst>
              <a:gd name="adj" fmla="val 774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43434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até 1000 linhas; o binding é descartado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4FC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Bloco de código"/>
          <p:cNvSpPr/>
          <p:nvPr/>
        </p:nvSpPr>
        <p:spPr>
          <a:xfrm>
            <a:off x="6263640" y="1554480"/>
            <a:ext cx="5376672" cy="2087880"/>
          </a:xfrm>
          <a:prstGeom prst="roundRect">
            <a:avLst>
              <a:gd name="adj" fmla="val 5255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10" name="Código"/>
          <p:cNvSpPr txBox="1"/>
          <p:nvPr/>
        </p:nvSpPr>
        <p:spPr>
          <a:xfrm>
            <a:off x="6492240" y="1737360"/>
            <a:ext cx="4919472" cy="1722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control/AnalysisChart.js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oViz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setDataset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FlattenedDataset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sDimension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"{label}"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aUsed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"}"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"/rows"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179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DA70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oViz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setVizType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sType</a:t>
            </a:r>
            <a:pPr indent="0" marL="0">
              <a:buNone/>
            </a:pPr>
            <a:r>
              <a:rPr lang="en-US" sz="1100" dirty="0">
                <a:solidFill>
                  <a:srgbClr val="FFD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indent="0" marL="0"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column ou donut</a:t>
            </a:r>
            <a:endParaRPr lang="en-US" sz="1100" dirty="0"/>
          </a:p>
        </p:txBody>
      </p:sp>
      <p:sp>
        <p:nvSpPr>
          <p:cNvPr id="11" name="Avatar LuNetwork"/>
          <p:cNvSpPr/>
          <p:nvPr/>
        </p:nvSpPr>
        <p:spPr>
          <a:xfrm>
            <a:off x="635508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2" name="Image 0" descr="Lu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4808" y="454456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439826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$$aggregation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040880" y="471830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O modelo V4 traduz group/aggregate em $apply.</a:t>
            </a:r>
            <a:endParaRPr lang="en-US" sz="1400" dirty="0"/>
          </a:p>
        </p:txBody>
      </p:sp>
      <p:sp>
        <p:nvSpPr>
          <p:cNvPr id="15" name="Avatar LuChartPie"/>
          <p:cNvSpPr/>
          <p:nvPr/>
        </p:nvSpPr>
        <p:spPr>
          <a:xfrm>
            <a:off x="6355080" y="53949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6" name="Image 1" descr="LuChartP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808" y="550468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40880" y="5358384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Rosca usa uma medida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0" y="5678424"/>
            <a:ext cx="4572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Coluna aceita várias, como reservada e disponível.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Painel da Análise de Pedidos de Compras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60195"/>
            <a:ext cx="7589520" cy="4606290"/>
          </a:xfrm>
          <a:prstGeom prst="roundRect">
            <a:avLst>
              <a:gd name="adj" fmla="val 2382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Painel da 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1635"/>
            <a:ext cx="7406640" cy="442341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12480" y="1600200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41080" y="169164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9" name="Text 5"/>
          <p:cNvSpPr txBox="1"/>
          <p:nvPr/>
        </p:nvSpPr>
        <p:spPr>
          <a:xfrm>
            <a:off x="9418320" y="173736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indicadores: valor total, pedidos e ticket médio</a:t>
            </a:r>
            <a:endParaRPr lang="en-US" sz="1400" dirty="0"/>
          </a:p>
        </p:txBody>
      </p:sp>
      <p:sp>
        <p:nvSpPr>
          <p:cNvPr id="10" name="Cartão"/>
          <p:cNvSpPr/>
          <p:nvPr/>
        </p:nvSpPr>
        <p:spPr>
          <a:xfrm>
            <a:off x="8412480" y="3118104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641080" y="3209544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5</a:t>
            </a:r>
            <a:endParaRPr lang="en-US" sz="4400" dirty="0"/>
          </a:p>
        </p:txBody>
      </p:sp>
      <p:sp>
        <p:nvSpPr>
          <p:cNvPr id="12" name="Text 8"/>
          <p:cNvSpPr txBox="1"/>
          <p:nvPr/>
        </p:nvSpPr>
        <p:spPr>
          <a:xfrm>
            <a:off x="9418320" y="3255264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análises: status, mês, UF, pagamento e ticket</a:t>
            </a:r>
            <a:endParaRPr lang="en-US" sz="1400" dirty="0"/>
          </a:p>
        </p:txBody>
      </p:sp>
      <p:sp>
        <p:nvSpPr>
          <p:cNvPr id="13" name="Cartão"/>
          <p:cNvSpPr/>
          <p:nvPr/>
        </p:nvSpPr>
        <p:spPr>
          <a:xfrm>
            <a:off x="8412480" y="4636008"/>
            <a:ext cx="3227832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8641080" y="4727448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</a:t>
            </a:r>
            <a:endParaRPr lang="en-US" sz="44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477316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página de detalhe com gráfico e tabela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Vinte análises em quatro apps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6" name="Image 0" descr="Análise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64335"/>
            <a:ext cx="3383280" cy="20205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51960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Compras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4251960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9632" y="157289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0" name="Image 1" descr="Análise de Cl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664335"/>
            <a:ext cx="3383280" cy="20205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902952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Clientes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9902952" y="28346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48640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4" name="Image 2" descr="Análise de Itens do Estoq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41775"/>
            <a:ext cx="3383280" cy="202057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251960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Itens do Estoque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4251960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6199632" y="3950335"/>
            <a:ext cx="3566160" cy="2203450"/>
          </a:xfrm>
          <a:prstGeom prst="roundRect">
            <a:avLst>
              <a:gd name="adj" fmla="val 498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pic>
        <p:nvPicPr>
          <p:cNvPr id="18" name="Image 3" descr="Análise de Pedidos de Reembols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4041775"/>
            <a:ext cx="3383280" cy="202057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902952" y="43434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Análise de Pedidos de Reembolsos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9902952" y="5212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5 análises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1"/>
                </a:solidFill>
              </a:rPr>
              <a:t>APPS FREESTYLE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0350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Testes QUnit das apps de análise</a:t>
            </a:r>
            <a:endParaRPr lang="en-US" sz="3200" dirty="0"/>
          </a:p>
        </p:txBody>
      </p:sp>
      <p:sp>
        <p:nvSpPr>
          <p:cNvPr id="5" name="Cartão"/>
          <p:cNvSpPr/>
          <p:nvPr/>
        </p:nvSpPr>
        <p:spPr>
          <a:xfrm>
            <a:off x="548640" y="1554480"/>
            <a:ext cx="6766560" cy="1819656"/>
          </a:xfrm>
          <a:prstGeom prst="roundRect">
            <a:avLst>
              <a:gd name="adj" fmla="val 6030"/>
            </a:avLst>
          </a:prstGeom>
          <a:solidFill>
            <a:schemeClr val="bg1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4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6400800" cy="914400"/>
        </p:xfrm>
        <a:graphic>
          <a:graphicData uri="http://schemas.openxmlformats.org/drawingml/2006/table">
            <a:tbl>
              <a:tblPr/>
              <a:tblGrid>
                <a:gridCol w="2421924"/>
                <a:gridCol w="864973"/>
                <a:gridCol w="3113903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Arquivo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Testes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Cobre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A8B2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Scenarios.qunit.js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Catálogo: domínio, medidas e cenários válidos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AnalyticsQuery.qunit.js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6B82"/>
                          </a:solidFill>
                        </a:rPr>
                        <a:t>groupby, moeda, filtros OR/AND, KPIs e linhas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loco de código"/>
          <p:cNvSpPr/>
          <p:nvPr/>
        </p:nvSpPr>
        <p:spPr>
          <a:xfrm>
            <a:off x="548640" y="3611880"/>
            <a:ext cx="6766560" cy="594360"/>
          </a:xfrm>
          <a:prstGeom prst="roundRect">
            <a:avLst>
              <a:gd name="adj" fmla="val 18462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649">
                <a:alpha val="18000"/>
              </a:srgbClr>
            </a:outerShdw>
          </a:effectLst>
        </p:spPr>
      </p:sp>
      <p:sp>
        <p:nvSpPr>
          <p:cNvPr id="8" name="Código"/>
          <p:cNvSpPr txBox="1"/>
          <p:nvPr/>
        </p:nvSpPr>
        <p:spPr>
          <a:xfrm>
            <a:off x="777240" y="3794760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/analisepedidos/test/testsuite.qunit.html</a:t>
            </a:r>
            <a:endParaRPr lang="en-US" sz="1200" dirty="0"/>
          </a:p>
        </p:txBody>
      </p:sp>
      <p:sp>
        <p:nvSpPr>
          <p:cNvPr id="9" name="Avatar LuTestTube"/>
          <p:cNvSpPr/>
          <p:nvPr/>
        </p:nvSpPr>
        <p:spPr>
          <a:xfrm>
            <a:off x="7635240" y="16459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pic>
        <p:nvPicPr>
          <p:cNvPr id="10" name="Image 0" descr="LuTestT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175564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321040" y="160934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Por app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1929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Cada uma das quatro apps tem a sua suíte.</a:t>
            </a:r>
            <a:endParaRPr lang="en-US" sz="1400" dirty="0"/>
          </a:p>
        </p:txBody>
      </p:sp>
      <p:sp>
        <p:nvSpPr>
          <p:cNvPr id="13" name="Avatar LuTerminal"/>
          <p:cNvSpPr/>
          <p:nvPr/>
        </p:nvSpPr>
        <p:spPr>
          <a:xfrm>
            <a:off x="7635240" y="28346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DAFDF5"/>
          </a:solidFill>
          <a:ln/>
        </p:spPr>
      </p:sp>
      <p:pic>
        <p:nvPicPr>
          <p:cNvPr id="14" name="Image 1" descr="Lu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968" y="2944368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321040" y="27980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 npm run watch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321040" y="311810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As suítes abrem no navegador, servidas pelo CAP.</a:t>
            </a:r>
            <a:endParaRPr lang="en-US" sz="1400" dirty="0"/>
          </a:p>
        </p:txBody>
      </p:sp>
      <p:sp>
        <p:nvSpPr>
          <p:cNvPr id="17" name="Avatar LuServer"/>
          <p:cNvSpPr/>
          <p:nvPr/>
        </p:nvSpPr>
        <p:spPr>
          <a:xfrm>
            <a:off x="76352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1ECFF"/>
          </a:solidFill>
          <a:ln/>
        </p:spPr>
      </p:sp>
      <p:pic>
        <p:nvPicPr>
          <p:cNvPr id="18" name="Image 2" descr="LuSer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968" y="4133088"/>
            <a:ext cx="237744" cy="2377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321040" y="398678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Backend também testado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8321040" y="430682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analitico.test cobre as agregações $apply.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AnaliticoService somente leitura com quatro visões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Medidas com agregação padrão e custom aggregates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20 cenários: dimensão, medida, gráfico e ordenação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freestyle com a mesma arquitetura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$$aggregation do OData V4 e gráficos sap.viz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Regra das consultas coberta por testes QUnit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Próxima etapa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Testes, build e publicação na SAP BTP com SAP HANA Cloud, XSUAA e Work Zone.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7858FF"/>
      </a:accent3>
      <a:accent4>
        <a:srgbClr val="E76500"/>
      </a:accent4>
      <a:accent5>
        <a:srgbClr val="256F3A"/>
      </a:accent5>
      <a:accent6>
        <a:srgbClr val="AA0808"/>
      </a:accent6>
      <a:hlink>
        <a:srgbClr val="0064D9"/>
      </a:hlink>
      <a:folHlink>
        <a:srgbClr val="7858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Pedidos de Compras - SAP 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Análises</dc:title>
  <dc:subject>Projeto Pedidos de Compras em SAP CAP e SAP Fiori</dc:subject>
  <dc:creator>Adriano Bispo</dc:creator>
  <cp:lastModifiedBy>Adriano Bispo</cp:lastModifiedBy>
  <cp:revision>1</cp:revision>
  <dcterms:created xsi:type="dcterms:W3CDTF">2026-10-20T11:28:12Z</dcterms:created>
  <dcterms:modified xsi:type="dcterms:W3CDTF">2026-10-20T11:28:12Z</dcterms:modified>
</cp:coreProperties>
</file>