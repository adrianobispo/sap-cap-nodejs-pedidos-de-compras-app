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cfa2d05-8b3d-ef27-d097-7fb65d8c0516}">
          <p14:sldIdLst>
            <p14:sldId id="256"/>
          </p14:sldIdLst>
        </p14:section>
        <p14:section name="Contexto" id="{0eec0615-33c0-fb4e-2feb-e1c7e6e6940c}">
          <p14:sldIdLst>
            <p14:sldId id="257"/>
          </p14:sldIdLst>
        </p14:section>
        <p14:section name="Organização" id="{fe987827-14cf-385f-635e-d84aaf4570a0}">
          <p14:sldIdLst>
            <p14:sldId id="258"/>
            <p14:sldId id="259"/>
          </p14:sldIdLst>
        </p14:section>
        <p14:section name="Pedido e estoque" id="{69d836ac-ce21-b5ba-c964-27ce6fac87d0}">
          <p14:sldIdLst>
            <p14:sldId id="260"/>
            <p14:sldId id="261"/>
            <p14:sldId id="262"/>
          </p14:sldIdLst>
        </p14:section>
        <p14:section name="Pagamento e reembolso" id="{3438b81b-39b8-2311-9982-0003dc2019c6}">
          <p14:sldIdLst>
            <p14:sldId id="263"/>
            <p14:sldId id="264"/>
          </p14:sldIdLst>
        </p14:section>
        <p14:section name="Integrações" id="{b3e215ff-51f0-1de1-1924-9594fc61681c}">
          <p14:sldIdLst>
            <p14:sldId id="265"/>
            <p14:sldId id="266"/>
            <p14:sldId id="267"/>
          </p14:sldIdLst>
        </p14:section>
        <p14:section name="Encerramento" id="{c98b34aa-dece-c9b3-e9f6-56198ce00ba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3: onde as regras de negócio são implementadas.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Qualquer erro numa requisição desfaz tudo: estoque, número do pedido e snapshots.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Handlers finos chamam módulos de srv/lib, que concentram as regras que atravessam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serviço é uma classe que estende cds.ApplicationService e registra handlers em init().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Salvar valida, gera o número, fixa os preços e reserva o estoque, tudo numa transação.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movimentos não são actions OData: são funções internas chamadas pelo domínio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condição usa o estado atual do banco, nunca valores da UI. Se outra transação chegou antes, nenhuma linha muda e a ação é recusada.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simulação decide pela bandeira e pelo CVV. Número, validade e CVV ficam só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 um pedido pago não cancela direto: abre uma solicitação de reembolso decidida em outra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é toda no backend, durante o PATCH do rascunho. Side effects recarregam os campos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Clientes, Estoque e Pedidos aceitam .xlsx ou .csv. Todas as linhas são validadas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Mesmo modelo, serviços, apps e testes. Muda a linguagem dos handlers, das regras e dos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3 — Lógica de Negócio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03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Lógica de Negócio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Handlers dos serviços e regras de domínio em srv/lib: estoque, concorrência, pagamento, reembolso, CEP e importação.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Lógica de Negó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3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implementamos as regras que o CDS não expressa sozinho: handlers por serviço e módulos de domínio em srv/lib, sempre dentro da transação da requisição.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mora cada regra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659317"/>
                <a:gridCol w="80665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Módulo (srv/lib)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Responsabilidade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Registro, edição, pagamento, aprovação, cancelamento, reembolso, snapshots e transições atômicas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Reserva, liberação e baixa com UPDATE condicional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numeracao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Sequenciais de pedido (10 dígitos) e de SKU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viacep · enderecos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Consulta de CEP com cache e timeout; preenchimento e validações do Save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pagamento-simulado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Simulação do cartão sem persistir dados sensíveis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planilha · importacao*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Leitor .xlsx/.csv sem bibliotecas e importações tudo ou nada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permissoes · mensagens · util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Singleton Permissoes, mensagens i18n, CPF, e-mail, imagens, arredondamento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Handlers: before, on e after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949440" cy="4251960"/>
          </a:xfrm>
          <a:prstGeom prst="roundRect">
            <a:avLst>
              <a:gd name="adj" fmla="val 2581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64922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ApplicationService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Rascunho novo: status e moeda iniciais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'NEW'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MOEDA_PADRAO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Troca de cliente: endereço principal atual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'PATCH'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=&gt;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removerCamposControlados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Avatar LuClock"/>
          <p:cNvSpPr/>
          <p:nvPr/>
        </p:nvSpPr>
        <p:spPr>
          <a:xfrm>
            <a:off x="78638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35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55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before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7510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 e completa os dados antes da gravação.</a:t>
            </a:r>
            <a:endParaRPr lang="en-US" sz="1400" dirty="0"/>
          </a:p>
        </p:txBody>
      </p:sp>
      <p:sp>
        <p:nvSpPr>
          <p:cNvPr id="11" name="Avatar LuPlug"/>
          <p:cNvSpPr/>
          <p:nvPr/>
        </p:nvSpPr>
        <p:spPr>
          <a:xfrm>
            <a:off x="78638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l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75234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549640" y="307238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Implementa as actions: pagar, aprovar, cancelar.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78638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49640" y="384962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after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549640" y="416966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Recalcula totais depois de NEW e PATCH.</a:t>
            </a:r>
            <a:endParaRPr lang="en-US" sz="1400" dirty="0"/>
          </a:p>
        </p:txBody>
      </p:sp>
      <p:sp>
        <p:nvSpPr>
          <p:cNvPr id="19" name="Avatar LuMessageSquare"/>
          <p:cNvSpPr/>
          <p:nvPr/>
        </p:nvSpPr>
        <p:spPr>
          <a:xfrm>
            <a:off x="78638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549640" y="494690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549640" y="5266944"/>
            <a:ext cx="3063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req.error com chaves do _i18n, ex.: ITEM_SEM_ESTOQUE.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Registro do pedido: do rascunho ao status ABERTO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9890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registro do pe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349" y="1554480"/>
            <a:ext cx="4437223" cy="4617720"/>
          </a:xfrm>
          <a:prstGeom prst="rect">
            <a:avLst/>
          </a:prstGeom>
        </p:spPr>
      </p:pic>
      <p:sp>
        <p:nvSpPr>
          <p:cNvPr id="7" name="Avatar LuUsers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Usuário informa só cliente e itens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Endereço, dados do cliente, preços, totais, número e status vêm do backend.</a:t>
            </a:r>
            <a:endParaRPr lang="en-US" sz="1400" dirty="0"/>
          </a:p>
        </p:txBody>
      </p:sp>
      <p:sp>
        <p:nvSpPr>
          <p:cNvPr id="11" name="Avatar LuCalculator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alcula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Preço provisório no rascunho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Fixado no registro; valores enviados pela UI são descartados.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Ha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Número sequencial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0000000042, gerado na mesma transação: Save que falha não deixa buraco.</a:t>
            </a:r>
            <a:endParaRPr lang="en-US" sz="1400" dirty="0"/>
          </a:p>
        </p:txBody>
      </p:sp>
      <p:sp>
        <p:nvSpPr>
          <p:cNvPr id="19" name="Avatar LuPackage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ack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Edição pela diferença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No pedido ABERTO, a reserva é ajustada só pelo que mudou.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Reserva, liberação e baixa de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2788920"/>
          </a:xfrm>
          <a:prstGeom prst="roundRect">
            <a:avLst>
              <a:gd name="adj" fmla="val 393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1418302"/>
                <a:gridCol w="3545756"/>
                <a:gridCol w="2925249"/>
                <a:gridCol w="28366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Movimento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Quando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Efeito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Condição avaliada no banco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Reservar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Registro do pedido; acréscimo na edição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+=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item ativo e disponível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Liberar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Redução na edição; cancelamento; reembolso 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qtdeReservada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Baixar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Aprovação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 -= q e qtdeEstoque -= q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reservada &gt;= q e estoque &gt;= q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229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Status do estoque (coluna gerada a partir do saldo)</a:t>
            </a:r>
            <a:endParaRPr lang="en-US" sz="1600" dirty="0"/>
          </a:p>
        </p:txBody>
      </p:sp>
      <p:sp>
        <p:nvSpPr>
          <p:cNvPr id="9" name="Status SEM_ESTOQUE"/>
          <p:cNvSpPr txBox="1"/>
          <p:nvPr/>
        </p:nvSpPr>
        <p:spPr>
          <a:xfrm>
            <a:off x="82296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SEM_ESTOQUE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251460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disponível &lt;= 0</a:t>
            </a:r>
            <a:endParaRPr lang="en-US" sz="1400" dirty="0"/>
          </a:p>
        </p:txBody>
      </p:sp>
      <p:sp>
        <p:nvSpPr>
          <p:cNvPr id="11" name="Status ACABANDO"/>
          <p:cNvSpPr txBox="1"/>
          <p:nvPr/>
        </p:nvSpPr>
        <p:spPr>
          <a:xfrm>
            <a:off x="438912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FF3B8"/>
          </a:solidFill>
          <a:ln w="9525">
            <a:solidFill>
              <a:srgbClr val="B44F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4F00"/>
                </a:solidFill>
              </a:rPr>
              <a:t>ACABANDO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 a 10 disponíveis</a:t>
            </a:r>
            <a:endParaRPr lang="en-US" sz="1400" dirty="0"/>
          </a:p>
        </p:txBody>
      </p:sp>
      <p:sp>
        <p:nvSpPr>
          <p:cNvPr id="13" name="Status EM_ESTOQUE"/>
          <p:cNvSpPr txBox="1"/>
          <p:nvPr/>
        </p:nvSpPr>
        <p:spPr>
          <a:xfrm>
            <a:off x="7955280" y="5120640"/>
            <a:ext cx="155448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EM_ESTOQUE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9646920" y="50749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11 ou mais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PEDIDO E ESTOQUE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Concorrência: UPDATE condicional e atômico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2240280"/>
          </a:xfrm>
          <a:prstGeom prst="roundRect">
            <a:avLst>
              <a:gd name="adj" fmla="val 4898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transicionarPedido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statusPagamento_code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alterados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===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409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'PEDIDO_ALTERADO_CONCORRENTE'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Cartão"/>
          <p:cNvSpPr/>
          <p:nvPr/>
        </p:nvSpPr>
        <p:spPr>
          <a:xfrm>
            <a:off x="6858000" y="1600200"/>
            <a:ext cx="4782312" cy="4480560"/>
          </a:xfrm>
          <a:prstGeom prst="roundRect">
            <a:avLst>
              <a:gd name="adj" fmla="val 244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Duas ações sobre o mesmo pedido</a:t>
            </a:r>
            <a:endParaRPr lang="en-US" sz="1600" dirty="0"/>
          </a:p>
        </p:txBody>
      </p:sp>
      <p:sp>
        <p:nvSpPr>
          <p:cNvPr id="9" name="Avatar LuCircleCheck"/>
          <p:cNvSpPr/>
          <p:nvPr/>
        </p:nvSpPr>
        <p:spPr>
          <a:xfrm>
            <a:off x="7132320" y="23774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0" descr="Lu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3021" y="24981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81812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pedido</a:t>
            </a:r>
            <a:endParaRPr lang="en-US" sz="1500" dirty="0"/>
          </a:p>
        </p:txBody>
      </p:sp>
      <p:sp>
        <p:nvSpPr>
          <p:cNvPr id="12" name="Status 1 linha alterada"/>
          <p:cNvSpPr txBox="1"/>
          <p:nvPr/>
        </p:nvSpPr>
        <p:spPr>
          <a:xfrm>
            <a:off x="7818120" y="274320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5FAE5"/>
          </a:solidFill>
          <a:ln w="9525">
            <a:solidFill>
              <a:srgbClr val="256F3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1 linha alterada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31089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 muda e a reserva é liberada</a:t>
            </a:r>
            <a:endParaRPr lang="en-US" sz="1400" dirty="0"/>
          </a:p>
        </p:txBody>
      </p:sp>
      <p:sp>
        <p:nvSpPr>
          <p:cNvPr id="14" name="Avatar LuTriangleAlert"/>
          <p:cNvSpPr/>
          <p:nvPr/>
        </p:nvSpPr>
        <p:spPr>
          <a:xfrm>
            <a:off x="7132320" y="41605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5" name="Image 1" descr="Lu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3021" y="42812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818120" y="413308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Efetuar Pagamento</a:t>
            </a:r>
            <a:endParaRPr lang="en-US" sz="1500" dirty="0"/>
          </a:p>
        </p:txBody>
      </p:sp>
      <p:sp>
        <p:nvSpPr>
          <p:cNvPr id="17" name="Status 0 linhas alteradas"/>
          <p:cNvSpPr txBox="1"/>
          <p:nvPr/>
        </p:nvSpPr>
        <p:spPr>
          <a:xfrm>
            <a:off x="7818120" y="4526280"/>
            <a:ext cx="1828800" cy="274320"/>
          </a:xfrm>
          <a:prstGeom prst="roundRect">
            <a:avLst>
              <a:gd name="adj" fmla="val 46667"/>
            </a:avLst>
          </a:prstGeom>
          <a:solidFill>
            <a:srgbClr val="FFEAF4"/>
          </a:solidFill>
          <a:ln w="9525">
            <a:solidFill>
              <a:srgbClr val="AA080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0 linhas alteradas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18120" y="4892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HTTP 409, nada é gravado</a:t>
            </a:r>
            <a:endParaRPr lang="en-US" sz="1400" dirty="0"/>
          </a:p>
        </p:txBody>
      </p:sp>
      <p:sp>
        <p:nvSpPr>
          <p:cNvPr id="19" name="Avatar LuLock"/>
          <p:cNvSpPr/>
          <p:nvPr/>
        </p:nvSpPr>
        <p:spPr>
          <a:xfrm>
            <a:off x="685800" y="4160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0" name="Image 2" descr="Lu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42702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1239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Bloqueio até o commit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44398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Sem dupla reserva, dupla baixa ou dupla liberação.</a:t>
            </a:r>
            <a:endParaRPr lang="en-US" sz="1400" dirty="0"/>
          </a:p>
        </p:txBody>
      </p:sp>
      <p:sp>
        <p:nvSpPr>
          <p:cNvPr id="23" name="Avatar LuRefreshCw"/>
          <p:cNvSpPr/>
          <p:nvPr/>
        </p:nvSpPr>
        <p:spPr>
          <a:xfrm>
            <a:off x="68580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24" name="Image 3" descr="Lu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2303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71600" y="5084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Mesma conferência em outros pontos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1371600" y="5404104"/>
            <a:ext cx="5074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Save da edição do pedido e decisão do reembolso.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PAGAMENTO E REEMBOLSO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Pagamento simulado, sem dados sensíveis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61078" y="1463040"/>
            <a:ext cx="4912885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Efetuar Pagam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518" y="1554480"/>
            <a:ext cx="4730005" cy="46177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5760720" y="1600200"/>
            <a:ext cx="5879592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737360"/>
          <a:ext cx="5513832" cy="914400"/>
        </p:xfrm>
        <a:graphic>
          <a:graphicData uri="http://schemas.openxmlformats.org/drawingml/2006/table">
            <a:tbl>
              <a:tblPr/>
              <a:tblGrid>
                <a:gridCol w="1069848"/>
                <a:gridCol w="2304288"/>
                <a:gridCol w="2139696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Cenário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Resultado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Aprovado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4111 1111 1111 1111 · CVV 123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Aguardando aprovação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Recusado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mesmo cartão · CVV 000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Segue ABERTO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5555 5555 5555 4444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Bandeira MASTERCARD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Inválido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validade vencida ou CVV curto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Erro, não é recusa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Avatar LuLock"/>
          <p:cNvSpPr/>
          <p:nvPr/>
        </p:nvSpPr>
        <p:spPr>
          <a:xfrm>
            <a:off x="5897880" y="5120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0" name="Image 1" descr="Lu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608" y="5230368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583680" y="5084064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Grava só o resultado seguro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6583680" y="540410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Bandeira, últimos 4 dígitos, máscara, autorização e mensagem.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PAGAMENTO E REEMBOLSO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Aprovação, cancelamento e reembolso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55681" y="1463040"/>
            <a:ext cx="7118239" cy="48006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o cancelamento e do reembol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121" y="1554480"/>
            <a:ext cx="6935359" cy="4617720"/>
          </a:xfrm>
          <a:prstGeom prst="rect">
            <a:avLst/>
          </a:prstGeom>
        </p:spPr>
      </p:pic>
      <p:sp>
        <p:nvSpPr>
          <p:cNvPr id="7" name="Avatar LuBadgeCheck"/>
          <p:cNvSpPr/>
          <p:nvPr/>
        </p:nvSpPr>
        <p:spPr>
          <a:xfrm>
            <a:off x="80010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8" name="Image 1" descr="Lu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686800" y="165506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Aprovar pedido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8686800" y="197510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Baixa o estoque, gera snapshots e finaliza.</a:t>
            </a:r>
            <a:endParaRPr lang="en-US" sz="1400" dirty="0"/>
          </a:p>
        </p:txBody>
      </p:sp>
      <p:sp>
        <p:nvSpPr>
          <p:cNvPr id="11" name="Avatar LuUndo2"/>
          <p:cNvSpPr/>
          <p:nvPr/>
        </p:nvSpPr>
        <p:spPr>
          <a:xfrm>
            <a:off x="80010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2" name="Image 2" descr="LuUndo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072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686800" y="275234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Cancelar pago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8686800" y="307238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Abre o reembolso e mantém a reserva.</a:t>
            </a:r>
            <a:endParaRPr lang="en-US" sz="1400" dirty="0"/>
          </a:p>
        </p:txBody>
      </p:sp>
      <p:sp>
        <p:nvSpPr>
          <p:cNvPr id="15" name="Avatar LuCircleCheck"/>
          <p:cNvSpPr/>
          <p:nvPr/>
        </p:nvSpPr>
        <p:spPr>
          <a:xfrm>
            <a:off x="80010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6" name="Image 3" descr="Lu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686800" y="384962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aprovado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8686800" y="416966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Libera reserva, cancela e marca DEVOLVIDO.</a:t>
            </a:r>
            <a:endParaRPr lang="en-US" sz="1400" dirty="0"/>
          </a:p>
        </p:txBody>
      </p:sp>
      <p:sp>
        <p:nvSpPr>
          <p:cNvPr id="19" name="Avatar LuTriangleAlert"/>
          <p:cNvSpPr/>
          <p:nvPr/>
        </p:nvSpPr>
        <p:spPr>
          <a:xfrm>
            <a:off x="80010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0" name="Image 4" descr="LuTriangleAle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072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686800" y="4946904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 rejeitado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8686800" y="5266944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Pedido volta ao status anterior.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Endereço pelo CEP com a API ViaCEP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707469" y="1463040"/>
            <a:ext cx="4620103" cy="4800600"/>
          </a:xfrm>
          <a:prstGeom prst="roundRect">
            <a:avLst>
              <a:gd name="adj" fmla="val 237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Fluxograma da consulta de C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909" y="1554480"/>
            <a:ext cx="4437223" cy="4617720"/>
          </a:xfrm>
          <a:prstGeom prst="rect">
            <a:avLst/>
          </a:prstGeom>
        </p:spPr>
      </p:pic>
      <p:sp>
        <p:nvSpPr>
          <p:cNvPr id="7" name="Avatar LuMapPin"/>
          <p:cNvSpPr/>
          <p:nvPr/>
        </p:nvSpPr>
        <p:spPr>
          <a:xfrm>
            <a:off x="58521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1" descr="LuMap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01368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537960" y="165506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Reaproveita CEP conhecido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537960" y="197510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CEP já validado no cadastro não gera nova chamada; cache de 100 CEPs por processo.</a:t>
            </a:r>
            <a:endParaRPr lang="en-US" sz="1400" dirty="0"/>
          </a:p>
        </p:txBody>
      </p:sp>
      <p:sp>
        <p:nvSpPr>
          <p:cNvPr id="11" name="Avatar LuClock"/>
          <p:cNvSpPr/>
          <p:nvPr/>
        </p:nvSpPr>
        <p:spPr>
          <a:xfrm>
            <a:off x="58521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2" descr="Lu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898648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537960" y="275234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fetch nativo com timeout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6537960" y="307238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URL em cds.requires.viacep; 5 s de limite; indisponível vira aviso e bloqueia o Save.</a:t>
            </a:r>
            <a:endParaRPr lang="en-US" sz="1400" dirty="0"/>
          </a:p>
        </p:txBody>
      </p:sp>
      <p:sp>
        <p:nvSpPr>
          <p:cNvPr id="15" name="Avatar LuBadgeCheck"/>
          <p:cNvSpPr/>
          <p:nvPr/>
        </p:nvSpPr>
        <p:spPr>
          <a:xfrm>
            <a:off x="58521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3" descr="LuBadg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3995928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537960" y="384962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cepStatus V · I · X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6537960" y="416966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Validado, inválido ou indisponível, gravado no endereço.</a:t>
            </a:r>
            <a:endParaRPr lang="en-US" sz="1400" dirty="0"/>
          </a:p>
        </p:txBody>
      </p:sp>
      <p:sp>
        <p:nvSpPr>
          <p:cNvPr id="19" name="Avatar LuPencil"/>
          <p:cNvSpPr/>
          <p:nvPr/>
        </p:nvSpPr>
        <p:spPr>
          <a:xfrm>
            <a:off x="58521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4" descr="LuPenc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5093208"/>
            <a:ext cx="237744" cy="23774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537960" y="4946904"/>
            <a:ext cx="5074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CEP geral de município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6537960" y="5266944"/>
            <a:ext cx="5074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Logradouro e bairro ficam editáveis e obrigatórios.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Importação em massa por planilha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6949440" cy="3063240"/>
          </a:xfrm>
          <a:prstGeom prst="roundRect">
            <a:avLst>
              <a:gd name="adj" fmla="val 35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126156"/>
                <a:gridCol w="1905802"/>
                <a:gridCol w="35517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App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Uma linha é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Colunas obrigatórias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 + endereço principal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CPF, Nome, E-mail, Telefone, Nascimento, CEP, Número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Nome, Categoria, Quantidade, Preço unitário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um item de um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(referência), CPF, SKU, Quantidade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772400" y="1600200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ShieldCheck"/>
          <p:cNvSpPr/>
          <p:nvPr/>
        </p:nvSpPr>
        <p:spPr>
          <a:xfrm>
            <a:off x="800100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2674" y="196047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32520" y="18013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Tudo ou nada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732520" y="2203704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Qualquer erro cancela e lista o motivo por linha.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7772400" y="3118104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FileSpreadsheet"/>
          <p:cNvSpPr/>
          <p:nvPr/>
        </p:nvSpPr>
        <p:spPr>
          <a:xfrm>
            <a:off x="8001000" y="33467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2674" y="3478378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32520" y="3319272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Leitor próprio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3721608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XLSX lido como ZIP + XML; até 500 linhas e 50 MB.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7772400" y="4636008"/>
            <a:ext cx="386791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KeyRound"/>
          <p:cNvSpPr/>
          <p:nvPr/>
        </p:nvSpPr>
        <p:spPr>
          <a:xfrm>
            <a:off x="8001000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2674" y="4996282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732520" y="4837176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duplicidade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8732520" y="5239512"/>
            <a:ext cx="2679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nome do item e referência do pedido.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548640" y="489204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77240" y="4892040"/>
            <a:ext cx="6537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criação passa pelo próprio serviço: valem as mesmas regras da tela (CPF, ViaCEP, SKU, número do pedido e reserva de estoque).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IMPLEMENTAÇÕES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JavaScript e TypeScript: duas implementações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133088"/>
          </a:xfrm>
          <a:prstGeom prst="roundRect">
            <a:avLst>
              <a:gd name="adj" fmla="val 265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304741"/>
                <a:gridCol w="4077619"/>
                <a:gridCol w="434355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Aspecto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nodejs-padrao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nodejs-typescript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Linguagem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JavaScript ESM (srv/*.js)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TypeScript 6 strict (srv/*.ts)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Entidades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this.entities, cds.entities(...)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Classes do cds-typer em #cds-models/*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Parâmetros de actions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req.data sem tipo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Tipos derivados do modelo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Execução local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watch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cds-tsx watch (tsx)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Build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copia os .js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cds build compila com tsc para gen/srv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74 (node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76 (node --import tsx --test)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3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Handlers finos por serviço e regras de domínio em srv/lib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Pedido registrado com número, preços fixados e reserva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Movimentos de estoque e transições de status atômicos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Pagamento simulado sem gravar dados do cartão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Reembolso com aprovação ou retomada do pedido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ViaCEP e importação por planilha tudo ou nada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Apps Fiori Elements: geração com Fiori tools, anotações, extensões e launchpad.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3 - Lógica de Negócio</dc:title>
  <dc:subject>Projeto Pedidos de Compras em SAP CAP e SAP Fiori</dc:subject>
  <dc:creator>Adriano Bispo</dc:creator>
  <cp:lastModifiedBy>Adriano Bispo</cp:lastModifiedBy>
  <cp:revision>1</cp:revision>
  <dcterms:created xsi:type="dcterms:W3CDTF">2026-10-20T02:45:54Z</dcterms:created>
  <dcterms:modified xsi:type="dcterms:W3CDTF">2026-10-20T02:45:54Z</dcterms:modified>
</cp:coreProperties>
</file>