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e60b42d-aa82-49f8-db90-c879edf04f0e}">
          <p14:sldIdLst>
            <p14:sldId id="256"/>
          </p14:sldIdLst>
        </p14:section>
        <p14:section name="Contexto" id="{1e9c8a5d-72e4-cb6f-92ac-52de621d1b1a}">
          <p14:sldIdLst>
            <p14:sldId id="257"/>
          </p14:sldIdLst>
        </p14:section>
        <p14:section name="Camada analítica" id="{4f110933-3379-9ad0-ae78-6b4c109880c8}">
          <p14:sldIdLst>
            <p14:sldId id="258"/>
            <p14:sldId id="259"/>
          </p14:sldIdLst>
        </p14:section>
        <p14:section name="Apps freestyle" id="{9e1fbdcb-70e7-4d9e-fd96-b976324231f8}">
          <p14:sldIdLst>
            <p14:sldId id="260"/>
            <p14:sldId id="261"/>
            <p14:sldId id="262"/>
            <p14:sldId id="263"/>
          </p14:sldIdLst>
        </p14:section>
        <p14:section name="Encerramento" id="{5b8b87c1-d56a-ff19-8a51-2379b6ef2afd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5: indicadores e gráficos sobre pedidos, clientes, estoque e reembolsos.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agregação acontece no banco; as apps só montam a consulta e desenham 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visão é um select sobre uma entidade do modelo, com dimensões para agrupar e medidas com agregação padrão.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@Aggregation.default define o método de cada medida; ApplySupported declara o que pode ser agrupado e agregado.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têm a mesma estrutura; muda só o catálogo de cenários do domínio em Scenarios.js.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 de filtros, indicadores no topo e cinco gráficos. Cada gráfico abre a página de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 experiência para os quatro domínios: pedidos, clientes, estoque e reembolsos.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catálogo de cada domínio define indicadores e as cinco análises.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5 — Análises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5 — Análises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Análises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Camada analítica somente leitura com agregações $apply e quatro apps SAPUI5 freestyle com 20 análises.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náli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50808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317736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84664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451592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3" name="Etapa 6"/>
          <p:cNvSpPr/>
          <p:nvPr/>
        </p:nvSpPr>
        <p:spPr>
          <a:xfrm>
            <a:off x="1101852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criamos o AnaliticoService, com visões de dimensões e medidas agregadas no servidor via $apply, e quatro apps freestyle com filtros, indicadores, gráficos e detalhe.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CAMADA ANALÍTICA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Quatro visões analíticas somente leitura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3026664"/>
          </a:xfrm>
          <a:prstGeom prst="roundRect">
            <a:avLst>
              <a:gd name="adj" fmla="val 362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022098"/>
                <a:gridCol w="1318760"/>
                <a:gridCol w="3692527"/>
                <a:gridCol w="3692527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Visão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Origem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Dimensões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Medidas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status, status do pagamento, UF, mês de criação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valorTotal (SUM), valorMedio (AVG), qtdePedidos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gênero, UF, faixa de score, mês de cadastro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qtdeClientes (SUM), scoreMedio (AVG)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categoria, status do estoque, item ativo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qtdeEstoque, qtdeReservada, qtdeDisponivel, valorEstoque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status, motivo, UF, mês da solicitação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valorReembolso (SUM), qtdeReembolsos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846320"/>
            <a:ext cx="3575304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Avatar LuLock"/>
          <p:cNvSpPr/>
          <p:nvPr/>
        </p:nvSpPr>
        <p:spPr>
          <a:xfrm>
            <a:off x="777240" y="50749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9" name="Image 0" descr="Lu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5206594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504748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@readonly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1508760" y="54498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Nenhuma escrita: só leitura e agregação.</a:t>
            </a:r>
            <a:endParaRPr lang="en-US" sz="1400" dirty="0"/>
          </a:p>
        </p:txBody>
      </p:sp>
      <p:sp>
        <p:nvSpPr>
          <p:cNvPr id="12" name="Cartão"/>
          <p:cNvSpPr/>
          <p:nvPr/>
        </p:nvSpPr>
        <p:spPr>
          <a:xfrm>
            <a:off x="4306824" y="4846320"/>
            <a:ext cx="3575304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ShieldCheck"/>
          <p:cNvSpPr/>
          <p:nvPr/>
        </p:nvSpPr>
        <p:spPr>
          <a:xfrm>
            <a:off x="4535424" y="50749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5206594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266944" y="504748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Comum e Admin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5266944" y="54498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@requires: os dois perfis consultam.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8065008" y="4846320"/>
            <a:ext cx="3575304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Sigma"/>
          <p:cNvSpPr/>
          <p:nvPr/>
        </p:nvSpPr>
        <p:spPr>
          <a:xfrm>
            <a:off x="8293608" y="50749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Sigm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5206594"/>
            <a:ext cx="285293" cy="285293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025128" y="504748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 aggregates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9025128" y="54498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cliente pede a medida sem informar o método.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CAMADA ANALÍTICA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Agregações no servidor com $apply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400800" cy="3886200"/>
          </a:xfrm>
          <a:prstGeom prst="roundRect">
            <a:avLst>
              <a:gd name="adj" fmla="val 2824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94360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@Aggregation.ApplySupported: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Transformations: ['aggregate', 'groupby',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'filter', 'orderby', 'top'],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GroupableProperties: [statusPedido, uf, mesCriacao],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AggregatableProperties: [{ Property: valorTotal }]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@Aggregation.CustomAggregate #valorTotal: 'Edm.Decimal'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 PedidosAnalise as select from db.Pedidos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key ID,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statusPedido.code as statusPedido : String(40),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cliente.enderecoPrincipal.uf as uf : String(2),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cast(year(createdAt) * 100 + month(createdAt)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as String(6)) as mesCriacao : String(6),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@Aggregation.default: #SUM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valorTotal,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@Aggregation.default: #SUM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 as qtdePedidos : Integer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200" dirty="0"/>
          </a:p>
        </p:txBody>
      </p:sp>
      <p:sp>
        <p:nvSpPr>
          <p:cNvPr id="7" name="Bloco de código"/>
          <p:cNvSpPr/>
          <p:nvPr/>
        </p:nvSpPr>
        <p:spPr>
          <a:xfrm>
            <a:off x="7178040" y="1600200"/>
            <a:ext cx="4462272" cy="1600200"/>
          </a:xfrm>
          <a:prstGeom prst="roundRect">
            <a:avLst>
              <a:gd name="adj" fmla="val 6857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406640" y="1783080"/>
            <a:ext cx="40050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/odata/v4/analitico/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PedidosAnalise?$apply=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groupby((statusPedido,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statusPedidoTexto,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currency),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aggregate(valorTotal))</a:t>
            </a:r>
            <a:endParaRPr lang="en-US" sz="1300" dirty="0"/>
          </a:p>
        </p:txBody>
      </p:sp>
      <p:sp>
        <p:nvSpPr>
          <p:cNvPr id="9" name="Avatar LuDatabase"/>
          <p:cNvSpPr/>
          <p:nvPr/>
        </p:nvSpPr>
        <p:spPr>
          <a:xfrm>
            <a:off x="7223760" y="36118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0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3488" y="37216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909560" y="35753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Uma linha por grupo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909560" y="3895344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banco devolve só os totais, não os registros.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comum às quatro apps de análise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Filter"/>
          <p:cNvSpPr/>
          <p:nvPr/>
        </p:nvSpPr>
        <p:spPr>
          <a:xfrm>
            <a:off x="777240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31213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4505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FilterBar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163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Filtros do domínio (lista, booleano, busca)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3191256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1" name="Cartão"/>
          <p:cNvSpPr/>
          <p:nvPr/>
        </p:nvSpPr>
        <p:spPr>
          <a:xfrm>
            <a:off x="3364992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Braces"/>
          <p:cNvSpPr/>
          <p:nvPr/>
        </p:nvSpPr>
        <p:spPr>
          <a:xfrm>
            <a:off x="3593592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3" name="Image 1" descr="LuBrac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1931213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93592" y="24505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AnalyticsQuery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3593592" y="28163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Monta groupby, aggregate e filter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007608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Cartão"/>
          <p:cNvSpPr/>
          <p:nvPr/>
        </p:nvSpPr>
        <p:spPr>
          <a:xfrm>
            <a:off x="6181344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Network"/>
          <p:cNvSpPr/>
          <p:nvPr/>
        </p:nvSpPr>
        <p:spPr>
          <a:xfrm>
            <a:off x="6409944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Netwo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645" y="1931213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409944" y="24505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AnalyticsService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6409944" y="28163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ODataListBinding com $$aggregation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8823960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Cartão"/>
          <p:cNvSpPr/>
          <p:nvPr/>
        </p:nvSpPr>
        <p:spPr>
          <a:xfrm>
            <a:off x="8997696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ChartColumn"/>
          <p:cNvSpPr/>
          <p:nvPr/>
        </p:nvSpPr>
        <p:spPr>
          <a:xfrm>
            <a:off x="9226296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5" name="Image 3" descr="LuChartColum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6997" y="1931213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226296" y="24505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AnalysisChart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9226296" y="28163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VizFrame (sap.viz) com o resultado</a:t>
            </a:r>
            <a:endParaRPr lang="en-US" sz="1300" dirty="0"/>
          </a:p>
        </p:txBody>
      </p:sp>
      <p:sp>
        <p:nvSpPr>
          <p:cNvPr id="28" name="Bloco de código"/>
          <p:cNvSpPr/>
          <p:nvPr/>
        </p:nvSpPr>
        <p:spPr>
          <a:xfrm>
            <a:off x="548640" y="3703320"/>
            <a:ext cx="5120640" cy="1798320"/>
          </a:xfrm>
          <a:prstGeom prst="roundRect">
            <a:avLst>
              <a:gd name="adj" fmla="val 6102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29" name="Código"/>
          <p:cNvSpPr txBox="1"/>
          <p:nvPr/>
        </p:nvSpPr>
        <p:spPr>
          <a:xfrm>
            <a:off x="777240" y="3886200"/>
            <a:ext cx="466344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model/Scenarios.js       medidas, dimensões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model/AnalyticsQuery.js  regra do $apply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service/AnalyticsService.js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control/AnalysisChart.js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control/FilterBar.js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view/Dashboard · Detail.view.xml</a:t>
            </a:r>
            <a:endParaRPr lang="en-US" sz="1300" dirty="0"/>
          </a:p>
        </p:txBody>
      </p:sp>
      <p:sp>
        <p:nvSpPr>
          <p:cNvPr id="30" name="Avatar LuTestTube"/>
          <p:cNvSpPr/>
          <p:nvPr/>
        </p:nvSpPr>
        <p:spPr>
          <a:xfrm>
            <a:off x="6035040" y="3794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1" name="Image 4" descr="LuTestTub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3904488"/>
            <a:ext cx="237744" cy="23774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720840" y="375818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Regra testável sem UI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720840" y="4078224"/>
            <a:ext cx="48920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AnalyticsQuery devolve descritores simples, cobertos por QUnit.</a:t>
            </a:r>
            <a:endParaRPr lang="en-US" sz="1400" dirty="0"/>
          </a:p>
        </p:txBody>
      </p:sp>
      <p:sp>
        <p:nvSpPr>
          <p:cNvPr id="34" name="Avatar LuRoute"/>
          <p:cNvSpPr/>
          <p:nvPr/>
        </p:nvSpPr>
        <p:spPr>
          <a:xfrm>
            <a:off x="6035040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5" name="Image 5" descr="LuRou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4956048"/>
            <a:ext cx="237744" cy="23774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6720840" y="480974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→ Detalhe</a:t>
            </a:r>
            <a:endParaRPr lang="en-US" sz="1500" dirty="0"/>
          </a:p>
        </p:txBody>
      </p:sp>
      <p:sp>
        <p:nvSpPr>
          <p:cNvPr id="37" name="Text 28"/>
          <p:cNvSpPr txBox="1"/>
          <p:nvPr/>
        </p:nvSpPr>
        <p:spPr>
          <a:xfrm>
            <a:off x="6720840" y="5129784"/>
            <a:ext cx="48920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análise abre gráfico ampliado e tabela; Abrir gestão leva à app do domínio.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Painel da Análise de Pedidos de Compras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60195"/>
            <a:ext cx="7589520" cy="4606290"/>
          </a:xfrm>
          <a:prstGeom prst="roundRect">
            <a:avLst>
              <a:gd name="adj" fmla="val 238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Painel da Análise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51635"/>
            <a:ext cx="7406640" cy="442341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12480" y="1600200"/>
            <a:ext cx="322783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41080" y="1691640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9418320" y="17373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indicadores: valor total, pedidos e ticket médio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8412480" y="3118104"/>
            <a:ext cx="322783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641080" y="3209544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5</a:t>
            </a:r>
            <a:endParaRPr lang="en-US" sz="4400" dirty="0"/>
          </a:p>
        </p:txBody>
      </p:sp>
      <p:sp>
        <p:nvSpPr>
          <p:cNvPr id="12" name="Text 8"/>
          <p:cNvSpPr txBox="1"/>
          <p:nvPr/>
        </p:nvSpPr>
        <p:spPr>
          <a:xfrm>
            <a:off x="9418320" y="3255264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análises: status, mês, UF, pagamento e ticket</a:t>
            </a:r>
            <a:endParaRPr lang="en-US" sz="1400" dirty="0"/>
          </a:p>
        </p:txBody>
      </p:sp>
      <p:sp>
        <p:nvSpPr>
          <p:cNvPr id="13" name="Cartão"/>
          <p:cNvSpPr/>
          <p:nvPr/>
        </p:nvSpPr>
        <p:spPr>
          <a:xfrm>
            <a:off x="8412480" y="4636008"/>
            <a:ext cx="322783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8641080" y="4727448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</a:t>
            </a:r>
            <a:endParaRPr lang="en-US" sz="4400" dirty="0"/>
          </a:p>
        </p:txBody>
      </p:sp>
      <p:sp>
        <p:nvSpPr>
          <p:cNvPr id="15" name="Text 11"/>
          <p:cNvSpPr txBox="1"/>
          <p:nvPr/>
        </p:nvSpPr>
        <p:spPr>
          <a:xfrm>
            <a:off x="9418320" y="477316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página de detalhe com gráfico e tabela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Vinte análises em quatro apps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7289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Análise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64335"/>
            <a:ext cx="3383280" cy="202057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51960" y="19659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Pedidos de Compras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25196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9632" y="157289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10" name="Image 1" descr="Análise de Clie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664335"/>
            <a:ext cx="3383280" cy="202057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902952" y="19659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Clientes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902952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548640" y="395033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14" name="Image 2" descr="Análise de Itens do Estoqu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41775"/>
            <a:ext cx="3383280" cy="202057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251960" y="4343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Itens do Estoque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25196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17" name="Cartão"/>
          <p:cNvSpPr/>
          <p:nvPr/>
        </p:nvSpPr>
        <p:spPr>
          <a:xfrm>
            <a:off x="6199632" y="395033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18" name="Image 3" descr="Análise de Pedidos de Reembols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4041775"/>
            <a:ext cx="3383280" cy="202057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902952" y="4343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Pedidos de Reembolsos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9902952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Indicadores e análises por domínio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110015"/>
                <a:gridCol w="2989189"/>
                <a:gridCol w="56267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Indicadores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Análises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 de Compras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 total, pedidos, ticket médio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 por status · pedidos por mês · valor por UF · por status do pagamento · ticket por status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Clientes, score médio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Por gênero · por UF · por faixa de score · cadastros por mês · score médio por UF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Itens do 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Itens, em estoque, reservada, disponível, valor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Estoque por categoria · por situação · valor por categoria · top 10 reservados · itens por categoria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 de 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Reembolsos, valor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 por status · quantidade por status · valor por mês · por UF · por motivo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5321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Testes QUnit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 catálogo (Scenarios) e da montagem do $apply (AnalyticsQuery) em /&lt;app&gt;/test/testsuite.qunit.html.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AnaliticoService somente leitura com quatro visões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Medidas com agregação padrão e custom aggregates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Agrupamento e soma no banco com $apply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freestyle com a mesma arquitetura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20 análises com filtros, indicadores e detalhe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Regra das consultas coberta por testes QUnit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Testes, build e publicação na SAP BTP com SAP HANA Cloud, XSUAA e Work Zone.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Análises</dc:title>
  <dc:subject>Projeto Pedidos de Compras em SAP CAP e SAP Fiori</dc:subject>
  <dc:creator>Adriano Bispo</dc:creator>
  <cp:lastModifiedBy>Adriano Bispo</cp:lastModifiedBy>
  <cp:revision>1</cp:revision>
  <dcterms:created xsi:type="dcterms:W3CDTF">2026-10-20T02:32:14Z</dcterms:created>
  <dcterms:modified xsi:type="dcterms:W3CDTF">2026-10-20T02:32:14Z</dcterms:modified>
</cp:coreProperties>
</file>