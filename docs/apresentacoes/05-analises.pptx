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2" r:id="rId23"/>
    <p:sldId id="262" r:id="rId8"/>
    <p:sldId id="273" r:id="rId24"/>
    <p:sldId id="263" r:id="rId9"/>
    <p:sldId id="274" r:id="rId25"/>
    <p:sldId id="275" r:id="rId26"/>
    <p:sldId id="261" r:id="rId7"/>
    <p:sldId id="276" r:id="rId27"/>
    <p:sldId id="264" r:id="rId10"/>
    <p:sldId id="277" r:id="rId28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0bacabe-9188-f6be-aad3-1df452e7c88b}">
          <p14:sldIdLst>
            <p14:sldId id="256"/>
          </p14:sldIdLst>
        </p14:section>
        <p14:section name="Contexto" id="{1b81290b-a75d-6826-071a-75842c6c0b77}">
          <p14:sldIdLst>
            <p14:sldId id="257"/>
          </p14:sldIdLst>
        </p14:section>
        <p14:section name="Camada analítica" id="{5f0ecff6-d705-db9e-6e92-008fbabe2f7b}">
          <p14:sldIdLst>
            <p14:sldId id="258"/>
            <p14:sldId id="259"/>
            <p14:sldId id="260"/>
          </p14:sldIdLst>
        </p14:section>
        <p14:section name="Domínios" id="{f1490164-1f93-594f-8a2b-02039972fca5}">
          <p14:sldIdLst>
            <p14:sldId id="261"/>
            <p14:sldId id="262"/>
            <p14:sldId id="263"/>
            <p14:sldId id="264"/>
          </p14:sldIdLst>
        </p14:section>
        <p14:section name="Apps freestyle" id="{510c60af-28f6-c07a-c482-e676526ad7d4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Encerramento" id="{814cfac2-a4b3-110b-2434-86d212b5bdb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5: indicadores e gráficos sobre pedidos, clientes, estoque e reembolsos.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agregação acontece no banco; as apps só montam a consulta e desenham 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visão é um select sobre uma entidade do modelo, com dimensões para agrupar e medidas com agregação padrão.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@Aggregation.default define o método de cada medida; ApplySupported declara o que pode ser agrupado e agregado.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Expressões portáveis do CAP transformam campos do modelo em dimensões prontas para agrupar.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cenários do domínio pedidos, definidos em model/Scenarios.js.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cenários do domínio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cenários do domínio estoque; o top 10 limita a consulta aos mais reservados.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cenários do domínio reembolsos.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têm a mesma estrutura; muda só o catálogo de cenários do domínio em Scenarios.js.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Medidas, dimensões, filtros, indicadores e os cinco cenários ficam declarados em um só arquivo por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AnalyticsQuery monta o descritor; AnalyticsService o executa com o modelo OData V4; AnalysisChart desenha com sap.viz.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 de filtros, indicadores no topo e cinco gráficos. Cada gráfico abre a página de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experiência para os quatro domínios: pedidos, clientes, estoque e reembolsos.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das consultas é testada no navegador, sem servidor de dados: só descritores e catálogo.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Clientes na etapa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Estoque na etapa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ItensAnalise transforma o cadastro em medidas; a app Análise de Itens do Estoque mostra cinco cenários.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Pedidos na etapa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Seção do BO Reembolsos na etapa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view analítica agrupa por status, motivo, UF e mês; a app mostra cinco cenários.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5 — Análises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5 — Análises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4-3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-11-4.png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4-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Análises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Camada analítica somente leitura com agregações $apply e quatro apps SAPUI5 freestyle com 20 análises.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nál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criamos o AnaliticoService, com visões de dimensões e medidas agregadas no servidor via $apply, e quatro apps freestyle com filtros, indicadores, gráficos e detalhe.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CAMADA ANALÍTICA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Quatro visões analíticas somente leitura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3026664"/>
          </a:xfrm>
          <a:prstGeom prst="roundRect">
            <a:avLst>
              <a:gd name="adj" fmla="val 362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022098"/>
                <a:gridCol w="1318760"/>
                <a:gridCol w="3692527"/>
                <a:gridCol w="369252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Visão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Origem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Dimensões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Medidas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status, status do pagamento, UF, mês de criação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valorTotal (SUM), valorMedio (AVG), qtdePedidos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gênero, UF, faixa de score, mês de cadastro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qtdeClientes (SUM), scoreMedio (AVG)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categoria, status do estoque, item ativo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qtdeEstoque, qtdeReservada, qtdeDisponivel, valorEstoque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status, motivo, UF, mês da solicitação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valorReembolso (SUM), qtdeReembolsos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Lock"/>
          <p:cNvSpPr/>
          <p:nvPr/>
        </p:nvSpPr>
        <p:spPr>
          <a:xfrm>
            <a:off x="777240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20659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@readonly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508760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Nenhuma escrita: só leitura e agregação.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4306824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hieldCheck"/>
          <p:cNvSpPr/>
          <p:nvPr/>
        </p:nvSpPr>
        <p:spPr>
          <a:xfrm>
            <a:off x="4535424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5206594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66944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Comum e Admin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5266944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@requires: os dois perfis consultam.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8065008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Sigma"/>
          <p:cNvSpPr/>
          <p:nvPr/>
        </p:nvSpPr>
        <p:spPr>
          <a:xfrm>
            <a:off x="8293608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Sigm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5206594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025128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 aggregates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9025128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cliente pede a medida sem informar o método.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CAMADA ANALÍTICA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Agregações no servidor com $apply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00800" cy="3886200"/>
          </a:xfrm>
          <a:prstGeom prst="roundRect">
            <a:avLst>
              <a:gd name="adj" fmla="val 282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9436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@Aggregation.ApplySupported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Transformations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'aggregate'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'groupby'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'filter'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'orderby'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'top'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GroupableProperties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AggregatableProperties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@Aggregation.CustomAggregate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'Edm.Decimal'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PedidosAnalise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createdAt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createdAt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Bloco de código"/>
          <p:cNvSpPr/>
          <p:nvPr/>
        </p:nvSpPr>
        <p:spPr>
          <a:xfrm>
            <a:off x="7178040" y="1600200"/>
            <a:ext cx="4462272" cy="1600200"/>
          </a:xfrm>
          <a:prstGeom prst="roundRect">
            <a:avLst>
              <a:gd name="adj" fmla="val 685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406640" y="1783080"/>
            <a:ext cx="4005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/odata/v4/analitico/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PedidosAnalise?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$apply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groupby((statusPedido,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statusPedidoTexto,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currency),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aggregate(valorTotal))</a:t>
            </a:r>
            <a:endParaRPr lang="en-US" sz="1300" dirty="0"/>
          </a:p>
        </p:txBody>
      </p:sp>
      <p:sp>
        <p:nvSpPr>
          <p:cNvPr id="9" name="Avatar LuDatabase"/>
          <p:cNvSpPr/>
          <p:nvPr/>
        </p:nvSpPr>
        <p:spPr>
          <a:xfrm>
            <a:off x="7223760" y="36118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0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3488" y="37216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909560" y="35753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Uma linha por grupo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909560" y="3895344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banco devolve só os totais, não os registros.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CAMADA ANALÍTICA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Truques de modelagem nas visões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730752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038810"/>
                <a:gridCol w="5584566"/>
                <a:gridCol w="310253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Elemento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Expressão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Para quê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cast(year(createdAt) * 100 + month(createdAt) as String(6))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Agrupar por mês: 202607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as qtdePedidos com @Aggregation.default: #SUM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Contar linhas somando 1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 com @Aggregation.default: #AVG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Ticket médio pelo banco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case when score &lt; 40 'BAIXO' when &lt;= 70 'MEDIO' else 'ALTO'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Faixas de score dos clientes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cast(precoUnitario * qtdeEstoque as Decimal(17,2))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Valor do estoque físico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cliente.enderecoPrincipal.uf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UF via associação filtrada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statusPedidoTexto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statusPedido.name + @Common.Text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Rótulo no gráfico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Portável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year, month, cast e case são traduzidos pelo CAP para SQLite e para o SAP HANA.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PEDIDOS · ANÁLISE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de Pedidos de Compras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315200" cy="3035808"/>
          </a:xfrm>
          <a:prstGeom prst="roundRect">
            <a:avLst>
              <a:gd name="adj" fmla="val 36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2488071"/>
                <a:gridCol w="1630116"/>
                <a:gridCol w="1973298"/>
                <a:gridCol w="8579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Cenário (id)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Dimensão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Medida(s)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Gráfico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536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ENTITY SET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138160" y="1828800"/>
            <a:ext cx="350215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PedidosAnalise</a:t>
            </a:r>
            <a:endParaRPr lang="en-US" sz="1200" dirty="0"/>
          </a:p>
        </p:txBody>
      </p:sp>
      <p:sp>
        <p:nvSpPr>
          <p:cNvPr id="10" name="Avatar LuGauge"/>
          <p:cNvSpPr/>
          <p:nvPr/>
        </p:nvSpPr>
        <p:spPr>
          <a:xfrm>
            <a:off x="813816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691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78240" y="256946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Indicadores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778240" y="288950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Valor total, pedidos e ticket médio.</a:t>
            </a:r>
            <a:endParaRPr lang="en-US" sz="1400" dirty="0"/>
          </a:p>
        </p:txBody>
      </p:sp>
      <p:sp>
        <p:nvSpPr>
          <p:cNvPr id="14" name="Avatar LuFilter"/>
          <p:cNvSpPr/>
          <p:nvPr/>
        </p:nvSpPr>
        <p:spPr>
          <a:xfrm>
            <a:off x="8138160" y="39319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915" y="40306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778240" y="389534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Filtros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778240" y="421538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Status, pagamento, UF e mês (listas).</a:t>
            </a:r>
            <a:endParaRPr lang="en-US" sz="1400" dirty="0"/>
          </a:p>
        </p:txBody>
      </p:sp>
      <p:sp>
        <p:nvSpPr>
          <p:cNvPr id="18" name="Cartão"/>
          <p:cNvSpPr/>
          <p:nvPr/>
        </p:nvSpPr>
        <p:spPr>
          <a:xfrm>
            <a:off x="548640" y="4892040"/>
            <a:ext cx="731520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77240" y="4892040"/>
            <a:ext cx="6903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Ordenação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BY_MEASURE ordena pela medida (maior primeiro); BY_DIMENSION pela dimensão (meses em ordem).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de Clientes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315200" cy="3035808"/>
          </a:xfrm>
          <a:prstGeom prst="roundRect">
            <a:avLst>
              <a:gd name="adj" fmla="val 36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2488071"/>
                <a:gridCol w="1630116"/>
                <a:gridCol w="1973298"/>
                <a:gridCol w="8579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Cenário (id)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Dimensão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Medida(s)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Gráfico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536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ENTITY SET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138160" y="1828800"/>
            <a:ext cx="350215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ClientesAnalise</a:t>
            </a:r>
            <a:endParaRPr lang="en-US" sz="1200" dirty="0"/>
          </a:p>
        </p:txBody>
      </p:sp>
      <p:sp>
        <p:nvSpPr>
          <p:cNvPr id="10" name="Avatar LuGauge"/>
          <p:cNvSpPr/>
          <p:nvPr/>
        </p:nvSpPr>
        <p:spPr>
          <a:xfrm>
            <a:off x="813816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691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78240" y="256946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Indicadores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778240" y="288950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Clientes e score médio.</a:t>
            </a:r>
            <a:endParaRPr lang="en-US" sz="1400" dirty="0"/>
          </a:p>
        </p:txBody>
      </p:sp>
      <p:sp>
        <p:nvSpPr>
          <p:cNvPr id="14" name="Avatar LuFilter"/>
          <p:cNvSpPr/>
          <p:nvPr/>
        </p:nvSpPr>
        <p:spPr>
          <a:xfrm>
            <a:off x="8138160" y="39319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915" y="40306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778240" y="389534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Filtros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778240" y="421538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Gênero, ativo (Sim/Não), UF, faixa e busca por nome.</a:t>
            </a:r>
            <a:endParaRPr lang="en-US" sz="1400" dirty="0"/>
          </a:p>
        </p:txBody>
      </p:sp>
      <p:sp>
        <p:nvSpPr>
          <p:cNvPr id="18" name="Cartão"/>
          <p:cNvSpPr/>
          <p:nvPr/>
        </p:nvSpPr>
        <p:spPr>
          <a:xfrm>
            <a:off x="548640" y="4892040"/>
            <a:ext cx="731520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77240" y="4892040"/>
            <a:ext cx="6903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Ordenação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BY_MEASURE ordena pela medida (maior primeiro); BY_DIMENSION pela dimensão (meses em ordem).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ANÁLISE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de Itens do Estoque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315200" cy="3035808"/>
          </a:xfrm>
          <a:prstGeom prst="roundRect">
            <a:avLst>
              <a:gd name="adj" fmla="val 36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2488071"/>
                <a:gridCol w="1630116"/>
                <a:gridCol w="1973298"/>
                <a:gridCol w="8579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Cenário (id)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Dimensão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Medida(s)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Gráfico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536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ENTITY SET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138160" y="1828800"/>
            <a:ext cx="350215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ItensAnalise</a:t>
            </a:r>
            <a:endParaRPr lang="en-US" sz="1200" dirty="0"/>
          </a:p>
        </p:txBody>
      </p:sp>
      <p:sp>
        <p:nvSpPr>
          <p:cNvPr id="10" name="Avatar LuGauge"/>
          <p:cNvSpPr/>
          <p:nvPr/>
        </p:nvSpPr>
        <p:spPr>
          <a:xfrm>
            <a:off x="813816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691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78240" y="256946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Indicadores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778240" y="288950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Itens, em estoque, reservada, disponível e valor.</a:t>
            </a:r>
            <a:endParaRPr lang="en-US" sz="1400" dirty="0"/>
          </a:p>
        </p:txBody>
      </p:sp>
      <p:sp>
        <p:nvSpPr>
          <p:cNvPr id="14" name="Avatar LuFilter"/>
          <p:cNvSpPr/>
          <p:nvPr/>
        </p:nvSpPr>
        <p:spPr>
          <a:xfrm>
            <a:off x="8138160" y="39319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915" y="40306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778240" y="389534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Filtros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778240" y="421538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Categoria, situação e busca por nome ou SKU.</a:t>
            </a:r>
            <a:endParaRPr lang="en-US" sz="1400" dirty="0"/>
          </a:p>
        </p:txBody>
      </p:sp>
      <p:sp>
        <p:nvSpPr>
          <p:cNvPr id="18" name="Cartão"/>
          <p:cNvSpPr/>
          <p:nvPr/>
        </p:nvSpPr>
        <p:spPr>
          <a:xfrm>
            <a:off x="548640" y="4892040"/>
            <a:ext cx="731520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77240" y="4892040"/>
            <a:ext cx="6903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Ordenação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BY_MEASURE ordena pela medida (maior primeiro); BY_DIMENSION pela dimensão (meses em ordem).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de Pedidos de Reembolsos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315200" cy="3035808"/>
          </a:xfrm>
          <a:prstGeom prst="roundRect">
            <a:avLst>
              <a:gd name="adj" fmla="val 36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2488071"/>
                <a:gridCol w="1630116"/>
                <a:gridCol w="1973298"/>
                <a:gridCol w="8579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Cenário (id)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Dimensão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Medida(s)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Gráfico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536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ENTITY SET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138160" y="1828800"/>
            <a:ext cx="350215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ReembolsosAnalise</a:t>
            </a:r>
            <a:endParaRPr lang="en-US" sz="1200" dirty="0"/>
          </a:p>
        </p:txBody>
      </p:sp>
      <p:sp>
        <p:nvSpPr>
          <p:cNvPr id="10" name="Avatar LuGauge"/>
          <p:cNvSpPr/>
          <p:nvPr/>
        </p:nvSpPr>
        <p:spPr>
          <a:xfrm>
            <a:off x="813816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691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78240" y="256946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Indicadores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778240" y="288950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Reembolsos e valor.</a:t>
            </a:r>
            <a:endParaRPr lang="en-US" sz="1400" dirty="0"/>
          </a:p>
        </p:txBody>
      </p:sp>
      <p:sp>
        <p:nvSpPr>
          <p:cNvPr id="14" name="Avatar LuFilter"/>
          <p:cNvSpPr/>
          <p:nvPr/>
        </p:nvSpPr>
        <p:spPr>
          <a:xfrm>
            <a:off x="8138160" y="39319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915" y="40306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778240" y="389534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Filtros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778240" y="421538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Status, UF e mês da solicitação.</a:t>
            </a:r>
            <a:endParaRPr lang="en-US" sz="1400" dirty="0"/>
          </a:p>
        </p:txBody>
      </p:sp>
      <p:sp>
        <p:nvSpPr>
          <p:cNvPr id="18" name="Cartão"/>
          <p:cNvSpPr/>
          <p:nvPr/>
        </p:nvSpPr>
        <p:spPr>
          <a:xfrm>
            <a:off x="548640" y="4892040"/>
            <a:ext cx="731520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77240" y="4892040"/>
            <a:ext cx="6903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Ordenação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BY_MEASURE ordena pela medida (maior primeiro); BY_DIMENSION pela dimensão (meses em ordem).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comum às quatro apps de análise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Filter"/>
          <p:cNvSpPr/>
          <p:nvPr/>
        </p:nvSpPr>
        <p:spPr>
          <a:xfrm>
            <a:off x="749808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1109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FilterBar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Filtros do domínio (lista, booleano, busca)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Braces"/>
          <p:cNvSpPr/>
          <p:nvPr/>
        </p:nvSpPr>
        <p:spPr>
          <a:xfrm>
            <a:off x="3566160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Brac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911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AnalyticsQuery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Monta groupby, aggregate e filter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Network"/>
          <p:cNvSpPr/>
          <p:nvPr/>
        </p:nvSpPr>
        <p:spPr>
          <a:xfrm>
            <a:off x="6382512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Netwo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911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AnalyticsService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ODataListBinding com $$aggregation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hartColumn"/>
          <p:cNvSpPr/>
          <p:nvPr/>
        </p:nvSpPr>
        <p:spPr>
          <a:xfrm>
            <a:off x="9198864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91109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AnalysisChart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VizFrame (sap.viz) com o resultado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703320"/>
            <a:ext cx="5120640" cy="1798320"/>
          </a:xfrm>
          <a:prstGeom prst="roundRect">
            <a:avLst>
              <a:gd name="adj" fmla="val 610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3886200"/>
            <a:ext cx="466344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medidas, dimensões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regra do $apply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control/FilterBar.js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view/Dashboard · Detail.view.xml</a:t>
            </a:r>
            <a:endParaRPr lang="en-US" sz="1300" dirty="0"/>
          </a:p>
        </p:txBody>
      </p:sp>
      <p:sp>
        <p:nvSpPr>
          <p:cNvPr id="34" name="Avatar LuTestTube"/>
          <p:cNvSpPr/>
          <p:nvPr/>
        </p:nvSpPr>
        <p:spPr>
          <a:xfrm>
            <a:off x="6035040" y="3794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TestTu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3904488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720840" y="375818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Regra testável sem UI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6720840" y="4078224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AnalyticsQuery devolve descritores simples, cobertos por QUnit.</a:t>
            </a:r>
            <a:endParaRPr lang="en-US" sz="1400" dirty="0"/>
          </a:p>
        </p:txBody>
      </p:sp>
      <p:sp>
        <p:nvSpPr>
          <p:cNvPr id="38" name="Avatar LuRoute"/>
          <p:cNvSpPr/>
          <p:nvPr/>
        </p:nvSpPr>
        <p:spPr>
          <a:xfrm>
            <a:off x="6035040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9" name="Image 5" descr="Lu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4956048"/>
            <a:ext cx="237744" cy="237744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6720840" y="480974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→ Detalhe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6720840" y="5129784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análise abre gráfico ampliado e tabela; Abrir gestão leva à app do domínio.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Scenarios.js: o catálogo do domínio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3429000"/>
          </a:xfrm>
          <a:prstGeom prst="roundRect">
            <a:avLst>
              <a:gd name="adj" fmla="val 320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"money"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"money"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"statusPedidoTexto"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"month"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"PedidosAnalise"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"PedidoCompra-manage"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"statusPedido"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"valorTotal"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"qtdePedidos"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"valorMedio"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"PedValorPorStatus"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"statusPedido"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"valorTotal"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BY_MEASURE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Avatar LuDollarSign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DollarSig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currency: true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moeda entra no groupby da medida monetária.</a:t>
            </a:r>
            <a:endParaRPr lang="en-US" sz="1400" dirty="0"/>
          </a:p>
        </p:txBody>
      </p:sp>
      <p:sp>
        <p:nvSpPr>
          <p:cNvPr id="11" name="Avatar LuSigma"/>
          <p:cNvSpPr/>
          <p:nvPr/>
        </p:nvSpPr>
        <p:spPr>
          <a:xfrm>
            <a:off x="763524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Sig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0662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avg: true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02666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Médias não são somadas ao juntar linhas.</a:t>
            </a:r>
            <a:endParaRPr lang="en-US" sz="1400" dirty="0"/>
          </a:p>
        </p:txBody>
      </p:sp>
      <p:sp>
        <p:nvSpPr>
          <p:cNvPr id="15" name="Avatar LuCalendar"/>
          <p:cNvSpPr/>
          <p:nvPr/>
        </p:nvSpPr>
        <p:spPr>
          <a:xfrm>
            <a:off x="763524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Calen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80390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kind: month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12394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AAAAMM vira rótulo de mês no gráfico.</a:t>
            </a:r>
            <a:endParaRPr lang="en-US" sz="1400" dirty="0"/>
          </a:p>
        </p:txBody>
      </p:sp>
      <p:sp>
        <p:nvSpPr>
          <p:cNvPr id="19" name="Avatar LuArrowRight"/>
          <p:cNvSpPr/>
          <p:nvPr/>
        </p:nvSpPr>
        <p:spPr>
          <a:xfrm>
            <a:off x="763524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321040" y="49011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manage.intent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321040" y="522122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Destino do botão Abrir gestão.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consulta ao gráfico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486400" cy="2255520"/>
          </a:xfrm>
          <a:prstGeom prst="roundRect">
            <a:avLst>
              <a:gd name="adj" fmla="val 486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029200" cy="188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model/AnalyticsQuery.js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buildScenarioQuery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oScenario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mFiltros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aGroup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dimensionFields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oScenario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needsCurrency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oScenario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aGroup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"currency"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oDomain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toAggregation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aGroup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oScenario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buildFilters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mFiltros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oDomain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548640" y="4160520"/>
            <a:ext cx="5486400" cy="1417320"/>
          </a:xfrm>
          <a:prstGeom prst="roundRect">
            <a:avLst>
              <a:gd name="adj" fmla="val 774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434340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$aggregation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até 1000 linhas; o binding é descartado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Bloco de código"/>
          <p:cNvSpPr/>
          <p:nvPr/>
        </p:nvSpPr>
        <p:spPr>
          <a:xfrm>
            <a:off x="6263640" y="1554480"/>
            <a:ext cx="5376672" cy="2087880"/>
          </a:xfrm>
          <a:prstGeom prst="roundRect">
            <a:avLst>
              <a:gd name="adj" fmla="val 52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0" name="Código"/>
          <p:cNvSpPr txBox="1"/>
          <p:nvPr/>
        </p:nvSpPr>
        <p:spPr>
          <a:xfrm>
            <a:off x="6492240" y="1737360"/>
            <a:ext cx="4919472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control/AnalysisChart.js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oViz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setDataset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FlattenedDataset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sDimension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"{label}"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aUsed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"}"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"/rows"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oViz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setVizType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sType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column ou donut</a:t>
            </a:r>
            <a:endParaRPr lang="en-US" sz="1100" dirty="0"/>
          </a:p>
        </p:txBody>
      </p:sp>
      <p:sp>
        <p:nvSpPr>
          <p:cNvPr id="11" name="Avatar LuNetwork"/>
          <p:cNvSpPr/>
          <p:nvPr/>
        </p:nvSpPr>
        <p:spPr>
          <a:xfrm>
            <a:off x="635508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2" name="Image 0" descr="Lu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454456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43982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$$aggregation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040880" y="4718304"/>
            <a:ext cx="4572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modelo V4 traduz group/aggregate em $apply.</a:t>
            </a:r>
            <a:endParaRPr lang="en-US" sz="1400" dirty="0"/>
          </a:p>
        </p:txBody>
      </p:sp>
      <p:sp>
        <p:nvSpPr>
          <p:cNvPr id="15" name="Avatar LuChartPie"/>
          <p:cNvSpPr/>
          <p:nvPr/>
        </p:nvSpPr>
        <p:spPr>
          <a:xfrm>
            <a:off x="6355080" y="53949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6" name="Image 1" descr="LuChartP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550468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40880" y="53583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Rosca usa uma medida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040880" y="5678424"/>
            <a:ext cx="4572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Coluna aceita várias, como reservada e disponível.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Painel da Análise de Pedidos de Compras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60195"/>
            <a:ext cx="7589520" cy="4606290"/>
          </a:xfrm>
          <a:prstGeom prst="roundRect">
            <a:avLst>
              <a:gd name="adj" fmla="val 238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Painel da Análise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51635"/>
            <a:ext cx="7406640" cy="442341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12480" y="1600200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41080" y="169164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9418320" y="1737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indicadores: valor total, pedidos e ticket médio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8412480" y="3118104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641080" y="3209544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5</a:t>
            </a:r>
            <a:endParaRPr lang="en-US" sz="4400" dirty="0"/>
          </a:p>
        </p:txBody>
      </p:sp>
      <p:sp>
        <p:nvSpPr>
          <p:cNvPr id="12" name="Text 8"/>
          <p:cNvSpPr txBox="1"/>
          <p:nvPr/>
        </p:nvSpPr>
        <p:spPr>
          <a:xfrm>
            <a:off x="9418320" y="3255264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análises: status, mês, UF, pagamento e ticket</a:t>
            </a:r>
            <a:endParaRPr lang="en-US" sz="1400" dirty="0"/>
          </a:p>
        </p:txBody>
      </p:sp>
      <p:sp>
        <p:nvSpPr>
          <p:cNvPr id="13" name="Cartão"/>
          <p:cNvSpPr/>
          <p:nvPr/>
        </p:nvSpPr>
        <p:spPr>
          <a:xfrm>
            <a:off x="8412480" y="4636008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8641080" y="4727448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</a:t>
            </a:r>
            <a:endParaRPr lang="en-US" sz="4400" dirty="0"/>
          </a:p>
        </p:txBody>
      </p:sp>
      <p:sp>
        <p:nvSpPr>
          <p:cNvPr id="15" name="Text 11"/>
          <p:cNvSpPr txBox="1"/>
          <p:nvPr/>
        </p:nvSpPr>
        <p:spPr>
          <a:xfrm>
            <a:off x="9418320" y="477316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página de detalhe com gráfico e tabela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Vinte análises em quatro apps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7289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nálise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64335"/>
            <a:ext cx="3383280" cy="20205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51960" y="1965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Pedidos de Compras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25196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9632" y="157289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0" name="Image 1" descr="Análise de 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664335"/>
            <a:ext cx="3383280" cy="202057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902952" y="1965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Clientes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902952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548640" y="395033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4" name="Image 2" descr="Análise de Itens do Estoqu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41775"/>
            <a:ext cx="3383280" cy="202057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251960" y="4343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Itens do Estoque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25196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6199632" y="395033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8" name="Image 3" descr="Análise de Pedidos de Reembols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4041775"/>
            <a:ext cx="3383280" cy="202057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902952" y="4343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Pedidos de Reembolsos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9902952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Testes QUnit das apps de análise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766560" cy="1819656"/>
          </a:xfrm>
          <a:prstGeom prst="roundRect">
            <a:avLst>
              <a:gd name="adj" fmla="val 603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2421924"/>
                <a:gridCol w="864973"/>
                <a:gridCol w="3113903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Testes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Cobre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Scenarios.qunit.js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Catálogo: domínio, medidas e cenários válidos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AnalyticsQuery.qunit.js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groupby, moeda, filtros OR/AND, KPIs e linhas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548640" y="3611880"/>
            <a:ext cx="6766560" cy="594360"/>
          </a:xfrm>
          <a:prstGeom prst="roundRect">
            <a:avLst>
              <a:gd name="adj" fmla="val 1846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3794760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/analisepedidos/test/testsuite.qunit.html</a:t>
            </a:r>
            <a:endParaRPr lang="en-US" sz="1200" dirty="0"/>
          </a:p>
        </p:txBody>
      </p:sp>
      <p:sp>
        <p:nvSpPr>
          <p:cNvPr id="9" name="Avatar LuTestTube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Test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Por app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uma das quatro apps tem a sua suíte.</a:t>
            </a:r>
            <a:endParaRPr lang="en-US" sz="1400" dirty="0"/>
          </a:p>
        </p:txBody>
      </p:sp>
      <p:sp>
        <p:nvSpPr>
          <p:cNvPr id="13" name="Avatar LuTerminal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 npm run watch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As suítes abrem no navegador, servidas pelo CAP.</a:t>
            </a:r>
            <a:endParaRPr lang="en-US" sz="1400" dirty="0"/>
          </a:p>
        </p:txBody>
      </p:sp>
      <p:sp>
        <p:nvSpPr>
          <p:cNvPr id="17" name="Avatar LuServer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Backend também testado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analitico.test cobre as agregações $apply.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AnaliticoService somente leitura com quatro visões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Medidas com agregação padrão e custom aggregates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 cenários: dimensão, medida, gráfico e ordenação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freestyle com a mesma arquitetura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$$aggregation do OData V4 e gráficos sap.viz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Regra das consultas coberta por testes QUnit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Testes, build e publicação na SAP BTP com SAP HANA Cloud, XSUAA e Work Zone.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ClientesAnalise e a Análise de Clientes: clientes e score médio por gênero, UF e faixa de score.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2 de 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ItensAnalise e a Análise de Itens do Estoque: saldo, reserva, disponível e valor do estoque, com o top 10 dos mais reservados.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Esto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3 de 5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ESTOQUE · ANÁLISE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estoque na camada analítica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915160"/>
            <a:ext cx="6400800" cy="3896360"/>
          </a:xfrm>
          <a:prstGeom prst="roundRect">
            <a:avLst>
              <a:gd name="adj" fmla="val 281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nálise de Itens do Estoq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06600"/>
            <a:ext cx="6217920" cy="3713480"/>
          </a:xfrm>
          <a:prstGeom prst="rect">
            <a:avLst/>
          </a:prstGeom>
        </p:spPr>
      </p:pic>
      <p:sp>
        <p:nvSpPr>
          <p:cNvPr id="7" name="Avatar LuSigma"/>
          <p:cNvSpPr/>
          <p:nvPr/>
        </p:nvSpPr>
        <p:spPr>
          <a:xfrm>
            <a:off x="726948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Sigm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175564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55280" y="1609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Medidas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7955280" y="192938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qtdeEstoque, qtdeReservada, qtdeDisponivel, valorEstoque e qtdeItens.</a:t>
            </a:r>
            <a:endParaRPr lang="en-US" sz="1400" dirty="0"/>
          </a:p>
        </p:txBody>
      </p:sp>
      <p:sp>
        <p:nvSpPr>
          <p:cNvPr id="11" name="Avatar LuCalculator"/>
          <p:cNvSpPr/>
          <p:nvPr/>
        </p:nvSpPr>
        <p:spPr>
          <a:xfrm>
            <a:off x="726948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Calcula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285292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955280" y="27066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valorEstoque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955280" y="302666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precoUnitario × qtdeEstoque, calculado na view.</a:t>
            </a:r>
            <a:endParaRPr lang="en-US" sz="1400" dirty="0"/>
          </a:p>
        </p:txBody>
      </p:sp>
      <p:sp>
        <p:nvSpPr>
          <p:cNvPr id="15" name="Avatar LuChartColumn"/>
          <p:cNvSpPr/>
          <p:nvPr/>
        </p:nvSpPr>
        <p:spPr>
          <a:xfrm>
            <a:off x="726948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9208" y="395020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955280" y="3803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Top 10 reservados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7955280" y="412394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EstMaisReservados limita a consulta a 10 itens.</a:t>
            </a:r>
            <a:endParaRPr lang="en-US" sz="1400" dirty="0"/>
          </a:p>
        </p:txBody>
      </p:sp>
      <p:sp>
        <p:nvSpPr>
          <p:cNvPr id="19" name="Avatar LuArrowRight"/>
          <p:cNvSpPr/>
          <p:nvPr/>
        </p:nvSpPr>
        <p:spPr>
          <a:xfrm>
            <a:off x="726948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9208" y="504748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955280" y="490118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Abrir gestão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7955280" y="522122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Leva à app Gestão de Estoque.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PedidosAnalise e a Análise de Pedidos de Compras: valor total, pedidos e ticket médio por status, pagamento, UF e mês.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Ped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4 de 5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ReembolsosAnalise e a Análise de Pedidos de Reembolsos: solicitações e valor por status, UF e mês.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Reembols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42248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00616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158984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817352" y="5074920"/>
            <a:ext cx="54864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BO 5 de 5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ReembolsosAnalise e a app de análise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3002280"/>
          </a:xfrm>
          <a:prstGeom prst="roundRect">
            <a:avLst>
              <a:gd name="adj" fmla="val 36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2636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@Aggregation.CustomAggregate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#valorReembolso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'Edm.Decimal'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@Aggregation.CustomAggregate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#qtdeReembolsos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'Edm.Int32'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ReembolsosAnalise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statusReembolsoTexto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+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buNone/>
            </a:pPr>
            <a:r>
              <a:rPr lang="en-US" sz="10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10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</p:txBody>
      </p:sp>
      <p:sp>
        <p:nvSpPr>
          <p:cNvPr id="7" name="Cartão"/>
          <p:cNvSpPr/>
          <p:nvPr/>
        </p:nvSpPr>
        <p:spPr>
          <a:xfrm>
            <a:off x="6812280" y="1538986"/>
            <a:ext cx="4828032" cy="2957068"/>
          </a:xfrm>
          <a:prstGeom prst="roundRect">
            <a:avLst>
              <a:gd name="adj" fmla="val 37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8" name="Image 0" descr="Análise de Pedidos de Reembols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30426"/>
            <a:ext cx="4645152" cy="2774188"/>
          </a:xfrm>
          <a:prstGeom prst="rect">
            <a:avLst/>
          </a:prstGeom>
        </p:spPr>
      </p:pic>
      <p:sp>
        <p:nvSpPr>
          <p:cNvPr id="9" name="Avatar LuChartColumn"/>
          <p:cNvSpPr/>
          <p:nvPr/>
        </p:nvSpPr>
        <p:spPr>
          <a:xfrm>
            <a:off x="6903720" y="47548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1" descr="LuChart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486460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589520" y="471830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 cenários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589520" y="50383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Valor e quantidade por status, mês, UF e motivo.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Análises</dc:title>
  <dc:subject>Projeto Pedidos de Compras em SAP CAP e SAP Fiori</dc:subject>
  <dc:creator>Adriano Bispo</dc:creator>
  <cp:lastModifiedBy>Adriano Bispo</cp:lastModifiedBy>
  <cp:revision>1</cp:revision>
  <dcterms:created xsi:type="dcterms:W3CDTF">2026-10-20T11:28:12Z</dcterms:created>
  <dcterms:modified xsi:type="dcterms:W3CDTF">2026-10-20T11:28:12Z</dcterms:modified>
</cp:coreProperties>
</file>