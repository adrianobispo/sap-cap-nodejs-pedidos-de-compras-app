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d004e35-0f3c-06ad-3f60-6db194b25c0d}">
          <p14:sldIdLst>
            <p14:sldId id="256"/>
          </p14:sldIdLst>
        </p14:section>
        <p14:section name="Contexto" id="{9ca54fa1-6e61-292b-f8e3-0d748588d145}">
          <p14:sldIdLst>
            <p14:sldId id="257"/>
          </p14:sldIdLst>
        </p14:section>
        <p14:section name="Visão geral" id="{03a86fe8-0fe7-e205-0cad-4de060298fbc}">
          <p14:sldIdLst>
            <p14:sldId id="258"/>
          </p14:sldIdLst>
        </p14:section>
        <p14:section name="Modelo comum" id="{74e8abeb-36fd-723b-fbda-b08efbb19a6a}">
          <p14:sldIdLst>
            <p14:sldId id="259"/>
            <p14:sldId id="260"/>
            <p14:sldId id="261"/>
            <p14:sldId id="262"/>
          </p14:sldIdLst>
        </p14:section>
        <p14:section name="Mensagens" id="{e1965e2e-825c-815d-4d8c-7be8b0b75f1b}">
          <p14:sldIdLst>
            <p14:sldId id="263"/>
            <p14:sldId id="264"/>
            <p14:sldId id="265"/>
          </p14:sldIdLst>
        </p14:section>
        <p14:section name="Utilitários" id="{27e76b70-9de4-80d1-6462-1bd5c19ed454}">
          <p14:sldIdLst>
            <p14:sldId id="266"/>
            <p14:sldId id="267"/>
            <p14:sldId id="268"/>
          </p14:sldIdLst>
        </p14:section>
        <p14:section name="Importação" id="{1e651450-a366-41c2-d180-ca1e293d25fd}">
          <p14:sldIdLst>
            <p14:sldId id="269"/>
            <p14:sldId id="270"/>
            <p14:sldId id="271"/>
          </p14:sldIdLst>
        </p14:section>
        <p14:section name="Encerramento" id="{1f0a7b13-cb3e-34ff-4a1b-3e28743eb9c0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BO Comum: as peças reutilizadas por Clientes, Estoque, Pedidos e Reembolsos.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série por BO percorre cada objeto de negócio do modelo aos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o que é compartilhado fica em arquivos common ou em módulos utilitários de srv/lib.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CodeList é uma entidade com o aspect CodeListOrdenada. O enum restringe os códigos e documenta os valores no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caminho de StatusPedido: do CSV ao drop-down com texto e cor.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srv/lib/numeracao.js usa a tabela Numeracoes. O incremento é atômico e faz parte da transação do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objetos compartilhados pelos serviços: o retorno da importação e o formato das permissões.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Atalhos sobre a API de mensagens do CAP. As chaves são resolvidas em _i18n/messages.properties.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chaves em _i18n/messages.properties, agrupadas pelo prefixo.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handler passa a chave e os parâmetros; o CAP resolve o texto no idioma do usuário e o Fiori mostra junto do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funções que todos os handlers usam para saber o que está sendo endereçado.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acesso ao banco: fáceis de testar por unidade e reaproveitadas pelos serviços e pela importação.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regras que não cabem em @assert: o algoritmo do CPF e a assinatura binária da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Clientes, Estoque e Pedidos seguem os mesmos passos, com funções de srv/lib/planilha.js e srv/lib/importacao.js.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importação nunca grava parte do arquivo: qualquer erro registra a lista e a transação inteira é desfeita.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Funções puras e o leitor de planilhas são testados direto, sem subir o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BO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Implementação por BO — Comum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Implementação por BO — Comum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IMPLEMENTAÇÃO POR BO · 1 DE 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Comum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O que todos os BOs compartilham: tipos, CodeLists, numeração, mensagens, leitura da requisição, utilitários e o padrão de importação.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Com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1 de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IMPLEMENTAÇÃO POR BO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cinco objetos de negócio do projeto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Layers"/>
          <p:cNvSpPr/>
          <p:nvPr/>
        </p:nvSpPr>
        <p:spPr>
          <a:xfrm>
            <a:off x="77724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7" name="Image 0" descr="Lu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Tipos, CodeLists, mensagens e utilitários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802636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Users"/>
          <p:cNvSpPr/>
          <p:nvPr/>
        </p:nvSpPr>
        <p:spPr>
          <a:xfrm>
            <a:off x="3031236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910" y="19604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31236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031236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031236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Clientes, endereços e ViaCEP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5056632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Package"/>
          <p:cNvSpPr/>
          <p:nvPr/>
        </p:nvSpPr>
        <p:spPr>
          <a:xfrm>
            <a:off x="5285232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Pack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06" y="19604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85232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85232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285232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Itens, SKU e saldo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7310628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ShoppingCart"/>
          <p:cNvSpPr/>
          <p:nvPr/>
        </p:nvSpPr>
        <p:spPr>
          <a:xfrm>
            <a:off x="753922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ShoppingC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02" y="19604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539228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539228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Pedidos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539228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Pedido, itens, pagamento e histórico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9564624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Undo2"/>
          <p:cNvSpPr/>
          <p:nvPr/>
        </p:nvSpPr>
        <p:spPr>
          <a:xfrm>
            <a:off x="9793224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Undo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898" y="19604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793224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9793224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Reembolsos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793224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Solicitação e decisão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CAMADAS PERCORRIDAS</a:t>
            </a:r>
            <a:endParaRPr lang="en-US" sz="1100" dirty="0"/>
          </a:p>
        </p:txBody>
      </p:sp>
      <p:sp>
        <p:nvSpPr>
          <p:cNvPr id="36" name="Status Modelo CDS"/>
          <p:cNvSpPr txBox="1"/>
          <p:nvPr/>
        </p:nvSpPr>
        <p:spPr>
          <a:xfrm>
            <a:off x="548640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Modelo CDS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920240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tatus Serviço OData"/>
          <p:cNvSpPr txBox="1"/>
          <p:nvPr/>
        </p:nvSpPr>
        <p:spPr>
          <a:xfrm>
            <a:off x="2084832" y="4407408"/>
            <a:ext cx="16459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Serviço OData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3730752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tatus Handlers e regras"/>
          <p:cNvSpPr txBox="1"/>
          <p:nvPr/>
        </p:nvSpPr>
        <p:spPr>
          <a:xfrm>
            <a:off x="3895344" y="4407408"/>
            <a:ext cx="201168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Handlers e regras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907024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2" name="Status UI Fiori"/>
          <p:cNvSpPr txBox="1"/>
          <p:nvPr/>
        </p:nvSpPr>
        <p:spPr>
          <a:xfrm>
            <a:off x="6071616" y="4407408"/>
            <a:ext cx="11887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UI Fiori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7260336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4" name="Status Importação"/>
          <p:cNvSpPr txBox="1"/>
          <p:nvPr/>
        </p:nvSpPr>
        <p:spPr>
          <a:xfrm>
            <a:off x="7424928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Importação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8796528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tatus Testes"/>
          <p:cNvSpPr txBox="1"/>
          <p:nvPr/>
        </p:nvSpPr>
        <p:spPr>
          <a:xfrm>
            <a:off x="8961120" y="4407408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Testes</a:t>
            </a:r>
            <a:endParaRPr lang="en-US" sz="1000" dirty="0"/>
          </a:p>
        </p:txBody>
      </p:sp>
      <p:sp>
        <p:nvSpPr>
          <p:cNvPr id="47" name="Cartão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8" name="Avatar LuTarget"/>
          <p:cNvSpPr/>
          <p:nvPr/>
        </p:nvSpPr>
        <p:spPr>
          <a:xfrm>
            <a:off x="731520" y="5303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9" name="Image 5" descr="Lu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413248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371600" y="4983480"/>
            <a:ext cx="10085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Neste BO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objetos que não pertencem a um único domínio: db/common.cds, srv/common.cds, app/common.cds, _i18n e os módulos utilitários de srv/lib.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arquivos comuns e quem os usa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3191180"/>
                <a:gridCol w="4964058"/>
                <a:gridCol w="257067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Conteúdo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Usado por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db/common.cds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Tipos, aspect CodeListOrdenada, 7 CodeLists, StatusCep, Numeracoes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Todos os BOs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srv/common.cds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Tipo ResultadoImportacao e aspect Permissoes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Clientes, Estoque, Pedidos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app/common.cds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Rótulos, textos das CodeLists, campos somente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As 4 apps de gestão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_i18n/messages.properties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55 mensagens de negócio com parâmetros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Handlers e @assert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srv/lib/mensagens.js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erro, aviso, info e rejeitar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Todos os handlers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srv/lib/requisicao.js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chave, ehRascunho e lerConteudo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Todos os handlers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srv/lib/util.js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CPF, e-mail, telefone, imagem, SKU, endereço, valores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Clientes, Estoque, Pedidos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srv/lib/numeracao.js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Sequenciais de pedido e de SKU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Estoque e Pedidos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srv/lib/planilha.js · importacao.js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Leitor de planilhas e funções comuns da importação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3 importações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COMUM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db/common.cds: CodeLists com enum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3886200"/>
          </a:xfrm>
          <a:prstGeom prst="roundRect">
            <a:avLst>
              <a:gd name="adj" fmla="val 282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CodeListOrdenada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CodeList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Criticidade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CodeListOrdenada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AGUARDANDO_APROVACAO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PROCESSANDO_REEMBOLSO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indispon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StatusCep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Indisponivel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Avatar LuListChecks"/>
          <p:cNvSpPr/>
          <p:nvPr/>
        </p:nvSpPr>
        <p:spPr>
          <a:xfrm>
            <a:off x="690372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List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16093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enum no código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192938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Valores conhecidos pelo modelo; @assert.target confere a FK.</a:t>
            </a:r>
            <a:endParaRPr lang="en-US" sz="1400" dirty="0"/>
          </a:p>
        </p:txBody>
      </p:sp>
      <p:sp>
        <p:nvSpPr>
          <p:cNvPr id="11" name="Avatar LuGauge"/>
          <p:cNvSpPr/>
          <p:nvPr/>
        </p:nvSpPr>
        <p:spPr>
          <a:xfrm>
            <a:off x="690372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Gau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89520" y="27066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criticality por linha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302666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cor vem do CSV: 1 negativa, 2 crítica, 3 positiva.</a:t>
            </a:r>
            <a:endParaRPr lang="en-US" sz="1400" dirty="0"/>
          </a:p>
        </p:txBody>
      </p:sp>
      <p:sp>
        <p:nvSpPr>
          <p:cNvPr id="15" name="Avatar LuArrowRight"/>
          <p:cNvSpPr/>
          <p:nvPr/>
        </p:nvSpPr>
        <p:spPr>
          <a:xfrm>
            <a:off x="690372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80390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ordem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589520" y="412394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Define a sequência no drop-down e nas mensagens.</a:t>
            </a:r>
            <a:endParaRPr lang="en-US" sz="1400" dirty="0"/>
          </a:p>
        </p:txBody>
      </p:sp>
      <p:sp>
        <p:nvSpPr>
          <p:cNvPr id="19" name="Avatar LuCode"/>
          <p:cNvSpPr/>
          <p:nvPr/>
        </p:nvSpPr>
        <p:spPr>
          <a:xfrm>
            <a:off x="690372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589520" y="49011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Tipo com enum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589520" y="52212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StatusCep não é tabela: só um String(1) com valores nomeados.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COMUM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Como uma CodeList chega à tela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079346" cy="214884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FileSpreadsheet"/>
          <p:cNvSpPr/>
          <p:nvPr/>
        </p:nvSpPr>
        <p:spPr>
          <a:xfrm>
            <a:off x="749808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FileSpread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61058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CSV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697480"/>
            <a:ext cx="17135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pedidoscompras-StatusPedido.csv com code, name, ordem e criticality.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627986" y="24003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2801722" y="1554480"/>
            <a:ext cx="2079346" cy="214884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Database"/>
          <p:cNvSpPr/>
          <p:nvPr/>
        </p:nvSpPr>
        <p:spPr>
          <a:xfrm>
            <a:off x="300289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18653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4139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002890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Tabelas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002890" y="2697480"/>
            <a:ext cx="17135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StatusPedido e StatusPedido_texts; view localized_.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81067" y="24003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5054803" y="1554480"/>
            <a:ext cx="2079346" cy="214884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Server"/>
          <p:cNvSpPr/>
          <p:nvPr/>
        </p:nvSpPr>
        <p:spPr>
          <a:xfrm>
            <a:off x="5255971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1" name="Image 2" descr="Lu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699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67221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255971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Serviço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255971" y="2697480"/>
            <a:ext cx="17135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Projeção @readonly no PedidosService.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134149" y="24003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7307885" y="1554480"/>
            <a:ext cx="2079346" cy="214884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Tag"/>
          <p:cNvSpPr/>
          <p:nvPr/>
        </p:nvSpPr>
        <p:spPr>
          <a:xfrm>
            <a:off x="7509053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8" name="Image 3" descr="LuT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81" y="1865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20302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509053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app/common.cds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09053" y="2697480"/>
            <a:ext cx="17135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Common.Text: name e TextArrangement #TextOnly.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387230" y="24003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3" name="Cartão"/>
          <p:cNvSpPr/>
          <p:nvPr/>
        </p:nvSpPr>
        <p:spPr>
          <a:xfrm>
            <a:off x="9560966" y="1554480"/>
            <a:ext cx="2079346" cy="214884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4" name="Avatar LuPanelsTopLeft"/>
          <p:cNvSpPr/>
          <p:nvPr/>
        </p:nvSpPr>
        <p:spPr>
          <a:xfrm>
            <a:off x="9762134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35" name="Image 4" descr="LuPanelsTopLef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862" y="186537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073384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9762134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Fiori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762134" y="2697480"/>
            <a:ext cx="17135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Texto, cor por criticality e filtro de valores fixos.</a:t>
            </a:r>
            <a:endParaRPr lang="en-US" sz="1300" dirty="0"/>
          </a:p>
        </p:txBody>
      </p:sp>
      <p:sp>
        <p:nvSpPr>
          <p:cNvPr id="39" name="Bloco de código"/>
          <p:cNvSpPr/>
          <p:nvPr/>
        </p:nvSpPr>
        <p:spPr>
          <a:xfrm>
            <a:off x="548640" y="3931920"/>
            <a:ext cx="5760720" cy="1691640"/>
          </a:xfrm>
          <a:prstGeom prst="roundRect">
            <a:avLst>
              <a:gd name="adj" fmla="val 648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40" name="Código"/>
          <p:cNvSpPr txBox="1"/>
          <p:nvPr/>
        </p:nvSpPr>
        <p:spPr>
          <a:xfrm>
            <a:off x="777240" y="411480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@Common.Text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@Common.TextArrangement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#TextOnly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app/pedidos-compras/annotations.cds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41" name="Avatar LuGlobe"/>
          <p:cNvSpPr/>
          <p:nvPr/>
        </p:nvSpPr>
        <p:spPr>
          <a:xfrm>
            <a:off x="662940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42" name="Image 5" descr="LuGlob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4133088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315200" y="39867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Pronto para traduzir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7315200" y="430682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Basta incluir linhas em _texts com outro locale.</a:t>
            </a:r>
            <a:endParaRPr lang="en-US" sz="1400" dirty="0"/>
          </a:p>
        </p:txBody>
      </p:sp>
      <p:sp>
        <p:nvSpPr>
          <p:cNvPr id="45" name="Avatar LuEyeOff"/>
          <p:cNvSpPr/>
          <p:nvPr/>
        </p:nvSpPr>
        <p:spPr>
          <a:xfrm>
            <a:off x="6629400" y="5029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46" name="Image 6" descr="LuEyeOff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5138928"/>
            <a:ext cx="237744" cy="237744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315200" y="49926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edição</a:t>
            </a:r>
            <a:endParaRPr lang="en-US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7315200" y="531266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CodeLists são @readonly em todos os serviços.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COMUM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Numeração: pedido e SKU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309360" cy="4267200"/>
          </a:xfrm>
          <a:prstGeom prst="roundRect">
            <a:avLst>
              <a:gd name="adj" fmla="val 257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85216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freeze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proximoNumero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Numeracoes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'ultimoNumero = ultimoNumero + 1'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alterados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Numeracoes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ultimoNumero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ultimoNumero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Numeracoes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'ultimoNumero'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ultimoNumero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42 -&gt; '0000000042'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proximoNumeroPedido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proximoNumero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padStart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ELETRONICOS + 42 -&gt; 'SKU-ELE-0000000042'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gerarSku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montarSku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proximoNumero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Avatar LuLock"/>
          <p:cNvSpPr/>
          <p:nvPr/>
        </p:nvSpPr>
        <p:spPr>
          <a:xfrm>
            <a:off x="71780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776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16093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UPDATE primeiro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1929384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Bloqueia a linha: Saves concorrentes esperam a vez.</a:t>
            </a:r>
            <a:endParaRPr lang="en-US" sz="1400" dirty="0"/>
          </a:p>
        </p:txBody>
      </p:sp>
      <p:sp>
        <p:nvSpPr>
          <p:cNvPr id="11" name="Avatar LuUndo2"/>
          <p:cNvSpPr/>
          <p:nvPr/>
        </p:nvSpPr>
        <p:spPr>
          <a:xfrm>
            <a:off x="717804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Undo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63840" y="2706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buracos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863840" y="3026664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 o Save falha, o número volta junto com o rollback.</a:t>
            </a:r>
            <a:endParaRPr lang="en-US" sz="1400" dirty="0"/>
          </a:p>
        </p:txBody>
      </p:sp>
      <p:sp>
        <p:nvSpPr>
          <p:cNvPr id="15" name="Avatar LuHash"/>
          <p:cNvSpPr/>
          <p:nvPr/>
        </p:nvSpPr>
        <p:spPr>
          <a:xfrm>
            <a:off x="717804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Ha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863840" y="38039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Um contador por objeto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863840" y="4123944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SKU é global, não por categoria.</a:t>
            </a:r>
            <a:endParaRPr lang="en-US" sz="1400" dirty="0"/>
          </a:p>
        </p:txBody>
      </p:sp>
      <p:sp>
        <p:nvSpPr>
          <p:cNvPr id="19" name="Avatar LuPlus"/>
          <p:cNvSpPr/>
          <p:nvPr/>
        </p:nvSpPr>
        <p:spPr>
          <a:xfrm>
            <a:off x="717804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Pl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63840" y="490118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Cria a linha na 1ª vez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863840" y="5221224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 linha, o INSERT começa em 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COMUM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srv/common.cds: tipos do serviço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ResultadoImportacao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registrosCriados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somenteLeitura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Bloco de código"/>
          <p:cNvSpPr/>
          <p:nvPr/>
        </p:nvSpPr>
        <p:spPr>
          <a:xfrm>
            <a:off x="6263640" y="1554480"/>
            <a:ext cx="5376672" cy="1691640"/>
          </a:xfrm>
          <a:prstGeom prst="roundRect">
            <a:avLst>
              <a:gd name="adj" fmla="val 648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6492240" y="1737360"/>
            <a:ext cx="4919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ResultadoImportacao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'./common'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ClientesService e EstoqueService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@odata.singleton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@cds.persistence.skip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200" dirty="0"/>
          </a:p>
        </p:txBody>
      </p:sp>
      <p:sp>
        <p:nvSpPr>
          <p:cNvPr id="9" name="Avatar LuFileSpreadsheet"/>
          <p:cNvSpPr/>
          <p:nvPr/>
        </p:nvSpPr>
        <p:spPr>
          <a:xfrm>
            <a:off x="68580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FileSpread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3159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16966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ResultadoImportacao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489704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Volta da action: quantos registros e a mensagem traduzida.</a:t>
            </a:r>
            <a:endParaRPr lang="en-US" sz="1400" dirty="0"/>
          </a:p>
        </p:txBody>
      </p:sp>
      <p:sp>
        <p:nvSpPr>
          <p:cNvPr id="13" name="Avatar LuShieldCheck"/>
          <p:cNvSpPr/>
          <p:nvPr/>
        </p:nvSpPr>
        <p:spPr>
          <a:xfrm>
            <a:off x="685800" y="5166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760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512978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aspect, não entidade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5449824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serviço cria o seu singleton a partir do aspect.</a:t>
            </a:r>
            <a:endParaRPr lang="en-US" sz="1400" dirty="0"/>
          </a:p>
        </p:txBody>
      </p:sp>
      <p:sp>
        <p:nvSpPr>
          <p:cNvPr id="17" name="Avatar LuEyeOff"/>
          <p:cNvSpPr/>
          <p:nvPr/>
        </p:nvSpPr>
        <p:spPr>
          <a:xfrm>
            <a:off x="635508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8" name="Image 2" descr="LuEy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3159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Lido pela UI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040880" y="448970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UI.CreateHidden/UpdateHidden/DeleteHidden com $edmJson.</a:t>
            </a:r>
            <a:endParaRPr lang="en-US" sz="1400" dirty="0"/>
          </a:p>
        </p:txBody>
      </p:sp>
      <p:sp>
        <p:nvSpPr>
          <p:cNvPr id="21" name="Avatar LuCodeXml"/>
          <p:cNvSpPr/>
          <p:nvPr/>
        </p:nvSpPr>
        <p:spPr>
          <a:xfrm>
            <a:off x="6355080" y="5166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2" name="Image 3" descr="LuCodeXm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52760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40880" y="51297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permissoes.js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040880" y="544982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somenteLeitura = !req.user.is('Admin').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MENSAGENS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srv/lib/mensagens.js: quatro formas de falar com a UI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1418302"/>
                <a:gridCol w="1595590"/>
                <a:gridCol w="4609483"/>
                <a:gridCol w="310253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Função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API do CAP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Efeito na requisição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req.error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Acumula; o CAP rejeita no fim da fase com todos os erros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CLIENTE_CPF_INVALIDO (400)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rejeitar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req.reject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Interrompe na hora; os próximos handlers não rodam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FOTO_FORMATO_INVALIDO (400)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aviso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req.warn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Sucesso com aviso amarelo na UI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CEP_INDISPONIVEL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req.info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Sucesso com mensagem informativa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PEDIDO_CONFIRMADO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548640" y="4389120"/>
            <a:ext cx="6035040" cy="1325880"/>
          </a:xfrm>
          <a:prstGeom prst="roundRect">
            <a:avLst>
              <a:gd name="adj" fmla="val 827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" y="45720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...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Avatar LuTarget"/>
          <p:cNvSpPr/>
          <p:nvPr/>
        </p:nvSpPr>
        <p:spPr>
          <a:xfrm>
            <a:off x="6903720" y="4480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45902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589520" y="44439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target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589520" y="476402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Campo destacado na tela, ex.: 'cpf' ou o CEP do endereço.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MENSAGENS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Catálogo de mensagens por BO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3730752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3102537"/>
                <a:gridCol w="886439"/>
                <a:gridCol w="673693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Prefixo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Qtde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Exemplos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PEDIDO_*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PEDIDO_CONFIRMADO, PEDIDO_EDICAO_BLOQUEADA, PEDIDO_ALTERADO_CONCORRENTE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ITEM_*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ITEM_ESTOQUE_INSUFICIENTE, ITEM_SEM_ESTOQUE, ITEM_INATIVACAO_BLOQUEADA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CLIENTE_* · CEP_* · ENDERECO_*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CLIENTE_CPF_DUPLICADO, CEP_INDISPONIVEL, CEP_DUPLICADO_CLIENTE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REEMBOLSO_*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REEMBOLSO_APROVADO, REEMBOLSO_STATUS_INVALIDO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PAGAMENTO_* · CARTAO_*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PAGAMENTO_APROVADO, PAGAMENTO_RECUSADO, CARTAO_DADOS_INVALIDOS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IMPORTACAO_*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IMPORTACAO_CONCLUIDA, IMPORTACAO_CANCELADA, IMPORTACAO_DETALHE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Genéricas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CAMPO_OBRIGATORIO, VALOR_INVALIDO, EMAIL_INVALIDO, ACAO_SOMENTE_ATIVO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486400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Parâmetros nomeados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ITEM_ESTOQUE_INSUFICIENTE=Estoque insuficiente para o item {sku} (disponível: {disponivel}).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MENSAGENS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 chave ao texto na tela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64261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CodeXml"/>
          <p:cNvSpPr/>
          <p:nvPr/>
        </p:nvSpPr>
        <p:spPr>
          <a:xfrm>
            <a:off x="749808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CodeXm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24328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2257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Handler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6974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erro(req, 409, chave, { sku, disponivel })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191256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3364992" y="1554480"/>
            <a:ext cx="264261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Globe"/>
          <p:cNvSpPr/>
          <p:nvPr/>
        </p:nvSpPr>
        <p:spPr>
          <a:xfrm>
            <a:off x="356616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Glo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8653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232257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i18n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26974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messages.properties com {sku} e {disponivel}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007608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6181344" y="1554480"/>
            <a:ext cx="264261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MessageSquare"/>
          <p:cNvSpPr/>
          <p:nvPr/>
        </p:nvSpPr>
        <p:spPr>
          <a:xfrm>
            <a:off x="6382512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1" name="Image 2" descr="LuMessage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57032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382512" y="232257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Resposta OData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382512" y="26974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Erro 409 com message, target e details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823960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8997696" y="1554480"/>
            <a:ext cx="264261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PanelsTopLeft"/>
          <p:cNvSpPr/>
          <p:nvPr/>
        </p:nvSpPr>
        <p:spPr>
          <a:xfrm>
            <a:off x="9198864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8" name="Image 3" descr="LuPanelsTopLef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865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073384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9198864" y="232257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Fiori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198864" y="26974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Popover de mensagens e campo destacado</a:t>
            </a:r>
            <a:endParaRPr lang="en-US" sz="1300" dirty="0"/>
          </a:p>
        </p:txBody>
      </p:sp>
      <p:sp>
        <p:nvSpPr>
          <p:cNvPr id="32" name="Bloco de código"/>
          <p:cNvSpPr/>
          <p:nvPr/>
        </p:nvSpPr>
        <p:spPr>
          <a:xfrm>
            <a:off x="548640" y="37490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33" name="Código"/>
          <p:cNvSpPr txBox="1"/>
          <p:nvPr/>
        </p:nvSpPr>
        <p:spPr>
          <a:xfrm>
            <a:off x="777240" y="393192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_i18n/messages.properties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ITEM_ESTOQUE_INSUFICIENTE=Estoque insuficiente para o item {sku} (disponível: {disponivel}).</a:t>
            </a:r>
            <a:endParaRPr lang="en-US" sz="1200" dirty="0"/>
          </a:p>
        </p:txBody>
      </p:sp>
      <p:sp>
        <p:nvSpPr>
          <p:cNvPr id="34" name="Cartão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35" name="Avatar LuMessageSquare"/>
          <p:cNvSpPr/>
          <p:nvPr/>
        </p:nvSpPr>
        <p:spPr>
          <a:xfrm>
            <a:off x="731520" y="54178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36" name="Image 4" descr="LuMessageSqu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527548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371600" y="5212080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 tela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"Estoque insuficiente para o item SKU-INF-0000000002 (disponível: 45)." Os @assert do modelo usam as mesmas chaves, como EMAIL_INVALIDO.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UTILITÁRIOS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srv/lib/requisicao.js: lendo a requisição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035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2233353"/>
                <a:gridCol w="343592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Função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Devolve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chave(req)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ID do último segmento da URL ou req.data.ID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ehRascunho(req)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true se IsActiveEntity=false ou alvo .drafts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lerConteudo(valor)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Buffer de Buffer, base64 ou stream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548640" y="3657600"/>
            <a:ext cx="6035040" cy="2255520"/>
          </a:xfrm>
          <a:prstGeom prst="roundRect">
            <a:avLst>
              <a:gd name="adj" fmla="val 486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" y="3840480"/>
            <a:ext cx="557784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WeakMap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lerConteudo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asyncIterator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'function'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lerStream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lê o stream uma vez só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mesmo stream devolve o mesmo Buffer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</p:txBody>
      </p:sp>
      <p:sp>
        <p:nvSpPr>
          <p:cNvPr id="9" name="Cartão"/>
          <p:cNvSpPr/>
          <p:nvPr/>
        </p:nvSpPr>
        <p:spPr>
          <a:xfrm>
            <a:off x="6858000" y="1554480"/>
            <a:ext cx="4782312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0" name="Avatar LuBug"/>
          <p:cNvSpPr/>
          <p:nvPr/>
        </p:nvSpPr>
        <p:spPr>
          <a:xfrm>
            <a:off x="7132320" y="17830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1" name="Image 0" descr="Lu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021" y="190378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1812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Correção da v1.9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132320" y="2468880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Problema: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foto do cliente e do item era gravada vazia no upload.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Causa: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dois handlers before do mesmo evento rodam em paralelo e liam o mesmo stream; um deles ficava com zero bytes.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Solução: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stream é lido uma vez só e a promessa é compartilhada pelo WeakMap.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UTILITÁRIOS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srv/lib/util.js: funções puras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5440680" cy="3858768"/>
          </a:xfrm>
          <a:prstGeom prst="roundRect">
            <a:avLst>
              <a:gd name="adj" fmla="val 284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5074920" cy="914400"/>
        </p:xfrm>
        <a:graphic>
          <a:graphicData uri="http://schemas.openxmlformats.org/drawingml/2006/table">
            <a:tbl>
              <a:tblPr/>
              <a:tblGrid>
                <a:gridCol w="2236405"/>
                <a:gridCol w="28385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Regra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somenteDigitos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Remove tudo que não é dígito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calcularDvCpf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Dois dígitos verificadores (módulo 11)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validarCpf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11 dígitos, não repetidos, DV correto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formatarCpf · Cep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000.000.000-00 · 00000-000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validarEmail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usuario@dominio.tld, minúsculas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validarTelefone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DDD + número: 10 ou 11 dígitos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calcularStatusEstoque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&lt;= 0 · até 10 · 11 ou mais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6199632" y="1554480"/>
            <a:ext cx="5440680" cy="3858768"/>
          </a:xfrm>
          <a:prstGeom prst="roundRect">
            <a:avLst>
              <a:gd name="adj" fmla="val 284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691640"/>
          <a:ext cx="5074920" cy="914400"/>
        </p:xfrm>
        <a:graphic>
          <a:graphicData uri="http://schemas.openxmlformats.org/drawingml/2006/table">
            <a:tbl>
              <a:tblPr/>
              <a:tblGrid>
                <a:gridCol w="2236405"/>
                <a:gridCol w="28385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Regra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formatarEndereco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Logradouro, nº - compl. - bairro...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prefixoCategoria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3 letras da categoria (com X)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montarSku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SKU-&lt;prefixo&gt;-&lt;10 dígitos&gt;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validarImagem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MIME, extensão e assinatura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arredondar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2 casas com Number.EPSILON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somarQuantidades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Map item_ID → soma das linhas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(constantes)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MIME_IMAGEM, LIMITE_ACABANDO = 10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UTILITÁRIOS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Validação de CPF e de imagens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486400" cy="3764280"/>
          </a:xfrm>
          <a:prstGeom prst="roundRect">
            <a:avLst>
              <a:gd name="adj" fmla="val 291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029200" cy="339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calcularDvCpf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base9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somenteDigitos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base9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validarCpf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somenteDigitos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$/.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111.111...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calcularDvCpf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Bloco de código"/>
          <p:cNvSpPr/>
          <p:nvPr/>
        </p:nvSpPr>
        <p:spPr>
          <a:xfrm>
            <a:off x="6263640" y="1554480"/>
            <a:ext cx="5376672" cy="2590800"/>
          </a:xfrm>
          <a:prstGeom prst="roundRect">
            <a:avLst>
              <a:gd name="adj" fmla="val 423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6492240" y="1737360"/>
            <a:ext cx="4919472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MIME_IMAGEM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89 50 4E 47 0D 0A 1A 0A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'89504e470d0a1a0a'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'hex'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MIME_IMAGEM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RIFF....WEBP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'latin1'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'RIFF'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'latin1'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'WEBP'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  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JPEG: FF D8 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'ffd8ff'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'hex'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Avatar LuShieldCheck"/>
          <p:cNvSpPr/>
          <p:nvPr/>
        </p:nvSpPr>
        <p:spPr>
          <a:xfrm>
            <a:off x="6355080" y="4892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50017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48554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Três conferências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517550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MIME, extensão do nome e os primeiros bytes do arquivo.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padrão comum às três importações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FileSpreadsheet"/>
          <p:cNvSpPr/>
          <p:nvPr/>
        </p:nvSpPr>
        <p:spPr>
          <a:xfrm>
            <a:off x="749808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FileSpread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61058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lerPlanilha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XLSX ou CSV; cabeçalho e sinônimos; até 500 linhas.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627986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2801722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ListChecks"/>
          <p:cNvSpPr/>
          <p:nvPr/>
        </p:nvSpPr>
        <p:spPr>
          <a:xfrm>
            <a:off x="300289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18653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4139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002890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Validar linhas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002890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Todas, sem gravar nada; erros por linha.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81067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5054803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TriangleAlert"/>
          <p:cNvSpPr/>
          <p:nvPr/>
        </p:nvSpPr>
        <p:spPr>
          <a:xfrm>
            <a:off x="5255971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21" name="Image 2" descr="LuTriangle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699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67221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255971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falharImportacao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55971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 houver erro: resumo + até 15 detalhes.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134149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7307885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Server"/>
          <p:cNvSpPr/>
          <p:nvPr/>
        </p:nvSpPr>
        <p:spPr>
          <a:xfrm>
            <a:off x="7509053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8" name="Image 3" descr="LuSer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81" y="1865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20302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509053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srv.run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7509053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Cria pelo próprio serviço: valem os handlers.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387230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3" name="Cartão"/>
          <p:cNvSpPr/>
          <p:nvPr/>
        </p:nvSpPr>
        <p:spPr>
          <a:xfrm>
            <a:off x="9560966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4" name="Avatar LuCircleCheck"/>
          <p:cNvSpPr/>
          <p:nvPr/>
        </p:nvSpPr>
        <p:spPr>
          <a:xfrm>
            <a:off x="9762134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35" name="Image 4" descr="LuCircle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862" y="186537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073384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9762134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Concluir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762134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concluirImportacao: mensagem e ResultadoImportacao.</a:t>
            </a:r>
            <a:endParaRPr lang="en-US" sz="1300" dirty="0"/>
          </a:p>
        </p:txBody>
      </p:sp>
      <p:sp>
        <p:nvSpPr>
          <p:cNvPr id="39" name="Cartão"/>
          <p:cNvSpPr/>
          <p:nvPr/>
        </p:nvSpPr>
        <p:spPr>
          <a:xfrm>
            <a:off x="548640" y="3931920"/>
            <a:ext cx="1109167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069080"/>
          <a:ext cx="10725912" cy="914400"/>
        </p:xfrm>
        <a:graphic>
          <a:graphicData uri="http://schemas.openxmlformats.org/drawingml/2006/table">
            <a:tbl>
              <a:tblPr/>
              <a:tblGrid>
                <a:gridCol w="3900332"/>
                <a:gridCol w="68255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Função comum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 que faz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normalizarCpf · normalizarCep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Repõe zeros à esquerda que o Excel removeu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converterCodelist · opcoesCodelist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Aceita código ou texto ("Não binário") sem acento e caixa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textosDoErro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Traduz erros vindos de srv.run para a lista da linha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Tudo ou nada com mensagens por linha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309360" cy="192024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MAX_ERROS_EXIBIDOS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falharImportacao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'IMPORTACAO_CANCELADA'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resumirErros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'IMPORTACAO_DETALHE'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resumirErros: 15 primeiros + "... e mais N erro(s)."</a:t>
            </a:r>
            <a:endParaRPr lang="en-US" sz="1100" dirty="0"/>
          </a:p>
        </p:txBody>
      </p:sp>
      <p:sp>
        <p:nvSpPr>
          <p:cNvPr id="7" name="Bloco de código"/>
          <p:cNvSpPr/>
          <p:nvPr/>
        </p:nvSpPr>
        <p:spPr>
          <a:xfrm>
            <a:off x="7086600" y="1554480"/>
            <a:ext cx="4553712" cy="1417320"/>
          </a:xfrm>
          <a:prstGeom prst="roundRect">
            <a:avLst>
              <a:gd name="adj" fmla="val 774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315200" y="1737360"/>
            <a:ext cx="4096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Importação cancelada: nenhum registro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foi gravado (3 erro(s)).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2: CPF inválido (123).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4: Categoria inválida (X).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Use: Eletrônicos, Informática,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7: item "Mouse" já cadastrado.</a:t>
            </a:r>
            <a:endParaRPr lang="en-US" sz="1100" dirty="0"/>
          </a:p>
        </p:txBody>
      </p:sp>
      <p:sp>
        <p:nvSpPr>
          <p:cNvPr id="9" name="Avatar LuUndo2"/>
          <p:cNvSpPr/>
          <p:nvPr/>
        </p:nvSpPr>
        <p:spPr>
          <a:xfrm>
            <a:off x="685800" y="4846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Undo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956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8097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Rollback garantido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512978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São erros da requisição: o CAP desfaz tudo.</a:t>
            </a:r>
            <a:endParaRPr lang="en-US" sz="1400" dirty="0"/>
          </a:p>
        </p:txBody>
      </p:sp>
      <p:sp>
        <p:nvSpPr>
          <p:cNvPr id="13" name="Avatar LuMessageSquare"/>
          <p:cNvSpPr/>
          <p:nvPr/>
        </p:nvSpPr>
        <p:spPr>
          <a:xfrm>
            <a:off x="6400800" y="4846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MessageSqu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49560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480974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Uma mensagem por linha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086600" y="5129784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usuário corrige a planilha de uma vez.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unidade.test: o comum testado sem servidor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3538728"/>
          </a:xfrm>
          <a:prstGeom prst="roundRect">
            <a:avLst>
              <a:gd name="adj" fmla="val 310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304741"/>
                <a:gridCol w="842117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Grupo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utilitários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CPF (DV, repetidos, formato) · e-mail e telefone · imagens JPEG/PNG/WEBP · status de estoque · endereço, SKU e soma de quantidades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 simulado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Aprovado VISA com máscara · MASTERCARD e recusa com CVV 000 · dados inválidos são erro, não recusa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leitor de planilhas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CSV com ; e com , · XLSX com textos compartilhados e inline · coluna ausente, sem dados, limite de linhas e .xls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limites e conversões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XLSX acima do limite descompactado é recusado · datas, números e nomes de coluna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Avatar LuTestTube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9" name="Image 0" descr="LuTestT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50468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5166360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Mesmo arquivo nas duas versões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test/unidade.test.js e test/unidade.test.ts cobrem as mesmas regras.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DO BO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vimos no BO Comum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Tipos, CodeLists com enum e criticidade, StatusCep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Numeração atômica de pedido e SKU, sem buracos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Tipos de serviço: ResultadoImportacao e Permissoes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Mensagens por chave: erro, aviso, info e rejeitar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requisicao.js e util.js: leitura e regras puras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Padrão de importação tudo ou nada nos três BOs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Próximo BO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Clientes: cadastro, endereços, ViaCEP, foto, permissões e importação.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 Comum - Implementação</dc:title>
  <dc:subject>Projeto Pedidos de Compras em SAP CAP e SAP Fiori</dc:subject>
  <dc:creator>Adriano Bispo</dc:creator>
  <cp:lastModifiedBy>Adriano Bispo</cp:lastModifiedBy>
  <cp:revision>1</cp:revision>
  <dcterms:created xsi:type="dcterms:W3CDTF">2026-10-20T11:29:02Z</dcterms:created>
  <dcterms:modified xsi:type="dcterms:W3CDTF">2026-10-20T11:29:02Z</dcterms:modified>
</cp:coreProperties>
</file>