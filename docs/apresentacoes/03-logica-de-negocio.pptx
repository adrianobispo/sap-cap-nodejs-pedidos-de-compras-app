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70" r:id="rId16"/>
    <p:sldId id="284" r:id="rId35"/>
    <p:sldId id="285" r:id="rId36"/>
    <p:sldId id="271" r:id="rId17"/>
    <p:sldId id="286" r:id="rId37"/>
    <p:sldId id="287" r:id="rId38"/>
    <p:sldId id="288" r:id="rId39"/>
    <p:sldId id="289" r:id="rId40"/>
    <p:sldId id="269" r:id="rId15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265" r:id="rId11"/>
    <p:sldId id="301" r:id="rId52"/>
    <p:sldId id="302" r:id="rId53"/>
    <p:sldId id="303" r:id="rId54"/>
    <p:sldId id="262" r:id="rId8"/>
    <p:sldId id="263" r:id="rId9"/>
    <p:sldId id="304" r:id="rId55"/>
    <p:sldId id="305" r:id="rId56"/>
    <p:sldId id="306" r:id="rId57"/>
    <p:sldId id="307" r:id="rId58"/>
    <p:sldId id="308" r:id="rId59"/>
    <p:sldId id="309" r:id="rId60"/>
    <p:sldId id="264" r:id="rId10"/>
    <p:sldId id="266" r:id="rId12"/>
    <p:sldId id="310" r:id="rId61"/>
    <p:sldId id="267" r:id="rId13"/>
    <p:sldId id="311" r:id="rId62"/>
    <p:sldId id="268" r:id="rId14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5134543-3d20-a365-d965-8bc5d2e27400}">
          <p14:sldIdLst>
            <p14:sldId id="256"/>
          </p14:sldIdLst>
        </p14:section>
        <p14:section name="Contexto" id="{e0feb18e-f3c9-285a-a921-2967ea53ab8f}">
          <p14:sldIdLst>
            <p14:sldId id="257"/>
          </p14:sldIdLst>
        </p14:section>
        <p14:section name="Organização" id="{07b8f202-1ba5-bbd3-19e5-83cf1132cbc8}">
          <p14:sldIdLst>
            <p14:sldId id="258"/>
            <p14:sldId id="259"/>
            <p14:sldId id="260"/>
            <p14:sldId id="261"/>
          </p14:sldIdLst>
        </p14:section>
        <p14:section name="Pedido e estoque" id="{6612918f-ae1f-2985-6842-1b13ae095e0b}">
          <p14:sldIdLst>
            <p14:sldId id="262"/>
            <p14:sldId id="263"/>
            <p14:sldId id="264"/>
            <p14:sldId id="265"/>
            <p14:sldId id="266"/>
          </p14:sldIdLst>
        </p14:section>
        <p14:section name="Pagamento e reembolso" id="{505053ef-b0c1-0e4b-e411-c9fcc50b46e4}">
          <p14:sldIdLst>
            <p14:sldId id="267"/>
            <p14:sldId id="268"/>
          </p14:sldIdLst>
        </p14:section>
        <p14:section name="Integrações" id="{46655b83-ac5f-d537-df89-8b608082e5e0}">
          <p14:sldIdLst>
            <p14:sldId id="269"/>
            <p14:sldId id="270"/>
            <p14:sldId id="271"/>
            <p14:sldId id="272"/>
            <p14:sldId id="273"/>
          </p14:sldIdLst>
        </p14:section>
        <p14:section name="Encerramento" id="{68845121-925a-3629-fcd9-6cd614e3945f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3: onde as regras de negócio são implementadas.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Qualquer erro numa requisição desfaz tudo: estoque, número do pedido e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Handlers finos chamam módulos de srv/lib, que concentram as regras que atravessam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handlers dependem de srv/lib; os módulos de srv/lib não dependem dos handlers. ReembolsosService reusa 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serviço é uma classe que estende cds.ApplicationService e registra handlers em init().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CAP abre uma transação por requisição. Erros registrados com req.error fazem o CAP desfazer tudo no fim da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Salvar valida, gera o número, fixa os preços e reserva o estoque, tudo numa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Funções exportadas e quem as chama. Tudo roda na transação da requisição recebida.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cada ação exige e o que muda no pedido, no estoque e no pagamento.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movimentos não são actions OData: são funções internas chamadas pelo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condição usa o estado atual do banco, nunca valores da UI. Se outra transação chegou antes, nenhuma linha muda e a ação é recusada.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simulação decide pela bandeira e pelo CVV. Número, validade e CVV ficam só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 um pedido pago não cancela direto: abre uma solicitação de reembolso decidida em outra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é toda no backend, durante o PATCH do rascunho. Side effects recarregam os campos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Clientes, Estoque e Pedidos aceitam .xlsx ou .csv. Todas as linhas são validadas antes de gravar.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srv/lib/planilha.js lê o pacote ZIP do Excel com o zlib nativo do Node.js e interpreta o XML da primeira 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modelo, serviços, apps e testes. Muda a linguagem dos handlers, das regras e dos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cds-typer gera classes e tipos a partir do modelo; srv/typer.cds define os nomes no singular.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Tudo o que é compartilhado fica em arquivos common ou em módulos utilitários de srv/lib.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srv/lib/numeracao.js usa a tabela Numeracoes. O incremento é atômico e faz parte da transação do Save.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Atalhos sobre a API de mensagens do CAP. As chaves são resolvidas em _i18n/messages.properties.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chaves em _i18n/messages.properties, agrupadas pelo prefixo.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handler passa a chave e os parâmetros; o CAP resolve o texto no idioma do usuário e o Fiori mostra junto do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funções que todos os handlers usam para saber o que está sendo endereçado.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acesso ao banco: fáceis de testar por unidade e reaproveitadas pelos serviços e pela importação.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Duas regras que não cabem em @assert: o algoritmo do CPF e a assinatura binária da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Clientes, Estoque e Pedidos seguem os mesmos passos, com funções de srv/lib/planilha.js e srv/lib/importacao.js.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importação nunca grava parte do arquivo: qualquer erro registra a lista e a transação inteira é desfeita.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evento do rascunho e do Save tem um papel claro. Os mesmos handlers rodam na importação.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score nasce no backend e nunca vem da tela; CPF e telefone ficam só com dígitos antes das validações.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Save, CPF válido e único e endereços consistentes. Na exclusão, nenhum pedido pode apontar para 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primeiro endereço vira principal; depois, só a action troca o principal. Campos do ViaCEP não aceitam valor da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srv/lib/enderecos.js tenta primeiro um CEP já validado no cadastro; só CEPs novos consultam o ViaCEP.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&lt;url&gt;/&lt;cep&gt;/json/ com AbortSignal.timeout. Só respostas definitivas entram no cache de 100 CEPs.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 cada endereço do payload do cliente e garante exatamente um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foto é uma propriedade de mídia. O handler lê o stream uma vez, confere o formato e rejeita na hora o que não for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linha = um cliente com o endereço principal. Valida tudo antes de gravar e cria pelo próprio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Poucos handlers, cada um protegendo uma regra do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SKU nasce no primeiro Save e muda só se a categoria mudar de prefixo.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emPedido procura o item em pedidos gravados e em rascunhos de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rascunho do item guarda a reserva da hora em que foi aberto. Se ela fosse salva, apagaria reservas feitas no meio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Chamado pelo domínio de pedidos. Cada movimento é um UPDATE com expressão e condição avaliadas pelo banco.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linha = um item. O SKU não vem da planilha: é gerado pelo handler do Save em cada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rascunho nada é reservado: o backend só calcula valores provisórios e protege os campos controlados.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Executado no NEW e no PATCH da linha. Item que já está no pedido gravado mantém o preço fixado.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Qualquer campo mantido pelo backend que chega num PATCH é descartado antes de gravar.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CREATE de Pedidos (ativação do rascunho, criação direta ou importação).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atualizarPedidoAberto compara a reserva gravada com as novas quantidades e movimenta só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linhas são validadas e precificadas no backend, nunca com valores da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três actions passam por pedidoAtivo e devolvem o pedido relido pela projeção do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ordem importa: validar os dados, mudar o status atomicamente e só então gravar o resultado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 pagamento aprovado. Muda o status primeiro e depois baixa o estoque e cria os snapshots.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Motivo obrigatório. Com pagamento aprovado, o pedido não é cancelado: abre uma solicitação de reembolso.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Copia cliente, endereço e itens para tabelas próprias, uma única vez por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linha = um item. Linhas com a mesma referência (coluna Pedido) formam um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status do reembolso e o efeito de cada decisão no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cancelarPedido sobre pedido com pagamento aprovado não cancela: transiciona o pedido e cria a solicitação.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decisão é gravada com um UPDATE condicional a PENDENTE antes de mexer no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 de gravar a decisão, cancelarPorReembolso executa o lado do pedido na mesma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volta exatamente ao status que tinha antes da solicitação, e o motivo do cancelamento é limpo.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1-3.png"/><Relationship Id="rId3" Type="http://schemas.openxmlformats.org/officeDocument/2006/relationships/image" Target="../media/image2.png"/><Relationship Id="rId4" Type="http://schemas.openxmlformats.org/officeDocument/2006/relationships/image" Target="../media/image-7-4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5-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6-6.png"/><Relationship Id="rId3" Type="http://schemas.openxmlformats.org/officeDocument/2006/relationships/image" Target="../media/image-6-2.png"/><Relationship Id="rId4" Type="http://schemas.openxmlformats.org/officeDocument/2006/relationships/image" Target="../media/image-11-2.png"/><Relationship Id="rId5" Type="http://schemas.openxmlformats.org/officeDocument/2006/relationships/image" Target="../media/image11.png"/><Relationship Id="rId6" Type="http://schemas.openxmlformats.org/officeDocument/2006/relationships/image" Target="../media/image-11-1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5-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-6-3.png"/><Relationship Id="rId6" Type="http://schemas.openxmlformats.org/officeDocument/2006/relationships/image" Target="../media/image-11-1.png"/><Relationship Id="rId7" Type="http://schemas.openxmlformats.org/officeDocument/2006/relationships/image" Target="../media/image-14-1.png"/><Relationship Id="rId8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image" Target="../media/image-16-7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3" Type="http://schemas.openxmlformats.org/officeDocument/2006/relationships/image" Target="../media/image-16-7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6-1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-11-1.png"/><Relationship Id="rId6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6-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-16-7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Relationship Id="rId3" Type="http://schemas.openxmlformats.org/officeDocument/2006/relationships/image" Target="../media/image30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1-3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7-2.png"/><Relationship Id="rId3" Type="http://schemas.openxmlformats.org/officeDocument/2006/relationships/image" Target="../media/image-6-2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-6-5.png"/><Relationship Id="rId8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Relationship Id="rId3" Type="http://schemas.openxmlformats.org/officeDocument/2006/relationships/image" Target="../media/image-16-7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3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7.png"/><Relationship Id="rId3" Type="http://schemas.openxmlformats.org/officeDocument/2006/relationships/image" Target="../media/image45.png"/><Relationship Id="rId4" Type="http://schemas.openxmlformats.org/officeDocument/2006/relationships/image" Target="../media/image-14-4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-15-3.png"/><Relationship Id="rId5" Type="http://schemas.openxmlformats.org/officeDocument/2006/relationships/image" Target="../media/image-7-5.png"/><Relationship Id="rId6" Type="http://schemas.openxmlformats.org/officeDocument/2006/relationships/image" Target="../media/image50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Relationship Id="rId3" Type="http://schemas.openxmlformats.org/officeDocument/2006/relationships/image" Target="../media/image-13-3.png"/><Relationship Id="rId4" Type="http://schemas.openxmlformats.org/officeDocument/2006/relationships/image" Target="../media/image52.png"/><Relationship Id="rId5" Type="http://schemas.openxmlformats.org/officeDocument/2006/relationships/image" Target="../media/image-11-1.png"/><Relationship Id="rId6" Type="http://schemas.openxmlformats.org/officeDocument/2006/relationships/image" Target="../media/image53.png"/><Relationship Id="rId7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5-1.png"/><Relationship Id="rId3" Type="http://schemas.openxmlformats.org/officeDocument/2006/relationships/image" Target="../media/image45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Lógica de Negócio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Handlers dos serviços e regras de domínio em srv/lib: estoque, concorrência, pagamento, reembolso, CEP e importação.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Lógica de Negó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implementamos as regras que o CDS não expressa sozinho: handlers por serviço e módulos de domínio em srv/lib, sempre dentro da transação da requisição.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mora cada regra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659317"/>
                <a:gridCol w="80665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Módulo (srv/lib)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Responsabilidade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Registro, edição, pagamento, aprovação, cancelamento, reembolso, snapshots e transições atômicas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liberação e baixa com UPDATE condicional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Sequenciais de pedido (10 dígitos) e de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viacep · enderecos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 de CEP com cache e timeout; preenchimento e validações do Save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pagamento-simulado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Simulação do cartão sem persistir dados sensíveis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planilha · importacao*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Leitor .xlsx/.csv sem bibliotecas e importações tudo ou nada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 · mensagens · util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Permissoes, mensagens i18n, CPF, e-mail, imagens, arredondamento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importa quem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58184"/>
          </a:xfrm>
          <a:prstGeom prst="roundRect">
            <a:avLst>
              <a:gd name="adj" fmla="val 292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836605"/>
                <a:gridCol w="788930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Importa de srv/lib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enderecos · importacao-clientes · mensagens · permissoes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numeracao · importacao-estoque · mensagens · permissoes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 · importacao-pedidos · mensagens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 (cancelarPorReembolso, retomarPedido) · mensagens · requisicao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lib/pedidos.js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estoque · numeracao · pagamento-simulado · mensagens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lib/enderecos.js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viacep · mensagens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lib/importacao-*.js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planilha · importacao · requisicao · util (pedidos: também lib/pedidos)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77840"/>
            <a:ext cx="11091672" cy="502920"/>
          </a:xfrm>
          <a:prstGeom prst="roundRect">
            <a:avLst>
              <a:gd name="adj" fmla="val 21818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80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Reuso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importação cria registros chamando o próprio serviço (srv.run), então valem os mesmos handlers da tela.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Handlers: before, on e after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949440" cy="4251960"/>
          </a:xfrm>
          <a:prstGeom prst="roundRect">
            <a:avLst>
              <a:gd name="adj" fmla="val 258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4922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ApplicationService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Rascunho novo: status e moeda iniciais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Troca de cliente: endereço principal atual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removerCamposControlados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Avatar LuClock"/>
          <p:cNvSpPr/>
          <p:nvPr/>
        </p:nvSpPr>
        <p:spPr>
          <a:xfrm>
            <a:off x="78638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55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before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7510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 e completa os dados antes da gravação.</a:t>
            </a:r>
            <a:endParaRPr lang="en-US" sz="1400" dirty="0"/>
          </a:p>
        </p:txBody>
      </p:sp>
      <p:sp>
        <p:nvSpPr>
          <p:cNvPr id="11" name="Avatar LuPlug"/>
          <p:cNvSpPr/>
          <p:nvPr/>
        </p:nvSpPr>
        <p:spPr>
          <a:xfrm>
            <a:off x="78638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l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75234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549640" y="307238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Implementa as actions: pagar, aprovar, cancelar.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78638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49640" y="38496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after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549640" y="416966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Recalcula totais depois de NEW e PATCH.</a:t>
            </a:r>
            <a:endParaRPr lang="en-US" sz="1400" dirty="0"/>
          </a:p>
        </p:txBody>
      </p:sp>
      <p:sp>
        <p:nvSpPr>
          <p:cNvPr id="19" name="Avatar LuMessageSquare"/>
          <p:cNvSpPr/>
          <p:nvPr/>
        </p:nvSpPr>
        <p:spPr>
          <a:xfrm>
            <a:off x="7863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549640" y="494690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549640" y="526694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req.error com chaves do _i18n, ex.: ITEM_SEM_ESTOQUE.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Transação da requisição: tudo ou nada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lay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Requisição chega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CAP abre a transação no banco.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Handlers registram erros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req.error acumula; não interrompe.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riangleAlert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2" descr="Lu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Fim da fase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Com erro, todos voltam juntos na resposta.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Undo2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8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Rollback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Estoque, número e snapshots desfeitos.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94760"/>
            <a:ext cx="5852160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977640"/>
            <a:ext cx="5394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srv/lib/mensagens.js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interrompe já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4" name="Avatar LuMessageSquare"/>
          <p:cNvSpPr/>
          <p:nvPr/>
        </p:nvSpPr>
        <p:spPr>
          <a:xfrm>
            <a:off x="667512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4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99592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360920" y="38496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Vários erros de uma vez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7360920" y="4169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mostra todos, com o campo de cada um (target).</a:t>
            </a:r>
            <a:endParaRPr lang="en-US" sz="1400" dirty="0"/>
          </a:p>
        </p:txBody>
      </p:sp>
      <p:sp>
        <p:nvSpPr>
          <p:cNvPr id="38" name="Avatar LuZap"/>
          <p:cNvSpPr/>
          <p:nvPr/>
        </p:nvSpPr>
        <p:spPr>
          <a:xfrm>
            <a:off x="667512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39" name="Image 5" descr="LuZa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5001768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85546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req.reject para parar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7360920" y="517550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Usado quando seguir não faz sentido.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Registro do pedido: do rascunho ao status ABERTO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412298" y="1463040"/>
            <a:ext cx="9364355" cy="310896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registro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738" y="1554480"/>
            <a:ext cx="9181475" cy="2926080"/>
          </a:xfrm>
          <a:prstGeom prst="rect">
            <a:avLst/>
          </a:prstGeom>
        </p:spPr>
      </p:pic>
      <p:sp>
        <p:nvSpPr>
          <p:cNvPr id="7" name="Avatar LuUsers"/>
          <p:cNvSpPr/>
          <p:nvPr/>
        </p:nvSpPr>
        <p:spPr>
          <a:xfrm>
            <a:off x="54864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9560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Usuário informa só cliente e itens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Endereço, dados do cliente, preços, totais, número e status vêm do backend.</a:t>
            </a:r>
            <a:endParaRPr lang="en-US" sz="1400" dirty="0"/>
          </a:p>
        </p:txBody>
      </p:sp>
      <p:sp>
        <p:nvSpPr>
          <p:cNvPr id="11" name="Avatar LuCalculator"/>
          <p:cNvSpPr/>
          <p:nvPr/>
        </p:nvSpPr>
        <p:spPr>
          <a:xfrm>
            <a:off x="3392424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alcula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49560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86784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provisório no rascunho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3392424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Fixado no registro; valores enviados pela UI são descartados.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6236208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H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95604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830568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Número sequencial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236208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0000000042, gerado na mesma transação: Save que falha não deixa buraco.</a:t>
            </a:r>
            <a:endParaRPr lang="en-US" sz="1400" dirty="0"/>
          </a:p>
        </p:txBody>
      </p:sp>
      <p:sp>
        <p:nvSpPr>
          <p:cNvPr id="19" name="Avatar LuPackage"/>
          <p:cNvSpPr/>
          <p:nvPr/>
        </p:nvSpPr>
        <p:spPr>
          <a:xfrm>
            <a:off x="9079992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95604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674352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Edição pela diferença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9079992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pedido ABERTO, a reserva é ajustada só pelo que mudou.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API DO DOMÍNIO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srv/lib/pedidos.js: a API do domínio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199132"/>
                <a:gridCol w="28757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registrarPedido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Save do rascunho novo: valida, numera, reserva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atualizarPedidoAberto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Save da edição: reserva pela diferença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removerCamposControlados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Descarta campos que só o backend mantém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principal e texto formatado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reservaAtual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Quantidades já reservadas pelo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transicionarPedido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UPDATE condicional ao status lido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lerPedidoParaAcao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Recusa pedido inexistente ou em edição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Mensagem conforme o status atual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199132"/>
                <a:gridCol w="28757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Simula, transiciona e grava o 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gravarPagamento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DELETE + INSERT: só a última tentativa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finalizarPedido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Aprovação: baixa estoque e 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 ou abre reembolso se pago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criarSnapshots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Congela cliente e itens, uma vez só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liberarReservaDoPedido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 toda a reserva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aprovado: cancela e devolve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retomarPedido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rejeitado: status anterior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Matriz de ações × status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087368"/>
          </a:xfrm>
          <a:prstGeom prst="roundRect">
            <a:avLst>
              <a:gd name="adj" fmla="val 268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411252"/>
                <a:gridCol w="2660691"/>
                <a:gridCol w="2494398"/>
                <a:gridCol w="997759"/>
                <a:gridCol w="21618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Exige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Novo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Também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AGUARDANDO_APROVACAO ou segue 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Grava Pagamentos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AGUARDANDO + pagamento APROVADO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FINALIZADO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Baixa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FINALIZACAO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 (não pago)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ABERTO ou AGUARDANDO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 (pago)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Pagamento APROVADO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PROCESSANDO_REEMBOLSO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Mantém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Cria Reembolsos PENDENTE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PENDENTE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 · DEVOLVIDO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PENDENTE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 anterior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Limpa motivo do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486400"/>
            <a:ext cx="10680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Fora do status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erroStatus devolve PEDIDO_FINALIZADO_IMUTAVEL, PEDIDO_CANCELADO_IMUTAVEL ou PEDIDO_STATUS_INVALIDO (409).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Reserva, liberação e baixa de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88920"/>
          </a:xfrm>
          <a:prstGeom prst="roundRect">
            <a:avLst>
              <a:gd name="adj" fmla="val 393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418302"/>
                <a:gridCol w="3545756"/>
                <a:gridCol w="2925249"/>
                <a:gridCol w="28366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Movimento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Quando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Efeito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Condição avaliada no banco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Reservar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 do pedido; acréscimo na edição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+=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 ativo e disponível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Liberar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Redução na edição; cancelamento; reembolso 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qtdeReservada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Baixar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Aprovação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 e qtdeEstoque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reservada &gt;= q e estoque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434840"/>
            <a:ext cx="110916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Status do estoque (coluna gerada a partir do saldo)</a:t>
            </a:r>
            <a:endParaRPr lang="en-US" sz="1600" dirty="0"/>
          </a:p>
        </p:txBody>
      </p:sp>
      <p:sp>
        <p:nvSpPr>
          <p:cNvPr id="9" name="Status SEM_ESTOQUE"/>
          <p:cNvSpPr txBox="1"/>
          <p:nvPr/>
        </p:nvSpPr>
        <p:spPr>
          <a:xfrm>
            <a:off x="82296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SEM_ESTOQUE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51460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disponível &lt;= 0</a:t>
            </a:r>
            <a:endParaRPr lang="en-US" sz="1400" dirty="0"/>
          </a:p>
        </p:txBody>
      </p:sp>
      <p:sp>
        <p:nvSpPr>
          <p:cNvPr id="11" name="Status ACABANDO"/>
          <p:cNvSpPr txBox="1"/>
          <p:nvPr/>
        </p:nvSpPr>
        <p:spPr>
          <a:xfrm>
            <a:off x="438912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ACABANDO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 a 10 disponíveis</a:t>
            </a:r>
            <a:endParaRPr lang="en-US" sz="1400" dirty="0"/>
          </a:p>
        </p:txBody>
      </p:sp>
      <p:sp>
        <p:nvSpPr>
          <p:cNvPr id="13" name="Status EM_ESTOQUE"/>
          <p:cNvSpPr txBox="1"/>
          <p:nvPr/>
        </p:nvSpPr>
        <p:spPr>
          <a:xfrm>
            <a:off x="795528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EM_ESTOQUE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64692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11 ou mais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CONCORRÊNCIA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Concorrência: UPDATE condicional e atômico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'PEDIDO_ALTERADO_CONCORRENTE'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Cartão"/>
          <p:cNvSpPr/>
          <p:nvPr/>
        </p:nvSpPr>
        <p:spPr>
          <a:xfrm>
            <a:off x="6858000" y="1600200"/>
            <a:ext cx="4782312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Duas ações sobre o mesmo pedido</a:t>
            </a:r>
            <a:endParaRPr lang="en-US" sz="1600" dirty="0"/>
          </a:p>
        </p:txBody>
      </p:sp>
      <p:sp>
        <p:nvSpPr>
          <p:cNvPr id="9" name="Avatar LuCircleCheck"/>
          <p:cNvSpPr/>
          <p:nvPr/>
        </p:nvSpPr>
        <p:spPr>
          <a:xfrm>
            <a:off x="7132320" y="23774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0" descr="Lu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021" y="24981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81812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pedido</a:t>
            </a:r>
            <a:endParaRPr lang="en-US" sz="1500" dirty="0"/>
          </a:p>
        </p:txBody>
      </p:sp>
      <p:sp>
        <p:nvSpPr>
          <p:cNvPr id="12" name="Status 1 linha alterada"/>
          <p:cNvSpPr txBox="1"/>
          <p:nvPr/>
        </p:nvSpPr>
        <p:spPr>
          <a:xfrm>
            <a:off x="7818120" y="274320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1 linha alterada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 muda e a reserva é liberada</a:t>
            </a:r>
            <a:endParaRPr lang="en-US" sz="1400" dirty="0"/>
          </a:p>
        </p:txBody>
      </p:sp>
      <p:sp>
        <p:nvSpPr>
          <p:cNvPr id="14" name="Avatar LuTriangleAlert"/>
          <p:cNvSpPr/>
          <p:nvPr/>
        </p:nvSpPr>
        <p:spPr>
          <a:xfrm>
            <a:off x="7132320" y="41605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5" name="Image 1" descr="Lu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1" y="42812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18120" y="41330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 Pagamento</a:t>
            </a:r>
            <a:endParaRPr lang="en-US" sz="1500" dirty="0"/>
          </a:p>
        </p:txBody>
      </p:sp>
      <p:sp>
        <p:nvSpPr>
          <p:cNvPr id="17" name="Status 0 linhas alteradas"/>
          <p:cNvSpPr txBox="1"/>
          <p:nvPr/>
        </p:nvSpPr>
        <p:spPr>
          <a:xfrm>
            <a:off x="7818120" y="452628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0 linhas alteradas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18120" y="4892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HTTP 409, nada é gravado</a:t>
            </a:r>
            <a:endParaRPr lang="en-US" sz="1400" dirty="0"/>
          </a:p>
        </p:txBody>
      </p:sp>
      <p:sp>
        <p:nvSpPr>
          <p:cNvPr id="19" name="Avatar LuLock"/>
          <p:cNvSpPr/>
          <p:nvPr/>
        </p:nvSpPr>
        <p:spPr>
          <a:xfrm>
            <a:off x="685800" y="4160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0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2702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1239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Bloqueio até o commit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44398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dupla reserva, dupla baixa ou dupla liberação.</a:t>
            </a:r>
            <a:endParaRPr lang="en-US" sz="1400" dirty="0"/>
          </a:p>
        </p:txBody>
      </p:sp>
      <p:sp>
        <p:nvSpPr>
          <p:cNvPr id="23" name="Avatar LuRefreshCw"/>
          <p:cNvSpPr/>
          <p:nvPr/>
        </p:nvSpPr>
        <p:spPr>
          <a:xfrm>
            <a:off x="68580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3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2303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71600" y="5084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Mesma conferência em outros pontos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371600" y="540410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Save da edição do pedido e decisão do reembolso.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Pagamento simulado, sem dados sensíveis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661584" y="1463040"/>
            <a:ext cx="8865783" cy="292608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Efetuar Pag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3024" y="1554480"/>
            <a:ext cx="8682903" cy="274320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4617720"/>
            <a:ext cx="7223760" cy="164592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681728"/>
          <a:ext cx="6949440" cy="1517904"/>
        </p:xfrm>
        <a:graphic>
          <a:graphicData uri="http://schemas.openxmlformats.org/drawingml/2006/table">
            <a:tbl>
              <a:tblPr/>
              <a:tblGrid>
                <a:gridCol w="1234440"/>
                <a:gridCol w="3017520"/>
                <a:gridCol w="2697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Cenário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4111 1111 1111 1111 · CVV 123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Aguardando aprovação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Recusado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mesmo cartão · CVV 000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Segue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5555 5555 5555 4444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Bandeira 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validade vencida ou CVV curto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Erro, não é recusa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Lock"/>
          <p:cNvSpPr/>
          <p:nvPr/>
        </p:nvSpPr>
        <p:spPr>
          <a:xfrm>
            <a:off x="8092440" y="47091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4818888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686800" y="467258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Grava só o resultado seguro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8686800" y="4992624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Bandeira, últimos 4 dígitos, máscara, autorização e mensagem.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APROVAÇÃO E CANCELAMENTO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Aprovação, cancelamento e reembolso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2205546" y="1463040"/>
            <a:ext cx="7777859" cy="347472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cancelamento e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6986" y="1554480"/>
            <a:ext cx="7594979" cy="3291840"/>
          </a:xfrm>
          <a:prstGeom prst="rect">
            <a:avLst/>
          </a:prstGeom>
        </p:spPr>
      </p:pic>
      <p:sp>
        <p:nvSpPr>
          <p:cNvPr id="7" name="Avatar LuBadgeCheck"/>
          <p:cNvSpPr/>
          <p:nvPr/>
        </p:nvSpPr>
        <p:spPr>
          <a:xfrm>
            <a:off x="548640" y="5166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8" name="Image 1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512064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Aprovar pedido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71500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Baixa o estoque, gera snapshots e finaliza.</a:t>
            </a:r>
            <a:endParaRPr lang="en-US" sz="1400" dirty="0"/>
          </a:p>
        </p:txBody>
      </p:sp>
      <p:sp>
        <p:nvSpPr>
          <p:cNvPr id="11" name="Avatar LuUndo2"/>
          <p:cNvSpPr/>
          <p:nvPr/>
        </p:nvSpPr>
        <p:spPr>
          <a:xfrm>
            <a:off x="3392424" y="5166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2" name="Image 2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527608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86784" y="512064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pago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3392424" y="571500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 o reembolso e mantém a reserva.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6236208" y="5166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6" name="Image 3" descr="Lu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527608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830568" y="512064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aprovado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236208" y="571500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Libera reserva, cancela e marca DEVOLVIDO.</a:t>
            </a:r>
            <a:endParaRPr lang="en-US" sz="1400" dirty="0"/>
          </a:p>
        </p:txBody>
      </p:sp>
      <p:sp>
        <p:nvSpPr>
          <p:cNvPr id="19" name="Avatar LuTriangleAlert"/>
          <p:cNvSpPr/>
          <p:nvPr/>
        </p:nvSpPr>
        <p:spPr>
          <a:xfrm>
            <a:off x="9079992" y="5166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0" name="Image 4" descr="LuTriangle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527608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674352" y="512064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rejeitado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9079992" y="571500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 volta ao status anterior.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VIACEP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Endereço pelo CEP com a API ViaCEP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216113" y="1463040"/>
            <a:ext cx="9756726" cy="310896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7553" y="1554480"/>
            <a:ext cx="9573846" cy="2926080"/>
          </a:xfrm>
          <a:prstGeom prst="rect">
            <a:avLst/>
          </a:prstGeom>
        </p:spPr>
      </p:pic>
      <p:sp>
        <p:nvSpPr>
          <p:cNvPr id="7" name="Avatar LuMapPin"/>
          <p:cNvSpPr/>
          <p:nvPr/>
        </p:nvSpPr>
        <p:spPr>
          <a:xfrm>
            <a:off x="54864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Map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9560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Reaproveita CEP conhecido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já validado no cadastro não gera nova chamada; cache de 100 CEPs por processo.</a:t>
            </a:r>
            <a:endParaRPr lang="en-US" sz="1400" dirty="0"/>
          </a:p>
        </p:txBody>
      </p:sp>
      <p:sp>
        <p:nvSpPr>
          <p:cNvPr id="11" name="Avatar LuClock"/>
          <p:cNvSpPr/>
          <p:nvPr/>
        </p:nvSpPr>
        <p:spPr>
          <a:xfrm>
            <a:off x="3392424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49560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86784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fetch nativo com timeout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3392424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URL em cds.requires.viacep; 5 s de limite; indisponível vira aviso e bloqueia o Save.</a:t>
            </a:r>
            <a:endParaRPr lang="en-US" sz="1400" dirty="0"/>
          </a:p>
        </p:txBody>
      </p:sp>
      <p:sp>
        <p:nvSpPr>
          <p:cNvPr id="15" name="Avatar LuBadgeCheck"/>
          <p:cNvSpPr/>
          <p:nvPr/>
        </p:nvSpPr>
        <p:spPr>
          <a:xfrm>
            <a:off x="6236208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95604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830568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cepStatus V · I · X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236208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Validado, inválido ou indisponível, gravado no endereço.</a:t>
            </a:r>
            <a:endParaRPr lang="en-US" sz="1400" dirty="0"/>
          </a:p>
        </p:txBody>
      </p:sp>
      <p:sp>
        <p:nvSpPr>
          <p:cNvPr id="19" name="Avatar LuPencil"/>
          <p:cNvSpPr/>
          <p:nvPr/>
        </p:nvSpPr>
        <p:spPr>
          <a:xfrm>
            <a:off x="9079992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95604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674352" y="480060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 geral de município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9079992" y="5413248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Logradouro e bairro ficam editáveis e obrigatórios.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em massa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3063240"/>
          </a:xfrm>
          <a:prstGeom prst="roundRect">
            <a:avLst>
              <a:gd name="adj" fmla="val 35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126156"/>
                <a:gridCol w="1905802"/>
                <a:gridCol w="35517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Uma linha é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Colunas obrigatórias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+ endereço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Nome, E-mail, Telefone, Nascimento, CEP, Número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Nome, Categoria, Quantidade, Preço unitário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 de um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(referência), CPF, SKU, Quantidade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772400" y="1600200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ShieldCheck"/>
          <p:cNvSpPr/>
          <p:nvPr/>
        </p:nvSpPr>
        <p:spPr>
          <a:xfrm>
            <a:off x="800100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2674" y="19604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32520" y="18013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Tudo ou nada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732520" y="2203704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erro cancela e lista o motivo por linha.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7772400" y="3118104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ileSpreadsheet"/>
          <p:cNvSpPr/>
          <p:nvPr/>
        </p:nvSpPr>
        <p:spPr>
          <a:xfrm>
            <a:off x="8001000" y="334670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2674" y="3478378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32520" y="3319272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Leitor próprio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3721608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XLSX lido como ZIP + XML; até 500 linhas e 50 MB.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7772400" y="4636008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KeyRound"/>
          <p:cNvSpPr/>
          <p:nvPr/>
        </p:nvSpPr>
        <p:spPr>
          <a:xfrm>
            <a:off x="8001000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674" y="4996282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732520" y="4837176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duplicidade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8732520" y="5239512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nome do item e referência do pedido.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548640" y="489204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77240" y="4892040"/>
            <a:ext cx="6537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Mesmas regras da tela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criação passa pelo próprio serviço: valem CPF, ViaCEP, SKU, número do pedido e reserva de 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um .xlsx é lido sem bibliotecas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arch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Assinatura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PK\x03\x04 é XLSX; D0 CF 11 E0 é .xls antigo (recusado).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olderTree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olderTr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Diretório do ZIP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Entradas lidas sob demanda (store ou deflate).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FileCod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workbook.xml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Resolve a primeira aba pelas relações.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Table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sheet1.xml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Células por referência (C7); textos em sharedStrings.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ListChecks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Cabeçalho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Sem acento, caixa ou pontuação; aceita sinônimos.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3192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14800"/>
            <a:ext cx="5394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MAX_LINHAS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MAX_DESCOMPACTADO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cada parte é descompactada com limite ("zip bomb")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inflateRawSync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maxOutputLength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MAX_DESCOMPACTADO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Avatar LuFileSpreadsheet"/>
          <p:cNvSpPr/>
          <p:nvPr/>
        </p:nvSpPr>
        <p:spPr>
          <a:xfrm>
            <a:off x="6675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FileSpreadshe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13308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360920" y="398678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CSV também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7360920" y="430682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Separador ; , ou tab; UTF-8 com/sem BOM ou Windows-1252.</a:t>
            </a:r>
            <a:endParaRPr lang="en-US" sz="1400" dirty="0"/>
          </a:p>
        </p:txBody>
      </p:sp>
      <p:sp>
        <p:nvSpPr>
          <p:cNvPr id="45" name="Avatar LuShieldCheck"/>
          <p:cNvSpPr/>
          <p:nvPr/>
        </p:nvSpPr>
        <p:spPr>
          <a:xfrm>
            <a:off x="667512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46" name="Image 6" descr="Lu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138928"/>
            <a:ext cx="237744" cy="237744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360920" y="49926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dependências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360920" y="5312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Menos superfície de ataque e nada a atualizar.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JavaScript e TypeScript: duas implementações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304741"/>
                <a:gridCol w="4077619"/>
                <a:gridCol w="434355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Aspecto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nodejs-padrao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nodejs-typescript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Linguagem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JavaScript ESM (srv/*.js)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TypeScript 6 strict (srv/*.ts)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this.entities, cds.entities(...)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Classes do cds-typer em #cds-models/*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Parâmetros de 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req.data sem 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Tipos derivados do modelo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Execução local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watch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cds-tsx watch (tsx)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Build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copia os .js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compila com tsc para gen/srv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74 (node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76 (node --import tsx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mesmo handler em TypeScript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7040880" cy="3261360"/>
          </a:xfrm>
          <a:prstGeom prst="roundRect">
            <a:avLst>
              <a:gd name="adj" fmla="val 3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58368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'@sap/cds'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'#cds-models/ReembolsosService'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'#cds-models/pedidoscompras'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â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çõ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gerados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ParametrosDecisao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__parameters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Promise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ReembolsosDb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7818120" y="1554480"/>
            <a:ext cx="3822192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8046720" y="1737360"/>
            <a:ext cx="3364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srv/typer.cds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@singular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@singular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'ItemPedido'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9" name="Avatar LuShieldCheck"/>
          <p:cNvSpPr/>
          <p:nvPr/>
        </p:nvSpPr>
        <p:spPr>
          <a:xfrm>
            <a:off x="786384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43159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549640" y="41696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no compilador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549640" y="4489704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 ou status inexistente não compila.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Handlers finos por serviço e regras de domínio em srv/lib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Transação por requisição: qualquer erro desfaz tudo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Matriz de ações × status com efeitos no estoque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Movimentos de estoque e transições de status atômicos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Pagamento simulado e reembolso com retomada do pedido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ViaCEP, leitor de planilhas próprio e importação tudo ou nada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Apps Fiori Elements: geração com Fiori tools, anotações, extensões e launchpad.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Os módulos de srv/lib que todos os BOs usam: numeração, mensagens por chave, leitura da requisição, funções puras e o padrão de importação por planilha.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arquivos comuns e quem os usa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191180"/>
                <a:gridCol w="4964058"/>
                <a:gridCol w="257067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Conteúdo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Usado por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Tipos, aspect CodeListOrdenada, 7 CodeLists, StatusCep, Numeracoes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Todos os BOs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Tipo ResultadoImportacao e aspect Permissoes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Clientes, Estoque,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Rótulos, textos das CodeLists, campos somente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As 4 apps de gestão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_i18n/messages.properties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55 mensagens de negócio com parâmetros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Handlers e @assert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srv/lib/mensagens.js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erro, aviso, info e rejeitar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Todos os 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srv/lib/requisicao.js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chave, ehRascunho e lerConteudo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Todos os 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srv/lib/util.js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CPF, e-mail, telefone, imagem, SKU, endereço, valores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Clientes, Estoque,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srv/lib/numeracao.js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Sequenciais de pedido e de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Estoque e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srv/lib/planilha.js · importacao.js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Leitor de planilhas e funções comuns da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 importações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NUMERAÇÃO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Numeração: pedido e SKU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309360" cy="4267200"/>
          </a:xfrm>
          <a:prstGeom prst="roundRect">
            <a:avLst>
              <a:gd name="adj" fmla="val 257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85216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freeze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'ultimoNumero = ultimoNumero + 1'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'ultimoNumero'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42 -&gt; '0000000042'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proximoNumeroPedido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padStart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ELETRONICOS + 42 -&gt; 'SKU-ELE-0000000042'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montarSku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Lock"/>
          <p:cNvSpPr/>
          <p:nvPr/>
        </p:nvSpPr>
        <p:spPr>
          <a:xfrm>
            <a:off x="71780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7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863840" y="16093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UPDATE primeiro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863840" y="192938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Bloqueia a linha: Saves concorrentes esperam a vez.</a:t>
            </a:r>
            <a:endParaRPr lang="en-US" sz="1400" dirty="0"/>
          </a:p>
        </p:txBody>
      </p:sp>
      <p:sp>
        <p:nvSpPr>
          <p:cNvPr id="11" name="Avatar LuUndo2"/>
          <p:cNvSpPr/>
          <p:nvPr/>
        </p:nvSpPr>
        <p:spPr>
          <a:xfrm>
            <a:off x="717804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63840" y="270662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buracos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863840" y="302666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 o Save falha, o número volta junto com o rollback.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717804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863840" y="380390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contador por objeto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863840" y="412394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SKU é global, não por categoria.</a:t>
            </a:r>
            <a:endParaRPr lang="en-US" sz="1400" dirty="0"/>
          </a:p>
        </p:txBody>
      </p:sp>
      <p:sp>
        <p:nvSpPr>
          <p:cNvPr id="19" name="Avatar LuPlus"/>
          <p:cNvSpPr/>
          <p:nvPr/>
        </p:nvSpPr>
        <p:spPr>
          <a:xfrm>
            <a:off x="717804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Pl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76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863840" y="490118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Cria a linha na 1ª vez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863840" y="522122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linha, o INSERT começa em 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MENSAGENS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srv/lib/mensagens.js: quatro formas de falar com a UI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69748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1418302"/>
                <a:gridCol w="1595590"/>
                <a:gridCol w="4609483"/>
                <a:gridCol w="310253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API do CAP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Efeito na requisição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Exemplo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req.error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Acumula; o CAP rejeita no fim da fase com todos os erros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CLIENTE_CPF_INVALIDO (400)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req.reject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Interrompe na hora; os próximos handlers não rodam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FOTO_FORMATO_INVALIDO (400)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aviso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req.warn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Sucesso com aviso amarelo na UI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CEP_INDISPONIVEL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Sucesso com mensagem informativa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PEDIDO_CONFIRMADO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4389120"/>
            <a:ext cx="6035040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57200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Target"/>
          <p:cNvSpPr/>
          <p:nvPr/>
        </p:nvSpPr>
        <p:spPr>
          <a:xfrm>
            <a:off x="6903720" y="44805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45902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589520" y="44439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589520" y="476402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 destacado na tela, ex.: 'cpf' ou o CEP do endereço.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MENSAGENS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Catálogo de mensagens por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30752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102537"/>
                <a:gridCol w="886439"/>
                <a:gridCol w="673693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Prefixo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Qtde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PEDIDO_CONFIRMADO, PEDIDO_EDICAO_BLOQUEADA, PEDIDO_ALTERADO_CONCORRENTE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ITEM_ESTOQUE_INSUFICIENTE, ITEM_SEM_ESTOQUE, ITEM_INATIVACAO_BLOQUEADA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CLIENTE_* · CEP_* · ENDERECO_*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CLIENTE_CPF_DUPLICADO, CEP_INDISPONIVEL, CEP_DUPLICADO_CLIENTE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REEMBOLSO_APROVADO, REEMBOLSO_STATUS_INVALIDO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PAGAMENTO_* · CARTAO_*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PAGAMENTO_APROVADO, PAGAMENTO_RECUSADO, CARTAO_DADOS_INVALIDOS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IMPORTACAO_CONCLUIDA, IMPORTACAO_CANCELADA, IMPORTACAO_DETALHE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Genéricas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CAMPO_OBRIGATORIO, VALOR_INVALIDO, EMAIL_INVALIDO, ACAO_SOMENTE_ATIVO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486400"/>
            <a:ext cx="10680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Parâmetros nomeados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ITEM_ESTOQUE_INSUFICIENTE=Estoque insuficiente para o item {sku} (disponível: {disponivel}).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MENSAGENS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chave ao texto na tela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CodeXml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Handler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erro(req, 409, chave, { sku, disponivel })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Globe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i18n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messages.properties com {sku} e {disponivel}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MessageSquare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Resposta OData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Erro 409 com message, target e details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PanelsTopLeft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PanelsTopLe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Fiori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Popover de mensagens e campo destacado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490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93192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_i18n/messages.properties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ITEM_ESTOQUE_INSUFICIENTE=Estoque insuficiente para o item {sku} (disponível: {disponivel}).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35" name="Avatar LuMessageSquare"/>
          <p:cNvSpPr/>
          <p:nvPr/>
        </p:nvSpPr>
        <p:spPr>
          <a:xfrm>
            <a:off x="731520" y="54178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6" name="Image 4" descr="LuMessageSqua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552754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371600" y="5212080"/>
            <a:ext cx="10085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tela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"Estoque insuficiente para o item SKU-INF-0000000002 (disponível: 45)." Os @assert do modelo usam as mesmas chaves, como EMAIL_INVALIDO.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UTILITÁRIOS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srv/lib/requisicao.js: lendo a requisição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035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33353"/>
                <a:gridCol w="343592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Devolve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chave(req)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 do último segmento da URL ou req.data.ID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ehRascunho(req)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true se IsActiveEntity=false ou alvo .drafts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lerConteudo(valor)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Buffer de Buffer, base64 ou stream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3657600"/>
            <a:ext cx="603504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3840480"/>
            <a:ext cx="557784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WeakMap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lerConteudo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asyncIterator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'function'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lerStream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lê o stream uma vez só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mesmo stream devolve o mesmo Buffer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6858000" y="1554480"/>
            <a:ext cx="4782312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0" name="Avatar LuBug"/>
          <p:cNvSpPr/>
          <p:nvPr/>
        </p:nvSpPr>
        <p:spPr>
          <a:xfrm>
            <a:off x="7132320" y="178308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1" name="Image 0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1" y="1903781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1812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Correção da v1.9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132320" y="2468880"/>
            <a:ext cx="4297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Problema: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foto do cliente e do item era gravada vazia no upload.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Causa: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dois handlers before do mesmo evento rodam em paralelo e liam o mesmo stream; um deles ficava com zero bytes.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Solução: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cada stream é lido uma vez só e a promessa é compartilhada pelo WeakMap.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UTILITÁRIOS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srv/lib/util.js: funções puras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236405"/>
                <a:gridCol w="28385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Remove tudo que não é dígito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calcularDvCpf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Dois dígitos verificadores (módulo 11)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11 dígitos, não repetidos, DV correto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formatarCpf · 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000.000.000-00 · 00000-000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usuario@dominio.tld, minúsculas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DDD + número: 10 ou 11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calcularStatusEstoque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&lt;= 0 · até 10 · 11 ou mais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236405"/>
                <a:gridCol w="28385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Logradouro, nº - compl. - bairro...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prefixoCategoria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 letras da categoria (com X)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montarSku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SKU-&lt;prefixo&gt;-&lt;10 dígitos&gt;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MIME, extensão e assinatura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arredondar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2 casas com Number.EPSILON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somarQuantidades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Map item_ID → soma das linhas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(constantes)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MIME_IMAGEM, LIMITE_ACABANDO = 10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UTILITÁRIOS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Validação de CPF e de imagens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calcularDvCpf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base9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base9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%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$/.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111.111...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calcularDvCpf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263640" y="1554480"/>
            <a:ext cx="5376672" cy="2590800"/>
          </a:xfrm>
          <a:prstGeom prst="roundRect">
            <a:avLst>
              <a:gd name="adj" fmla="val 423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492240" y="1737360"/>
            <a:ext cx="4919472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MIME_IMAGEM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89 50 4E 47 0D 0A 1A 0A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'89504e470d0a1a0a'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'hex'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MIME_IMAGEM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RIFF....WEBP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'latin1'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'RIFF'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'latin1'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'WEBP'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JPEG: FF D8 FF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'ffd8ff'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'hex'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Avatar LuShieldCheck"/>
          <p:cNvSpPr/>
          <p:nvPr/>
        </p:nvSpPr>
        <p:spPr>
          <a:xfrm>
            <a:off x="635508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50017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0" y="48554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Três conferências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517550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MIME, extensão do nome e os primeiros bytes do arquivo.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padrão comum às três importações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eSpreadsheet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lerPlanilha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XLSX ou CSV; cabeçalho e sinônimos; até 500 linhas.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Validar linhas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Todas, sem gravar nada; erros por linha.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riangleAlert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1" name="Image 2" descr="LuTriangle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falharImportacao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 houver erro: resumo + até 15 detalhes.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Server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8" name="Image 3" descr="Lu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srv.run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pelo próprio serviço: valem os handlers.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CircleCheck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Circl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Concluir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concluirImportacao: mensagem e ResultadoImportacao.</a:t>
            </a:r>
            <a:endParaRPr lang="en-US" sz="1300" dirty="0"/>
          </a:p>
        </p:txBody>
      </p:sp>
      <p:sp>
        <p:nvSpPr>
          <p:cNvPr id="39" name="Cartão"/>
          <p:cNvSpPr/>
          <p:nvPr/>
        </p:nvSpPr>
        <p:spPr>
          <a:xfrm>
            <a:off x="548640" y="3931920"/>
            <a:ext cx="11091672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069080"/>
          <a:ext cx="10725912" cy="914400"/>
        </p:xfrm>
        <a:graphic>
          <a:graphicData uri="http://schemas.openxmlformats.org/drawingml/2006/table">
            <a:tbl>
              <a:tblPr/>
              <a:tblGrid>
                <a:gridCol w="3900332"/>
                <a:gridCol w="68255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 comum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normalizarCpf · normalizarCep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Repõe zeros à esquerda que o Excel removeu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converterCodelist · opcoesCodelist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Aceita código ou texto ("Não binário") sem acento e caixa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textosDoErro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Traduz erros vindos de srv.run para a lista da linha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Tudo ou nada com mensagens por linha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309360" cy="1920240"/>
          </a:xfrm>
          <a:prstGeom prst="roundRect">
            <a:avLst>
              <a:gd name="adj" fmla="val 571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MAX_ERROS_EXIBIDOS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falharImportacao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'IMPORTACAO_CANCELADA'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resumirErros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'IMPORTACAO_DETALHE'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resumirErros: 15 primeiros + "... e mais N erro(s)."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7086600" y="1554480"/>
            <a:ext cx="4553712" cy="1417320"/>
          </a:xfrm>
          <a:prstGeom prst="roundRect">
            <a:avLst>
              <a:gd name="adj" fmla="val 774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315200" y="1737360"/>
            <a:ext cx="4096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Importação cancelada: nenhum registro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foi gravado (3 erro(s)).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2: CPF inválido (123).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4: Categoria inválida (X).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Use: Eletrônicos, Informática,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7: item "Mouse" já cadastrado.</a:t>
            </a:r>
            <a:endParaRPr lang="en-US" sz="1100" dirty="0"/>
          </a:p>
        </p:txBody>
      </p:sp>
      <p:sp>
        <p:nvSpPr>
          <p:cNvPr id="9" name="Avatar LuUndo2"/>
          <p:cNvSpPr/>
          <p:nvPr/>
        </p:nvSpPr>
        <p:spPr>
          <a:xfrm>
            <a:off x="68580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Undo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9560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8097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Rollback garantido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512978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São erros da requisição: o CAP desfaz tudo.</a:t>
            </a:r>
            <a:endParaRPr lang="en-US" sz="1400" dirty="0"/>
          </a:p>
        </p:txBody>
      </p:sp>
      <p:sp>
        <p:nvSpPr>
          <p:cNvPr id="13" name="Avatar LuMessageSquare"/>
          <p:cNvSpPr/>
          <p:nvPr/>
        </p:nvSpPr>
        <p:spPr>
          <a:xfrm>
            <a:off x="640080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Message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495604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86600" y="480974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mensagem por linha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086600" y="512978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usuário corrige a planilha de uma vez.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Os handlers do ClientesService: valores iniciais, Save com CPF e endereços, exclusão controlada, endereço pelo ViaCEP, foto validada e importação.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Mapa dos handlers do ClientesService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608576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925249"/>
                <a:gridCol w="2393385"/>
                <a:gridCol w="540727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Alvo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 · CREATE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Clientes(.drafts)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valoresIniciais: ativo e score sorteado (0 a 100)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Normaliza CPF, telefone e e-mail; descarta scoreCliente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 · UPDATE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validarFoto: lê o upload e confere a imagem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CREATE · UPDATE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Normaliza, foto, CPF (DV e único) e endereços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DELETE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Bloqueia cliente com pedido (gravado ou rascunho)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Primeiro endereço do cliente vira principal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Descarta campos do ViaCEP; preenche pelo CEP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definirEnderecoPrincipal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Enderecos(.drafts)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Marca um principal e desmarca os demais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READ · 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 · serviço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somenteLeitura · importarClientes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Valores iniciais e normalização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valoresIniciais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randomInt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valoresIniciais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valoresIniciais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'string'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'string'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'string'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toLowerCase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é sorteado pelo backend: nunca vem da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Avatar LuDice5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ice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randomInt(0, 101)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node:crypto: inteiro de 0 a 100.</a:t>
            </a:r>
            <a:endParaRPr lang="en-US" sz="1400" dirty="0"/>
          </a:p>
        </p:txBody>
      </p:sp>
      <p:sp>
        <p:nvSpPr>
          <p:cNvPr id="11" name="Avatar LuEraser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Era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Antes do @assert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Máscaras digitadas não quebram a validação.</a:t>
            </a:r>
            <a:endParaRPr lang="en-US" sz="1400" dirty="0"/>
          </a:p>
        </p:txBody>
      </p:sp>
      <p:sp>
        <p:nvSpPr>
          <p:cNvPr id="15" name="Avatar LuLock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Score protegido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PATCH com scoreCliente é ignorado.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Save do cliente e exclusão controlada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'CLIENTE_CPF_INVALIDO'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'CLIENTE_CPF_DUPLICADO'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validarEnderecosDoCliente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548640" y="4572000"/>
            <a:ext cx="6400800" cy="1082040"/>
          </a:xfrm>
          <a:prstGeom prst="roundRect">
            <a:avLst>
              <a:gd name="adj" fmla="val 1014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754880"/>
            <a:ext cx="59436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'DELETE'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gravado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temPedido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'CLIENTE_COM_PEDIDO'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Avatar LuShieldCheck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Duas camadas de unicidade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192938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Mensagem amigável no handler e UNIQUE no banco.</a:t>
            </a:r>
            <a:endParaRPr lang="en-US" sz="1400" dirty="0"/>
          </a:p>
        </p:txBody>
      </p:sp>
      <p:sp>
        <p:nvSpPr>
          <p:cNvPr id="13" name="Avatar LuMapPin"/>
          <p:cNvSpPr/>
          <p:nvPr/>
        </p:nvSpPr>
        <p:spPr>
          <a:xfrm>
            <a:off x="726948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94436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955280" y="2798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Endereços no mesmo Save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955280" y="311810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payload profundo traz os endereços do rascunho.</a:t>
            </a:r>
            <a:endParaRPr lang="en-US" sz="1400" dirty="0"/>
          </a:p>
        </p:txBody>
      </p:sp>
      <p:sp>
        <p:nvSpPr>
          <p:cNvPr id="17" name="Avatar LuSearch"/>
          <p:cNvSpPr/>
          <p:nvPr/>
        </p:nvSpPr>
        <p:spPr>
          <a:xfrm>
            <a:off x="726948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41330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955280" y="39867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Rascunho também conta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955280" y="430682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Lê PedidosService.Pedidos.drafts pelo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ENDEREÇOS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Endereço principal e campos protegidos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3459480"/>
          </a:xfrm>
          <a:prstGeom prst="roundRect">
            <a:avLst>
              <a:gd name="adj" fmla="val 317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309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'principal'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'cidade'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'uf'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'cepGeral'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'cepStatus'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preencherEnderecoPorCep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ehRascunho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BadgeCheck"/>
          <p:cNvSpPr/>
          <p:nvPr/>
        </p:nvSpPr>
        <p:spPr>
          <a:xfrm>
            <a:off x="74523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38160" y="1609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principal só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1929384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action desmarca os outros endereços do cliente.</a:t>
            </a:r>
            <a:endParaRPr lang="en-US" sz="1400" dirty="0"/>
          </a:p>
        </p:txBody>
      </p:sp>
      <p:sp>
        <p:nvSpPr>
          <p:cNvPr id="11" name="Avatar LuPencil"/>
          <p:cNvSpPr/>
          <p:nvPr/>
        </p:nvSpPr>
        <p:spPr>
          <a:xfrm>
            <a:off x="745236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79806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Rascunho e ativo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118104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Registrada para Enderecos e Enderecos.drafts.</a:t>
            </a:r>
            <a:endParaRPr lang="en-US" sz="1400" dirty="0"/>
          </a:p>
        </p:txBody>
      </p:sp>
      <p:sp>
        <p:nvSpPr>
          <p:cNvPr id="15" name="Avatar LuLock"/>
          <p:cNvSpPr/>
          <p:nvPr/>
        </p:nvSpPr>
        <p:spPr>
          <a:xfrm>
            <a:off x="745236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9867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Lista de campos protegidos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138160" y="4306824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Cidade, UF, estado e status só pelo ViaCEP.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VIACEP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preencherEnderecoPorCep: de onde vêm os dados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Hash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 dígitos?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Senão, cepStatus I (inválido).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Database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Já cadastrado?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CEP validado e não geral: copia os dados.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Glob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consultarCep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Chama o ViaCEP com cache e timeout.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TriangleAlert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Triangle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Indisponível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cepStatus X e aviso CEP_INDISPONIVEL.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CircleCheck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Circl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Válido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Preenche e marca V (e cepGeral).</a:t>
            </a:r>
            <a:endParaRPr lang="en-US" sz="1300" dirty="0"/>
          </a:p>
        </p:txBody>
      </p:sp>
      <p:sp>
        <p:nvSpPr>
          <p:cNvPr id="39" name="Cartão"/>
          <p:cNvSpPr/>
          <p:nvPr/>
        </p:nvSpPr>
        <p:spPr>
          <a:xfrm>
            <a:off x="548640" y="4163323"/>
            <a:ext cx="3246120" cy="1119106"/>
          </a:xfrm>
          <a:prstGeom prst="roundRect">
            <a:avLst>
              <a:gd name="adj" fmla="val 478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40" name="Image 5" descr="Fluxograma da consulta de CE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54763"/>
            <a:ext cx="3063240" cy="936226"/>
          </a:xfrm>
          <a:prstGeom prst="rect">
            <a:avLst/>
          </a:prstGeom>
        </p:spPr>
      </p:pic>
      <p:sp>
        <p:nvSpPr>
          <p:cNvPr id="41" name="Bloco de código"/>
          <p:cNvSpPr/>
          <p:nvPr/>
        </p:nvSpPr>
        <p:spPr>
          <a:xfrm>
            <a:off x="4069080" y="3931920"/>
            <a:ext cx="7571232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2" name="Código"/>
          <p:cNvSpPr txBox="1"/>
          <p:nvPr/>
        </p:nvSpPr>
        <p:spPr>
          <a:xfrm>
            <a:off x="4297680" y="4114800"/>
            <a:ext cx="7114032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'logradouro'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'bairro'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'cidade'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'uf'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'estado'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cadastrado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consultarCep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VIACEP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srv/lib/viacep.js: interpretando a resposta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545756"/>
                <a:gridCol w="4077619"/>
                <a:gridCol w="1418302"/>
                <a:gridCol w="168423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Resposta do ViaCEP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cepStatus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Cache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 200 com logradouro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Endereço 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 200 sem logradouro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CEP geral de município (cepGeral = true)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 400 · 404 · { "erro": true }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CEP inexistente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Falha de rede · timeout (5 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Serviço indisponível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Outro status HTTP · JSON inválido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Serviço indisponível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4754880"/>
            <a:ext cx="6400800" cy="1082040"/>
          </a:xfrm>
          <a:prstGeom prst="roundRect">
            <a:avLst>
              <a:gd name="adj" fmla="val 1014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937760"/>
            <a:ext cx="59436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package.json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"viacep"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"kind"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"credentials"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"url"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"https://viacep.com.br/ws"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"timeout"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7178040" y="4754880"/>
            <a:ext cx="4462272" cy="1325880"/>
          </a:xfrm>
          <a:prstGeom prst="roundRect">
            <a:avLst>
              <a:gd name="adj" fmla="val 8276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406640" y="4754880"/>
            <a:ext cx="40507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ambiente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cds_requires_viacep_credentials_url troca a URL; os testes apontam para o ViaCEP falso.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ENDEREÇOS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validarEnderecosDoCliente: regras do Save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630168"/>
          </a:xfrm>
          <a:prstGeom prst="roundRect">
            <a:avLst>
              <a:gd name="adj" fmla="val 302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4432195"/>
                <a:gridCol w="4786771"/>
                <a:gridCol w="150694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Mensagem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 sem 8 dígitos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CEP_INVALIDO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ViaCEP indisponível (cepStatus X)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CEP_INDISPONIVEL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503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 não validado ou sem cidade/UF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CEP_INVALIDO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 geral sem logradouro ou bairro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CAMPO_OBRIGATORIO (Logradouro / Bairro)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Mesmo CEP duas vezes no cliente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CEP_DUPLICADO_CLIENTE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409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Nenhum endereço marcado como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primeiro vira principal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Mais de um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só o primeiro continua principal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Target do erro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enderecos(ID=...,IsActiveEntity=false)/cep: o Fiori destaca o CEP do endereço certo na tabela.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FOTO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Foto do cliente: upload validado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validarFoto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conteudo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lerConteudo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conteudo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fotoClienteMimeType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'content-type'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validarImagem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conteudo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fotoClienteNome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'FOTO_FORMATO_INVALIDO'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validarFoto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validarFoto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Avatar LuImage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@Core.MediaType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Fiori envia a foto por PUT no rascunho.</a:t>
            </a:r>
            <a:endParaRPr lang="en-US" sz="1400" dirty="0"/>
          </a:p>
        </p:txBody>
      </p:sp>
      <p:sp>
        <p:nvSpPr>
          <p:cNvPr id="11" name="Avatar LuShieldCheck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Três conferências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MIME, extensão e assinatura binária.</a:t>
            </a:r>
            <a:endParaRPr lang="en-US" sz="1400" dirty="0"/>
          </a:p>
        </p:txBody>
      </p:sp>
      <p:sp>
        <p:nvSpPr>
          <p:cNvPr id="15" name="Avatar LuBug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6" name="Image 2" descr="LuB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Lição da v1.9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Stream lido uma vez: a foto não grava vazia.</a:t>
            </a:r>
            <a:endParaRPr lang="en-US" sz="1400" dirty="0"/>
          </a:p>
        </p:txBody>
      </p:sp>
      <p:sp>
        <p:nvSpPr>
          <p:cNvPr id="19" name="Bloco de código"/>
          <p:cNvSpPr/>
          <p:nvPr/>
        </p:nvSpPr>
        <p:spPr>
          <a:xfrm>
            <a:off x="548640" y="3931920"/>
            <a:ext cx="6766560" cy="746760"/>
          </a:xfrm>
          <a:prstGeom prst="roundRect">
            <a:avLst>
              <a:gd name="adj" fmla="val 1469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0" name="Código"/>
          <p:cNvSpPr txBox="1"/>
          <p:nvPr/>
        </p:nvSpPr>
        <p:spPr>
          <a:xfrm>
            <a:off x="777240" y="4114800"/>
            <a:ext cx="63093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@Core.AcceptableMediaTypes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'image/jpeg'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'image/png'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'image/webp'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de clientes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40080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2500231"/>
                <a:gridCol w="3534809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CPF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DV válido; não cadastrado nem repetido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Nome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Até 255 caracteres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E-mail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Formato válido; até 100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Telefone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10 ou 11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Gênero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Código ou texto da CodeList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 de nascimento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AAAA-MM-DD ou DD/MM/AAAA; não futura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CEP * · Número * · Complemento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8 dígitos (zeros repostos); até 20 · 100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178040" y="1554480"/>
            <a:ext cx="4462272" cy="1249680"/>
          </a:xfrm>
          <a:prstGeom prst="roundRect">
            <a:avLst>
              <a:gd name="adj" fmla="val 878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37360"/>
            <a:ext cx="4005072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criação pelo serviço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Avatar LuGlobe"/>
          <p:cNvSpPr/>
          <p:nvPr/>
        </p:nvSpPr>
        <p:spPr>
          <a:xfrm>
            <a:off x="726948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40873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ViaCEP na importação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261104"/>
            <a:ext cx="3657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inexistente cancela a importação inteira.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726948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51389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55280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Admin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955280" y="5312664"/>
            <a:ext cx="3657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'Admin' na action.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SKU gerado no Save, inativação e exclusão controladas, reserva protegida na edição concorrente e os movimentos de srv/lib/estoque.js.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Mapa dos handlers do EstoqueService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630168"/>
          </a:xfrm>
          <a:prstGeom prst="roundRect">
            <a:avLst>
              <a:gd name="adj" fmla="val 302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925249"/>
                <a:gridCol w="2127454"/>
                <a:gridCol w="567321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Alvo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Ativo, moeda BRL, estoque 0 e reservada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CREATE ·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Descarta qtdeReservada; gera ou regenera o SKU; inativação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 ·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validarFoto no upload do rascunho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CREATE ·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validarFoto no Save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DELETE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Bloqueia com reserva ou vínculo com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READ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somenteLeitura pelo papel do usuário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importarPlanilha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serviço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importarItens (srv/lib/importacao-estoque)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STATUS_PEDIDO_ATIVO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ABERTO, AGUARDANDO_APROVACAO e PROCESSANDO_REEMBOLSO: pedidos que ainda prendem o item.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SKU gerado no Save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categoria_code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primeiro Save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prefixoCategoria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categoria mudou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mantém o SKU atual</a:t>
            </a:r>
            <a:endParaRPr lang="en-US" sz="1100" dirty="0"/>
          </a:p>
        </p:txBody>
      </p:sp>
      <p:sp>
        <p:nvSpPr>
          <p:cNvPr id="7" name="Cartão"/>
          <p:cNvSpPr/>
          <p:nvPr/>
        </p:nvSpPr>
        <p:spPr>
          <a:xfrm>
            <a:off x="7360920" y="1554480"/>
            <a:ext cx="4279392" cy="2304288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691640"/>
          <a:ext cx="3913632" cy="914400"/>
        </p:xfrm>
        <a:graphic>
          <a:graphicData uri="http://schemas.openxmlformats.org/drawingml/2006/table">
            <a:tbl>
              <a:tblPr/>
              <a:tblGrid>
                <a:gridCol w="1701579"/>
                <a:gridCol w="221205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Categoria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 de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ELETRONICOS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SKU-ELE-0000000101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INFORMATICA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SKU-INF-0000000102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ESCRITORIO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SKU-ESC-0000000103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VESTUARIO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SKU-VES-0000000104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Hash"/>
          <p:cNvSpPr/>
          <p:nvPr/>
        </p:nvSpPr>
        <p:spPr>
          <a:xfrm>
            <a:off x="68580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5387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392424"/>
            <a:ext cx="5623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Sequencial global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3712464"/>
            <a:ext cx="5623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Numeracoes.SKU continua de 100 no CSV: o próximo é 101.</a:t>
            </a:r>
            <a:endParaRPr lang="en-US" sz="1400" dirty="0"/>
          </a:p>
        </p:txBody>
      </p:sp>
      <p:sp>
        <p:nvSpPr>
          <p:cNvPr id="13" name="Avatar LuLock"/>
          <p:cNvSpPr/>
          <p:nvPr/>
        </p:nvSpPr>
        <p:spPr>
          <a:xfrm>
            <a:off x="745236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408736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394106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#ReadOnly na UI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4261104"/>
            <a:ext cx="3474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usuário nunca digita o SKU.</a:t>
            </a:r>
            <a:endParaRPr lang="en-US" sz="1400" dirty="0"/>
          </a:p>
        </p:txBody>
      </p:sp>
      <p:sp>
        <p:nvSpPr>
          <p:cNvPr id="17" name="Avatar LuShieldCheck"/>
          <p:cNvSpPr/>
          <p:nvPr/>
        </p:nvSpPr>
        <p:spPr>
          <a:xfrm>
            <a:off x="74523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50474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38160" y="49011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no banco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38160" y="5221224"/>
            <a:ext cx="3474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@assert.unique.sku.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Inativação e exclusão controladas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3154680"/>
          </a:xfrm>
          <a:prstGeom prst="roundRect">
            <a:avLst>
              <a:gd name="adj" fmla="val 34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somenteAtivos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'pedido.statusPedido_code as status'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somenteAtivos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STATUS_PEDIDO_ATIVO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'PedidosService.ItensPedido.drafts'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inativação: sem disponível e sem pedido ativo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disponivel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-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disponivel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'ITEM_INATIVACAO_BLOQUEADA'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'itemAtivo'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360920" y="1554480"/>
            <a:ext cx="4279392" cy="1792224"/>
          </a:xfrm>
          <a:prstGeom prst="roundRect">
            <a:avLst>
              <a:gd name="adj" fmla="val 612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691640"/>
          <a:ext cx="3913632" cy="914400"/>
        </p:xfrm>
        <a:graphic>
          <a:graphicData uri="http://schemas.openxmlformats.org/drawingml/2006/table">
            <a:tbl>
              <a:tblPr/>
              <a:tblGrid>
                <a:gridCol w="1106026"/>
                <a:gridCol w="280760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Bloqueada quando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Inativar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Há disponível ou pedido em andamento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Excluir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Há reserva ou qualquer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arch"/>
          <p:cNvSpPr/>
          <p:nvPr/>
        </p:nvSpPr>
        <p:spPr>
          <a:xfrm>
            <a:off x="745236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372160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38160" y="357530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Rascunhos contam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138160" y="3895344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item escolhido num rascunho de pedido também prende.</a:t>
            </a:r>
            <a:endParaRPr lang="en-US" sz="1400" dirty="0"/>
          </a:p>
        </p:txBody>
      </p:sp>
      <p:sp>
        <p:nvSpPr>
          <p:cNvPr id="13" name="Avatar LuHistory"/>
          <p:cNvSpPr/>
          <p:nvPr/>
        </p:nvSpPr>
        <p:spPr>
          <a:xfrm>
            <a:off x="7452360" y="47091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481888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46725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preservado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4992624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Item de pedido encerrado não é excluído.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Reserva protegida: edição concorrente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encil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Admin edita o item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Rascunho com qtdeReservada = 5.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oppingCart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opping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reserva 3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Banco passa para 8 (UPDATE condicional).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Save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Sa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Admin salva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handler remove qtdeReservada do payload.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ircleCheck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8" name="Image 3" descr="Lu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Banco mantém 8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Só estoque, preço e cadastro são gravados.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84048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reserva só é movimentada pelos pedidos: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nunca aceita valor da UI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6812280" y="3840480"/>
            <a:ext cx="4828032" cy="1371600"/>
          </a:xfrm>
          <a:prstGeom prst="roundRect">
            <a:avLst>
              <a:gd name="adj" fmla="val 8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040880" y="3840480"/>
            <a:ext cx="4416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Testado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"salvar a edição do item não sobrescreve reservas feitas no meio tempo".</a:t>
            </a:r>
            <a:endParaRPr lang="en-US" sz="1400" dirty="0"/>
          </a:p>
        </p:txBody>
      </p:sp>
      <p:sp>
        <p:nvSpPr>
          <p:cNvPr id="36" name="Cartão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77240" y="5440680"/>
            <a:ext cx="10680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UI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qtdeReservada tem @Common.FieldControl: #ReadOnly em app/common.cds.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srv/lib/estoque.js: reservar, liberar e baixar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expressoes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'reservar'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'liberar'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'baixar'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condicao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'reservar'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`ID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'liberar'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`ID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'baixar'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`ID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6446520" y="1554480"/>
            <a:ext cx="5193792" cy="2487168"/>
          </a:xfrm>
          <a:prstGeom prst="roundRect">
            <a:avLst>
              <a:gd name="adj" fmla="val 441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91640"/>
          <a:ext cx="4828032" cy="914400"/>
        </p:xfrm>
        <a:graphic>
          <a:graphicData uri="http://schemas.openxmlformats.org/drawingml/2006/table">
            <a:tbl>
              <a:tblPr/>
              <a:tblGrid>
                <a:gridCol w="2069157"/>
                <a:gridCol w="27588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 linhas alteradas →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Mensagem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Item não existe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ITEM_ESTOQUE_CONCORRENTE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Reservar item inativo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ITEM_INATIVO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Reservar sem saldo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ITEM_ESTOQUE_INSUFICIENTE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Liberar ou baixar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ITEM_RESERVA_INCONSISTENTE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arch"/>
          <p:cNvSpPr/>
          <p:nvPr/>
        </p:nvSpPr>
        <p:spPr>
          <a:xfrm>
            <a:off x="6537960" y="4251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43616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23760" y="421538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Diagnóstico depois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223760" y="4535424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Só quando o UPDATE falha o item é relido para dar o motivo.</a:t>
            </a:r>
            <a:endParaRPr lang="en-US" sz="1400" dirty="0"/>
          </a:p>
        </p:txBody>
      </p:sp>
      <p:sp>
        <p:nvSpPr>
          <p:cNvPr id="13" name="Avatar LuUndo2"/>
          <p:cNvSpPr/>
          <p:nvPr/>
        </p:nvSpPr>
        <p:spPr>
          <a:xfrm>
            <a:off x="6537960" y="5212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532180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23760" y="517550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Tudo ou nada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223760" y="5495544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falha desfaz os movimentos já feitos.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de itens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766560" cy="3511296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2335427"/>
                <a:gridCol w="406537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Nome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Até 120; não cadastrado nem repetido (sem caixa)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Até 500 caracteres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Categoria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Código ou texto da CodeList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Quantidade em estoque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Inteiro maior ou igual a zero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Preço unitário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Decimal maior ou igual a zero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Moeda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Código em Currencies; padrão BRL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543800" y="1554480"/>
            <a:ext cx="4096512" cy="960120"/>
          </a:xfrm>
          <a:prstGeom prst="roundRect">
            <a:avLst>
              <a:gd name="adj" fmla="val 1142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9" name="Avatar LuHash"/>
          <p:cNvSpPr/>
          <p:nvPr/>
        </p:nvSpPr>
        <p:spPr>
          <a:xfrm>
            <a:off x="76352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35387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321040" y="33924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SKU na criação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3712464"/>
            <a:ext cx="3291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linha recebe o próximo SKU.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7635240" y="44805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459028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321040" y="44439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Admin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321040" y="4764024"/>
            <a:ext cx="3291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'Admin' na action.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548640" y="512064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5120640"/>
            <a:ext cx="6355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Sinônimos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Quantidade aceita ESTOQUE, QTDE...; Preço aceita VALOR, VALORUNITARIO.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 coração do projeto: rascunho com preço provisório, registro com reserva, edição pela diferença, actions do ciclo de vida, concorrência e snapshots.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RASCUNHO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Handlers do rascunho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538728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013893"/>
                <a:gridCol w="2304741"/>
                <a:gridCol w="5407278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Alvo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ABERTO, pagamento PENDENTE, BRL e total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Descarta campos controlados; troca de cliente busca o endereço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Quantidade 1; calcularLinha (preço, SKU, total)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calcularLinha quando muda item ou quantidade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 NEW · 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Recalcula o total do rascunho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before/after DISCARD · DELETE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Guarda o pedido da linha e recalcula o total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Avatar LuTriangleAlert"/>
          <p:cNvSpPr/>
          <p:nvPr/>
        </p:nvSpPr>
        <p:spPr>
          <a:xfrm>
            <a:off x="731520" y="5349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9" name="Image 0" descr="Lu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45896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5074920"/>
            <a:ext cx="10085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Item sem estoque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 recusado na hora em que é escolhido (ITEM_SEM_ESTOQUE, via req.reject), exceto se já estiver reservado pelo próprio pedido.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RASCUNHO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calcularLinha: preço provisório e total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949440" cy="3611880"/>
          </a:xfrm>
          <a:prstGeom prst="roundRect">
            <a:avLst>
              <a:gd name="adj" fmla="val 303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492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'item_ID'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'qtdeItemPedido'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'precoUnitario'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'currency_code'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'qtdeDisponivel'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?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reservaAtual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'item_ID'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jaNoPedido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'ITEM_SEM_ESTOQUE'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'precoUnitarioSnapshot'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Calculator"/>
          <p:cNvSpPr/>
          <p:nvPr/>
        </p:nvSpPr>
        <p:spPr>
          <a:xfrm>
            <a:off x="78181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alcul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03920" y="1609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Provisório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192938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rascunho, o preço é o atual do estoque.</a:t>
            </a:r>
            <a:endParaRPr lang="en-US" sz="1400" dirty="0"/>
          </a:p>
        </p:txBody>
      </p:sp>
      <p:sp>
        <p:nvSpPr>
          <p:cNvPr id="11" name="Avatar LuHistory"/>
          <p:cNvSpPr/>
          <p:nvPr/>
        </p:nvSpPr>
        <p:spPr>
          <a:xfrm>
            <a:off x="78181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2798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fixado vence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503920" y="311810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Na edição, linhas antigas mantêm o preço.</a:t>
            </a:r>
            <a:endParaRPr lang="en-US" sz="1400" dirty="0"/>
          </a:p>
        </p:txBody>
      </p:sp>
      <p:sp>
        <p:nvSpPr>
          <p:cNvPr id="15" name="Avatar LuRefreshCw"/>
          <p:cNvSpPr/>
          <p:nvPr/>
        </p:nvSpPr>
        <p:spPr>
          <a:xfrm>
            <a:off x="7818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03920" y="3986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Side effect #Valores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503920" y="430682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tela relê preço e totais após o PATCH.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RASCUNHO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Campos controlados e troca de cliente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CAMPOS_CONTROLADOS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'statusPedido_code'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'statusPagamento_code'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'endereco_ID'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'enderecoPrincipalCompleto'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'currency_code'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'dataFinalizacao'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'motivoCancelamento'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'dataCancelamento'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'canceladoPor'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'referenciaImportacao'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446520" y="1554480"/>
            <a:ext cx="5193792" cy="3002280"/>
          </a:xfrm>
          <a:prstGeom prst="roundRect">
            <a:avLst>
              <a:gd name="adj" fmla="val 36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675120" y="1737360"/>
            <a:ext cx="4736592" cy="2636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removerCamposControlados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'cliente_ID'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'PEDIDO_CLIENTE_IMUTAVEL'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'cliente_ID'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'CLIENTE_SEM_ENDERECO_PRINCIPAL'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9" name="Avatar LuLock"/>
          <p:cNvSpPr/>
          <p:nvPr/>
        </p:nvSpPr>
        <p:spPr>
          <a:xfrm>
            <a:off x="68580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4531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3068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 imutável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62686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Depois do registro, a troca é recusada.</a:t>
            </a:r>
            <a:endParaRPr lang="en-US" sz="1400" dirty="0"/>
          </a:p>
        </p:txBody>
      </p:sp>
      <p:sp>
        <p:nvSpPr>
          <p:cNvPr id="13" name="Avatar LuMapPin"/>
          <p:cNvSpPr/>
          <p:nvPr/>
        </p:nvSpPr>
        <p:spPr>
          <a:xfrm>
            <a:off x="685800" y="5257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36752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52212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 automático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554126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Sempre o endereço principal atual.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 E EDIÇÃO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registrarPedido: o primeiro Salvar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Informado, ativo e com endereço principal.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Ao menos um; ativo, qtde &gt; 0, moeda BRL.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Packag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Saldo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Disponível cobre a soma por item.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alculator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Calcul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Preços e status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precificar, ABERTO, PENDENTE, endereço.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Hash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H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Número e reserva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proximoNumeroPedido e reservar.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657600"/>
            <a:ext cx="6949440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3840480"/>
            <a:ext cx="649224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precificar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proximoNumeroPedido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movimentarEstoque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'PEDIDO_CONFIRMADO'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41" name="Avatar LuMessageSquare"/>
          <p:cNvSpPr/>
          <p:nvPr/>
        </p:nvSpPr>
        <p:spPr>
          <a:xfrm>
            <a:off x="7818120" y="3749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Message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385876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503920" y="37124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PEDIDO_CONFIRMADO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8503920" y="40325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"Pedido 0000000101 registrado. Estoque reservado."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 E EDIÇÃO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Edição em ABERTO: reserva pela diferença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035040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061556"/>
                <a:gridCol w="944880"/>
                <a:gridCol w="944880"/>
                <a:gridCol w="171796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Depois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Movimento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Mouse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Teclado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 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Monitor (novo)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 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Cadeira (removida)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Notebook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6812280" y="1554480"/>
            <a:ext cx="4828032" cy="1920240"/>
          </a:xfrm>
          <a:prstGeom prst="roundRect">
            <a:avLst>
              <a:gd name="adj" fmla="val 571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040880" y="173736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anterior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anterior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Avatar LuRefreshCw"/>
          <p:cNvSpPr/>
          <p:nvPr/>
        </p:nvSpPr>
        <p:spPr>
          <a:xfrm>
            <a:off x="6858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50474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490118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Liberar antes de reservar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5221224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Libera o excedente e depois reserva o acréscimo.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6903720" y="4800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49103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589520" y="4764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conferido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589520" y="508406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transicionarPedido garante que segue ABERTO.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 E EDIÇÃO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validarLinhas e precificar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760720" cy="2697480"/>
          </a:xfrm>
          <a:prstGeom prst="roundRect">
            <a:avLst>
              <a:gd name="adj" fmla="val 406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3035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validarLinhas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idsQueReservam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'CAMPO_OBRIGATORIO'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idsQueReservam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'ITEM_INATIVO'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'?'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'ITEM_QTDE_INVALIDA'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'VALOR_INVALIDO'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'Moeda do item'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537960" y="1554480"/>
            <a:ext cx="510235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766560" y="1737360"/>
            <a:ext cx="464515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precificar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Package"/>
          <p:cNvSpPr/>
          <p:nvPr/>
        </p:nvSpPr>
        <p:spPr>
          <a:xfrm>
            <a:off x="6629400" y="4800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4910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47640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Inativo só barra o que reserva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508406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Item já reservado pode continuar no pedido.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DO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as actions são registradas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611880"/>
          </a:xfrm>
          <a:prstGeom prst="roundRect">
            <a:avLst>
              <a:gd name="adj" fmla="val 303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ehRascunho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'ACAO_SOMENTE_ATIVO'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lerPedidoParaAcao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PEDIDO_EM_EDICAO?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lean draft: registrar também no rascunho, ou a chamada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termina em 501 "has no handler" sem a mensagem certa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'efetuarPagamento'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'efetuarPagamento'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178040" y="1554480"/>
            <a:ext cx="4462272" cy="2670048"/>
          </a:xfrm>
          <a:prstGeom prst="roundRect">
            <a:avLst>
              <a:gd name="adj" fmla="val 411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1691640"/>
          <a:ext cx="4096512" cy="914400"/>
        </p:xfrm>
        <a:graphic>
          <a:graphicData uri="http://schemas.openxmlformats.org/drawingml/2006/table">
            <a:tbl>
              <a:tblPr/>
              <a:tblGrid>
                <a:gridCol w="1877568"/>
                <a:gridCol w="22189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Situação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Mensagem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Ação sobre o rascunho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ACAO_SOMENTE_ATIVO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Pedido com edição aberta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PEDIDO_EM_EDICAO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Editar fora de ABERTO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PEDIDO_EDICAO_BLOQUEADA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Excluir pedido registrado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PEDIDO_EXCLUSAO_BLOQUEADA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Ban"/>
          <p:cNvSpPr/>
          <p:nvPr/>
        </p:nvSpPr>
        <p:spPr>
          <a:xfrm>
            <a:off x="726948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0" name="Image 0" descr="Lu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44531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43068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Cancelar, nunca excluir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62686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before DELETE de Pedidos sempre recusa (409).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efetuarPagamento: simular, transicionar e gravar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307080"/>
          </a:xfrm>
          <a:prstGeom prst="roundRect">
            <a:avLst>
              <a:gd name="adj" fmla="val 331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294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dadosValidos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'CARTAO_DADOS_INVALIDOS'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'AGUARDANDO_APROVACAO'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gravarPagamento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+ INSERT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'PAGAMENTO_APROVADO'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'PAGAMENTO_RECUSADO'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178040" y="1554480"/>
            <a:ext cx="4462272" cy="2578608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1691640"/>
          <a:ext cx="4096512" cy="914400"/>
        </p:xfrm>
        <a:graphic>
          <a:graphicData uri="http://schemas.openxmlformats.org/drawingml/2006/table">
            <a:tbl>
              <a:tblPr/>
              <a:tblGrid>
                <a:gridCol w="1450848"/>
                <a:gridCol w="26456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validarFormato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Erro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Método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fora de CARTAO_*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Número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fora de 13 a 19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não é MM/AA ou mês inválido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CVV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fora de 3 ou 4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cartão expirado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CreditCard"/>
          <p:cNvSpPr/>
          <p:nvPr/>
        </p:nvSpPr>
        <p:spPr>
          <a:xfrm>
            <a:off x="726948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45445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43982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Bandeira e recusa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7183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4… VISA, 5… MASTERCARD; CVV 000 recusa.</a:t>
            </a:r>
            <a:endParaRPr lang="en-US" sz="1400" dirty="0"/>
          </a:p>
        </p:txBody>
      </p:sp>
      <p:sp>
        <p:nvSpPr>
          <p:cNvPr id="13" name="Avatar LuLock"/>
          <p:cNvSpPr/>
          <p:nvPr/>
        </p:nvSpPr>
        <p:spPr>
          <a:xfrm>
            <a:off x="7269480" y="5349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545896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55280" y="53126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o resultado seguro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955280" y="56327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Máscara, últimos 4 e autorização SIM######.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DO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finalizarPedido: aprovar, baixar e congelar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154680"/>
          </a:xfrm>
          <a:prstGeom prst="roundRect">
            <a:avLst>
              <a:gd name="adj" fmla="val 34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finalizarPedido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'PEDIDO_PAGAMENTO_PENDENTE'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aguardandoAprovacao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'PEDIDO_PAGAMENTO_PENDENTE'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baixa estoque e reserva (a condição no banco confere)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movimentarEstoque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reservaAtual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'PEDIDO_FINALIZADO'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BadgeCheck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IsActionCritical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pede confirmação antes de aprovar.</a:t>
            </a:r>
            <a:endParaRPr lang="en-US" sz="1400" dirty="0"/>
          </a:p>
        </p:txBody>
      </p:sp>
      <p:sp>
        <p:nvSpPr>
          <p:cNvPr id="11" name="Avatar LuPackage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Baixa = estoque e reserva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Os dois diminuem pela quantidade do pedido.</a:t>
            </a:r>
            <a:endParaRPr lang="en-US" sz="1400" dirty="0"/>
          </a:p>
        </p:txBody>
      </p:sp>
      <p:sp>
        <p:nvSpPr>
          <p:cNvPr id="15" name="Avatar LuHistory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FINALIZACAO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 itens congelados.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DO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cancelarPedido: cancelar ou pedir reembolso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459480"/>
          </a:xfrm>
          <a:prstGeom prst="roundRect">
            <a:avLst>
              <a:gd name="adj" fmla="val 317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309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aguardandoAprovacao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'PEDIDO_MOTIVO_CANCEL_OBRIG'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'motivoCancelamento'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iniciarReembolso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liberarReservaDoPedido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812280" y="1554480"/>
            <a:ext cx="4828032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040880" y="1737360"/>
            <a:ext cx="4370832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iniciarReembolso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'PROCESSANDO_REEMBOLSO'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Undo2"/>
          <p:cNvSpPr/>
          <p:nvPr/>
        </p:nvSpPr>
        <p:spPr>
          <a:xfrm>
            <a:off x="690372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0" name="Image 0" descr="LuUndo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50017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485546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Reserva mantida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7550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Fica reservada até a decisão do reembolso.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HISTÓRICO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criarSnapshots: o histórico imutável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2849880"/>
          </a:xfrm>
          <a:prstGeom prst="roundRect">
            <a:avLst>
              <a:gd name="adj" fmla="val 385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484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PedidosClienteSnapshots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'SNAPSHOT_EXISTENTE'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'telefone'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'genero_code'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PedidosClienteSnapshots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sku, nome, descrição e categoria lidos de Itens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PedidosItensSnapshots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History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 do pedido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texto gravado no registro, não o atual.</a:t>
            </a:r>
            <a:endParaRPr lang="en-US" sz="1400" dirty="0"/>
          </a:p>
        </p:txBody>
      </p:sp>
      <p:sp>
        <p:nvSpPr>
          <p:cNvPr id="11" name="Avatar LuPackage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do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precoUnitarioSnapshot e total da linha.</a:t>
            </a:r>
            <a:endParaRPr lang="en-US" sz="1400" dirty="0"/>
          </a:p>
        </p:txBody>
      </p:sp>
      <p:sp>
        <p:nvSpPr>
          <p:cNvPr id="15" name="Avatar LuBadgeCheck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Idempotente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Chamar de novo só informa.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de pedidos: agrupar, conferir e registrar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istChecks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Formato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Referência até 40, CPF, SKU e quantidade &gt; 0.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Users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 e item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Ativos; cliente com endereço; mesmo CPF por pedido.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KeyRound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KeyRou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Idempotência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Referência já importada para o cliente é recusada.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Package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Saldo da planilha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soma de todas as linhas cabe no disponível.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Server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Ser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srv.run cria ABERTO com reserva; grava a referência.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886200"/>
            <a:ext cx="6400800" cy="1082040"/>
          </a:xfrm>
          <a:prstGeom prst="roundRect">
            <a:avLst>
              <a:gd name="adj" fmla="val 1014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069080"/>
            <a:ext cx="59436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2: o pedido P001 do cliente 100.003.571-97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já foi importado (pedido 0000000101).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 insuficiente para o item SKU-INF-0000000002: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planilha pede 60 e há 45 disponível(is).</a:t>
            </a:r>
            <a:endParaRPr lang="en-US" sz="1100" dirty="0"/>
          </a:p>
        </p:txBody>
      </p:sp>
      <p:sp>
        <p:nvSpPr>
          <p:cNvPr id="41" name="Avatar LuUndo2"/>
          <p:cNvSpPr/>
          <p:nvPr/>
        </p:nvSpPr>
        <p:spPr>
          <a:xfrm>
            <a:off x="726948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Undo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208" y="408736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955280" y="3941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cancelado libera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7955280" y="426110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Referência de pedido CANCELADO pode voltar.</a:t>
            </a:r>
            <a:endParaRPr lang="en-US" sz="1400" dirty="0"/>
          </a:p>
        </p:txBody>
      </p:sp>
      <p:sp>
        <p:nvSpPr>
          <p:cNvPr id="45" name="Avatar LuUsers"/>
          <p:cNvSpPr/>
          <p:nvPr/>
        </p:nvSpPr>
        <p:spPr>
          <a:xfrm>
            <a:off x="726948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46" name="Image 6" descr="Lu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5093208"/>
            <a:ext cx="237744" cy="237744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955280" y="4946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Comum também importa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955280" y="52669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Pedidos aceita os dois perfis.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A solicitação nasce no cancelamento de um pedido pago e recebe uma única decisão: aprovar cancela e devolve; rejeitar retoma o pedido.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ciclo de vida da solicitação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CreditCard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pago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ABERTO ou AGUARDANDO com pagamento APROVADO.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Undo2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pedido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pedido entra em processamento de reembolso.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Clock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D36FF"/>
          </a:solidFill>
          <a:ln/>
        </p:spPr>
      </p:sp>
      <p:pic>
        <p:nvPicPr>
          <p:cNvPr id="21" name="Image 2" descr="Lu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PENDENTE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Solicitação criada; reserva mantida.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ircleCheck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8" name="Image 3" descr="Lu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APROVADO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Pedido CANCELADO e pagamento DEVOLVIDO.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CircleX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5" name="Image 4" descr="LuCircle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REJEITADO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Pedido volta ao status anterior.</a:t>
            </a:r>
            <a:endParaRPr lang="en-US" sz="1300" dirty="0"/>
          </a:p>
        </p:txBody>
      </p:sp>
      <p:sp>
        <p:nvSpPr>
          <p:cNvPr id="39" name="Cartão"/>
          <p:cNvSpPr/>
          <p:nvPr/>
        </p:nvSpPr>
        <p:spPr>
          <a:xfrm>
            <a:off x="548640" y="3931920"/>
            <a:ext cx="11091672" cy="1664208"/>
          </a:xfrm>
          <a:prstGeom prst="roundRect">
            <a:avLst>
              <a:gd name="adj" fmla="val 659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069080"/>
          <a:ext cx="10725912" cy="914400"/>
        </p:xfrm>
        <a:graphic>
          <a:graphicData uri="http://schemas.openxmlformats.org/drawingml/2006/table">
            <a:tbl>
              <a:tblPr/>
              <a:tblGrid>
                <a:gridCol w="1329659"/>
                <a:gridCol w="1595590"/>
                <a:gridCol w="1772878"/>
                <a:gridCol w="2038810"/>
                <a:gridCol w="2127454"/>
                <a:gridCol w="186152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Decisão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Aprovar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DEVOLVIDO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 a reserva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Rejeitar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 anterior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Continua APROVADO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Continua reservado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NASCIMENTO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iniciarReembolso: nasce no BO Pedidos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459480"/>
          </a:xfrm>
          <a:prstGeom prst="roundRect">
            <a:avLst>
              <a:gd name="adj" fmla="val 317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309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iniciarReembolso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'PEDIDO_REEMBOLSO_SOLICITADO'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ShieldCheck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Transição primeiro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Duas tentativas simultâneas não criam duas solicitações.</a:t>
            </a:r>
            <a:endParaRPr lang="en-US" sz="1400" dirty="0"/>
          </a:p>
        </p:txBody>
      </p:sp>
      <p:sp>
        <p:nvSpPr>
          <p:cNvPr id="11" name="Avatar LuPackage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Estoque intocado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reserva continua até a decisão.</a:t>
            </a:r>
            <a:endParaRPr lang="en-US" sz="1400" dirty="0"/>
          </a:p>
        </p:txBody>
      </p:sp>
      <p:sp>
        <p:nvSpPr>
          <p:cNvPr id="15" name="Avatar LuMessageSquare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Mensagem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"Pedido ... enviado para processamento de reembolso."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Decisão única: conferir e gravar de forma atômica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307080"/>
          </a:xfrm>
          <a:prstGeom prst="roundRect">
            <a:avLst>
              <a:gd name="adj" fmla="val 331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94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solicitacaoPendente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'REEMBOLSO_STATUS_INVALIDO'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'REEMBOLSO_STATUS_INVALIDO'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589520" y="1554480"/>
            <a:ext cx="4050792" cy="452628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Duas decisões ao mesmo tempo</a:t>
            </a:r>
            <a:endParaRPr lang="en-US" sz="1500" dirty="0"/>
          </a:p>
        </p:txBody>
      </p:sp>
      <p:sp>
        <p:nvSpPr>
          <p:cNvPr id="9" name="Avatar LuCircleCheck"/>
          <p:cNvSpPr/>
          <p:nvPr/>
        </p:nvSpPr>
        <p:spPr>
          <a:xfrm>
            <a:off x="7818120" y="2331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0" descr="Lu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24414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0" y="23042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Aprovar (chega primeiro)</a:t>
            </a:r>
            <a:endParaRPr lang="en-US" sz="1400" dirty="0"/>
          </a:p>
        </p:txBody>
      </p:sp>
      <p:sp>
        <p:nvSpPr>
          <p:cNvPr id="12" name="Status 1 linha alterada"/>
          <p:cNvSpPr txBox="1"/>
          <p:nvPr/>
        </p:nvSpPr>
        <p:spPr>
          <a:xfrm>
            <a:off x="8412480" y="269748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1 linha alterada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Segue para o pedido</a:t>
            </a:r>
            <a:endParaRPr lang="en-US" sz="1300" dirty="0"/>
          </a:p>
        </p:txBody>
      </p:sp>
      <p:sp>
        <p:nvSpPr>
          <p:cNvPr id="14" name="Avatar LuTriangleAlert"/>
          <p:cNvSpPr/>
          <p:nvPr/>
        </p:nvSpPr>
        <p:spPr>
          <a:xfrm>
            <a:off x="781812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5" name="Image 1" descr="Lu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422452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4087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Rejeitar (chega depois)</a:t>
            </a:r>
            <a:endParaRPr lang="en-US" sz="1400" dirty="0"/>
          </a:p>
        </p:txBody>
      </p:sp>
      <p:sp>
        <p:nvSpPr>
          <p:cNvPr id="17" name="Status 0 linhas alteradas"/>
          <p:cNvSpPr txBox="1"/>
          <p:nvPr/>
        </p:nvSpPr>
        <p:spPr>
          <a:xfrm>
            <a:off x="8412480" y="448056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0 linhas alteradas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4846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REEMBOLSO_STATUS_INVALIDO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Aprovar: cancelar o pedido e devolver o pagamento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solicitacaoPendente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cancelarPorReembolso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'REEMBOLSO_APROVADO'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...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446520" y="1554480"/>
            <a:ext cx="5193792" cy="3611880"/>
          </a:xfrm>
          <a:prstGeom prst="roundRect">
            <a:avLst>
              <a:gd name="adj" fmla="val 303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675120" y="1737360"/>
            <a:ext cx="47365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cancelarPorReembolso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processandoReembolso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liberarReservaDoPedido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Undo2"/>
          <p:cNvSpPr/>
          <p:nvPr/>
        </p:nvSpPr>
        <p:spPr>
          <a:xfrm>
            <a:off x="685800" y="4572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Undo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6817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5354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Tudo ou nada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85546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 liberar a reserva falhar, a decisão também volta.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Rejeitar: motivo obrigatório e retomada do pedido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solicitacaoPendente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'REEMBOLSO_MOTIVO_DECISAO_OBRIG'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'motivoDecisao'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statusPedidoAnterior_code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446520" y="1554480"/>
            <a:ext cx="519379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675120" y="1737360"/>
            <a:ext cx="473659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processandoReembolso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'CAMPO_OBRIGATORIO'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anterior'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Cartão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Avatar LuMessageSquare"/>
          <p:cNvSpPr/>
          <p:nvPr/>
        </p:nvSpPr>
        <p:spPr>
          <a:xfrm>
            <a:off x="731520" y="52349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1" name="Image 0" descr="LuMessageSqu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34466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4846320"/>
            <a:ext cx="100858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que @mandatory e checagem no handler?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@mandatory faz a UI exigir o campo; o handler também recusa um motivo só com espaços (trim), que passaria pela validação declarativa.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Lógica de Negócio</dc:title>
  <dc:subject>Projeto Pedidos de Compras em SAP CAP e SAP Fiori</dc:subject>
  <dc:creator>Adriano Bispo</dc:creator>
  <cp:lastModifiedBy>Adriano Bispo</cp:lastModifiedBy>
  <cp:revision>1</cp:revision>
  <dcterms:created xsi:type="dcterms:W3CDTF">2026-10-20T11:28:03Z</dcterms:created>
  <dcterms:modified xsi:type="dcterms:W3CDTF">2026-10-20T11:28:03Z</dcterms:modified>
</cp:coreProperties>
</file>