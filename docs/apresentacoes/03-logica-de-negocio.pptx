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5134543-3d20-a365-d965-8bc5d2e27400}">
          <p14:sldIdLst>
            <p14:sldId id="256"/>
          </p14:sldIdLst>
        </p14:section>
        <p14:section name="Contexto" id="{e0feb18e-f3c9-285a-a921-2967ea53ab8f}">
          <p14:sldIdLst>
            <p14:sldId id="257"/>
          </p14:sldIdLst>
        </p14:section>
        <p14:section name="Organização" id="{07b8f202-1ba5-bbd3-19e5-83cf1132cbc8}">
          <p14:sldIdLst>
            <p14:sldId id="258"/>
            <p14:sldId id="259"/>
            <p14:sldId id="260"/>
            <p14:sldId id="261"/>
          </p14:sldIdLst>
        </p14:section>
        <p14:section name="Pedido e estoque" id="{6612918f-ae1f-2985-6842-1b13ae095e0b}">
          <p14:sldIdLst>
            <p14:sldId id="262"/>
            <p14:sldId id="263"/>
            <p14:sldId id="264"/>
            <p14:sldId id="265"/>
            <p14:sldId id="266"/>
          </p14:sldIdLst>
        </p14:section>
        <p14:section name="Pagamento e reembolso" id="{505053ef-b0c1-0e4b-e411-c9fcc50b46e4}">
          <p14:sldIdLst>
            <p14:sldId id="267"/>
            <p14:sldId id="268"/>
          </p14:sldIdLst>
        </p14:section>
        <p14:section name="Integrações" id="{46655b83-ac5f-d537-df89-8b608082e5e0}">
          <p14:sldIdLst>
            <p14:sldId id="269"/>
            <p14:sldId id="270"/>
            <p14:sldId id="271"/>
            <p14:sldId id="272"/>
            <p14:sldId id="273"/>
          </p14:sldIdLst>
        </p14:section>
        <p14:section name="Encerramento" id="{68845121-925a-3629-fcd9-6cd614e3945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3: onde as regras de negócio são implementadas.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Qualquer erro numa requisição desfaz tudo: estoque, número do pedido e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Handlers finos chamam módulos de srv/lib, que concentram as regras que atravessam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handlers dependem de srv/lib; os módulos de srv/lib não dependem dos handlers. ReembolsosService reusa 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serviço é uma classe que estende cds.ApplicationService e registra handlers em init().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CAP abre uma transação por requisição. Erros registrados com req.error fazem o CAP desfazer tudo no fim 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Salvar valida, gera o número, fixa os preços e reserva o estoque, tudo numa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Funções exportadas e quem as chama. Tudo roda na transação da requisição recebida.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cada ação exige e o que muda no pedido, no estoque e no pagamento.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movimentos não são actions OData: são funções internas chamadas pelo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condição usa o estado atual do banco, nunca valores da UI. Se outra transação chegou antes, nenhuma linha muda e a ação é recusada.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simulação decide pela bandeira e pelo CVV. Número, validade e CVV ficam só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 um pedido pago não cancela direto: abre uma solicitação de reembolso decidida em outra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é toda no backend, durante o PATCH do rascunho. Side effects recarregam os campos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Clientes, Estoque e Pedidos aceitam .xlsx ou .csv. Todas as linhas são validadas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srv/lib/planilha.js lê o pacote ZIP do Excel com o zlib nativo do Node.js e interpreta o XML da primeira 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modelo, serviços, apps e testes. Muda a linguagem dos handlers, das regras e dos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cds-typer gera classes e tipos a partir do modelo; srv/typer.cds define os nomes no singular.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Lógica de Negócio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Handlers dos serviços e regras de domínio em srv/lib: estoque, concorrência, pagamento, reembolso, CEP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Lógica de Negó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implementamos as regras que o CDS não expressa sozinho: handlers por serviço e módulos de domínio em srv/lib, sempre dentro da transação da requisição.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mora cada regra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659317"/>
                <a:gridCol w="80665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Módulo (srv/lib)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Responsabilidade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Registro, edição, pagamento, aprovação, cancelamento, reembolso, snapshots e transições atômicas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liberação e baixa com UPDATE condicional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Sequenciais de pedido (10 dígitos) e de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viacep · 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 de CEP com cache e timeout; preenchimento e validações do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pagamento-simulado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Simulação do cartão sem persistir dados sensíveis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planilha · importacao*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Leitor .xlsx/.csv sem bibliotecas e importações tudo ou nada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mensagens · util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Permissoes, mensagens i18n, CPF, e-mail, imagens, arredondamento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importa quem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58184"/>
          </a:xfrm>
          <a:prstGeom prst="roundRect">
            <a:avLst>
              <a:gd name="adj" fmla="val 292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836605"/>
                <a:gridCol w="788930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Importa de srv/lib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enderecos · importacao-clientes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numeracao · importacao-estoque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· importacao-pedidos · mensagens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(cancelarPorReembolso, retomarPedido) · mensagens · requisicao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lib/pedidos.js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estoque · numeracao · pagamento-simulado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lib/enderecos.js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viacep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lib/importacao-*.js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planilha · importacao · requisicao · util (pedidos: também lib/pedidos)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77840"/>
            <a:ext cx="11091672" cy="502920"/>
          </a:xfrm>
          <a:prstGeom prst="roundRect">
            <a:avLst>
              <a:gd name="adj" fmla="val 21818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80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Reuso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importação cria registros chamando o próprio serviço (srv.run), então valem os mesmos handlers da tela.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Handlers: before, on e after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949440" cy="4251960"/>
          </a:xfrm>
          <a:prstGeom prst="roundRect">
            <a:avLst>
              <a:gd name="adj" fmla="val 258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4922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ApplicationService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Rascunho novo: status e moeda iniciais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Troca de cliente: endereço principal atual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Avatar LuClock"/>
          <p:cNvSpPr/>
          <p:nvPr/>
        </p:nvSpPr>
        <p:spPr>
          <a:xfrm>
            <a:off x="78638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55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before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7510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 e completa os dados antes da gravação.</a:t>
            </a:r>
            <a:endParaRPr lang="en-US" sz="1400" dirty="0"/>
          </a:p>
        </p:txBody>
      </p:sp>
      <p:sp>
        <p:nvSpPr>
          <p:cNvPr id="11" name="Avatar LuPlug"/>
          <p:cNvSpPr/>
          <p:nvPr/>
        </p:nvSpPr>
        <p:spPr>
          <a:xfrm>
            <a:off x="78638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l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752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49640" y="307238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Implementa as actions: pagar, aprovar, cancelar.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8638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49640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49640" y="416966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Recalcula totais depois de NEW e PATCH.</a:t>
            </a:r>
            <a:endParaRPr lang="en-US" sz="1400" dirty="0"/>
          </a:p>
        </p:txBody>
      </p:sp>
      <p:sp>
        <p:nvSpPr>
          <p:cNvPr id="19" name="Avatar LuMessageSquare"/>
          <p:cNvSpPr/>
          <p:nvPr/>
        </p:nvSpPr>
        <p:spPr>
          <a:xfrm>
            <a:off x="7863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549640" y="49469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549640" y="526694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req.error com chaves do _i18n, ex.: ITEM_SEM_ESTOQUE.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Transação da requisição: tudo ou nada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lay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Requisição chega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CAP abre a transação no banco.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Handlers registram erros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req.error acumula; não interrompe.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riangleAlert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Fim da fase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 erro, todos voltam juntos na resposta.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Undo2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8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Rollback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Estoque, número e snapshots desfeitos.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94760"/>
            <a:ext cx="5852160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977640"/>
            <a:ext cx="5394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srv/lib/mensagens.js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interrompe já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4" name="Avatar LuMessageSquare"/>
          <p:cNvSpPr/>
          <p:nvPr/>
        </p:nvSpPr>
        <p:spPr>
          <a:xfrm>
            <a:off x="667512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99592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360920" y="3849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Vários erros de uma vez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7360920" y="4169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mostra todos, com o campo de cada um (target).</a:t>
            </a:r>
            <a:endParaRPr lang="en-US" sz="1400" dirty="0"/>
          </a:p>
        </p:txBody>
      </p:sp>
      <p:sp>
        <p:nvSpPr>
          <p:cNvPr id="38" name="Avatar LuZap"/>
          <p:cNvSpPr/>
          <p:nvPr/>
        </p:nvSpPr>
        <p:spPr>
          <a:xfrm>
            <a:off x="667512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39" name="Image 5" descr="LuZ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5001768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85546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req.reject para parar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7360920" y="517550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Usado quando seguir não faz sentido.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Registro do pedido: do rascunho ao status ABERTO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9890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registro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349" y="1554480"/>
            <a:ext cx="4437223" cy="4617720"/>
          </a:xfrm>
          <a:prstGeom prst="rect">
            <a:avLst/>
          </a:prstGeom>
        </p:spPr>
      </p:pic>
      <p:sp>
        <p:nvSpPr>
          <p:cNvPr id="7" name="Avatar LuUsers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Usuário informa só cliente e itens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Endereço, dados do cliente, preços, totais, número e status vêm do backend.</a:t>
            </a:r>
            <a:endParaRPr lang="en-US" sz="1400" dirty="0"/>
          </a:p>
        </p:txBody>
      </p:sp>
      <p:sp>
        <p:nvSpPr>
          <p:cNvPr id="11" name="Avatar LuCalculator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alcula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provisório no rascunho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Fixado no registro; valores enviados pela UI são descartados.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sequencial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0000000042, gerado na mesma transação: Save que falha não deixa buraco.</a:t>
            </a:r>
            <a:endParaRPr lang="en-US" sz="1400" dirty="0"/>
          </a:p>
        </p:txBody>
      </p:sp>
      <p:sp>
        <p:nvSpPr>
          <p:cNvPr id="19" name="Avatar LuPackage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Edição pela diferença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pedido ABERTO, a reserva é ajustada só pelo que mudou.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srv/lib/pedidos.js: a API do domínio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registrarPedido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do rascunho novo: valida, numera, reserva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atualizarPedidoAberto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da edição: reserva pela diferença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removerCamposControlados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Descarta campos que só o backend 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principal e texto formatado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reservaAtual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Quantidades já reservadas pelo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transicionarPedido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UPDATE condicional ao status lido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lerPedidoParaAcao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Recusa pedido inexistente ou em edição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Mensagem conforme o status atual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Simula, transiciona e grava o 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gravarPagamento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DELETE + INSERT: só a última tentativa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finalizarPedido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Aprovação: baixa estoque e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 ou abre reembolso se pago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criarSnapshots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Congela cliente e itens, uma vez só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liberarReservaDoPedido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 toda a reserva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aprovado: cancela e devolve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retomarPedido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rejeitado: 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Matriz de ações × status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087368"/>
          </a:xfrm>
          <a:prstGeom prst="roundRect">
            <a:avLst>
              <a:gd name="adj" fmla="val 268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411252"/>
                <a:gridCol w="2660691"/>
                <a:gridCol w="2494398"/>
                <a:gridCol w="997759"/>
                <a:gridCol w="21618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Exige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Novo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Também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AGUARDANDO_APROVACAO ou segue 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Grava Pagamentos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 + pagamento APROVADO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Baixa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FINALIZACAO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(não 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 ou AGUARDANDO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Pagamento APROVADO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PROCESSANDO_REEMBOLSO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Cria Reembolsos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 · DEVOLVIDO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PENDENTE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Limpa motivo do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Fora do status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erroStatus devolve PEDIDO_FINALIZADO_IMUTAVEL, PEDIDO_CANCELADO_IMUTAVEL ou PEDIDO_STATUS_INVALIDO (409).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Reserva, liberação e baixa de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88920"/>
          </a:xfrm>
          <a:prstGeom prst="roundRect">
            <a:avLst>
              <a:gd name="adj" fmla="val 393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3545756"/>
                <a:gridCol w="2925249"/>
                <a:gridCol w="28366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 avaliada no banco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Reservar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 do pedido; acréscimo na edição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+=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 ativo e disponível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Liberar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Redução na edição; cancelamento; reembolso 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qtdeReservada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Baixar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Aprovação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 e qtdeEstoque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reservada &gt;= q e estoque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do estoque (coluna gerada a partir do saldo)</a:t>
            </a:r>
            <a:endParaRPr lang="en-US" sz="1600" dirty="0"/>
          </a:p>
        </p:txBody>
      </p:sp>
      <p:sp>
        <p:nvSpPr>
          <p:cNvPr id="9" name="Status SEM_ESTOQUE"/>
          <p:cNvSpPr txBox="1"/>
          <p:nvPr/>
        </p:nvSpPr>
        <p:spPr>
          <a:xfrm>
            <a:off x="82296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SEM_ESTOQUE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51460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disponível &lt;= 0</a:t>
            </a:r>
            <a:endParaRPr lang="en-US" sz="1400" dirty="0"/>
          </a:p>
        </p:txBody>
      </p:sp>
      <p:sp>
        <p:nvSpPr>
          <p:cNvPr id="11" name="Status ACABANDO"/>
          <p:cNvSpPr txBox="1"/>
          <p:nvPr/>
        </p:nvSpPr>
        <p:spPr>
          <a:xfrm>
            <a:off x="438912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ACABANDO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 a 10 disponíveis</a:t>
            </a:r>
            <a:endParaRPr lang="en-US" sz="1400" dirty="0"/>
          </a:p>
        </p:txBody>
      </p:sp>
      <p:sp>
        <p:nvSpPr>
          <p:cNvPr id="13" name="Status EM_ESTOQUE"/>
          <p:cNvSpPr txBox="1"/>
          <p:nvPr/>
        </p:nvSpPr>
        <p:spPr>
          <a:xfrm>
            <a:off x="795528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EM_ESTOQUE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64692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11 ou mais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Concorrência: UPDATE condicional e atômico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'PEDIDO_ALTERADO_CONCORRENTE'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6858000" y="1600200"/>
            <a:ext cx="4782312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Duas ações sobre o mesmo pedido</a:t>
            </a:r>
            <a:endParaRPr lang="en-US" sz="1600" dirty="0"/>
          </a:p>
        </p:txBody>
      </p:sp>
      <p:sp>
        <p:nvSpPr>
          <p:cNvPr id="9" name="Avatar LuCircleCheck"/>
          <p:cNvSpPr/>
          <p:nvPr/>
        </p:nvSpPr>
        <p:spPr>
          <a:xfrm>
            <a:off x="7132320" y="23774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021" y="24981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1812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7818120" y="274320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 muda e a reserva é liberada</a:t>
            </a:r>
            <a:endParaRPr lang="en-US" sz="14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132320" y="41605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42812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18120" y="41330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 Pagamento</a:t>
            </a:r>
            <a:endParaRPr lang="en-US" sz="15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7818120" y="45262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18120" y="4892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HTTP 409, nada é gravado</a:t>
            </a:r>
            <a:endParaRPr lang="en-US" sz="1400" dirty="0"/>
          </a:p>
        </p:txBody>
      </p:sp>
      <p:sp>
        <p:nvSpPr>
          <p:cNvPr id="19" name="Avatar LuLock"/>
          <p:cNvSpPr/>
          <p:nvPr/>
        </p:nvSpPr>
        <p:spPr>
          <a:xfrm>
            <a:off x="685800" y="4160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0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2702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1239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Bloqueio até o commit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44398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dupla reserva, dupla baixa ou dupla liberação.</a:t>
            </a:r>
            <a:endParaRPr lang="en-US" sz="1400" dirty="0"/>
          </a:p>
        </p:txBody>
      </p:sp>
      <p:sp>
        <p:nvSpPr>
          <p:cNvPr id="23" name="Avatar LuRefreshCw"/>
          <p:cNvSpPr/>
          <p:nvPr/>
        </p:nvSpPr>
        <p:spPr>
          <a:xfrm>
            <a:off x="68580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3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2303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5084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Mesma conferência em outros pontos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371600" y="540410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Save da edição do pedido e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PAGAMENTO E REEMBOLSO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Pagamento simulado, sem dados sensíveis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61078" y="1463040"/>
            <a:ext cx="491288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Efetuar Pag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518" y="1554480"/>
            <a:ext cx="4730005" cy="46177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760720" y="1600200"/>
            <a:ext cx="5879592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37360"/>
          <a:ext cx="5513832" cy="914400"/>
        </p:xfrm>
        <a:graphic>
          <a:graphicData uri="http://schemas.openxmlformats.org/drawingml/2006/table">
            <a:tbl>
              <a:tblPr/>
              <a:tblGrid>
                <a:gridCol w="1069848"/>
                <a:gridCol w="2304288"/>
                <a:gridCol w="2139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Cenário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4111 1111 1111 1111 · CVV 123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Aguardando aprovação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Recusado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mesmo cartão · CVV 000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Segue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5555 5555 5555 4444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Bandeira 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validade vencida ou CVV curto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Erro, não é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Lock"/>
          <p:cNvSpPr/>
          <p:nvPr/>
        </p:nvSpPr>
        <p:spPr>
          <a:xfrm>
            <a:off x="589788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08" y="5230368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583680" y="508406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Grava só o resultado seguro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40410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Bandeira, últimos 4 dígitos, máscara, autorização e mensagem.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PAGAMENTO E REEMBOLSO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Aprovação, cancelamento e reembolso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55681" y="1463040"/>
            <a:ext cx="7118239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cancelamento e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121" y="1554480"/>
            <a:ext cx="6935359" cy="4617720"/>
          </a:xfrm>
          <a:prstGeom prst="rect">
            <a:avLst/>
          </a:prstGeom>
        </p:spPr>
      </p:pic>
      <p:sp>
        <p:nvSpPr>
          <p:cNvPr id="7" name="Avatar LuBadgeCheck"/>
          <p:cNvSpPr/>
          <p:nvPr/>
        </p:nvSpPr>
        <p:spPr>
          <a:xfrm>
            <a:off x="80010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8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686800" y="165506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Aprovar pedido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686800" y="197510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Baixa o estoque, gera snapshots e finaliza.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80010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2" name="Image 2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72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686800" y="275234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pago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686800" y="307238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o reembolso e mantém a reserva.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80010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6" name="Image 3" descr="Lu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86800" y="384962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aprovado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686800" y="416966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reserva, cancela e marca DEVOLVIDO.</a:t>
            </a:r>
            <a:endParaRPr lang="en-US" sz="1400" dirty="0"/>
          </a:p>
        </p:txBody>
      </p:sp>
      <p:sp>
        <p:nvSpPr>
          <p:cNvPr id="19" name="Avatar LuTriangleAlert"/>
          <p:cNvSpPr/>
          <p:nvPr/>
        </p:nvSpPr>
        <p:spPr>
          <a:xfrm>
            <a:off x="80010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0" name="Image 4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0" y="494690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rejeitado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686800" y="526694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 volta ao status anterior.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pelo CEP com a API ViaCEP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0746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909" y="1554480"/>
            <a:ext cx="4437223" cy="4617720"/>
          </a:xfrm>
          <a:prstGeom prst="rect">
            <a:avLst/>
          </a:prstGeom>
        </p:spPr>
      </p:pic>
      <p:sp>
        <p:nvSpPr>
          <p:cNvPr id="7" name="Avatar LuMapPin"/>
          <p:cNvSpPr/>
          <p:nvPr/>
        </p:nvSpPr>
        <p:spPr>
          <a:xfrm>
            <a:off x="58521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37960" y="1655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Reaproveita CEP conhecido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537960" y="197510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já validado no cadastro não gera nova chamada; cache de 100 CEPs por processo.</a:t>
            </a:r>
            <a:endParaRPr lang="en-US" sz="1400" dirty="0"/>
          </a:p>
        </p:txBody>
      </p:sp>
      <p:sp>
        <p:nvSpPr>
          <p:cNvPr id="11" name="Avatar LuClock"/>
          <p:cNvSpPr/>
          <p:nvPr/>
        </p:nvSpPr>
        <p:spPr>
          <a:xfrm>
            <a:off x="58521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537960" y="27523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fetch nativo com timeout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537960" y="307238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URL em cds.requires.viacep; 5 s de limite; indisponível vira aviso e bloqueia o Save.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58521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37960" y="38496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cepStatus V · I · X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537960" y="416966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Validado, inválido ou indisponível, gravado no endereço.</a:t>
            </a:r>
            <a:endParaRPr lang="en-US" sz="1400" dirty="0"/>
          </a:p>
        </p:txBody>
      </p:sp>
      <p:sp>
        <p:nvSpPr>
          <p:cNvPr id="19" name="Avatar LuPencil"/>
          <p:cNvSpPr/>
          <p:nvPr/>
        </p:nvSpPr>
        <p:spPr>
          <a:xfrm>
            <a:off x="58521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37960" y="494690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 geral de município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537960" y="526694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Logradouro e bairro ficam editáveis e obrigatórios.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em massa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126156"/>
                <a:gridCol w="1905802"/>
                <a:gridCol w="35517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Uma linha é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Colunas obrigatórias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+ endereço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Nome, E-mail, Telefone, Nascimento, CEP, Número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Nome, Categoria, Quantidade, Preço unitário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 de um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(referência), CPF, SKU,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772400" y="1600200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ShieldCheck"/>
          <p:cNvSpPr/>
          <p:nvPr/>
        </p:nvSpPr>
        <p:spPr>
          <a:xfrm>
            <a:off x="800100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2674" y="19604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32520" y="18013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Tudo ou nada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732520" y="2203704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erro cancela e lista o motivo por linha.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7772400" y="3118104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ileSpreadsheet"/>
          <p:cNvSpPr/>
          <p:nvPr/>
        </p:nvSpPr>
        <p:spPr>
          <a:xfrm>
            <a:off x="8001000" y="33467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674" y="3478378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32520" y="3319272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Leitor próprio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3721608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XLSX lido como ZIP + XML; até 500 linhas e 50 MB.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7772400" y="4636008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KeyRound"/>
          <p:cNvSpPr/>
          <p:nvPr/>
        </p:nvSpPr>
        <p:spPr>
          <a:xfrm>
            <a:off x="8001000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674" y="4996282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732520" y="4837176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duplicidade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8732520" y="5239512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nome do item e referência do pedido.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548640" y="489204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77240" y="4892040"/>
            <a:ext cx="6537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Mesmas regras da tela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criação passa pelo próprio serviço: valem CPF, ViaCEP, SKU, número do pedido e reserva de 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um .xlsx é lido sem bibliotecas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arch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Assinatura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PK\x03\x04 é XLSX; D0 CF 11 E0 é .xls antigo (recusado).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olderTre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olderTr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Diretório do ZIP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Entradas lidas sob demanda (store ou deflate).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FileCod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workbook.xml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Resolve a primeira aba pelas relações.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able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sheet1.xml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Células por referência (C7); textos em sharedStrings.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istChecks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Sem acento, caixa ou pontuação; aceita sinônimos.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3192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1480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MAX_LINHAS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cada parte é descompactada com limite ("zip bomb")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inflateRawSync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maxOutputLength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Avatar LuFileSpreadsheet"/>
          <p:cNvSpPr/>
          <p:nvPr/>
        </p:nvSpPr>
        <p:spPr>
          <a:xfrm>
            <a:off x="6675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File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13308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360920" y="398678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CSV também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360920" y="430682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Separador ; , ou tab; UTF-8 com/sem BOM ou Windows-1252.</a:t>
            </a:r>
            <a:endParaRPr lang="en-US" sz="1400" dirty="0"/>
          </a:p>
        </p:txBody>
      </p:sp>
      <p:sp>
        <p:nvSpPr>
          <p:cNvPr id="45" name="Avatar LuShieldCheck"/>
          <p:cNvSpPr/>
          <p:nvPr/>
        </p:nvSpPr>
        <p:spPr>
          <a:xfrm>
            <a:off x="667512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13892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360920" y="4992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dependências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360920" y="5312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Menos superfície de ataque e nada a atualizar.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JavaScript e TypeScript: duas implementações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4077619"/>
                <a:gridCol w="434355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Aspecto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nodejs-padrao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nodejs-typescript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Linguagem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JavaScript ESM (srv/*.js)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TypeScript 6 strict (srv/*.ts)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this.entities, cds.entities(...)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Classes do cds-typer em #cds-models/*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Parâmetros de 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req.data sem 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Tipos derivados do modelo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Execução local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watch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cds-tsx watch (tsx)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Build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copia os .js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compila com tsc para gen/srv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74 (node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76 (node --import tsx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mesmo handler em TypeScript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7040880" cy="3261360"/>
          </a:xfrm>
          <a:prstGeom prst="roundRect">
            <a:avLst>
              <a:gd name="adj" fmla="val 3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58368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'@sap/cds'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'#cds-models/ReembolsosService'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'#cds-models/pedidoscompras'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â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çõ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gerados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__parameters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Promise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7818120" y="1554480"/>
            <a:ext cx="3822192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046720" y="1737360"/>
            <a:ext cx="3364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srv/typer.cds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'ItemPedido'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9" name="Avatar LuShieldCheck"/>
          <p:cNvSpPr/>
          <p:nvPr/>
        </p:nvSpPr>
        <p:spPr>
          <a:xfrm>
            <a:off x="786384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43159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549640" y="41696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no compilador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549640" y="4489704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 ou status inexistente não compila.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Handlers finos por serviço e regras de domínio em srv/lib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Transação por requisição: qualquer erro desfaz tudo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Matriz de ações × status com efeitos no estoque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Movimentos de estoque e transições de status atômicos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Pagamento simulado e reembolso com retomada do pedido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ViaCEP, leitor de planilhas próprio e importação tudo ou nada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 Elements: geração com Fiori tools, anotações, extensões e launchpad.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Lógica de Negócio</dc:title>
  <dc:subject>Projeto Pedidos de Compras em SAP CAP e SAP Fiori</dc:subject>
  <dc:creator>Adriano Bispo</dc:creator>
  <cp:lastModifiedBy>Adriano Bispo</cp:lastModifiedBy>
  <cp:revision>1</cp:revision>
  <dcterms:created xsi:type="dcterms:W3CDTF">2026-10-20T11:28:03Z</dcterms:created>
  <dcterms:modified xsi:type="dcterms:W3CDTF">2026-10-20T11:28:03Z</dcterms:modified>
</cp:coreProperties>
</file>