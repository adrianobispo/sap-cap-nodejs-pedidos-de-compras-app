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0996cf6-9638-73e4-b10f-dbd955676d61}">
          <p14:sldIdLst>
            <p14:sldId id="256"/>
          </p14:sldIdLst>
        </p14:section>
        <p14:section name="Contexto" id="{df34b2e1-59fe-1f42-ead7-1d95d96165cb}">
          <p14:sldIdLst>
            <p14:sldId id="257"/>
          </p14:sldIdLst>
        </p14:section>
        <p14:section name="Arquitetura" id="{72c92518-27ab-9fbe-ea82-5b093226b5b0}">
          <p14:sldIdLst>
            <p14:sldId id="258"/>
            <p14:sldId id="259"/>
          </p14:sldIdLst>
        </p14:section>
        <p14:section name="Definição dos serviços" id="{89b021b5-f647-af65-85c1-455d4537bc2b}">
          <p14:sldIdLst>
            <p14:sldId id="260"/>
            <p14:sldId id="261"/>
            <p14:sldId id="262"/>
            <p14:sldId id="263"/>
            <p14:sldId id="264"/>
          </p14:sldIdLst>
        </p14:section>
        <p14:section name="Catálogo dos serviços" id="{fcd57e85-da16-cdd6-5fa9-312ea78443b7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Autorização e validação" id="{d1246f6a-db5a-0346-e8e7-b1328063686b}">
          <p14:sldIdLst>
            <p14:sldId id="274"/>
            <p14:sldId id="275"/>
          </p14:sldIdLst>
        </p14:section>
        <p14:section name="Publicação local" id="{14e96e8e-d8ad-53ae-0caa-547c92ed4a97}">
          <p14:sldIdLst>
            <p14:sldId id="276"/>
            <p14:sldId id="277"/>
          </p14:sldIdLst>
        </p14:section>
        <p14:section name="Encerramento" id="{66ea5a5c-2e20-7428-dcfe-66313e6cdff6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2: o modelo CDS vira APIs OData V4 consumidas pelas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aplicação tem o seu serviço; regras que atravessam domínios ficam em srv/lib (etapa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Visão geral: launchpad e apps SAPUI5 consomem os serviços OData do CAP, que usam srv/lib e o modelo CDS sobre SQLite ou HANA.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serviços. O AnaliticoService é somente leitura e atende às quatro apps de análise.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projeção escolhe o que expor, achata dados de associações e esconde o que não deve sair do serviço.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anotação liga o rascunho: o CAP cria as tabelas _drafts e trata Editar, Salvar e Descartar. Os handlers se encaixam nos eventos.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actions são vinculadas à instância. OperationAvailable habilita o botão só no status certo; SideEffects recarrega 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status do pedido e as ações que os movem. O reembolso aparece quando um pedido pago é cancelado.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Entidades auxiliares expostas só para leitura: ajudas de valores e textos das CodeLists.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Serviço da Gestão de Clientes. Comum consulta; Admin altera e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Serviço da Gestão de Estoque. Não expõe reserva, liberação nem baixa: só os pedidos movimentam o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Serviço da app Pedidos de Compras: o pedido com rascunho e as entidades de apoio somente leitura.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Serviço da Gestão de Reembolsos: lista somente leitura e duas ações de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Camada analítica: quatro views com dimensões e medidas, consultadas com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Além do que o serviço declara, o CAP expõe destinos de composições e CodeLists (@cds.autoexpose). O compilador cria uma view por entidade exposta.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view com group by no serviço de clientes: lista cada CEP já validado uma única vez, com os dados do endereço.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papéis do @restrict não chegam às anotações de UI. O singleton informa à UI se o usuário só pode consultar.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mesma assinatura nos três serviços de cadastro e pedidos. O arquivo chega em base64 e a resposta é um tipo estruturado.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@requires protege o serviço inteiro; @restrict define o que cada papel pode fazer em cada entidade.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Validações simples são declarativas; as que dependem de algoritmo, de outros registros ou de serviços externos ficam nos handlers.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comando sobe os serviços e as apps. O prewatch cria o db.sqlite na primeira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apps Fiori fazem estas chamadas por baixo dos panos. Os testes automatizados usam exatamente a mesma sequência.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2 — Serviços OData V4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2 — Serviços OData V4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02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Serviços OData V4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Expondo o modelo como serviços OData V4: projeções, rascunho, actions, autorização e publicação local.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Serviços OData V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3252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0" name="Etapa 3"/>
          <p:cNvSpPr/>
          <p:nvPr/>
        </p:nvSpPr>
        <p:spPr>
          <a:xfrm>
            <a:off x="928116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2980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37844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09270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2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publicamos o modelo como cinco serviços OData V4, um por aplicação, com rascunho, actions do ciclo de vida, value helps e autorização declarativa por papel.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Arquitetura da solução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990758" y="1463040"/>
            <a:ext cx="6065204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Arquitetura da solu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198" y="1554480"/>
            <a:ext cx="5882324" cy="4617720"/>
          </a:xfrm>
          <a:prstGeom prst="rect">
            <a:avLst/>
          </a:prstGeom>
        </p:spPr>
      </p:pic>
      <p:sp>
        <p:nvSpPr>
          <p:cNvPr id="7" name="Avatar LuAppWindow"/>
          <p:cNvSpPr/>
          <p:nvPr/>
        </p:nvSpPr>
        <p:spPr>
          <a:xfrm>
            <a:off x="7818120" y="17830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1" descr="LuAppWind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189280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503920" y="17465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Front-end SAPUI5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8503920" y="206654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Launchpad, 4 apps Fiori Elements e 4 apps freestyle de análise.</a:t>
            </a:r>
            <a:endParaRPr lang="en-US" sz="1400" dirty="0"/>
          </a:p>
        </p:txBody>
      </p:sp>
      <p:sp>
        <p:nvSpPr>
          <p:cNvPr id="11" name="Avatar LuServer"/>
          <p:cNvSpPr/>
          <p:nvPr/>
        </p:nvSpPr>
        <p:spPr>
          <a:xfrm>
            <a:off x="7818120" y="2880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2" descr="LuSer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848" y="299008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503920" y="284378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8503920" y="316382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Um serviço por app, servidos em /odata/v4/&lt;caminho&gt;.</a:t>
            </a:r>
            <a:endParaRPr lang="en-US" sz="1400" dirty="0"/>
          </a:p>
        </p:txBody>
      </p:sp>
      <p:sp>
        <p:nvSpPr>
          <p:cNvPr id="15" name="Avatar LuCodeXml"/>
          <p:cNvSpPr/>
          <p:nvPr/>
        </p:nvSpPr>
        <p:spPr>
          <a:xfrm>
            <a:off x="7818120" y="3977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3" descr="LuCodeXm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408736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503920" y="394106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srv/lib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8503920" y="426110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Regras de domínio compartilhadas, sempre na transação.</a:t>
            </a:r>
            <a:endParaRPr lang="en-US" sz="1400" dirty="0"/>
          </a:p>
        </p:txBody>
      </p:sp>
      <p:sp>
        <p:nvSpPr>
          <p:cNvPr id="19" name="Avatar LuDatabase"/>
          <p:cNvSpPr/>
          <p:nvPr/>
        </p:nvSpPr>
        <p:spPr>
          <a:xfrm>
            <a:off x="7818120" y="5074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4" descr="Lu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7848" y="518464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503920" y="503834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Persistência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8503920" y="535838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SQLite no desenvolvimento, SAP HANA Cloud em produção.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Um serviço OData por aplicação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062675"/>
                <a:gridCol w="2145182"/>
                <a:gridCol w="3135267"/>
                <a:gridCol w="577549"/>
                <a:gridCol w="2805239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Serviço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Caminho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Entidades principais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Draft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Actions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ClientesService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Clientes, Enderecos, CepsCadastrados, Permissoes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definirEnderecoPrincipal, importarPlanilha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EstoqueService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Itens, Categorias, StatusEstoque, Permissoes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importarPlanilha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Pedidos, ItensPedido, ClientesAtivos, ItensAtivos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efetuarPagamento, aprovarPedido, cancelarPedido, importarPlanilha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ReembolsosService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Reembolsos (somente leitura), StatusReembolso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aprovarReembolso, rejeitarReembolso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AnaliticoService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/odata/v4/analitico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PedidosAnalise, ClientesAnalise, ItensAnalise, ReembolsosAnalise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— ($apply)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Anatomia de um serviço: projeções sobre o modelo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492240" cy="3779520"/>
          </a:xfrm>
          <a:prstGeom prst="roundRect">
            <a:avLst>
              <a:gd name="adj" fmla="val 290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6035040" cy="341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'../db/schema'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@path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'authenticated-user'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@odata.draft.enabled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@restrict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'*'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'Comum'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cpfFormatado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cpfClienteFormatado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semReembolso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excluding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Avatar LuRoute"/>
          <p:cNvSpPr/>
          <p:nvPr/>
        </p:nvSpPr>
        <p:spPr>
          <a:xfrm>
            <a:off x="74066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92440" y="165506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@path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197510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Define a URL: /odata/v4/pedidos.</a:t>
            </a:r>
            <a:endParaRPr lang="en-US" sz="1400" dirty="0"/>
          </a:p>
        </p:txBody>
      </p:sp>
      <p:sp>
        <p:nvSpPr>
          <p:cNvPr id="11" name="Avatar LuLink"/>
          <p:cNvSpPr/>
          <p:nvPr/>
        </p:nvSpPr>
        <p:spPr>
          <a:xfrm>
            <a:off x="74066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92440" y="275234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Campos achatados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092440" y="307238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Dados do cliente lidos pela associação, sem duplicar colunas.</a:t>
            </a:r>
            <a:endParaRPr lang="en-US" sz="1400" dirty="0"/>
          </a:p>
        </p:txBody>
      </p:sp>
      <p:sp>
        <p:nvSpPr>
          <p:cNvPr id="15" name="Avatar LuEyeOff"/>
          <p:cNvSpPr/>
          <p:nvPr/>
        </p:nvSpPr>
        <p:spPr>
          <a:xfrm>
            <a:off x="74066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EyeOf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92440" y="384962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excluding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092440" y="416966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Remove do serviço o que a app não deve navegar.</a:t>
            </a:r>
            <a:endParaRPr lang="en-US" sz="1400" dirty="0"/>
          </a:p>
        </p:txBody>
      </p:sp>
      <p:sp>
        <p:nvSpPr>
          <p:cNvPr id="19" name="Avatar LuSquareFunction"/>
          <p:cNvSpPr/>
          <p:nvPr/>
        </p:nvSpPr>
        <p:spPr>
          <a:xfrm>
            <a:off x="74066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SquareFunc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092440" y="494690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Colunas calculadas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8092440" y="526694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semReembolso controla a visibilidade de um link na UI.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Rascunho (draft) com @odata.draft.enabled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3931920" cy="448056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Pencil"/>
          <p:cNvSpPr/>
          <p:nvPr/>
        </p:nvSpPr>
        <p:spPr>
          <a:xfrm>
            <a:off x="822960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Penc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010583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2960" y="257860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 que o CAP entrega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990088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Tabelas &lt;Serviço&gt;_&lt;Entidade&gt;_drafts geradas automaticamente, bloqueio de edição por usuário, mensagens de validação durante a digitação e o Salvar que ativa o registro. Clientes (com endereços), Itens e Pedidos (com itens) usam rascunho.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4709160" y="1600200"/>
            <a:ext cx="6931152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737360"/>
          <a:ext cx="6565392" cy="914400"/>
        </p:xfrm>
        <a:graphic>
          <a:graphicData uri="http://schemas.openxmlformats.org/drawingml/2006/table">
            <a:tbl>
              <a:tblPr/>
              <a:tblGrid>
                <a:gridCol w="1681381"/>
                <a:gridCol w="2001644"/>
                <a:gridCol w="2882367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Evento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Onde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Uso no projeto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Valores iniciais: status, moeda, score, principal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PATCH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Endereço pelo CEP, preço e total dos itens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EDIT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entidade ativa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 só é editado em ABERTO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/ UPDATE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Salvar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Validações, SKU, registro e reserva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DISCARD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Recalcula o total ao excluir linha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Actions vinculadas ao ciclo de vida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766560" cy="4175760"/>
          </a:xfrm>
          <a:prstGeom prst="roundRect">
            <a:avLst>
              <a:gd name="adj" fmla="val 262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630936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OperationAvailable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'ABERTO'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SideEffects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TargetEntities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efetuarPagamento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numeroCartao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7589520" y="1600200"/>
            <a:ext cx="4050792" cy="4480560"/>
          </a:xfrm>
          <a:prstGeom prst="roundRect">
            <a:avLst>
              <a:gd name="adj" fmla="val 270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86384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Disponível quando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2331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efetuarPagamento</a:t>
            </a:r>
            <a:endParaRPr lang="en-US" sz="1400" dirty="0"/>
          </a:p>
        </p:txBody>
      </p:sp>
      <p:sp>
        <p:nvSpPr>
          <p:cNvPr id="10" name="Status ABERTO"/>
          <p:cNvSpPr txBox="1"/>
          <p:nvPr/>
        </p:nvSpPr>
        <p:spPr>
          <a:xfrm>
            <a:off x="7863840" y="2642616"/>
            <a:ext cx="903427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ABERTO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3063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endParaRPr lang="en-US" sz="1400" dirty="0"/>
          </a:p>
        </p:txBody>
      </p:sp>
      <p:sp>
        <p:nvSpPr>
          <p:cNvPr id="12" name="Status AGUARDANDO_APROVACAO"/>
          <p:cNvSpPr txBox="1"/>
          <p:nvPr/>
        </p:nvSpPr>
        <p:spPr>
          <a:xfrm>
            <a:off x="7863840" y="3374136"/>
            <a:ext cx="2157984" cy="274320"/>
          </a:xfrm>
          <a:prstGeom prst="roundRect">
            <a:avLst>
              <a:gd name="adj" fmla="val 46667"/>
            </a:avLst>
          </a:prstGeom>
          <a:solidFill>
            <a:srgbClr val="DAFDF5"/>
          </a:solidFill>
          <a:ln w="9525">
            <a:solidFill>
              <a:srgbClr val="047A7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7A76"/>
                </a:solidFill>
              </a:rPr>
              <a:t>AGUARDANDO_APROVACAO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3794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400" dirty="0"/>
          </a:p>
        </p:txBody>
      </p:sp>
      <p:sp>
        <p:nvSpPr>
          <p:cNvPr id="14" name="Status ABERTO ou AGUARDANDO"/>
          <p:cNvSpPr txBox="1"/>
          <p:nvPr/>
        </p:nvSpPr>
        <p:spPr>
          <a:xfrm>
            <a:off x="7863840" y="4105656"/>
            <a:ext cx="2157984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ABERTO ou AGUARDANDO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4526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1400" dirty="0"/>
          </a:p>
        </p:txBody>
      </p:sp>
      <p:sp>
        <p:nvSpPr>
          <p:cNvPr id="16" name="Status Reembolso PENDENTE"/>
          <p:cNvSpPr txBox="1"/>
          <p:nvPr/>
        </p:nvSpPr>
        <p:spPr>
          <a:xfrm>
            <a:off x="7863840" y="4837176"/>
            <a:ext cx="1978762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Reembolso PENDENTE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1400" dirty="0"/>
          </a:p>
        </p:txBody>
      </p:sp>
      <p:sp>
        <p:nvSpPr>
          <p:cNvPr id="18" name="Status Reembolso PENDENTE"/>
          <p:cNvSpPr txBox="1"/>
          <p:nvPr/>
        </p:nvSpPr>
        <p:spPr>
          <a:xfrm>
            <a:off x="7863840" y="5568696"/>
            <a:ext cx="1978762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Reembolso PENDENTE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As transições de status que as actions implementam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1490950" y="1463040"/>
            <a:ext cx="9207052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Ciclo de vida do ped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2390" y="1554480"/>
            <a:ext cx="9024172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DEFINIÇÃO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Value helps e entidades somente leitura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Users"/>
          <p:cNvSpPr/>
          <p:nvPr/>
        </p:nvSpPr>
        <p:spPr>
          <a:xfrm>
            <a:off x="77724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ClientesAtivos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Projeção com where clienteAtivo = true: só clientes ativos fazem pedidos.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4306824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Package"/>
          <p:cNvSpPr/>
          <p:nvPr/>
        </p:nvSpPr>
        <p:spPr>
          <a:xfrm>
            <a:off x="4535424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ack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19604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66944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ItensAtivos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5266944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Itens ativos com SKU, preço e qtdeDisponivel para escolher no pedido.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8065008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6" name="Avatar LuMapPin"/>
          <p:cNvSpPr/>
          <p:nvPr/>
        </p:nvSpPr>
        <p:spPr>
          <a:xfrm>
            <a:off x="8293608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7" name="Image 2" descr="LuMap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196047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025128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CepsCadastrados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9025128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Um registro por CEP já validado: escolher um evita nova chamada ao ViaCEP.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548640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1" name="Avatar LuShieldCheck"/>
          <p:cNvSpPr/>
          <p:nvPr/>
        </p:nvSpPr>
        <p:spPr>
          <a:xfrm>
            <a:off x="777240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2" name="Image 3" descr="Lu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4" y="424647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08760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Permissoes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1508760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Singleton com somenteLeitura, que esconde botões na UI do perfil Comum.</a:t>
            </a:r>
            <a:endParaRPr lang="en-US" sz="1400" dirty="0"/>
          </a:p>
        </p:txBody>
      </p:sp>
      <p:sp>
        <p:nvSpPr>
          <p:cNvPr id="25" name="Cartão"/>
          <p:cNvSpPr/>
          <p:nvPr/>
        </p:nvSpPr>
        <p:spPr>
          <a:xfrm>
            <a:off x="4306824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6" name="Avatar LuListChecks"/>
          <p:cNvSpPr/>
          <p:nvPr/>
        </p:nvSpPr>
        <p:spPr>
          <a:xfrm>
            <a:off x="4535424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27" name="Image 4" descr="LuListCheck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098" y="4246474"/>
            <a:ext cx="285293" cy="28529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266944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CodeLists @readonly</a:t>
            </a:r>
            <a:endParaRPr lang="en-US" sz="1600" dirty="0"/>
          </a:p>
        </p:txBody>
      </p:sp>
      <p:sp>
        <p:nvSpPr>
          <p:cNvPr id="29" name="Text 21"/>
          <p:cNvSpPr txBox="1"/>
          <p:nvPr/>
        </p:nvSpPr>
        <p:spPr>
          <a:xfrm>
            <a:off x="5266944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StatusPedido, StatusPagamento, MetodosPagamento e demais: textos e filtros.</a:t>
            </a:r>
            <a:endParaRPr lang="en-US" sz="1400" dirty="0"/>
          </a:p>
        </p:txBody>
      </p:sp>
      <p:sp>
        <p:nvSpPr>
          <p:cNvPr id="30" name="Cartão"/>
          <p:cNvSpPr/>
          <p:nvPr/>
        </p:nvSpPr>
        <p:spPr>
          <a:xfrm>
            <a:off x="8065008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1" name="Avatar LuLock"/>
          <p:cNvSpPr/>
          <p:nvPr/>
        </p:nvSpPr>
        <p:spPr>
          <a:xfrm>
            <a:off x="8293608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2" name="Image 5" descr="Lu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5282" y="4246474"/>
            <a:ext cx="285293" cy="285293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025128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Pagamentos</a:t>
            </a:r>
            <a:endParaRPr lang="en-US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9025128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Pagamentos e snapshots são @readonly: só as actions os gravam.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CATÁLOGO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ClientesService · /odata/v4/clientes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346704"/>
          </a:xfrm>
          <a:prstGeom prst="roundRect">
            <a:avLst>
              <a:gd name="adj" fmla="val 327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747961"/>
                <a:gridCol w="3811688"/>
                <a:gridCol w="1950166"/>
                <a:gridCol w="221609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Entity set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Definição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Acesso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on db.Clientes + cidadePrincipal, ufPrincipal; excluding 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Draft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READ Comum · *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on db.Enderecos; @cds.redirection.target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Draft (filho)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READ Comum · *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on db.Generos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CepsCadastrados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select from db.Enderecos ... group by cep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View 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Permissoes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aspect Permissoes; @odata.singleton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Singleton calculado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definirEnderecoPrincipal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 vinculada a Enderecos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Admin (via @restrict)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 não vinculada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@requires: 'Admin'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32120"/>
            <a:ext cx="10680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Rascunho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Enderecos é composição de Clientes: entra no mesmo rascunho (ClientesService_Enderecos_drafts).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CATÁLOGO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EstoqueService · /odata/v4/estoque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2962656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747961"/>
                <a:gridCol w="3811688"/>
                <a:gridCol w="1950166"/>
                <a:gridCol w="221609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Entity set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Definição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Acesso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on db.Itens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Draft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READ Comum · *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on db.Categorias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on db.StatusEstoque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Currencies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exposta automaticamente (associação currency)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@cds.autoexpose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Permissoes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aspect Permissoes; @odata.singleton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Singleton calculado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 não vinculada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@requires: 'Admin'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32120"/>
            <a:ext cx="10680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Por desenho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movimentos de estoque são funções de srv/lib/estoque, chamadas só pelo domínio de pedidos.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CATÁLOGO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PedidosService · /odata/v4/pedidos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279392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747961"/>
                <a:gridCol w="3811688"/>
                <a:gridCol w="1950166"/>
                <a:gridCol w="221609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Entity set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Definição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Acesso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projection + dados do cliente + semReembolso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Draft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* Comum e Admin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projection + item.sku as skuItem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Draft (filho)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Herdado do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composição de Pedidos (exposta junto)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Só as actions gravam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PedidosClienteSnapshots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composição de Pedidos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Só as actions gravam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PedidosItensSnapshots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composição de Pedidos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Só as actions gravam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 · Enderecos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projeções com colunas escolhidas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Textos e value help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ClientesAtivos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projection on Clientes where clienteAtivo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Value help do cliente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 · ItensAtivos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projeções; ItensAtivos where itemAtivo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Value help do item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 · 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CodeLists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Filtros e textos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MetodosPagamento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CodeList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Diálogo de pagamento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actions de 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efetuarPagamento, aprovar e cancelar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Action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* Comum e Admin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action não vinculada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Action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Comum e Admin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CATÁLOGO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ReembolsosService · /odata/v4/reembolsos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2962656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747961"/>
                <a:gridCol w="3811688"/>
                <a:gridCol w="1950166"/>
                <a:gridCol w="221609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Entity set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Definição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Acesso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+ nomeCliente, cpfCliente, cpfClienteFormatado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* Comum e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on db.StatusReembolso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projection on db.StatusPedido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Status anterior do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Currencies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exposta automaticamente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@cds.autoexpose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Autenticado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 vinculada; motivo opcional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Só se PENDENTE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rejeitarReembolso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 vinculada; @mandatory motivoDecisao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Action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Só se PENDENTE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32120"/>
            <a:ext cx="10680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Sem criação pela API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solicitação nasce no cancelamento do pedido pago, dentro do PedidosService.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CATÁLOGO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AnaliticoService · /odata/v4/analitico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747961"/>
                <a:gridCol w="3811688"/>
                <a:gridCol w="1950166"/>
                <a:gridCol w="221609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Entity set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Definição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Acesso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select from db.Pedidos (status, UF, mês)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View 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@requires Comum,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select from db.Clientes (gênero, UF, faixa de score)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View 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@requires Comum,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select from db.Itens (categoria, situação)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View 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@requires Comum,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select from db.Reembolsos (status, motivo, mês)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View @readonly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@requires Comum,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32120"/>
            <a:ext cx="10680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Detalhes na etapa 5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medidas com @Aggregation.default e custom aggregates.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CATÁLOGO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Entidades expostas automaticamente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669280" cy="2788920"/>
          </a:xfrm>
          <a:prstGeom prst="roundRect">
            <a:avLst>
              <a:gd name="adj" fmla="val 393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2120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views geradas para o PedidosService (cds compile)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PedidosService_Pedidos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PedidosService_ItensPedido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PedidosService_Pagamentos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composição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PedidosService_PedidosClienteSnapshots composição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PedidosService_PedidosItensSnapshots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composição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PedidosService_Generos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autoexpose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PedidosService_Categorias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autoexpose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PedidosService_Currencies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autoexpose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PedidosService_StatusEstoque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autoexpose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PedidosService_ClientesAtivos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PedidosService_ItensAtivos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PedidosService_DraftAdministrativeData</a:t>
            </a:r>
            <a:endParaRPr lang="en-US" sz="1200" dirty="0"/>
          </a:p>
        </p:txBody>
      </p:sp>
      <p:sp>
        <p:nvSpPr>
          <p:cNvPr id="7" name="Avatar LuLayers"/>
          <p:cNvSpPr/>
          <p:nvPr/>
        </p:nvSpPr>
        <p:spPr>
          <a:xfrm>
            <a:off x="653796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4768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223760" y="160934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Composições vão junto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223760" y="1929384"/>
            <a:ext cx="4434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Filhos de uma entidade exposta também são expostos.</a:t>
            </a:r>
            <a:endParaRPr lang="en-US" sz="1400" dirty="0"/>
          </a:p>
        </p:txBody>
      </p:sp>
      <p:sp>
        <p:nvSpPr>
          <p:cNvPr id="11" name="Avatar LuListChecks"/>
          <p:cNvSpPr/>
          <p:nvPr/>
        </p:nvSpPr>
        <p:spPr>
          <a:xfrm>
            <a:off x="653796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istChec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688" y="28529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0" y="270662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CodeLists autoexpostas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223760" y="3026664"/>
            <a:ext cx="4434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Gênero do cliente e categoria do item chegam por associação.</a:t>
            </a:r>
            <a:endParaRPr lang="en-US" sz="1400" dirty="0"/>
          </a:p>
        </p:txBody>
      </p:sp>
      <p:sp>
        <p:nvSpPr>
          <p:cNvPr id="15" name="Avatar LuGlobe"/>
          <p:cNvSpPr/>
          <p:nvPr/>
        </p:nvSpPr>
        <p:spPr>
          <a:xfrm>
            <a:off x="653796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3950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223760" y="380390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Views localized_*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223760" y="4123944"/>
            <a:ext cx="4434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Uma versão traduzida de cada view com textos.</a:t>
            </a:r>
            <a:endParaRPr lang="en-US" sz="1400" dirty="0"/>
          </a:p>
        </p:txBody>
      </p:sp>
      <p:sp>
        <p:nvSpPr>
          <p:cNvPr id="19" name="Avatar LuEyeOff"/>
          <p:cNvSpPr/>
          <p:nvPr/>
        </p:nvSpPr>
        <p:spPr>
          <a:xfrm>
            <a:off x="653796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EyeOff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7688" y="5047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223760" y="49011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Controle com @readonly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7223760" y="5221224"/>
            <a:ext cx="4434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Annotate no serviço impede escrita pela API.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CATÁLOGO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CepsCadastrados: uma view agregada como value help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400800" cy="3185160"/>
          </a:xfrm>
          <a:prstGeom prst="roundRect">
            <a:avLst>
              <a:gd name="adj" fmla="val 344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943600" cy="281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CepsCadastrados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qtdeEnderecos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cepStatus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cepGeral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7" name="Avatar LuKeyRound"/>
          <p:cNvSpPr/>
          <p:nvPr/>
        </p:nvSpPr>
        <p:spPr>
          <a:xfrm>
            <a:off x="731520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Key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2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01000" y="160934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key cep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192938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chave da view é o próprio CEP agrupado.</a:t>
            </a:r>
            <a:endParaRPr lang="en-US" sz="1400" dirty="0"/>
          </a:p>
        </p:txBody>
      </p:sp>
      <p:sp>
        <p:nvSpPr>
          <p:cNvPr id="11" name="Avatar LuFilter"/>
          <p:cNvSpPr/>
          <p:nvPr/>
        </p:nvSpPr>
        <p:spPr>
          <a:xfrm>
            <a:off x="731520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4928" y="28529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01000" y="2706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Só CEPs confiáveis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001000" y="302666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Validados (V) e que não são CEP geral.</a:t>
            </a:r>
            <a:endParaRPr lang="en-US" sz="1400" dirty="0"/>
          </a:p>
        </p:txBody>
      </p:sp>
      <p:sp>
        <p:nvSpPr>
          <p:cNvPr id="15" name="Avatar LuSearch"/>
          <p:cNvSpPr/>
          <p:nvPr/>
        </p:nvSpPr>
        <p:spPr>
          <a:xfrm>
            <a:off x="731520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3950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01000" y="38039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Value help do CEP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001000" y="412394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Common.ValueList aponta para esta view.</a:t>
            </a:r>
            <a:endParaRPr lang="en-US" sz="1400" dirty="0"/>
          </a:p>
        </p:txBody>
      </p:sp>
      <p:sp>
        <p:nvSpPr>
          <p:cNvPr id="19" name="Avatar LuClock"/>
          <p:cNvSpPr/>
          <p:nvPr/>
        </p:nvSpPr>
        <p:spPr>
          <a:xfrm>
            <a:off x="731520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5047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001000" y="490118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Menos chamadas externas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8001000" y="52212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CEP escolhido aqui não consulta o ViaCEP.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CATÁLOGO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Permissoes: um singleton calculado no handler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486400" cy="1325880"/>
          </a:xfrm>
          <a:prstGeom prst="roundRect">
            <a:avLst>
              <a:gd name="adj" fmla="val 827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srv/common.cds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Permissoes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/**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usu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á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ã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é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somenteLeitura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Bloco de código"/>
          <p:cNvSpPr/>
          <p:nvPr/>
        </p:nvSpPr>
        <p:spPr>
          <a:xfrm>
            <a:off x="548640" y="3108960"/>
            <a:ext cx="5486400" cy="1325880"/>
          </a:xfrm>
          <a:prstGeom prst="roundRect">
            <a:avLst>
              <a:gd name="adj" fmla="val 827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" y="329184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srv/clientes-service.cds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@odata.singleton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@cds.persistence.skip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Permissoes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AspectoPermissoes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endParaRPr lang="en-US" sz="1200" dirty="0"/>
          </a:p>
        </p:txBody>
      </p:sp>
      <p:sp>
        <p:nvSpPr>
          <p:cNvPr id="9" name="Bloco de código"/>
          <p:cNvSpPr/>
          <p:nvPr/>
        </p:nvSpPr>
        <p:spPr>
          <a:xfrm>
            <a:off x="6263640" y="1554480"/>
            <a:ext cx="5376672" cy="1691640"/>
          </a:xfrm>
          <a:prstGeom prst="roundRect">
            <a:avLst>
              <a:gd name="adj" fmla="val 648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0" name="Código"/>
          <p:cNvSpPr txBox="1"/>
          <p:nvPr/>
        </p:nvSpPr>
        <p:spPr>
          <a:xfrm>
            <a:off x="6492240" y="1737360"/>
            <a:ext cx="49194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srv/lib/permissoes.js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permissoesDoUsuario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somenteLeitura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!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srv/clientes-service.js (e estoque)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'READ'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Permissoes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permissoesDoUsuario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11" name="Avatar LuDatabase"/>
          <p:cNvSpPr/>
          <p:nvPr/>
        </p:nvSpPr>
        <p:spPr>
          <a:xfrm>
            <a:off x="6355080" y="36576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2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4808" y="376732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40880" y="362102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@cds.persistence.skip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040880" y="3941064"/>
            <a:ext cx="4572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 tabela: o valor é calculado a cada leitura.</a:t>
            </a:r>
            <a:endParaRPr lang="en-US" sz="1400" dirty="0"/>
          </a:p>
        </p:txBody>
      </p:sp>
      <p:sp>
        <p:nvSpPr>
          <p:cNvPr id="15" name="Avatar LuEyeOff"/>
          <p:cNvSpPr/>
          <p:nvPr/>
        </p:nvSpPr>
        <p:spPr>
          <a:xfrm>
            <a:off x="6355080" y="46177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6" name="Image 1" descr="LuEyeOf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8" y="472744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040880" y="458114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Usado pela UI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040880" y="4901184"/>
            <a:ext cx="4572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UI.CreateHidden, UpdateHidden e DeleteHidden por $edmJson.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CATÁLOGO DOS SERVIÇOS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importarPlanilha: action não vinculada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583680" cy="2240280"/>
          </a:xfrm>
          <a:prstGeom prst="roundRect">
            <a:avLst>
              <a:gd name="adj" fmla="val 489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1264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srv/common.cds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ResultadoImportacao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registrosCriados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 cada serviço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Clientes e Estoque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importarPlanilha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arquivo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LargeBinary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nomeArquivo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ResultadoImportacao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7" name="Cartão"/>
          <p:cNvSpPr/>
          <p:nvPr/>
        </p:nvSpPr>
        <p:spPr>
          <a:xfrm>
            <a:off x="7360920" y="1554480"/>
            <a:ext cx="4279392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1691640"/>
          <a:ext cx="3913632" cy="914400"/>
        </p:xfrm>
        <a:graphic>
          <a:graphicData uri="http://schemas.openxmlformats.org/drawingml/2006/table">
            <a:tbl>
              <a:tblPr/>
              <a:tblGrid>
                <a:gridCol w="2041895"/>
                <a:gridCol w="1871737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Serviço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Quem importa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ClientesService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EstoqueService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PedidosService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Comum e 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Bloco de código"/>
          <p:cNvSpPr/>
          <p:nvPr/>
        </p:nvSpPr>
        <p:spPr>
          <a:xfrm>
            <a:off x="7360920" y="3657600"/>
            <a:ext cx="4279392" cy="579120"/>
          </a:xfrm>
          <a:prstGeom prst="roundRect">
            <a:avLst>
              <a:gd name="adj" fmla="val 18947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0" name="Código"/>
          <p:cNvSpPr txBox="1"/>
          <p:nvPr/>
        </p:nvSpPr>
        <p:spPr>
          <a:xfrm>
            <a:off x="7589520" y="3840480"/>
            <a:ext cx="3822192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/odata/v4/clientes/importarPlanilha</a:t>
            </a:r>
            <a:endParaRPr lang="en-US" sz="1100" dirty="0"/>
          </a:p>
        </p:txBody>
      </p:sp>
      <p:sp>
        <p:nvSpPr>
          <p:cNvPr id="11" name="Cartão"/>
          <p:cNvSpPr/>
          <p:nvPr/>
        </p:nvSpPr>
        <p:spPr>
          <a:xfrm>
            <a:off x="548640" y="461772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2" name="Avatar LuFileSpreadsheet"/>
          <p:cNvSpPr/>
          <p:nvPr/>
        </p:nvSpPr>
        <p:spPr>
          <a:xfrm>
            <a:off x="731520" y="5120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3" name="Image 0" descr="LuFileSpreadshe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52303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4617720"/>
            <a:ext cx="10085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Não vinculada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action pertence ao serviço, não a uma instância: a URL é /&lt;serviço&gt;/importarPlanilha e o handler é registrado com this.on('importarPlanilha', ...).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AUTORIZAÇÃO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Autorização declarativa por papel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6583680" cy="35661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6217920" cy="914400"/>
        </p:xfrm>
        <a:graphic>
          <a:graphicData uri="http://schemas.openxmlformats.org/drawingml/2006/table">
            <a:tbl>
              <a:tblPr/>
              <a:tblGrid>
                <a:gridCol w="2072640"/>
                <a:gridCol w="2418080"/>
                <a:gridCol w="1727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Recurso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Comum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Admin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Clientes e endereços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Tudo + importar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Itens de 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Tudo + importar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Criar, pagar, aprovar, cancelar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Idem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Aprovar e rejeitar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Idem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Análises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7406640" y="1600200"/>
            <a:ext cx="4233672" cy="2392680"/>
          </a:xfrm>
          <a:prstGeom prst="roundRect">
            <a:avLst>
              <a:gd name="adj" fmla="val 458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635240" y="1783080"/>
            <a:ext cx="3776472" cy="202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ClientesService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@restrict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'READ'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'Comum'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'*'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importarPlanilha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7406640" y="4846320"/>
            <a:ext cx="4233672" cy="1234440"/>
          </a:xfrm>
          <a:prstGeom prst="roundRect">
            <a:avLst>
              <a:gd name="adj" fmla="val 888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635240" y="4846320"/>
            <a:ext cx="38221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Desenvolvimento: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autenticação mocked com admin/admin e comum/comum. Produção: XSUAA (etapa 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VALIDAÇÃO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Onde cada validação acontece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5440680" cy="315468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ListChecks"/>
          <p:cNvSpPr/>
          <p:nvPr/>
        </p:nvSpPr>
        <p:spPr>
          <a:xfrm>
            <a:off x="82296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ListChec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Declarativas (CDS)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26060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@mandatory: campos obrigatórios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@assert.format: e-mail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@assert com case: telefone, datas, quantidades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@assert.target: CodeList existente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@assert.unique: CPF, SKU, número, CEP</a:t>
            </a:r>
            <a:endParaRPr lang="en-US" sz="1500" dirty="0"/>
          </a:p>
        </p:txBody>
      </p:sp>
      <p:sp>
        <p:nvSpPr>
          <p:cNvPr id="10" name="Cartão"/>
          <p:cNvSpPr/>
          <p:nvPr/>
        </p:nvSpPr>
        <p:spPr>
          <a:xfrm>
            <a:off x="6199632" y="1600200"/>
            <a:ext cx="5440680" cy="315468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CodeXml"/>
          <p:cNvSpPr/>
          <p:nvPr/>
        </p:nvSpPr>
        <p:spPr>
          <a:xfrm>
            <a:off x="6473952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2" name="Image 1" descr="LuCodeXm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626" y="19604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05472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Nos handlers (JS/TS)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519672" y="26060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Dígitos verificadores do CPF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CEP no ViaCEP e CEP único por cliente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Saldo de estoque e item ativo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Status permitido em cada action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Imagem por MIME, extensão e assinatura</a:t>
            </a:r>
            <a:endParaRPr lang="en-US" sz="1500" dirty="0"/>
          </a:p>
        </p:txBody>
      </p:sp>
      <p:sp>
        <p:nvSpPr>
          <p:cNvPr id="15" name="Cartão"/>
          <p:cNvSpPr/>
          <p:nvPr/>
        </p:nvSpPr>
        <p:spPr>
          <a:xfrm>
            <a:off x="548640" y="5029200"/>
            <a:ext cx="11091672" cy="1051560"/>
          </a:xfrm>
          <a:prstGeom prst="roundRect">
            <a:avLst>
              <a:gd name="adj" fmla="val 10435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6" name="Avatar LuMessageSquare"/>
          <p:cNvSpPr/>
          <p:nvPr/>
        </p:nvSpPr>
        <p:spPr>
          <a:xfrm>
            <a:off x="731520" y="53263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7" name="Image 2" descr="LuMessage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43610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502920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Mesma linguagem de erro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@assert e req.error usam chaves de _i18n/messages.properties (ex.: ITEM_SEM_ESTOQUE), e o Fiori mostra o texto junto do campo.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 LOCAL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Publicando os serviços com cds watch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Terminal"/>
          <p:cNvSpPr/>
          <p:nvPr/>
        </p:nvSpPr>
        <p:spPr>
          <a:xfrm>
            <a:off x="777240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Termi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31213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68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Instala CAP e as 8 apps (workspaces)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3191256" y="21488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1" name="Cartão"/>
          <p:cNvSpPr/>
          <p:nvPr/>
        </p:nvSpPr>
        <p:spPr>
          <a:xfrm>
            <a:off x="3364992" y="1600200"/>
            <a:ext cx="2642616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Database"/>
          <p:cNvSpPr/>
          <p:nvPr/>
        </p:nvSpPr>
        <p:spPr>
          <a:xfrm>
            <a:off x="3593592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1931213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233672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prewatch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3593592" y="2468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Cria o db.sqlite com cds deploy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007608" y="21488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Cartão"/>
          <p:cNvSpPr/>
          <p:nvPr/>
        </p:nvSpPr>
        <p:spPr>
          <a:xfrm>
            <a:off x="6181344" y="1600200"/>
            <a:ext cx="2642616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RefreshCw"/>
          <p:cNvSpPr/>
          <p:nvPr/>
        </p:nvSpPr>
        <p:spPr>
          <a:xfrm>
            <a:off x="6409944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9" name="Image 2" descr="LuRefreshC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645" y="1931213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050024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 watch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6409944" y="2468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Serve e recarrega a cada mudança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8823960" y="21488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Cartão"/>
          <p:cNvSpPr/>
          <p:nvPr/>
        </p:nvSpPr>
        <p:spPr>
          <a:xfrm>
            <a:off x="8997696" y="1600200"/>
            <a:ext cx="2642616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Globe"/>
          <p:cNvSpPr/>
          <p:nvPr/>
        </p:nvSpPr>
        <p:spPr>
          <a:xfrm>
            <a:off x="9226296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Glob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6997" y="1931213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866376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localhost:4004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9226296" y="2468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Serviços, $metadata e apps</a:t>
            </a:r>
            <a:endParaRPr lang="en-US" sz="1300" dirty="0"/>
          </a:p>
        </p:txBody>
      </p:sp>
      <p:sp>
        <p:nvSpPr>
          <p:cNvPr id="28" name="Bloco de código"/>
          <p:cNvSpPr/>
          <p:nvPr/>
        </p:nvSpPr>
        <p:spPr>
          <a:xfrm>
            <a:off x="548640" y="3474720"/>
            <a:ext cx="5486400" cy="1996440"/>
          </a:xfrm>
          <a:prstGeom prst="roundRect">
            <a:avLst>
              <a:gd name="adj" fmla="val 549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29" name="Código"/>
          <p:cNvSpPr txBox="1"/>
          <p:nvPr/>
        </p:nvSpPr>
        <p:spPr>
          <a:xfrm>
            <a:off x="777240" y="3657600"/>
            <a:ext cx="5029200" cy="1630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nodejs-padrao  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 nodejs-typescript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install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run watch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[cds] - serving PedidosService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at: ['/odata/v4/pedidos']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[cds] - server listening 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url: 'http://localhost:4004'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run https    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proxy 8443 -&gt; 4004</a:t>
            </a:r>
            <a:endParaRPr lang="en-US" sz="1300" dirty="0"/>
          </a:p>
        </p:txBody>
      </p:sp>
      <p:sp>
        <p:nvSpPr>
          <p:cNvPr id="30" name="Bloco de código"/>
          <p:cNvSpPr/>
          <p:nvPr/>
        </p:nvSpPr>
        <p:spPr>
          <a:xfrm>
            <a:off x="6263640" y="3474720"/>
            <a:ext cx="5376672" cy="1798320"/>
          </a:xfrm>
          <a:prstGeom prst="roundRect">
            <a:avLst>
              <a:gd name="adj" fmla="val 610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1" name="Código"/>
          <p:cNvSpPr txBox="1"/>
          <p:nvPr/>
        </p:nvSpPr>
        <p:spPr>
          <a:xfrm>
            <a:off x="6492240" y="3657600"/>
            <a:ext cx="4919472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/odata/v4/pedidos/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$metadata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/odata/v4/pedidos/Pedidos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?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$expand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=itens,pagamento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/odata/v4/pedidos/Pedidos(ID=...,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IsActiveEntity=true)/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PedidosService.aprovarPedido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/launchpad.html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 tiles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 LOCAL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fluxo de rascunho pela API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949440" cy="2606040"/>
          </a:xfrm>
          <a:prstGeom prst="roundRect">
            <a:avLst>
              <a:gd name="adj" fmla="val 421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492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novo rascunho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/odata/v4/pedidos/Pedidos  {}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escolhe o cliente (PATCH no rascunho)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/odata/v4/pedidos/Pedidos(ID=&lt;id&gt;,IsActiveEntity=false)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"cliente_ID": "&lt;cliente&gt;"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inclui uma linha e informa item e quantidade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.../Pedidos(ID=&lt;id&gt;,IsActiveEntity=false)/itens  {}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.../ItensPedido(ID=&lt;linha&gt;,IsActiveEntity=false)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"item_ID": "&lt;item&gt;", "qtdeItemPedido": 2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Salvar: ativa o rascunho (registra e reserva)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.../Pedidos(ID=&lt;id&gt;,IsActiveEntity=false)/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PedidosService.draftActivate</a:t>
            </a:r>
            <a:endParaRPr lang="en-US" sz="1200" dirty="0"/>
          </a:p>
        </p:txBody>
      </p:sp>
      <p:sp>
        <p:nvSpPr>
          <p:cNvPr id="7" name="Avatar LuKeyRound"/>
          <p:cNvSpPr/>
          <p:nvPr/>
        </p:nvSpPr>
        <p:spPr>
          <a:xfrm>
            <a:off x="777240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Key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458200" y="16093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IsActiveEntity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458200" y="1929384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Faz parte da chave: false é o rascunho, true o ativo.</a:t>
            </a:r>
            <a:endParaRPr lang="en-US" sz="1400" dirty="0"/>
          </a:p>
        </p:txBody>
      </p:sp>
      <p:sp>
        <p:nvSpPr>
          <p:cNvPr id="11" name="Avatar LuRefreshCw"/>
          <p:cNvSpPr/>
          <p:nvPr/>
        </p:nvSpPr>
        <p:spPr>
          <a:xfrm>
            <a:off x="777240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RefreshC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58200" y="27980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draftEdit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458200" y="3118104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Abre um rascunho a partir do registro ativo.</a:t>
            </a:r>
            <a:endParaRPr lang="en-US" sz="1400" dirty="0"/>
          </a:p>
        </p:txBody>
      </p:sp>
      <p:sp>
        <p:nvSpPr>
          <p:cNvPr id="15" name="Avatar LuCircleCheck"/>
          <p:cNvSpPr/>
          <p:nvPr/>
        </p:nvSpPr>
        <p:spPr>
          <a:xfrm>
            <a:off x="777240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Circl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458200" y="398678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draftActivate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458200" y="4306824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Dispara CREATE ou UPDATE: é o Salvar.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2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Cinco serviços OData V4, um por aplicação, em /odata/v4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Catálogo completo: projeções, views, singleton e actions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Rascunho com uma anotação e eventos NEW, PATCH, EDIT e Salvar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Actions com OperationAvailable e SideEffects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Autorização por papel com @requires e @restrict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Serviços publicados localmente com npm run watch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Lógica de negócio: handlers, srv/lib, estoque, concorrência e integrações.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2 - Serviços OData V4</dc:title>
  <dc:subject>Projeto Pedidos de Compras em SAP CAP e SAP Fiori</dc:subject>
  <dc:creator>Adriano Bispo</dc:creator>
  <cp:lastModifiedBy>Adriano Bispo</cp:lastModifiedBy>
  <cp:revision>1</cp:revision>
  <dcterms:created xsi:type="dcterms:W3CDTF">2026-10-20T11:27:59Z</dcterms:created>
  <dcterms:modified xsi:type="dcterms:W3CDTF">2026-10-20T11:27:59Z</dcterms:modified>
</cp:coreProperties>
</file>