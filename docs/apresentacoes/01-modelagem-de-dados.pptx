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4f7e3a6f-eef6-88b2-19d9-b96df77d1bf5}">
          <p14:sldIdLst>
            <p14:sldId id="256"/>
          </p14:sldIdLst>
        </p14:section>
        <p14:section name="Contexto" id="{ec9734cd-f263-98a6-4a72-2171bc1a2729}">
          <p14:sldIdLst>
            <p14:sldId id="257"/>
          </p14:sldIdLst>
        </p14:section>
        <p14:section name="Domínio" id="{e875ef4f-fe5c-2726-3a0f-f9e734041ba6}">
          <p14:sldIdLst>
            <p14:sldId id="258"/>
            <p14:sldId id="259"/>
          </p14:sldIdLst>
        </p14:section>
        <p14:section name="Tipos e CodeLists" id="{2b439cfc-4ceb-0a18-035f-d860dc9a75d7}">
          <p14:sldIdLst>
            <p14:sldId id="260"/>
            <p14:sldId id="261"/>
          </p14:sldIdLst>
        </p14:section>
        <p14:section name="Entidades e relações" id="{99270b10-9b58-47b2-1a76-ba3b45d1e296}">
          <p14:sldIdLst>
            <p14:sldId id="262"/>
          </p14:sldIdLst>
        </p14:section>
        <p14:section name="Tabelas ativas" id="{e70aa326-f7de-92a2-e1d2-8b1e2314ae1a}">
          <p14:sldIdLst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</p14:sldIdLst>
        </p14:section>
        <p14:section name="Conceitos de modelagem" id="{3d3313b8-0c19-16ae-4738-cd2d5e0b5623}">
          <p14:sldIdLst>
            <p14:sldId id="283"/>
            <p14:sldId id="284"/>
            <p14:sldId id="285"/>
          </p14:sldIdLst>
        </p14:section>
        <p14:section name="Integridade e persistência" id="{93fff47c-4a7f-1322-2f3c-4dd093b2ae43}">
          <p14:sldIdLst>
            <p14:sldId id="286"/>
            <p14:sldId id="287"/>
          </p14:sldIdLst>
        </p14:section>
        <p14:section name="Encerramento" id="{b4750968-65b2-922b-92cf-9044a1ec0bff}">
          <p14:sldIdLst>
            <p14:sldId id="28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 da etapa 1. O objetivo é mostrar como o domínio de negócio virou o modelo CDS que sustenta todo o projeto.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modelo de dados é a fundação: serviços, handlers, anotações de UI e análises partem dele.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Antes de escrever CDS, mapeamos as áreas do negócio e o que cada uma precisa guardar.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Separação clara: tipos e CodeLists em common.cds, entidades em schema.cds, dados em CSV e validações no srv.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Tipos semânticos evitam repetir tamanhos e precisão; o aspect CodeListOrdenada padroniza todas as listas de valores.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CodeLists com enum garantem códigos válidos e alimentam a criticidade (cores) nas apps.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Composições (linha contínua) têm ciclo de vida junto do pai e entram no rascunho; associações (tracejado) só referenciam.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Saída de cds compile --to sql: as tabelas ativas guardam os dados válidos; as de rascunho são criadas pelo CAP para o draft.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Cadastro do cliente. A foto é mídia; CPF e telefone ficam só com dígitos; o score é sorteado na criação.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Cadastro do cliente. A foto é mídia; CPF e telefone ficam só com dígitos; o score é sorteado na criação.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cliente tem vários endereços e exatamente um principal. O CEP preenche o restante pelo ViaCEP.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cliente tem vários endereços e exatamente um principal. O CEP preenche o restante pelo ViaCEP.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Itens de estoque. Saldo disponível e status são colunas geradas pelo banco a partir do estoque e da reserva.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Itens de estoque. Saldo disponível e status são colunas geradas pelo banco a partir do estoque e da reserva.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Raiz do agregado do pedido: composições para itens, pagamento e snapshots; status e totais mantidos só pelo backend.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Raiz do agregado do pedido: composições para itens, pagamento e snapshots; status e totais mantidos só pelo backend.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linha liga o pedido a um item do estoque com quantidade, preço fixado e total.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Só o resultado seguro do pagamento é gravado. Número do cartão, validade e CVV ficam apenas em memória.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Cópia do cliente e do endereço feita uma única vez, na finalização ou no cancelamento do pedido.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Cópia do cliente e do endereço feita uma única vez, na finalização ou no cancelamento do pedido.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Uma linha por item do pedido, com SKU, nome, categoria, quantidade e preços do momento do encerramento.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Criada ao cancelar um pedido com pagamento aprovado; guarda quem pediu, quem decidiu e o status anterior do pedido.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Criada ao cancelar um pedido com pagamento aprovado; guarda quem pediu, quem decidiu e o status anterior do pedido.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Tabela de controle: guarda o último número de pedido e de SKU, incrementado dentro da transação.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Valores reais de db/data. A criticidade define a cor na UI: 1 negativa, 2 crítica, 3 positiva, 0 neutra.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Gêneros, categorias e métodos de pagamento são listas fixas (drop-down); as moedas vêm de sap.common.Currencies.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aspect CodeList declara name e descr como localized: o CAP cria a tabela de textos e uma view que escolhe o idioma.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cuid e managed vêm de @sap/cds/common. A composição faz os endereços serem editados no mesmo rascunho do cliente.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Dois sabores: calculados na leitura (sem coluna) e stored (coluna gerada pelo banco, filtrável e sempre consistente).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pedido concentra as composições. Os snapshots congelam cliente e itens no encerramento, preservando o histórico.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Regras simples ficam no modelo e são avaliadas pelo CAP no rascunho e no Save; regras que dependem de algoritmo ou de outros registros ficam nos handlers.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mesmo modelo roda em SQLite no desenvolvimento e no SAP HANA Cloud em produção, sem mudar uma linha de CDS.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Fechamento da etapa 1 e ponte para a etapa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417320"/>
            <a:ext cx="548640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b="1" spc="200" kern="0" dirty="0">
                <a:solidFill>
                  <a:srgbClr val="89D1FF"/>
                </a:solidFill>
              </a:defRPr>
            </a:lvl1pPr>
          </a:lstStyle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1965960"/>
            <a:ext cx="676656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840480"/>
            <a:ext cx="64008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D1EFFF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731520" y="5989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9D1FF"/>
                </a:solidFill>
              </a:rPr>
              <a:t>Pedidos de Compras · SAP CAP 10 + SAP Fiori · Design System SAP Horizon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b="1" spc="150" kern="0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41908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Pedidos de Compras · SAP CAP + SAP Fiori   |   Etapa 1 — Modelagem de Dados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cerramento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548640"/>
            <a:ext cx="73152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b="1" spc="200" kern="0" dirty="0">
                <a:solidFill>
                  <a:srgbClr val="89D1FF"/>
                </a:solidFill>
              </a:defRPr>
            </a:lvl1pPr>
          </a:lstStyle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960120"/>
            <a:ext cx="106984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/>
          <p:nvPr/>
        </p:nvSpPr>
        <p:spPr>
          <a:xfrm>
            <a:off x="731520" y="641908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9D1FF"/>
                </a:solidFill>
              </a:rPr>
              <a:t>Pedidos de Compras · SAP CAP + SAP Fiori   |   Etapa 1 — Modelagem de Dados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image" Target="../media/image-30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image" Target="../media/image-32-3.png"/><Relationship Id="rId4" Type="http://schemas.openxmlformats.org/officeDocument/2006/relationships/image" Target="../media/image-3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image" Target="../media/image-33-3.png"/><Relationship Id="rId4" Type="http://schemas.openxmlformats.org/officeDocument/2006/relationships/image" Target="../media/image-33-4.png"/><Relationship Id="rId5" Type="http://schemas.openxmlformats.org/officeDocument/2006/relationships/image" Target="../media/image-33-5.png"/><Relationship Id="rId6" Type="http://schemas.openxmlformats.org/officeDocument/2006/relationships/image" Target="../media/image-33-6.png"/><Relationship Id="rId7" Type="http://schemas.openxmlformats.org/officeDocument/2006/relationships/image" Target="../media/image-33-7.png"/><Relationship Id="rId8" Type="http://schemas.openxmlformats.org/officeDocument/2006/relationships/slideLayout" Target="../slideLayouts/slideLayout4.xml"/><Relationship Id="rId9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4173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89D1FF"/>
                </a:solidFill>
              </a:rPr>
              <a:t>ETAPA 01 DE 06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1965960"/>
            <a:ext cx="6766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Modelagem de Dados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84048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D1EFFF"/>
                </a:solidFill>
              </a:rPr>
              <a:t>Do domínio de pedidos de compras ao modelo CDS: tipos, CodeLists, entidades, relacionamentos e persistência.</a:t>
            </a:r>
            <a:endParaRPr lang="en-US" sz="1800" dirty="0"/>
          </a:p>
        </p:txBody>
      </p:sp>
      <p:sp>
        <p:nvSpPr>
          <p:cNvPr id="5" name="Avatar da etapa"/>
          <p:cNvSpPr/>
          <p:nvPr/>
        </p:nvSpPr>
        <p:spPr>
          <a:xfrm>
            <a:off x="8183880" y="1417320"/>
            <a:ext cx="3291840" cy="3291840"/>
          </a:xfrm>
          <a:prstGeom prst="roundRect">
            <a:avLst>
              <a:gd name="adj" fmla="val 22222"/>
            </a:avLst>
          </a:prstGeom>
          <a:solidFill>
            <a:srgbClr val="1B3A7A"/>
          </a:solidFill>
          <a:ln/>
        </p:spPr>
      </p:sp>
      <p:sp>
        <p:nvSpPr>
          <p:cNvPr id="6" name="Avatar interno"/>
          <p:cNvSpPr/>
          <p:nvPr/>
        </p:nvSpPr>
        <p:spPr>
          <a:xfrm>
            <a:off x="8732520" y="1965960"/>
            <a:ext cx="2194560" cy="2194560"/>
          </a:xfrm>
          <a:prstGeom prst="roundRect">
            <a:avLst>
              <a:gd name="adj" fmla="val 22917"/>
            </a:avLst>
          </a:prstGeom>
          <a:solidFill>
            <a:schemeClr val="accent1"/>
          </a:solidFill>
          <a:ln/>
        </p:spPr>
      </p:sp>
      <p:pic>
        <p:nvPicPr>
          <p:cNvPr id="7" name="Image 0" descr="Modelagem de Dado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81160" y="2514600"/>
            <a:ext cx="1097280" cy="1097280"/>
          </a:xfrm>
          <a:prstGeom prst="rect">
            <a:avLst/>
          </a:prstGeom>
        </p:spPr>
      </p:pic>
      <p:sp>
        <p:nvSpPr>
          <p:cNvPr id="8" name="Etapa 1"/>
          <p:cNvSpPr/>
          <p:nvPr/>
        </p:nvSpPr>
        <p:spPr>
          <a:xfrm>
            <a:off x="8183880" y="5074920"/>
            <a:ext cx="438912" cy="109728"/>
          </a:xfrm>
          <a:prstGeom prst="roundRect">
            <a:avLst>
              <a:gd name="adj" fmla="val 50000"/>
            </a:avLst>
          </a:prstGeom>
          <a:solidFill>
            <a:srgbClr val="89D1FF"/>
          </a:solidFill>
          <a:ln/>
        </p:spPr>
      </p:sp>
      <p:sp>
        <p:nvSpPr>
          <p:cNvPr id="9" name="Etapa 2"/>
          <p:cNvSpPr/>
          <p:nvPr/>
        </p:nvSpPr>
        <p:spPr>
          <a:xfrm>
            <a:off x="8732520" y="5074920"/>
            <a:ext cx="438912" cy="109728"/>
          </a:xfrm>
          <a:prstGeom prst="roundRect">
            <a:avLst>
              <a:gd name="adj" fmla="val 50000"/>
            </a:avLst>
          </a:prstGeom>
          <a:solidFill>
            <a:srgbClr val="1B3A7A"/>
          </a:solidFill>
          <a:ln/>
        </p:spPr>
      </p:sp>
      <p:sp>
        <p:nvSpPr>
          <p:cNvPr id="10" name="Etapa 3"/>
          <p:cNvSpPr/>
          <p:nvPr/>
        </p:nvSpPr>
        <p:spPr>
          <a:xfrm>
            <a:off x="9281160" y="5074920"/>
            <a:ext cx="438912" cy="109728"/>
          </a:xfrm>
          <a:prstGeom prst="roundRect">
            <a:avLst>
              <a:gd name="adj" fmla="val 50000"/>
            </a:avLst>
          </a:prstGeom>
          <a:solidFill>
            <a:srgbClr val="1B3A7A"/>
          </a:solidFill>
          <a:ln/>
        </p:spPr>
      </p:sp>
      <p:sp>
        <p:nvSpPr>
          <p:cNvPr id="11" name="Etapa 4"/>
          <p:cNvSpPr/>
          <p:nvPr/>
        </p:nvSpPr>
        <p:spPr>
          <a:xfrm>
            <a:off x="9829800" y="5074920"/>
            <a:ext cx="438912" cy="109728"/>
          </a:xfrm>
          <a:prstGeom prst="roundRect">
            <a:avLst>
              <a:gd name="adj" fmla="val 50000"/>
            </a:avLst>
          </a:prstGeom>
          <a:solidFill>
            <a:srgbClr val="1B3A7A"/>
          </a:solidFill>
          <a:ln/>
        </p:spPr>
      </p:sp>
      <p:sp>
        <p:nvSpPr>
          <p:cNvPr id="12" name="Etapa 5"/>
          <p:cNvSpPr/>
          <p:nvPr/>
        </p:nvSpPr>
        <p:spPr>
          <a:xfrm>
            <a:off x="10378440" y="5074920"/>
            <a:ext cx="438912" cy="109728"/>
          </a:xfrm>
          <a:prstGeom prst="roundRect">
            <a:avLst>
              <a:gd name="adj" fmla="val 50000"/>
            </a:avLst>
          </a:prstGeom>
          <a:solidFill>
            <a:srgbClr val="1B3A7A"/>
          </a:solidFill>
          <a:ln/>
        </p:spPr>
      </p:sp>
      <p:sp>
        <p:nvSpPr>
          <p:cNvPr id="13" name="Etapa 6"/>
          <p:cNvSpPr/>
          <p:nvPr/>
        </p:nvSpPr>
        <p:spPr>
          <a:xfrm>
            <a:off x="10927080" y="5074920"/>
            <a:ext cx="438912" cy="109728"/>
          </a:xfrm>
          <a:prstGeom prst="roundRect">
            <a:avLst>
              <a:gd name="adj" fmla="val 50000"/>
            </a:avLst>
          </a:prstGeom>
          <a:solidFill>
            <a:srgbClr val="1B3A7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183880" y="53035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9D1FF"/>
                </a:solidFill>
              </a:rPr>
              <a:t>Etapa 1 de 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CONTEXTO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 jornada do projeto em seis etapas</a:t>
            </a:r>
            <a:endParaRPr lang="en-US" sz="3200" dirty="0"/>
          </a:p>
        </p:txBody>
      </p:sp>
      <p:sp>
        <p:nvSpPr>
          <p:cNvPr id="5" name="Cartão"/>
          <p:cNvSpPr/>
          <p:nvPr/>
        </p:nvSpPr>
        <p:spPr>
          <a:xfrm>
            <a:off x="548640" y="1691640"/>
            <a:ext cx="1700784" cy="2514600"/>
          </a:xfrm>
          <a:prstGeom prst="roundRect">
            <a:avLst>
              <a:gd name="adj" fmla="val 6452"/>
            </a:avLst>
          </a:prstGeom>
          <a:solidFill>
            <a:schemeClr val="bg1"/>
          </a:solidFill>
          <a:ln w="28575">
            <a:solidFill>
              <a:schemeClr val="accent1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sp>
        <p:nvSpPr>
          <p:cNvPr id="6" name="Avatar LuDatabase"/>
          <p:cNvSpPr/>
          <p:nvPr/>
        </p:nvSpPr>
        <p:spPr>
          <a:xfrm>
            <a:off x="777240" y="1947672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0070F2"/>
          </a:solidFill>
          <a:ln/>
        </p:spPr>
      </p:sp>
      <p:pic>
        <p:nvPicPr>
          <p:cNvPr id="7" name="Image 0" descr="LuDatabas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8914" y="2079346"/>
            <a:ext cx="285293" cy="285293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77240" y="2651760"/>
            <a:ext cx="1335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ETAPA 01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777240" y="2907792"/>
            <a:ext cx="1335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Modelagem de Dados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777240" y="3474720"/>
            <a:ext cx="1335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CDS: tipos, CodeLists e entidades</a:t>
            </a:r>
            <a:endParaRPr lang="en-US" sz="1200" dirty="0"/>
          </a:p>
        </p:txBody>
      </p:sp>
      <p:sp>
        <p:nvSpPr>
          <p:cNvPr id="11" name="Cartão"/>
          <p:cNvSpPr/>
          <p:nvPr/>
        </p:nvSpPr>
        <p:spPr>
          <a:xfrm>
            <a:off x="2423160" y="1691640"/>
            <a:ext cx="1700784" cy="2514600"/>
          </a:xfrm>
          <a:prstGeom prst="roundRect">
            <a:avLst>
              <a:gd name="adj" fmla="val 6452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sp>
        <p:nvSpPr>
          <p:cNvPr id="12" name="Avatar LuServer"/>
          <p:cNvSpPr/>
          <p:nvPr/>
        </p:nvSpPr>
        <p:spPr>
          <a:xfrm>
            <a:off x="2651760" y="1947672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pic>
        <p:nvPicPr>
          <p:cNvPr id="13" name="Image 1" descr="LuServ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3434" y="2079346"/>
            <a:ext cx="285293" cy="285293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2651760" y="2651760"/>
            <a:ext cx="1335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56B82"/>
                </a:solidFill>
              </a:rPr>
              <a:t>ETAPA 02</a:t>
            </a:r>
            <a:endParaRPr lang="en-US" sz="1100" dirty="0"/>
          </a:p>
        </p:txBody>
      </p:sp>
      <p:sp>
        <p:nvSpPr>
          <p:cNvPr id="15" name="Text 10"/>
          <p:cNvSpPr txBox="1"/>
          <p:nvPr/>
        </p:nvSpPr>
        <p:spPr>
          <a:xfrm>
            <a:off x="2651760" y="2907792"/>
            <a:ext cx="1335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Serviços OData V4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2651760" y="3474720"/>
            <a:ext cx="1335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Projeções, draft, actions e autorização</a:t>
            </a:r>
            <a:endParaRPr lang="en-US" sz="1200" dirty="0"/>
          </a:p>
        </p:txBody>
      </p:sp>
      <p:sp>
        <p:nvSpPr>
          <p:cNvPr id="17" name="Cartão"/>
          <p:cNvSpPr/>
          <p:nvPr/>
        </p:nvSpPr>
        <p:spPr>
          <a:xfrm>
            <a:off x="4297680" y="1691640"/>
            <a:ext cx="1700784" cy="2514600"/>
          </a:xfrm>
          <a:prstGeom prst="roundRect">
            <a:avLst>
              <a:gd name="adj" fmla="val 6452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sp>
        <p:nvSpPr>
          <p:cNvPr id="18" name="Avatar LuCodeXml"/>
          <p:cNvSpPr/>
          <p:nvPr/>
        </p:nvSpPr>
        <p:spPr>
          <a:xfrm>
            <a:off x="4526280" y="1947672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pic>
        <p:nvPicPr>
          <p:cNvPr id="19" name="Image 2" descr="LuCodeXml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7954" y="2079346"/>
            <a:ext cx="285293" cy="285293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4526280" y="2651760"/>
            <a:ext cx="1335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56B82"/>
                </a:solidFill>
              </a:rPr>
              <a:t>ETAPA 03</a:t>
            </a:r>
            <a:endParaRPr lang="en-US" sz="1100" dirty="0"/>
          </a:p>
        </p:txBody>
      </p:sp>
      <p:sp>
        <p:nvSpPr>
          <p:cNvPr id="21" name="Text 15"/>
          <p:cNvSpPr txBox="1"/>
          <p:nvPr/>
        </p:nvSpPr>
        <p:spPr>
          <a:xfrm>
            <a:off x="4526280" y="2907792"/>
            <a:ext cx="1335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Lógica de Negócio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4526280" y="3474720"/>
            <a:ext cx="1335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Handlers, srv/lib e transações</a:t>
            </a:r>
            <a:endParaRPr lang="en-US" sz="1200" dirty="0"/>
          </a:p>
        </p:txBody>
      </p:sp>
      <p:sp>
        <p:nvSpPr>
          <p:cNvPr id="23" name="Cartão"/>
          <p:cNvSpPr/>
          <p:nvPr/>
        </p:nvSpPr>
        <p:spPr>
          <a:xfrm>
            <a:off x="6172200" y="1691640"/>
            <a:ext cx="1700784" cy="2514600"/>
          </a:xfrm>
          <a:prstGeom prst="roundRect">
            <a:avLst>
              <a:gd name="adj" fmla="val 6452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sp>
        <p:nvSpPr>
          <p:cNvPr id="24" name="Avatar LuLayoutDashboard"/>
          <p:cNvSpPr/>
          <p:nvPr/>
        </p:nvSpPr>
        <p:spPr>
          <a:xfrm>
            <a:off x="6400800" y="1947672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pic>
        <p:nvPicPr>
          <p:cNvPr id="25" name="Image 3" descr="LuLayoutDashboard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2474" y="2079346"/>
            <a:ext cx="285293" cy="285293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6400800" y="2651760"/>
            <a:ext cx="1335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56B82"/>
                </a:solidFill>
              </a:rPr>
              <a:t>ETAPA 04</a:t>
            </a:r>
            <a:endParaRPr lang="en-US" sz="1100" dirty="0"/>
          </a:p>
        </p:txBody>
      </p:sp>
      <p:sp>
        <p:nvSpPr>
          <p:cNvPr id="27" name="Text 20"/>
          <p:cNvSpPr txBox="1"/>
          <p:nvPr/>
        </p:nvSpPr>
        <p:spPr>
          <a:xfrm>
            <a:off x="6400800" y="2907792"/>
            <a:ext cx="1335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Apps Fiori Elements</a:t>
            </a:r>
            <a:endParaRPr lang="en-US" sz="1500" dirty="0"/>
          </a:p>
        </p:txBody>
      </p:sp>
      <p:sp>
        <p:nvSpPr>
          <p:cNvPr id="28" name="Text 21"/>
          <p:cNvSpPr txBox="1"/>
          <p:nvPr/>
        </p:nvSpPr>
        <p:spPr>
          <a:xfrm>
            <a:off x="6400800" y="3474720"/>
            <a:ext cx="1335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Anotações, extensões e launchpad</a:t>
            </a:r>
            <a:endParaRPr lang="en-US" sz="1200" dirty="0"/>
          </a:p>
        </p:txBody>
      </p:sp>
      <p:sp>
        <p:nvSpPr>
          <p:cNvPr id="29" name="Cartão"/>
          <p:cNvSpPr/>
          <p:nvPr/>
        </p:nvSpPr>
        <p:spPr>
          <a:xfrm>
            <a:off x="8046720" y="1691640"/>
            <a:ext cx="1700784" cy="2514600"/>
          </a:xfrm>
          <a:prstGeom prst="roundRect">
            <a:avLst>
              <a:gd name="adj" fmla="val 6452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sp>
        <p:nvSpPr>
          <p:cNvPr id="30" name="Avatar LuChartColumn"/>
          <p:cNvSpPr/>
          <p:nvPr/>
        </p:nvSpPr>
        <p:spPr>
          <a:xfrm>
            <a:off x="8275320" y="1947672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pic>
        <p:nvPicPr>
          <p:cNvPr id="31" name="Image 4" descr="LuChartColum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06994" y="2079346"/>
            <a:ext cx="285293" cy="285293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275320" y="2651760"/>
            <a:ext cx="1335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56B82"/>
                </a:solidFill>
              </a:rPr>
              <a:t>ETAPA 05</a:t>
            </a:r>
            <a:endParaRPr lang="en-US" sz="1100" dirty="0"/>
          </a:p>
        </p:txBody>
      </p:sp>
      <p:sp>
        <p:nvSpPr>
          <p:cNvPr id="33" name="Text 25"/>
          <p:cNvSpPr txBox="1"/>
          <p:nvPr/>
        </p:nvSpPr>
        <p:spPr>
          <a:xfrm>
            <a:off x="8275320" y="2907792"/>
            <a:ext cx="1335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Análises</a:t>
            </a:r>
            <a:endParaRPr lang="en-US" sz="1500" dirty="0"/>
          </a:p>
        </p:txBody>
      </p:sp>
      <p:sp>
        <p:nvSpPr>
          <p:cNvPr id="34" name="Text 26"/>
          <p:cNvSpPr txBox="1"/>
          <p:nvPr/>
        </p:nvSpPr>
        <p:spPr>
          <a:xfrm>
            <a:off x="8275320" y="3474720"/>
            <a:ext cx="1335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$apply e apps SAPUI5 freestyle</a:t>
            </a:r>
            <a:endParaRPr lang="en-US" sz="1200" dirty="0"/>
          </a:p>
        </p:txBody>
      </p:sp>
      <p:sp>
        <p:nvSpPr>
          <p:cNvPr id="35" name="Cartão"/>
          <p:cNvSpPr/>
          <p:nvPr/>
        </p:nvSpPr>
        <p:spPr>
          <a:xfrm>
            <a:off x="9921240" y="1691640"/>
            <a:ext cx="1700784" cy="2514600"/>
          </a:xfrm>
          <a:prstGeom prst="roundRect">
            <a:avLst>
              <a:gd name="adj" fmla="val 6452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sp>
        <p:nvSpPr>
          <p:cNvPr id="36" name="Avatar LuRocket"/>
          <p:cNvSpPr/>
          <p:nvPr/>
        </p:nvSpPr>
        <p:spPr>
          <a:xfrm>
            <a:off x="10149840" y="1947672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pic>
        <p:nvPicPr>
          <p:cNvPr id="37" name="Image 5" descr="LuRocket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81514" y="2079346"/>
            <a:ext cx="285293" cy="285293"/>
          </a:xfrm>
          <a:prstGeom prst="rect">
            <a:avLst/>
          </a:prstGeom>
        </p:spPr>
      </p:pic>
      <p:sp>
        <p:nvSpPr>
          <p:cNvPr id="38" name="Text 29"/>
          <p:cNvSpPr txBox="1"/>
          <p:nvPr/>
        </p:nvSpPr>
        <p:spPr>
          <a:xfrm>
            <a:off x="10149840" y="2651760"/>
            <a:ext cx="1335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56B82"/>
                </a:solidFill>
              </a:rPr>
              <a:t>ETAPA 06</a:t>
            </a:r>
            <a:endParaRPr lang="en-US" sz="1100" dirty="0"/>
          </a:p>
        </p:txBody>
      </p:sp>
      <p:sp>
        <p:nvSpPr>
          <p:cNvPr id="39" name="Text 30"/>
          <p:cNvSpPr txBox="1"/>
          <p:nvPr/>
        </p:nvSpPr>
        <p:spPr>
          <a:xfrm>
            <a:off x="10149840" y="2907792"/>
            <a:ext cx="1335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Testes e Publicação</a:t>
            </a:r>
            <a:endParaRPr lang="en-US" sz="1500" dirty="0"/>
          </a:p>
        </p:txBody>
      </p:sp>
      <p:sp>
        <p:nvSpPr>
          <p:cNvPr id="40" name="Text 31"/>
          <p:cNvSpPr txBox="1"/>
          <p:nvPr/>
        </p:nvSpPr>
        <p:spPr>
          <a:xfrm>
            <a:off x="10149840" y="3474720"/>
            <a:ext cx="1335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Qualidade, build e SAP BTP</a:t>
            </a:r>
            <a:endParaRPr lang="en-US" sz="1200" dirty="0"/>
          </a:p>
        </p:txBody>
      </p:sp>
      <p:sp>
        <p:nvSpPr>
          <p:cNvPr id="41" name="Cartão"/>
          <p:cNvSpPr/>
          <p:nvPr/>
        </p:nvSpPr>
        <p:spPr>
          <a:xfrm>
            <a:off x="548640" y="4526280"/>
            <a:ext cx="11091672" cy="1554480"/>
          </a:xfrm>
          <a:prstGeom prst="roundRect">
            <a:avLst>
              <a:gd name="adj" fmla="val 7059"/>
            </a:avLst>
          </a:prstGeom>
          <a:solidFill>
            <a:srgbClr val="EBF8FF"/>
          </a:solidFill>
          <a:ln w="9525">
            <a:solidFill>
              <a:srgbClr val="D1EFFF"/>
            </a:solidFill>
            <a:prstDash val="solid"/>
          </a:ln>
        </p:spPr>
      </p:sp>
      <p:sp>
        <p:nvSpPr>
          <p:cNvPr id="42" name="Avatar LuTarget"/>
          <p:cNvSpPr/>
          <p:nvPr/>
        </p:nvSpPr>
        <p:spPr>
          <a:xfrm>
            <a:off x="822960" y="480060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0070F2"/>
          </a:solidFill>
          <a:ln/>
        </p:spPr>
      </p:sp>
      <p:pic>
        <p:nvPicPr>
          <p:cNvPr id="43" name="Image 6" descr="LuTarget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4634" y="4932274"/>
            <a:ext cx="285293" cy="285293"/>
          </a:xfrm>
          <a:prstGeom prst="rect">
            <a:avLst/>
          </a:prstGeom>
        </p:spPr>
      </p:pic>
      <p:sp>
        <p:nvSpPr>
          <p:cNvPr id="44" name="Text 34"/>
          <p:cNvSpPr txBox="1"/>
          <p:nvPr/>
        </p:nvSpPr>
        <p:spPr>
          <a:xfrm>
            <a:off x="1645920" y="4709160"/>
            <a:ext cx="9784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Nesta etapa 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traduzimos o domínio (clientes, estoque, pedidos e reembolsos) em um modelo CDS único no namespace pedidoscompras, base para os serviços, as regras e as apps das próximas etapas.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DOMÍNIO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O ponto de partida: quatro áreas de negócio</a:t>
            </a:r>
            <a:endParaRPr lang="en-US" sz="3200" dirty="0"/>
          </a:p>
        </p:txBody>
      </p:sp>
      <p:sp>
        <p:nvSpPr>
          <p:cNvPr id="5" name="Cartão"/>
          <p:cNvSpPr/>
          <p:nvPr/>
        </p:nvSpPr>
        <p:spPr>
          <a:xfrm>
            <a:off x="548640" y="1600200"/>
            <a:ext cx="2642616" cy="2606040"/>
          </a:xfrm>
          <a:prstGeom prst="roundRect">
            <a:avLst>
              <a:gd name="adj" fmla="val 4211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sp>
        <p:nvSpPr>
          <p:cNvPr id="6" name="Avatar LuUsers"/>
          <p:cNvSpPr/>
          <p:nvPr/>
        </p:nvSpPr>
        <p:spPr>
          <a:xfrm>
            <a:off x="822960" y="1874520"/>
            <a:ext cx="566928" cy="566928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pic>
        <p:nvPicPr>
          <p:cNvPr id="7" name="Image 0" descr="LuUse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9023" y="2010583"/>
            <a:ext cx="294803" cy="294803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22960" y="2578608"/>
            <a:ext cx="2093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Clientes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822960" y="2990088"/>
            <a:ext cx="20939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CPF, contato, score e vários endereços; um deles é o principal, validado pelo CEP.</a:t>
            </a:r>
            <a:endParaRPr lang="en-US" sz="1400" dirty="0"/>
          </a:p>
        </p:txBody>
      </p:sp>
      <p:sp>
        <p:nvSpPr>
          <p:cNvPr id="10" name="Cartão"/>
          <p:cNvSpPr/>
          <p:nvPr/>
        </p:nvSpPr>
        <p:spPr>
          <a:xfrm>
            <a:off x="3364992" y="1600200"/>
            <a:ext cx="2642616" cy="2606040"/>
          </a:xfrm>
          <a:prstGeom prst="roundRect">
            <a:avLst>
              <a:gd name="adj" fmla="val 4211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sp>
        <p:nvSpPr>
          <p:cNvPr id="11" name="Avatar LuPackage"/>
          <p:cNvSpPr/>
          <p:nvPr/>
        </p:nvSpPr>
        <p:spPr>
          <a:xfrm>
            <a:off x="3639312" y="1874520"/>
            <a:ext cx="566928" cy="566928"/>
          </a:xfrm>
          <a:prstGeom prst="roundRect">
            <a:avLst>
              <a:gd name="adj" fmla="val 22000"/>
            </a:avLst>
          </a:prstGeom>
          <a:solidFill>
            <a:srgbClr val="DAFDF5"/>
          </a:solidFill>
          <a:ln/>
        </p:spPr>
      </p:sp>
      <p:pic>
        <p:nvPicPr>
          <p:cNvPr id="12" name="Image 1" descr="LuPackag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5375" y="2010583"/>
            <a:ext cx="294803" cy="294803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3639312" y="2578608"/>
            <a:ext cx="2093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Estoque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3639312" y="2990088"/>
            <a:ext cx="20939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Itens com SKU, foto, categoria, preço e saldo: em estoque, reservado e disponível.</a:t>
            </a:r>
            <a:endParaRPr lang="en-US" sz="1400" dirty="0"/>
          </a:p>
        </p:txBody>
      </p:sp>
      <p:sp>
        <p:nvSpPr>
          <p:cNvPr id="15" name="Cartão"/>
          <p:cNvSpPr/>
          <p:nvPr/>
        </p:nvSpPr>
        <p:spPr>
          <a:xfrm>
            <a:off x="6181344" y="1600200"/>
            <a:ext cx="2642616" cy="2606040"/>
          </a:xfrm>
          <a:prstGeom prst="roundRect">
            <a:avLst>
              <a:gd name="adj" fmla="val 4211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sp>
        <p:nvSpPr>
          <p:cNvPr id="16" name="Avatar LuShoppingCart"/>
          <p:cNvSpPr/>
          <p:nvPr/>
        </p:nvSpPr>
        <p:spPr>
          <a:xfrm>
            <a:off x="6455664" y="1874520"/>
            <a:ext cx="566928" cy="566928"/>
          </a:xfrm>
          <a:prstGeom prst="roundRect">
            <a:avLst>
              <a:gd name="adj" fmla="val 22000"/>
            </a:avLst>
          </a:prstGeom>
          <a:solidFill>
            <a:srgbClr val="F1ECFF"/>
          </a:solidFill>
          <a:ln/>
        </p:spPr>
      </p:sp>
      <p:pic>
        <p:nvPicPr>
          <p:cNvPr id="17" name="Image 2" descr="LuShoppingCar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1727" y="2010583"/>
            <a:ext cx="294803" cy="294803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6455664" y="2578608"/>
            <a:ext cx="2093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Pedidos</a:t>
            </a:r>
            <a:endParaRPr lang="en-US" sz="1600" dirty="0"/>
          </a:p>
        </p:txBody>
      </p:sp>
      <p:sp>
        <p:nvSpPr>
          <p:cNvPr id="19" name="Text 13"/>
          <p:cNvSpPr txBox="1"/>
          <p:nvPr/>
        </p:nvSpPr>
        <p:spPr>
          <a:xfrm>
            <a:off x="6455664" y="2990088"/>
            <a:ext cx="20939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Cliente, itens, pagamento simulado e histórico congelado no encerramento.</a:t>
            </a:r>
            <a:endParaRPr lang="en-US" sz="1400" dirty="0"/>
          </a:p>
        </p:txBody>
      </p:sp>
      <p:sp>
        <p:nvSpPr>
          <p:cNvPr id="20" name="Cartão"/>
          <p:cNvSpPr/>
          <p:nvPr/>
        </p:nvSpPr>
        <p:spPr>
          <a:xfrm>
            <a:off x="8997696" y="1600200"/>
            <a:ext cx="2642616" cy="2606040"/>
          </a:xfrm>
          <a:prstGeom prst="roundRect">
            <a:avLst>
              <a:gd name="adj" fmla="val 4211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sp>
        <p:nvSpPr>
          <p:cNvPr id="21" name="Avatar LuUndo2"/>
          <p:cNvSpPr/>
          <p:nvPr/>
        </p:nvSpPr>
        <p:spPr>
          <a:xfrm>
            <a:off x="9272016" y="1874520"/>
            <a:ext cx="566928" cy="566928"/>
          </a:xfrm>
          <a:prstGeom prst="roundRect">
            <a:avLst>
              <a:gd name="adj" fmla="val 22000"/>
            </a:avLst>
          </a:prstGeom>
          <a:solidFill>
            <a:srgbClr val="FFF3B8"/>
          </a:solidFill>
          <a:ln/>
        </p:spPr>
      </p:sp>
      <p:pic>
        <p:nvPicPr>
          <p:cNvPr id="22" name="Image 3" descr="LuUndo2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8079" y="2010583"/>
            <a:ext cx="294803" cy="294803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9272016" y="2578608"/>
            <a:ext cx="2093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Reembolsos</a:t>
            </a:r>
            <a:endParaRPr lang="en-US" sz="1600" dirty="0"/>
          </a:p>
        </p:txBody>
      </p:sp>
      <p:sp>
        <p:nvSpPr>
          <p:cNvPr id="24" name="Text 17"/>
          <p:cNvSpPr txBox="1"/>
          <p:nvPr/>
        </p:nvSpPr>
        <p:spPr>
          <a:xfrm>
            <a:off x="9272016" y="2990088"/>
            <a:ext cx="20939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Solicitação aberta ao cancelar um pedido pago; aprovada ou rejeitada.</a:t>
            </a:r>
            <a:endParaRPr lang="en-US" sz="1400" dirty="0"/>
          </a:p>
        </p:txBody>
      </p:sp>
      <p:sp>
        <p:nvSpPr>
          <p:cNvPr id="25" name="Cartão"/>
          <p:cNvSpPr/>
          <p:nvPr/>
        </p:nvSpPr>
        <p:spPr>
          <a:xfrm>
            <a:off x="548640" y="4480560"/>
            <a:ext cx="3593592" cy="1600200"/>
          </a:xfrm>
          <a:prstGeom prst="roundRect">
            <a:avLst>
              <a:gd name="adj" fmla="val 6857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sp>
        <p:nvSpPr>
          <p:cNvPr id="26" name="Text 19"/>
          <p:cNvSpPr txBox="1"/>
          <p:nvPr/>
        </p:nvSpPr>
        <p:spPr>
          <a:xfrm>
            <a:off x="822960" y="45720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10</a:t>
            </a:r>
            <a:endParaRPr lang="en-US" sz="4800" dirty="0"/>
          </a:p>
        </p:txBody>
      </p:sp>
      <p:sp>
        <p:nvSpPr>
          <p:cNvPr id="27" name="Text 20"/>
          <p:cNvSpPr txBox="1"/>
          <p:nvPr/>
        </p:nvSpPr>
        <p:spPr>
          <a:xfrm>
            <a:off x="822960" y="53949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entidades persistentes</a:t>
            </a:r>
            <a:endParaRPr lang="en-US" sz="1400" dirty="0"/>
          </a:p>
        </p:txBody>
      </p:sp>
      <p:sp>
        <p:nvSpPr>
          <p:cNvPr id="28" name="Cartão"/>
          <p:cNvSpPr/>
          <p:nvPr/>
        </p:nvSpPr>
        <p:spPr>
          <a:xfrm>
            <a:off x="4297680" y="4480560"/>
            <a:ext cx="3593592" cy="1600200"/>
          </a:xfrm>
          <a:prstGeom prst="roundRect">
            <a:avLst>
              <a:gd name="adj" fmla="val 6857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sp>
        <p:nvSpPr>
          <p:cNvPr id="29" name="Text 22"/>
          <p:cNvSpPr txBox="1"/>
          <p:nvPr/>
        </p:nvSpPr>
        <p:spPr>
          <a:xfrm>
            <a:off x="4572000" y="45720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7</a:t>
            </a:r>
            <a:endParaRPr lang="en-US" sz="4800" dirty="0"/>
          </a:p>
        </p:txBody>
      </p:sp>
      <p:sp>
        <p:nvSpPr>
          <p:cNvPr id="30" name="Text 23"/>
          <p:cNvSpPr txBox="1"/>
          <p:nvPr/>
        </p:nvSpPr>
        <p:spPr>
          <a:xfrm>
            <a:off x="4572000" y="53949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CodeLists com texto e criticidade</a:t>
            </a:r>
            <a:endParaRPr lang="en-US" sz="1400" dirty="0"/>
          </a:p>
        </p:txBody>
      </p:sp>
      <p:sp>
        <p:nvSpPr>
          <p:cNvPr id="31" name="Cartão"/>
          <p:cNvSpPr/>
          <p:nvPr/>
        </p:nvSpPr>
        <p:spPr>
          <a:xfrm>
            <a:off x="8046720" y="4480560"/>
            <a:ext cx="3593592" cy="1600200"/>
          </a:xfrm>
          <a:prstGeom prst="roundRect">
            <a:avLst>
              <a:gd name="adj" fmla="val 6857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sp>
        <p:nvSpPr>
          <p:cNvPr id="32" name="Text 25"/>
          <p:cNvSpPr txBox="1"/>
          <p:nvPr/>
        </p:nvSpPr>
        <p:spPr>
          <a:xfrm>
            <a:off x="8321040" y="45720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100</a:t>
            </a:r>
            <a:endParaRPr lang="en-US" sz="4800" dirty="0"/>
          </a:p>
        </p:txBody>
      </p:sp>
      <p:sp>
        <p:nvSpPr>
          <p:cNvPr id="33" name="Text 26"/>
          <p:cNvSpPr txBox="1"/>
          <p:nvPr/>
        </p:nvSpPr>
        <p:spPr>
          <a:xfrm>
            <a:off x="8321040" y="53949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clientes, itens e pedidos de demonstração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ORGANIZAÇÃO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Onde o modelo vive e como os nomes são dados</a:t>
            </a:r>
            <a:endParaRPr lang="en-US" sz="3200" dirty="0"/>
          </a:p>
        </p:txBody>
      </p:sp>
      <p:sp>
        <p:nvSpPr>
          <p:cNvPr id="5" name="Bloco de código"/>
          <p:cNvSpPr/>
          <p:nvPr/>
        </p:nvSpPr>
        <p:spPr>
          <a:xfrm>
            <a:off x="548640" y="1600200"/>
            <a:ext cx="5120640" cy="3383280"/>
          </a:xfrm>
          <a:prstGeom prst="roundRect">
            <a:avLst>
              <a:gd name="adj" fmla="val 3243"/>
            </a:avLst>
          </a:prstGeom>
          <a:solidFill>
            <a:srgbClr val="1F1F1F"/>
          </a:solidFill>
          <a:ln w="9525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8000"/>
              </a:srgbClr>
            </a:outerShdw>
          </a:effectLst>
        </p:spPr>
      </p:sp>
      <p:sp>
        <p:nvSpPr>
          <p:cNvPr id="6" name="Código"/>
          <p:cNvSpPr txBox="1"/>
          <p:nvPr/>
        </p:nvSpPr>
        <p:spPr>
          <a:xfrm>
            <a:off x="777240" y="1783080"/>
            <a:ext cx="46634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nodejs-padrao/ (igual no TypeScript)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db/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common.cds</a:t>
            </a:r>
            <a:pPr indent="0" marL="0">
              <a:buNone/>
            </a:pPr>
            <a:r>
              <a:rPr lang="en-US" sz="13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tipos e CodeLists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schema.cds</a:t>
            </a:r>
            <a:pPr indent="0" marL="0">
              <a:buNone/>
            </a:pPr>
            <a:r>
              <a:rPr lang="en-US" sz="13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entidades e relações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data/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pedidoscompras-Clientes.csv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pedidoscompras-Itens.csv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pedidoscompras-StatusPedido.csv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sap.common-Currencies.csv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... (18 arquivos)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srv/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validacoes.cds</a:t>
            </a:r>
            <a:pPr indent="0" marL="0">
              <a:buNone/>
            </a:pPr>
            <a:r>
              <a:rPr lang="en-US" sz="13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@mandatory / @assert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scripts/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gerar-dados-demo.js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preparar-sqlite.js</a:t>
            </a:r>
            <a:endParaRPr lang="en-US" sz="1300" dirty="0"/>
          </a:p>
        </p:txBody>
      </p:sp>
      <p:sp>
        <p:nvSpPr>
          <p:cNvPr id="7" name="Avatar LuFolderTree"/>
          <p:cNvSpPr/>
          <p:nvPr/>
        </p:nvSpPr>
        <p:spPr>
          <a:xfrm>
            <a:off x="6035040" y="169164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pic>
        <p:nvPicPr>
          <p:cNvPr id="8" name="Image 0" descr="LuFolderTre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44768" y="1801368"/>
            <a:ext cx="237744" cy="23774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720840" y="1655064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Namespace único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6720840" y="1975104"/>
            <a:ext cx="4892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Tudo em pedidoscompras; os CSVs seguem &lt;namespace&gt;-&lt;Entidade&gt;.csv.</a:t>
            </a:r>
            <a:endParaRPr lang="en-US" sz="1400" dirty="0"/>
          </a:p>
        </p:txBody>
      </p:sp>
      <p:sp>
        <p:nvSpPr>
          <p:cNvPr id="11" name="Avatar LuBookOpen"/>
          <p:cNvSpPr/>
          <p:nvPr/>
        </p:nvSpPr>
        <p:spPr>
          <a:xfrm>
            <a:off x="6035040" y="278892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DAFDF5"/>
          </a:solidFill>
          <a:ln/>
        </p:spPr>
      </p:sp>
      <p:pic>
        <p:nvPicPr>
          <p:cNvPr id="12" name="Image 1" descr="LuBookOpe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4768" y="2898648"/>
            <a:ext cx="237744" cy="23774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6720840" y="2752344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Entidades no plural, em português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6720840" y="3072384"/>
            <a:ext cx="4892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Clientes, Itens, Pedidos; CodeLists pelo conceito (Generos, StatusPedido).</a:t>
            </a:r>
            <a:endParaRPr lang="en-US" sz="1400" dirty="0"/>
          </a:p>
        </p:txBody>
      </p:sp>
      <p:sp>
        <p:nvSpPr>
          <p:cNvPr id="15" name="Avatar LuBraces"/>
          <p:cNvSpPr/>
          <p:nvPr/>
        </p:nvSpPr>
        <p:spPr>
          <a:xfrm>
            <a:off x="6035040" y="388620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1ECFF"/>
          </a:solidFill>
          <a:ln/>
        </p:spPr>
      </p:sp>
      <p:pic>
        <p:nvPicPr>
          <p:cNvPr id="16" name="Image 2" descr="LuBrace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4768" y="3995928"/>
            <a:ext cx="237744" cy="237744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720840" y="3849624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camelCase e UPPER_SNAKE_CASE</a:t>
            </a:r>
            <a:endParaRPr lang="en-US" sz="1500" dirty="0"/>
          </a:p>
        </p:txBody>
      </p:sp>
      <p:sp>
        <p:nvSpPr>
          <p:cNvPr id="18" name="Text 12"/>
          <p:cNvSpPr txBox="1"/>
          <p:nvPr/>
        </p:nvSpPr>
        <p:spPr>
          <a:xfrm>
            <a:off x="6720840" y="4169664"/>
            <a:ext cx="4892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Campos em camelCase; códigos de status como AGUARDANDO_APROVACAO.</a:t>
            </a:r>
            <a:endParaRPr lang="en-US" sz="1400" dirty="0"/>
          </a:p>
        </p:txBody>
      </p:sp>
      <p:sp>
        <p:nvSpPr>
          <p:cNvPr id="19" name="Avatar LuLink"/>
          <p:cNvSpPr/>
          <p:nvPr/>
        </p:nvSpPr>
        <p:spPr>
          <a:xfrm>
            <a:off x="6035040" y="498348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FF3B8"/>
          </a:solidFill>
          <a:ln/>
        </p:spPr>
      </p:sp>
      <p:pic>
        <p:nvPicPr>
          <p:cNvPr id="20" name="Image 3" descr="LuLin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4768" y="5093208"/>
            <a:ext cx="237744" cy="237744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6720840" y="4946904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Chaves estrangeiras geradas</a:t>
            </a:r>
            <a:endParaRPr lang="en-US" sz="1500" dirty="0"/>
          </a:p>
        </p:txBody>
      </p:sp>
      <p:sp>
        <p:nvSpPr>
          <p:cNvPr id="22" name="Text 15"/>
          <p:cNvSpPr txBox="1"/>
          <p:nvPr/>
        </p:nvSpPr>
        <p:spPr>
          <a:xfrm>
            <a:off x="6720840" y="5266944"/>
            <a:ext cx="4892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Associações viram &lt;associação&gt;_&lt;chave&gt;: cliente_ID, statusPedido_code.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TIPOS E CODELISTS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Tipos reutilizáveis e o aspect das CodeLists</a:t>
            </a:r>
            <a:endParaRPr lang="en-US" sz="3200" dirty="0"/>
          </a:p>
        </p:txBody>
      </p:sp>
      <p:sp>
        <p:nvSpPr>
          <p:cNvPr id="5" name="Bloco de código"/>
          <p:cNvSpPr/>
          <p:nvPr/>
        </p:nvSpPr>
        <p:spPr>
          <a:xfrm>
            <a:off x="548640" y="1600200"/>
            <a:ext cx="6035040" cy="3779520"/>
          </a:xfrm>
          <a:prstGeom prst="roundRect">
            <a:avLst>
              <a:gd name="adj" fmla="val 2903"/>
            </a:avLst>
          </a:prstGeom>
          <a:solidFill>
            <a:srgbClr val="1F1F1F"/>
          </a:solidFill>
          <a:ln w="9525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8000"/>
              </a:srgbClr>
            </a:outerShdw>
          </a:effectLst>
        </p:spPr>
      </p:sp>
      <p:sp>
        <p:nvSpPr>
          <p:cNvPr id="6" name="Código"/>
          <p:cNvSpPr txBox="1"/>
          <p:nvPr/>
        </p:nvSpPr>
        <p:spPr>
          <a:xfrm>
            <a:off x="777240" y="1783080"/>
            <a:ext cx="5577840" cy="3413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namespace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pedidoscompras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using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sap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common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CodeList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'@sap/cds/common'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Cpf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: </a:t>
            </a:r>
            <a:pPr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buNone/>
            </a:pPr>
            <a:r>
              <a:rPr lang="en-US" sz="13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pPr indent="0" marL="0">
              <a:buNone/>
            </a:pPr>
            <a:r>
              <a:rPr lang="en-US" sz="13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  </a:t>
            </a:r>
            <a:pPr indent="0" marL="0">
              <a:buNone/>
            </a:pPr>
            <a:r>
              <a:rPr lang="en-US" sz="13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só dígitos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Cep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: </a:t>
            </a:r>
            <a:pPr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buNone/>
            </a:pPr>
            <a:r>
              <a:rPr lang="en-US" sz="13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pPr indent="0" marL="0">
              <a:buNone/>
            </a:pPr>
            <a:r>
              <a:rPr lang="en-US" sz="13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Telefone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: </a:t>
            </a:r>
            <a:pPr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buNone/>
            </a:pPr>
            <a:r>
              <a:rPr lang="en-US" sz="13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pPr indent="0" marL="0">
              <a:buNone/>
            </a:pPr>
            <a:r>
              <a:rPr lang="en-US" sz="13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Valor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: </a:t>
            </a:r>
            <a:pPr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Decimal</a:t>
            </a:r>
            <a:pPr indent="0" marL="0">
              <a:buNone/>
            </a:pPr>
            <a:r>
              <a:rPr lang="en-US" sz="13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3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3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Criticidade Fiori: 0 neutra ... 3 positiva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Criticidade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: </a:t>
            </a:r>
            <a:pPr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Integer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enum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Neutra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3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</a:t>
            </a:r>
            <a:pPr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Negativa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3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</a:t>
            </a:r>
            <a:pPr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Critica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3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</a:t>
            </a:r>
            <a:pPr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Positiva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3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aspect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CodeListOrdenada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: </a:t>
            </a:r>
            <a:pPr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CodeList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ordem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: </a:t>
            </a:r>
            <a:pPr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Integer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criticality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: </a:t>
            </a:r>
            <a:pPr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Criticidade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7" name="Avatar LuHash"/>
          <p:cNvSpPr/>
          <p:nvPr/>
        </p:nvSpPr>
        <p:spPr>
          <a:xfrm>
            <a:off x="6949440" y="169164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pic>
        <p:nvPicPr>
          <p:cNvPr id="8" name="Image 0" descr="LuHas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59168" y="1801368"/>
            <a:ext cx="237744" cy="23774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635240" y="1655064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Dígitos no banco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7635240" y="1975104"/>
            <a:ext cx="397764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CPF, CEP e telefone são gravados sem máscara; a formatação vem de elementos calculados.</a:t>
            </a:r>
            <a:endParaRPr lang="en-US" sz="1400" dirty="0"/>
          </a:p>
        </p:txBody>
      </p:sp>
      <p:sp>
        <p:nvSpPr>
          <p:cNvPr id="11" name="Avatar LuLayers"/>
          <p:cNvSpPr/>
          <p:nvPr/>
        </p:nvSpPr>
        <p:spPr>
          <a:xfrm>
            <a:off x="6949440" y="301752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DAFDF5"/>
          </a:solidFill>
          <a:ln/>
        </p:spPr>
      </p:sp>
      <p:pic>
        <p:nvPicPr>
          <p:cNvPr id="12" name="Image 1" descr="LuLayer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9168" y="3127248"/>
            <a:ext cx="237744" cy="23774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635240" y="2980944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CodeList padrão do CAP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7635240" y="3300984"/>
            <a:ext cx="397764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code, name e descr traduzíveis, prontos para value help e textos no Fiori.</a:t>
            </a:r>
            <a:endParaRPr lang="en-US" sz="1400" dirty="0"/>
          </a:p>
        </p:txBody>
      </p:sp>
      <p:sp>
        <p:nvSpPr>
          <p:cNvPr id="15" name="Avatar LuGauge"/>
          <p:cNvSpPr/>
          <p:nvPr/>
        </p:nvSpPr>
        <p:spPr>
          <a:xfrm>
            <a:off x="6949440" y="434340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1ECFF"/>
          </a:solidFill>
          <a:ln/>
        </p:spPr>
      </p:sp>
      <p:pic>
        <p:nvPicPr>
          <p:cNvPr id="16" name="Image 2" descr="LuGaug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9168" y="4453128"/>
            <a:ext cx="237744" cy="237744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7635240" y="4306824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Ordem e criticidade</a:t>
            </a:r>
            <a:endParaRPr lang="en-US" sz="1500" dirty="0"/>
          </a:p>
        </p:txBody>
      </p:sp>
      <p:sp>
        <p:nvSpPr>
          <p:cNvPr id="18" name="Text 12"/>
          <p:cNvSpPr txBox="1"/>
          <p:nvPr/>
        </p:nvSpPr>
        <p:spPr>
          <a:xfrm>
            <a:off x="7635240" y="4626864"/>
            <a:ext cx="397764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Cada valor traz a ordem de exibição e a cor semântica usada nas listas.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TIPOS E CODELISTS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Sete CodeLists dirigem status e classificações</a:t>
            </a:r>
            <a:endParaRPr lang="en-US" sz="3200" dirty="0"/>
          </a:p>
        </p:txBody>
      </p:sp>
      <p:sp>
        <p:nvSpPr>
          <p:cNvPr id="5" name="Cartão"/>
          <p:cNvSpPr/>
          <p:nvPr/>
        </p:nvSpPr>
        <p:spPr>
          <a:xfrm>
            <a:off x="548640" y="1600200"/>
            <a:ext cx="11091672" cy="4315968"/>
          </a:xfrm>
          <a:prstGeom prst="roundRect">
            <a:avLst>
              <a:gd name="adj" fmla="val 2542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737360"/>
          <a:ext cx="10725912" cy="914400"/>
        </p:xfrm>
        <a:graphic>
          <a:graphicData uri="http://schemas.openxmlformats.org/drawingml/2006/table">
            <a:tbl>
              <a:tblPr/>
              <a:tblGrid>
                <a:gridCol w="2106876"/>
                <a:gridCol w="6129093"/>
                <a:gridCol w="2489944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CodeList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Códigos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Onde aparece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StatusPedido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ABERTO · AGUARDANDO_APROVACAO · PROCESSANDO_REEMBOLSO · CANCELADO · FINALIZADO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Ciclo de vida do pedido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StatusPagamento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PENDENTE · APROVADO · RECUSADO · DEVOLVIDO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Pedido e pagamento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StatusReembolso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PENDENTE · APROVADO · REJEITADO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Gestão de Reembolsos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StatusEstoque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SEM_ESTOQUE · ACABANDO · EM_ESTOQUE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Coluna gerada nos itens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MetodosPagamento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CARTAO_CREDITO · CARTAO_DEBITO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Ação Efetuar Pagamento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Categorias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Categorias dos itens (base do prefixo do SKU)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Gestão de Estoque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Generos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Gênero do cliente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Gestão de Clientes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ENTIDADES E RELAÇÕES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O modelo de entidades e seus relacionamentos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1920240" y="2514600"/>
            <a:ext cx="0" cy="2011680"/>
          </a:xfrm>
          <a:prstGeom prst="line">
            <a:avLst/>
          </a:prstGeom>
          <a:noFill/>
          <a:ln w="25400">
            <a:solidFill>
              <a:srgbClr val="0070F2"/>
            </a:solidFill>
            <a:prstDash val="solid"/>
            <a:headEnd type="diamond"/>
          </a:ln>
        </p:spPr>
      </p:sp>
      <p:sp>
        <p:nvSpPr>
          <p:cNvPr id="6" name="Text 3"/>
          <p:cNvSpPr txBox="1"/>
          <p:nvPr/>
        </p:nvSpPr>
        <p:spPr>
          <a:xfrm>
            <a:off x="1965960" y="338328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56B82"/>
                </a:solidFill>
              </a:rPr>
              <a:t>1:N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 flipH="1">
            <a:off x="3108960" y="2075688"/>
            <a:ext cx="1783080" cy="0"/>
          </a:xfrm>
          <a:prstGeom prst="line">
            <a:avLst/>
          </a:prstGeom>
          <a:noFill/>
          <a:ln w="19050">
            <a:solidFill>
              <a:srgbClr val="556B82"/>
            </a:solidFill>
            <a:prstDash val="dash"/>
            <a:tailEnd type="triangle"/>
          </a:ln>
        </p:spPr>
      </p:sp>
      <p:sp>
        <p:nvSpPr>
          <p:cNvPr id="8" name="Text 5"/>
          <p:cNvSpPr txBox="1"/>
          <p:nvPr/>
        </p:nvSpPr>
        <p:spPr>
          <a:xfrm>
            <a:off x="3703320" y="181051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56B82"/>
                </a:solidFill>
              </a:rPr>
              <a:t>N:1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080760" y="2514600"/>
            <a:ext cx="0" cy="548640"/>
          </a:xfrm>
          <a:prstGeom prst="line">
            <a:avLst/>
          </a:prstGeom>
          <a:noFill/>
          <a:ln w="19050">
            <a:solidFill>
              <a:srgbClr val="556B82"/>
            </a:solidFill>
            <a:prstDash val="dash"/>
            <a:tailEnd type="triangle"/>
          </a:ln>
        </p:spPr>
      </p:sp>
      <p:sp>
        <p:nvSpPr>
          <p:cNvPr id="10" name="Shape 7"/>
          <p:cNvSpPr/>
          <p:nvPr/>
        </p:nvSpPr>
        <p:spPr>
          <a:xfrm flipH="1" flipV="1">
            <a:off x="3108960" y="2377440"/>
            <a:ext cx="1783080" cy="914400"/>
          </a:xfrm>
          <a:prstGeom prst="line">
            <a:avLst/>
          </a:prstGeom>
          <a:noFill/>
          <a:ln w="19050">
            <a:solidFill>
              <a:srgbClr val="556B82"/>
            </a:solidFill>
            <a:prstDash val="dash"/>
            <a:tailEnd type="triangle"/>
          </a:ln>
        </p:spPr>
      </p:sp>
      <p:sp>
        <p:nvSpPr>
          <p:cNvPr id="11" name="Text 8"/>
          <p:cNvSpPr txBox="1"/>
          <p:nvPr/>
        </p:nvSpPr>
        <p:spPr>
          <a:xfrm>
            <a:off x="3749040" y="285292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56B82"/>
                </a:solidFill>
              </a:rPr>
              <a:t>N:1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 flipH="1">
            <a:off x="3108960" y="3703320"/>
            <a:ext cx="1783080" cy="1005840"/>
          </a:xfrm>
          <a:prstGeom prst="line">
            <a:avLst/>
          </a:prstGeom>
          <a:noFill/>
          <a:ln w="19050">
            <a:solidFill>
              <a:srgbClr val="556B82"/>
            </a:solidFill>
            <a:prstDash val="dash"/>
            <a:tailEnd type="triangle"/>
          </a:ln>
        </p:spPr>
      </p:sp>
      <p:sp>
        <p:nvSpPr>
          <p:cNvPr id="13" name="Text 10"/>
          <p:cNvSpPr txBox="1"/>
          <p:nvPr/>
        </p:nvSpPr>
        <p:spPr>
          <a:xfrm>
            <a:off x="3383280" y="397764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56B82"/>
                </a:solidFill>
              </a:rPr>
              <a:t>entrega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 flipV="1">
            <a:off x="7269480" y="2194560"/>
            <a:ext cx="1783080" cy="1097280"/>
          </a:xfrm>
          <a:prstGeom prst="line">
            <a:avLst/>
          </a:prstGeom>
          <a:noFill/>
          <a:ln w="25400">
            <a:solidFill>
              <a:srgbClr val="0070F2"/>
            </a:solidFill>
            <a:prstDash val="solid"/>
            <a:headEnd type="diamond"/>
          </a:ln>
        </p:spPr>
      </p:sp>
      <p:sp>
        <p:nvSpPr>
          <p:cNvPr id="15" name="Text 12"/>
          <p:cNvSpPr txBox="1"/>
          <p:nvPr/>
        </p:nvSpPr>
        <p:spPr>
          <a:xfrm>
            <a:off x="7955280" y="246888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56B82"/>
                </a:solidFill>
              </a:rPr>
              <a:t>1:1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7269480" y="3493008"/>
            <a:ext cx="1783080" cy="0"/>
          </a:xfrm>
          <a:prstGeom prst="line">
            <a:avLst/>
          </a:prstGeom>
          <a:noFill/>
          <a:ln w="25400">
            <a:solidFill>
              <a:srgbClr val="0070F2"/>
            </a:solidFill>
            <a:prstDash val="solid"/>
            <a:headEnd type="diamond"/>
          </a:ln>
        </p:spPr>
      </p:sp>
      <p:sp>
        <p:nvSpPr>
          <p:cNvPr id="17" name="Text 14"/>
          <p:cNvSpPr txBox="1"/>
          <p:nvPr/>
        </p:nvSpPr>
        <p:spPr>
          <a:xfrm>
            <a:off x="7882128" y="320040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56B82"/>
                </a:solidFill>
              </a:rPr>
              <a:t>1:N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10241280" y="3931920"/>
            <a:ext cx="0" cy="594360"/>
          </a:xfrm>
          <a:prstGeom prst="line">
            <a:avLst/>
          </a:prstGeom>
          <a:noFill/>
          <a:ln w="19050">
            <a:solidFill>
              <a:srgbClr val="556B82"/>
            </a:solidFill>
            <a:prstDash val="dash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6080760" y="3931920"/>
            <a:ext cx="0" cy="594360"/>
          </a:xfrm>
          <a:prstGeom prst="line">
            <a:avLst/>
          </a:prstGeom>
          <a:noFill/>
          <a:ln w="25400">
            <a:solidFill>
              <a:srgbClr val="0070F2"/>
            </a:solidFill>
            <a:prstDash val="solid"/>
            <a:headEnd type="diamond"/>
          </a:ln>
        </p:spPr>
      </p:sp>
      <p:sp>
        <p:nvSpPr>
          <p:cNvPr id="20" name="Cartão"/>
          <p:cNvSpPr/>
          <p:nvPr/>
        </p:nvSpPr>
        <p:spPr>
          <a:xfrm>
            <a:off x="731520" y="1645920"/>
            <a:ext cx="2377440" cy="868680"/>
          </a:xfrm>
          <a:prstGeom prst="roundRect">
            <a:avLst>
              <a:gd name="adj" fmla="val 12632"/>
            </a:avLst>
          </a:prstGeom>
          <a:solidFill>
            <a:schemeClr val="bg1"/>
          </a:solidFill>
          <a:ln w="15875">
            <a:solidFill>
              <a:srgbClr val="0070F2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sp>
        <p:nvSpPr>
          <p:cNvPr id="21" name="Text 18"/>
          <p:cNvSpPr txBox="1"/>
          <p:nvPr/>
        </p:nvSpPr>
        <p:spPr>
          <a:xfrm>
            <a:off x="896112" y="1737360"/>
            <a:ext cx="20482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Clientes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896112" y="2093976"/>
            <a:ext cx="2048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B82"/>
                </a:solidFill>
              </a:rPr>
              <a:t>cpf · nome · score</a:t>
            </a:r>
            <a:endParaRPr lang="en-US" sz="1100" dirty="0"/>
          </a:p>
        </p:txBody>
      </p:sp>
      <p:sp>
        <p:nvSpPr>
          <p:cNvPr id="23" name="Cartão"/>
          <p:cNvSpPr/>
          <p:nvPr/>
        </p:nvSpPr>
        <p:spPr>
          <a:xfrm>
            <a:off x="731520" y="4526280"/>
            <a:ext cx="2377440" cy="868680"/>
          </a:xfrm>
          <a:prstGeom prst="roundRect">
            <a:avLst>
              <a:gd name="adj" fmla="val 12632"/>
            </a:avLst>
          </a:prstGeom>
          <a:solidFill>
            <a:schemeClr val="bg1"/>
          </a:solidFill>
          <a:ln w="15875">
            <a:solidFill>
              <a:srgbClr val="0070F2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sp>
        <p:nvSpPr>
          <p:cNvPr id="24" name="Text 21"/>
          <p:cNvSpPr txBox="1"/>
          <p:nvPr/>
        </p:nvSpPr>
        <p:spPr>
          <a:xfrm>
            <a:off x="896112" y="4617720"/>
            <a:ext cx="20482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Enderecos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896112" y="4974336"/>
            <a:ext cx="2048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B82"/>
                </a:solidFill>
              </a:rPr>
              <a:t>cep · uf · principal</a:t>
            </a:r>
            <a:endParaRPr lang="en-US" sz="1100" dirty="0"/>
          </a:p>
        </p:txBody>
      </p:sp>
      <p:sp>
        <p:nvSpPr>
          <p:cNvPr id="26" name="Cartão"/>
          <p:cNvSpPr/>
          <p:nvPr/>
        </p:nvSpPr>
        <p:spPr>
          <a:xfrm>
            <a:off x="4892040" y="1645920"/>
            <a:ext cx="2377440" cy="868680"/>
          </a:xfrm>
          <a:prstGeom prst="roundRect">
            <a:avLst>
              <a:gd name="adj" fmla="val 12632"/>
            </a:avLst>
          </a:prstGeom>
          <a:solidFill>
            <a:schemeClr val="bg1"/>
          </a:solidFill>
          <a:ln w="15875">
            <a:solidFill>
              <a:srgbClr val="0070F2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sp>
        <p:nvSpPr>
          <p:cNvPr id="27" name="Text 24"/>
          <p:cNvSpPr txBox="1"/>
          <p:nvPr/>
        </p:nvSpPr>
        <p:spPr>
          <a:xfrm>
            <a:off x="5056632" y="1737360"/>
            <a:ext cx="20482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Reembolsos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056632" y="2093976"/>
            <a:ext cx="2048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B82"/>
                </a:solidFill>
              </a:rPr>
              <a:t>status · valor · motivo</a:t>
            </a:r>
            <a:endParaRPr lang="en-US" sz="1100" dirty="0"/>
          </a:p>
        </p:txBody>
      </p:sp>
      <p:sp>
        <p:nvSpPr>
          <p:cNvPr id="29" name="Cartão"/>
          <p:cNvSpPr/>
          <p:nvPr/>
        </p:nvSpPr>
        <p:spPr>
          <a:xfrm>
            <a:off x="4892040" y="3063240"/>
            <a:ext cx="2377440" cy="868680"/>
          </a:xfrm>
          <a:prstGeom prst="roundRect">
            <a:avLst>
              <a:gd name="adj" fmla="val 12632"/>
            </a:avLst>
          </a:prstGeom>
          <a:solidFill>
            <a:schemeClr val="bg1"/>
          </a:solidFill>
          <a:ln w="15875">
            <a:solidFill>
              <a:srgbClr val="0070F2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5056632" y="3154680"/>
            <a:ext cx="20482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Pedidos</a:t>
            </a:r>
            <a:endParaRPr lang="en-US" sz="1500" dirty="0"/>
          </a:p>
        </p:txBody>
      </p:sp>
      <p:sp>
        <p:nvSpPr>
          <p:cNvPr id="31" name="Text 28"/>
          <p:cNvSpPr txBox="1"/>
          <p:nvPr/>
        </p:nvSpPr>
        <p:spPr>
          <a:xfrm>
            <a:off x="5056632" y="3511296"/>
            <a:ext cx="2048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B82"/>
                </a:solidFill>
              </a:rPr>
              <a:t>numeroPedido · status · total</a:t>
            </a:r>
            <a:endParaRPr lang="en-US" sz="1100" dirty="0"/>
          </a:p>
        </p:txBody>
      </p:sp>
      <p:sp>
        <p:nvSpPr>
          <p:cNvPr id="32" name="Cartão"/>
          <p:cNvSpPr/>
          <p:nvPr/>
        </p:nvSpPr>
        <p:spPr>
          <a:xfrm>
            <a:off x="9052560" y="1645920"/>
            <a:ext cx="2377440" cy="868680"/>
          </a:xfrm>
          <a:prstGeom prst="roundRect">
            <a:avLst>
              <a:gd name="adj" fmla="val 12632"/>
            </a:avLst>
          </a:prstGeom>
          <a:solidFill>
            <a:schemeClr val="bg1"/>
          </a:solidFill>
          <a:ln w="15875">
            <a:solidFill>
              <a:srgbClr val="0070F2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sp>
        <p:nvSpPr>
          <p:cNvPr id="33" name="Text 30"/>
          <p:cNvSpPr txBox="1"/>
          <p:nvPr/>
        </p:nvSpPr>
        <p:spPr>
          <a:xfrm>
            <a:off x="9217152" y="1737360"/>
            <a:ext cx="20482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Pagamentos</a:t>
            </a:r>
            <a:endParaRPr lang="en-US" sz="1500" dirty="0"/>
          </a:p>
        </p:txBody>
      </p:sp>
      <p:sp>
        <p:nvSpPr>
          <p:cNvPr id="34" name="Text 31"/>
          <p:cNvSpPr txBox="1"/>
          <p:nvPr/>
        </p:nvSpPr>
        <p:spPr>
          <a:xfrm>
            <a:off x="9217152" y="2093976"/>
            <a:ext cx="2048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B82"/>
                </a:solidFill>
              </a:rPr>
              <a:t>bandeira · últimos 4</a:t>
            </a:r>
            <a:endParaRPr lang="en-US" sz="1100" dirty="0"/>
          </a:p>
        </p:txBody>
      </p:sp>
      <p:sp>
        <p:nvSpPr>
          <p:cNvPr id="35" name="Cartão"/>
          <p:cNvSpPr/>
          <p:nvPr/>
        </p:nvSpPr>
        <p:spPr>
          <a:xfrm>
            <a:off x="9052560" y="3063240"/>
            <a:ext cx="2377440" cy="868680"/>
          </a:xfrm>
          <a:prstGeom prst="roundRect">
            <a:avLst>
              <a:gd name="adj" fmla="val 12632"/>
            </a:avLst>
          </a:prstGeom>
          <a:solidFill>
            <a:schemeClr val="bg1"/>
          </a:solidFill>
          <a:ln w="15875">
            <a:solidFill>
              <a:srgbClr val="0070F2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sp>
        <p:nvSpPr>
          <p:cNvPr id="36" name="Text 33"/>
          <p:cNvSpPr txBox="1"/>
          <p:nvPr/>
        </p:nvSpPr>
        <p:spPr>
          <a:xfrm>
            <a:off x="9217152" y="3154680"/>
            <a:ext cx="20482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ItensPedido</a:t>
            </a:r>
            <a:endParaRPr lang="en-US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9217152" y="3511296"/>
            <a:ext cx="2048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B82"/>
                </a:solidFill>
              </a:rPr>
              <a:t>qtde · preço fixado</a:t>
            </a:r>
            <a:endParaRPr lang="en-US" sz="1100" dirty="0"/>
          </a:p>
        </p:txBody>
      </p:sp>
      <p:sp>
        <p:nvSpPr>
          <p:cNvPr id="38" name="Cartão"/>
          <p:cNvSpPr/>
          <p:nvPr/>
        </p:nvSpPr>
        <p:spPr>
          <a:xfrm>
            <a:off x="9052560" y="4526280"/>
            <a:ext cx="2377440" cy="868680"/>
          </a:xfrm>
          <a:prstGeom prst="roundRect">
            <a:avLst>
              <a:gd name="adj" fmla="val 12632"/>
            </a:avLst>
          </a:prstGeom>
          <a:solidFill>
            <a:schemeClr val="bg1"/>
          </a:solidFill>
          <a:ln w="15875">
            <a:solidFill>
              <a:srgbClr val="049F9A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sp>
        <p:nvSpPr>
          <p:cNvPr id="39" name="Text 36"/>
          <p:cNvSpPr txBox="1"/>
          <p:nvPr/>
        </p:nvSpPr>
        <p:spPr>
          <a:xfrm>
            <a:off x="9217152" y="4617720"/>
            <a:ext cx="20482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Itens</a:t>
            </a:r>
            <a:endParaRPr lang="en-US" sz="1500" dirty="0"/>
          </a:p>
        </p:txBody>
      </p:sp>
      <p:sp>
        <p:nvSpPr>
          <p:cNvPr id="40" name="Text 37"/>
          <p:cNvSpPr txBox="1"/>
          <p:nvPr/>
        </p:nvSpPr>
        <p:spPr>
          <a:xfrm>
            <a:off x="9217152" y="4974336"/>
            <a:ext cx="2048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B82"/>
                </a:solidFill>
              </a:rPr>
              <a:t>sku · qtdeDisponivel</a:t>
            </a:r>
            <a:endParaRPr lang="en-US" sz="1100" dirty="0"/>
          </a:p>
        </p:txBody>
      </p:sp>
      <p:sp>
        <p:nvSpPr>
          <p:cNvPr id="41" name="Cartão"/>
          <p:cNvSpPr/>
          <p:nvPr/>
        </p:nvSpPr>
        <p:spPr>
          <a:xfrm>
            <a:off x="4709160" y="4526280"/>
            <a:ext cx="2743200" cy="868680"/>
          </a:xfrm>
          <a:prstGeom prst="roundRect">
            <a:avLst>
              <a:gd name="adj" fmla="val 12632"/>
            </a:avLst>
          </a:prstGeom>
          <a:solidFill>
            <a:schemeClr val="bg1"/>
          </a:solidFill>
          <a:ln w="15875">
            <a:solidFill>
              <a:srgbClr val="0070F2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sp>
        <p:nvSpPr>
          <p:cNvPr id="42" name="Text 39"/>
          <p:cNvSpPr txBox="1"/>
          <p:nvPr/>
        </p:nvSpPr>
        <p:spPr>
          <a:xfrm>
            <a:off x="4873752" y="4617720"/>
            <a:ext cx="24140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Snapshots</a:t>
            </a:r>
            <a:endParaRPr lang="en-US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4873752" y="4974336"/>
            <a:ext cx="2414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B82"/>
                </a:solidFill>
              </a:rPr>
              <a:t>cliente e itens congelados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731520" y="5833872"/>
            <a:ext cx="640080" cy="0"/>
          </a:xfrm>
          <a:prstGeom prst="line">
            <a:avLst/>
          </a:prstGeom>
          <a:noFill/>
          <a:ln w="25400">
            <a:solidFill>
              <a:srgbClr val="0070F2"/>
            </a:solidFill>
            <a:prstDash val="solid"/>
            <a:headEnd type="diamond"/>
          </a:ln>
        </p:spPr>
      </p:sp>
      <p:sp>
        <p:nvSpPr>
          <p:cNvPr id="45" name="Text 42"/>
          <p:cNvSpPr txBox="1"/>
          <p:nvPr/>
        </p:nvSpPr>
        <p:spPr>
          <a:xfrm>
            <a:off x="1508760" y="570585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Composição (ciclo de vida junto do pai)</a:t>
            </a:r>
            <a:endParaRPr lang="en-US" sz="1200" dirty="0"/>
          </a:p>
        </p:txBody>
      </p:sp>
      <p:sp>
        <p:nvSpPr>
          <p:cNvPr id="46" name="Shape 43"/>
          <p:cNvSpPr/>
          <p:nvPr/>
        </p:nvSpPr>
        <p:spPr>
          <a:xfrm>
            <a:off x="5486400" y="5833872"/>
            <a:ext cx="640080" cy="0"/>
          </a:xfrm>
          <a:prstGeom prst="line">
            <a:avLst/>
          </a:prstGeom>
          <a:noFill/>
          <a:ln w="19050">
            <a:solidFill>
              <a:srgbClr val="556B82"/>
            </a:solidFill>
            <a:prstDash val="dash"/>
            <a:tailEnd type="triangle"/>
          </a:ln>
        </p:spPr>
      </p:sp>
      <p:sp>
        <p:nvSpPr>
          <p:cNvPr id="47" name="Text 44"/>
          <p:cNvSpPr txBox="1"/>
          <p:nvPr/>
        </p:nvSpPr>
        <p:spPr>
          <a:xfrm>
            <a:off x="6263640" y="570585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Associação (referência)</a:t>
            </a:r>
            <a:endParaRPr lang="en-US" sz="1200" dirty="0"/>
          </a:p>
        </p:txBody>
      </p:sp>
      <p:sp>
        <p:nvSpPr>
          <p:cNvPr id="48" name="Text 45"/>
          <p:cNvSpPr txBox="1"/>
          <p:nvPr/>
        </p:nvSpPr>
        <p:spPr>
          <a:xfrm>
            <a:off x="8686800" y="570585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6B82"/>
                </a:solidFill>
              </a:rPr>
              <a:t>Omitidos: Numeracoes e as CodeLists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TABELAS ATIVAS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Tabelas ativas e tabelas de rascunho</a:t>
            </a:r>
            <a:endParaRPr lang="en-US" sz="3200" dirty="0"/>
          </a:p>
        </p:txBody>
      </p:sp>
      <p:sp>
        <p:nvSpPr>
          <p:cNvPr id="5" name="Cartão"/>
          <p:cNvSpPr/>
          <p:nvPr/>
        </p:nvSpPr>
        <p:spPr>
          <a:xfrm>
            <a:off x="548640" y="1554480"/>
            <a:ext cx="6492240" cy="4526280"/>
          </a:xfrm>
          <a:prstGeom prst="roundRect">
            <a:avLst>
              <a:gd name="adj" fmla="val 2424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sp>
        <p:nvSpPr>
          <p:cNvPr id="6" name="Avatar LuDatabase"/>
          <p:cNvSpPr/>
          <p:nvPr/>
        </p:nvSpPr>
        <p:spPr>
          <a:xfrm>
            <a:off x="777240" y="175564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0070F2"/>
          </a:solidFill>
          <a:ln/>
        </p:spPr>
      </p:sp>
      <p:pic>
        <p:nvPicPr>
          <p:cNvPr id="7" name="Image 0" descr="LuDatabas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1865376"/>
            <a:ext cx="237744" cy="23774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371600" y="1755648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26 tabelas ativas</a:t>
            </a:r>
            <a:endParaRPr lang="en-US" sz="1800" dirty="0"/>
          </a:p>
        </p:txBody>
      </p:sp>
      <p:sp>
        <p:nvSpPr>
          <p:cNvPr id="9" name="Text 5"/>
          <p:cNvSpPr txBox="1"/>
          <p:nvPr/>
        </p:nvSpPr>
        <p:spPr>
          <a:xfrm>
            <a:off x="822960" y="2395728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Domínio (10)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822960" y="2670048"/>
            <a:ext cx="6035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Clientes · Enderecos · Itens · Pedidos · ItensPedido · Pagamentos · PedidosClienteSnapshots · PedidosItensSnapshots · Reembolsos · Numeracoes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822960" y="3310128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CodeLists (7)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822960" y="3584448"/>
            <a:ext cx="6035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Generos · Categorias · StatusEstoque · StatusPedido · StatusPagamento · StatusReembolso · MetodosPagamento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822960" y="4224528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Textos (8)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822960" y="4498848"/>
            <a:ext cx="6035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&lt;CodeList&gt;_texts e sap_common_Currencies_texts: traduções de name e descr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822960" y="5138928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Moedas (1)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822960" y="5413248"/>
            <a:ext cx="6035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sap_common_Currencies (BRL, USD, EUR), de @sap/cds/common</a:t>
            </a:r>
            <a:endParaRPr lang="en-US" sz="1300" dirty="0"/>
          </a:p>
        </p:txBody>
      </p:sp>
      <p:sp>
        <p:nvSpPr>
          <p:cNvPr id="17" name="Bloco de código"/>
          <p:cNvSpPr/>
          <p:nvPr/>
        </p:nvSpPr>
        <p:spPr>
          <a:xfrm>
            <a:off x="7269480" y="1554480"/>
            <a:ext cx="4370832" cy="2057400"/>
          </a:xfrm>
          <a:prstGeom prst="roundRect">
            <a:avLst>
              <a:gd name="adj" fmla="val 5333"/>
            </a:avLst>
          </a:prstGeom>
          <a:solidFill>
            <a:srgbClr val="1F1F1F"/>
          </a:solidFill>
          <a:ln w="9525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8000"/>
              </a:srgbClr>
            </a:outerShdw>
          </a:effectLst>
        </p:spPr>
      </p:sp>
      <p:sp>
        <p:nvSpPr>
          <p:cNvPr id="18" name="Código"/>
          <p:cNvSpPr txBox="1"/>
          <p:nvPr/>
        </p:nvSpPr>
        <p:spPr>
          <a:xfrm>
            <a:off x="7498080" y="1737360"/>
            <a:ext cx="391363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tabelas de rascunho (draft)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DRAFT_DraftAdministrativeData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ClientesService_Clientes_drafts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ClientesService_Enderecos_drafts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EstoqueService_Itens_drafts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PedidosService_Pedidos_drafts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PedidosService_ItensPedido_drafts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PedidosService_Pagamentos_drafts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PedidosService_...Snapshots_drafts (2)</a:t>
            </a:r>
            <a:endParaRPr lang="en-US" sz="1200" dirty="0"/>
          </a:p>
        </p:txBody>
      </p:sp>
      <p:sp>
        <p:nvSpPr>
          <p:cNvPr id="19" name="Cartão"/>
          <p:cNvSpPr/>
          <p:nvPr/>
        </p:nvSpPr>
        <p:spPr>
          <a:xfrm>
            <a:off x="7269480" y="4983480"/>
            <a:ext cx="4370832" cy="1097280"/>
          </a:xfrm>
          <a:prstGeom prst="roundRect">
            <a:avLst>
              <a:gd name="adj" fmla="val 10000"/>
            </a:avLst>
          </a:prstGeom>
          <a:solidFill>
            <a:srgbClr val="EBF8FF"/>
          </a:solidFill>
          <a:ln w="9525">
            <a:solidFill>
              <a:srgbClr val="D1EFFF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7498080" y="4983480"/>
            <a:ext cx="39593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Prefixo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pedidoscompras_ nas ativas; &lt;Serviço&gt;_&lt;Entidade&gt;_drafts no rascunho.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TABELAS ATIVAS · CLIENTES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Clientes: cadastro do cliente (1/2)</a:t>
            </a:r>
            <a:endParaRPr lang="en-US" sz="3200" dirty="0"/>
          </a:p>
        </p:txBody>
      </p:sp>
      <p:sp>
        <p:nvSpPr>
          <p:cNvPr id="5" name="Cartão"/>
          <p:cNvSpPr/>
          <p:nvPr/>
        </p:nvSpPr>
        <p:spPr>
          <a:xfrm>
            <a:off x="548640" y="1554480"/>
            <a:ext cx="7223760" cy="3749040"/>
          </a:xfrm>
          <a:prstGeom prst="roundRect">
            <a:avLst>
              <a:gd name="adj" fmla="val 2927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91640"/>
          <a:ext cx="6858000" cy="914400"/>
        </p:xfrm>
        <a:graphic>
          <a:graphicData uri="http://schemas.openxmlformats.org/drawingml/2006/table">
            <a:tbl>
              <a:tblPr/>
              <a:tblGrid>
                <a:gridCol w="2343873"/>
                <a:gridCol w="1562582"/>
                <a:gridCol w="2951544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Campo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Tipo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Descrição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ID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UUID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Chave gerada pelo aspect cuid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fotoCliente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LargeBinary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Foto JPEG, PNG ou WebP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fotoClienteMimeType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String(50)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MIME da foto (@Core.IsMediaType)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fotoClienteNome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String(255)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Nome do arquivo enviado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cpf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String(11)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Só dígitos; único (UNIQUE)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nome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String(255)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Nome completo; obrigatório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email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String(100)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Formato validado por @assert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telefone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String(11)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DDD + número: 10 ou 11 dígitos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genero_code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Association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→ Generos (elemento genero)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dataNascimento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Date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Obrigatória; não pode ser futura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8046720" y="153619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6B82"/>
                </a:solidFill>
              </a:rPr>
              <a:t>TABELA NO BANCO</a:t>
            </a:r>
            <a:endParaRPr lang="en-US" sz="1100" dirty="0"/>
          </a:p>
        </p:txBody>
      </p:sp>
      <p:sp>
        <p:nvSpPr>
          <p:cNvPr id="8" name="Cartão"/>
          <p:cNvSpPr/>
          <p:nvPr/>
        </p:nvSpPr>
        <p:spPr>
          <a:xfrm>
            <a:off x="8046720" y="1828800"/>
            <a:ext cx="3593592" cy="457200"/>
          </a:xfrm>
          <a:prstGeom prst="roundRect">
            <a:avLst>
              <a:gd name="adj" fmla="val 24000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183880" y="18288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pedidoscompras_Clientes</a:t>
            </a:r>
            <a:endParaRPr lang="en-US" sz="1100" dirty="0"/>
          </a:p>
        </p:txBody>
      </p:sp>
      <p:sp>
        <p:nvSpPr>
          <p:cNvPr id="10" name="Avatar LuKeyRound"/>
          <p:cNvSpPr/>
          <p:nvPr/>
        </p:nvSpPr>
        <p:spPr>
          <a:xfrm>
            <a:off x="8046720" y="2606040"/>
            <a:ext cx="411480" cy="41148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pic>
        <p:nvPicPr>
          <p:cNvPr id="11" name="Image 0" descr="LuKeyRoun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5475" y="2704795"/>
            <a:ext cx="213970" cy="21397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8686800" y="2569464"/>
            <a:ext cx="2953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cuid + managed</a:t>
            </a:r>
            <a:endParaRPr lang="en-US" sz="1500" dirty="0"/>
          </a:p>
        </p:txBody>
      </p:sp>
      <p:sp>
        <p:nvSpPr>
          <p:cNvPr id="13" name="Text 8"/>
          <p:cNvSpPr txBox="1"/>
          <p:nvPr/>
        </p:nvSpPr>
        <p:spPr>
          <a:xfrm>
            <a:off x="8686800" y="2889504"/>
            <a:ext cx="29535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ID UUID e auditoria preenchidos pelo CAP.</a:t>
            </a:r>
            <a:endParaRPr lang="en-US" sz="1400" dirty="0"/>
          </a:p>
        </p:txBody>
      </p:sp>
      <p:sp>
        <p:nvSpPr>
          <p:cNvPr id="14" name="Avatar LuShieldCheck"/>
          <p:cNvSpPr/>
          <p:nvPr/>
        </p:nvSpPr>
        <p:spPr>
          <a:xfrm>
            <a:off x="8046720" y="3703320"/>
            <a:ext cx="411480" cy="411480"/>
          </a:xfrm>
          <a:prstGeom prst="roundRect">
            <a:avLst>
              <a:gd name="adj" fmla="val 22000"/>
            </a:avLst>
          </a:prstGeom>
          <a:solidFill>
            <a:srgbClr val="DAFDF5"/>
          </a:solidFill>
          <a:ln/>
        </p:spPr>
      </p:sp>
      <p:pic>
        <p:nvPicPr>
          <p:cNvPr id="15" name="Image 1" descr="LuShield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5475" y="3802075"/>
            <a:ext cx="213970" cy="21397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8686800" y="3666744"/>
            <a:ext cx="2953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UNIQUE em cpf</a:t>
            </a:r>
            <a:endParaRPr lang="en-US" sz="1500" dirty="0"/>
          </a:p>
        </p:txBody>
      </p:sp>
      <p:sp>
        <p:nvSpPr>
          <p:cNvPr id="17" name="Text 11"/>
          <p:cNvSpPr txBox="1"/>
          <p:nvPr/>
        </p:nvSpPr>
        <p:spPr>
          <a:xfrm>
            <a:off x="8686800" y="3986784"/>
            <a:ext cx="29535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Gerado por @assert.unique.cpf.</a:t>
            </a:r>
            <a:endParaRPr lang="en-US" sz="1400" dirty="0"/>
          </a:p>
        </p:txBody>
      </p:sp>
      <p:sp>
        <p:nvSpPr>
          <p:cNvPr id="18" name="Avatar LuImage"/>
          <p:cNvSpPr/>
          <p:nvPr/>
        </p:nvSpPr>
        <p:spPr>
          <a:xfrm>
            <a:off x="8046720" y="4800600"/>
            <a:ext cx="411480" cy="411480"/>
          </a:xfrm>
          <a:prstGeom prst="roundRect">
            <a:avLst>
              <a:gd name="adj" fmla="val 22000"/>
            </a:avLst>
          </a:prstGeom>
          <a:solidFill>
            <a:srgbClr val="F1ECFF"/>
          </a:solidFill>
          <a:ln/>
        </p:spPr>
      </p:sp>
      <p:pic>
        <p:nvPicPr>
          <p:cNvPr id="19" name="Image 2" descr="LuImag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5475" y="4899355"/>
            <a:ext cx="213970" cy="213970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8686800" y="4764024"/>
            <a:ext cx="2953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Foto como mídia</a:t>
            </a:r>
            <a:endParaRPr lang="en-US" sz="1500" dirty="0"/>
          </a:p>
        </p:txBody>
      </p:sp>
      <p:sp>
        <p:nvSpPr>
          <p:cNvPr id="21" name="Text 14"/>
          <p:cNvSpPr txBox="1"/>
          <p:nvPr/>
        </p:nvSpPr>
        <p:spPr>
          <a:xfrm>
            <a:off x="8686800" y="5084064"/>
            <a:ext cx="29535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Lida por stream e validada por MIME e assinatura.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TABELAS ATIVAS · CLIENTES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Clientes: cadastro do cliente (2/2)</a:t>
            </a:r>
            <a:endParaRPr lang="en-US" sz="3200" dirty="0"/>
          </a:p>
        </p:txBody>
      </p:sp>
      <p:sp>
        <p:nvSpPr>
          <p:cNvPr id="5" name="Cartão"/>
          <p:cNvSpPr/>
          <p:nvPr/>
        </p:nvSpPr>
        <p:spPr>
          <a:xfrm>
            <a:off x="548640" y="1554480"/>
            <a:ext cx="7223760" cy="3749040"/>
          </a:xfrm>
          <a:prstGeom prst="roundRect">
            <a:avLst>
              <a:gd name="adj" fmla="val 2927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91640"/>
          <a:ext cx="6858000" cy="914400"/>
        </p:xfrm>
        <a:graphic>
          <a:graphicData uri="http://schemas.openxmlformats.org/drawingml/2006/table">
            <a:tbl>
              <a:tblPr/>
              <a:tblGrid>
                <a:gridCol w="2343873"/>
                <a:gridCol w="1562582"/>
                <a:gridCol w="2951544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Campo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Tipo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Descrição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clienteAtivo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Boolean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Inativo não faz pedido; padrão true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scoreCliente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Decimal(5,2)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Sorteado de 0 a 100; só leitura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enderecos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Composition many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→ Enderecos do cliente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enderecoPrincipal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Association one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Endereço com principal = true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pedidos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Association many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→ Pedidos (não exposto no serviço)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cpfFormatado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String calc.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000.000.000-00, na leitura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telefoneFormatado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String calc.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(00) 00000-0000, na leitura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scoreCriticality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Integer calc.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1 vermelho · 2 amarelo · 3 verde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createdAt · createdBy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managed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Quando e quem criou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modifiedAt · modifiedBy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managed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Quando e quem alterou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8046720" y="153619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6B82"/>
                </a:solidFill>
              </a:rPr>
              <a:t>TABELA NO BANCO</a:t>
            </a:r>
            <a:endParaRPr lang="en-US" sz="1100" dirty="0"/>
          </a:p>
        </p:txBody>
      </p:sp>
      <p:sp>
        <p:nvSpPr>
          <p:cNvPr id="8" name="Cartão"/>
          <p:cNvSpPr/>
          <p:nvPr/>
        </p:nvSpPr>
        <p:spPr>
          <a:xfrm>
            <a:off x="8046720" y="1828800"/>
            <a:ext cx="3593592" cy="457200"/>
          </a:xfrm>
          <a:prstGeom prst="roundRect">
            <a:avLst>
              <a:gd name="adj" fmla="val 24000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183880" y="18288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pedidoscompras_Clientes</a:t>
            </a:r>
            <a:endParaRPr lang="en-US" sz="1100" dirty="0"/>
          </a:p>
        </p:txBody>
      </p:sp>
      <p:sp>
        <p:nvSpPr>
          <p:cNvPr id="10" name="Avatar LuLayers"/>
          <p:cNvSpPr/>
          <p:nvPr/>
        </p:nvSpPr>
        <p:spPr>
          <a:xfrm>
            <a:off x="8046720" y="2606040"/>
            <a:ext cx="411480" cy="41148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pic>
        <p:nvPicPr>
          <p:cNvPr id="11" name="Image 0" descr="LuLaye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5475" y="2704795"/>
            <a:ext cx="213970" cy="21397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8686800" y="2569464"/>
            <a:ext cx="2953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Composição</a:t>
            </a:r>
            <a:endParaRPr lang="en-US" sz="1500" dirty="0"/>
          </a:p>
        </p:txBody>
      </p:sp>
      <p:sp>
        <p:nvSpPr>
          <p:cNvPr id="13" name="Text 8"/>
          <p:cNvSpPr txBox="1"/>
          <p:nvPr/>
        </p:nvSpPr>
        <p:spPr>
          <a:xfrm>
            <a:off x="8686800" y="2889504"/>
            <a:ext cx="29535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Endereços entram e saem junto com o cliente.</a:t>
            </a:r>
            <a:endParaRPr lang="en-US" sz="1400" dirty="0"/>
          </a:p>
        </p:txBody>
      </p:sp>
      <p:sp>
        <p:nvSpPr>
          <p:cNvPr id="14" name="Avatar LuSquareFunction"/>
          <p:cNvSpPr/>
          <p:nvPr/>
        </p:nvSpPr>
        <p:spPr>
          <a:xfrm>
            <a:off x="8046720" y="3703320"/>
            <a:ext cx="411480" cy="411480"/>
          </a:xfrm>
          <a:prstGeom prst="roundRect">
            <a:avLst>
              <a:gd name="adj" fmla="val 22000"/>
            </a:avLst>
          </a:prstGeom>
          <a:solidFill>
            <a:srgbClr val="DAFDF5"/>
          </a:solidFill>
          <a:ln/>
        </p:spPr>
      </p:sp>
      <p:pic>
        <p:nvPicPr>
          <p:cNvPr id="15" name="Image 1" descr="LuSquareFuncti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5475" y="3802075"/>
            <a:ext cx="213970" cy="21397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8686800" y="3666744"/>
            <a:ext cx="2953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Sem coluna física</a:t>
            </a:r>
            <a:endParaRPr lang="en-US" sz="1500" dirty="0"/>
          </a:p>
        </p:txBody>
      </p:sp>
      <p:sp>
        <p:nvSpPr>
          <p:cNvPr id="17" name="Text 11"/>
          <p:cNvSpPr txBox="1"/>
          <p:nvPr/>
        </p:nvSpPr>
        <p:spPr>
          <a:xfrm>
            <a:off x="8686800" y="3986784"/>
            <a:ext cx="29535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Formatados e criticidade são calculados na consulta.</a:t>
            </a:r>
            <a:endParaRPr lang="en-US" sz="1400" dirty="0"/>
          </a:p>
        </p:txBody>
      </p:sp>
      <p:sp>
        <p:nvSpPr>
          <p:cNvPr id="18" name="Avatar LuLock"/>
          <p:cNvSpPr/>
          <p:nvPr/>
        </p:nvSpPr>
        <p:spPr>
          <a:xfrm>
            <a:off x="8046720" y="4800600"/>
            <a:ext cx="411480" cy="411480"/>
          </a:xfrm>
          <a:prstGeom prst="roundRect">
            <a:avLst>
              <a:gd name="adj" fmla="val 22000"/>
            </a:avLst>
          </a:prstGeom>
          <a:solidFill>
            <a:srgbClr val="FFEAF4"/>
          </a:solidFill>
          <a:ln/>
        </p:spPr>
      </p:sp>
      <p:pic>
        <p:nvPicPr>
          <p:cNvPr id="19" name="Image 2" descr="LuLo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5475" y="4899355"/>
            <a:ext cx="213970" cy="213970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8686800" y="4764024"/>
            <a:ext cx="2953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Exclusão controlada</a:t>
            </a:r>
            <a:endParaRPr lang="en-US" sz="1500" dirty="0"/>
          </a:p>
        </p:txBody>
      </p:sp>
      <p:sp>
        <p:nvSpPr>
          <p:cNvPr id="21" name="Text 14"/>
          <p:cNvSpPr txBox="1"/>
          <p:nvPr/>
        </p:nvSpPr>
        <p:spPr>
          <a:xfrm>
            <a:off x="8686800" y="5084064"/>
            <a:ext cx="29535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Cliente com pedido não é excluído.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TABELAS ATIVAS · ENDERECOS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Enderecos: endereços do cliente (1/2)</a:t>
            </a:r>
            <a:endParaRPr lang="en-US" sz="3200" dirty="0"/>
          </a:p>
        </p:txBody>
      </p:sp>
      <p:sp>
        <p:nvSpPr>
          <p:cNvPr id="5" name="Cartão"/>
          <p:cNvSpPr/>
          <p:nvPr/>
        </p:nvSpPr>
        <p:spPr>
          <a:xfrm>
            <a:off x="548640" y="1554480"/>
            <a:ext cx="7223760" cy="3438144"/>
          </a:xfrm>
          <a:prstGeom prst="roundRect">
            <a:avLst>
              <a:gd name="adj" fmla="val 3191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91640"/>
          <a:ext cx="6858000" cy="914400"/>
        </p:xfrm>
        <a:graphic>
          <a:graphicData uri="http://schemas.openxmlformats.org/drawingml/2006/table">
            <a:tbl>
              <a:tblPr/>
              <a:tblGrid>
                <a:gridCol w="2343873"/>
                <a:gridCol w="1562582"/>
                <a:gridCol w="2951544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Campo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Tipo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Descrição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ID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UUID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Chave (cuid); o CEP pode mudar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cliente_ID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Association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→ Clientes (pai da composição)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cep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String(8)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Só dígitos; único por cliente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logradouro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String(150)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Do ViaCEP; editável no CEP geral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numero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String(20)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Obrigatório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complemento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String(100)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Opcional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bairro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String(100)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Do ViaCEP; editável no CEP geral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cidade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String(100)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Do ViaCEP; somente leitura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uf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String(2)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Sigla do estado (ViaCEP)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8046720" y="153619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6B82"/>
                </a:solidFill>
              </a:rPr>
              <a:t>TABELA NO BANCO</a:t>
            </a:r>
            <a:endParaRPr lang="en-US" sz="1100" dirty="0"/>
          </a:p>
        </p:txBody>
      </p:sp>
      <p:sp>
        <p:nvSpPr>
          <p:cNvPr id="8" name="Cartão"/>
          <p:cNvSpPr/>
          <p:nvPr/>
        </p:nvSpPr>
        <p:spPr>
          <a:xfrm>
            <a:off x="8046720" y="1828800"/>
            <a:ext cx="3593592" cy="457200"/>
          </a:xfrm>
          <a:prstGeom prst="roundRect">
            <a:avLst>
              <a:gd name="adj" fmla="val 24000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183880" y="18288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pedidoscompras_Enderecos</a:t>
            </a:r>
            <a:endParaRPr lang="en-US" sz="1100" dirty="0"/>
          </a:p>
        </p:txBody>
      </p:sp>
      <p:sp>
        <p:nvSpPr>
          <p:cNvPr id="10" name="Avatar LuShieldCheck"/>
          <p:cNvSpPr/>
          <p:nvPr/>
        </p:nvSpPr>
        <p:spPr>
          <a:xfrm>
            <a:off x="8046720" y="2606040"/>
            <a:ext cx="411480" cy="41148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pic>
        <p:nvPicPr>
          <p:cNvPr id="11" name="Image 0" descr="LuShield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5475" y="2704795"/>
            <a:ext cx="213970" cy="21397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8686800" y="2569464"/>
            <a:ext cx="2953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UNIQUE (cliente_ID, cep)</a:t>
            </a:r>
            <a:endParaRPr lang="en-US" sz="1500" dirty="0"/>
          </a:p>
        </p:txBody>
      </p:sp>
      <p:sp>
        <p:nvSpPr>
          <p:cNvPr id="13" name="Text 8"/>
          <p:cNvSpPr txBox="1"/>
          <p:nvPr/>
        </p:nvSpPr>
        <p:spPr>
          <a:xfrm>
            <a:off x="8686800" y="2889504"/>
            <a:ext cx="29535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O mesmo CEP não se repete no cliente.</a:t>
            </a:r>
            <a:endParaRPr lang="en-US" sz="1400" dirty="0"/>
          </a:p>
        </p:txBody>
      </p:sp>
      <p:sp>
        <p:nvSpPr>
          <p:cNvPr id="14" name="Avatar LuMapPin"/>
          <p:cNvSpPr/>
          <p:nvPr/>
        </p:nvSpPr>
        <p:spPr>
          <a:xfrm>
            <a:off x="8046720" y="3703320"/>
            <a:ext cx="411480" cy="411480"/>
          </a:xfrm>
          <a:prstGeom prst="roundRect">
            <a:avLst>
              <a:gd name="adj" fmla="val 22000"/>
            </a:avLst>
          </a:prstGeom>
          <a:solidFill>
            <a:srgbClr val="DAFDF5"/>
          </a:solidFill>
          <a:ln/>
        </p:spPr>
      </p:sp>
      <p:pic>
        <p:nvPicPr>
          <p:cNvPr id="15" name="Image 1" descr="LuMapPi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5475" y="3802075"/>
            <a:ext cx="213970" cy="21397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8686800" y="3666744"/>
            <a:ext cx="2953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Preenchido pelo backend</a:t>
            </a:r>
            <a:endParaRPr lang="en-US" sz="1500" dirty="0"/>
          </a:p>
        </p:txBody>
      </p:sp>
      <p:sp>
        <p:nvSpPr>
          <p:cNvPr id="17" name="Text 11"/>
          <p:cNvSpPr txBox="1"/>
          <p:nvPr/>
        </p:nvSpPr>
        <p:spPr>
          <a:xfrm>
            <a:off x="8686800" y="3986784"/>
            <a:ext cx="29535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Cidade, UF, estado e status só pelo ViaCEP.</a:t>
            </a:r>
            <a:endParaRPr lang="en-US" sz="1400" dirty="0"/>
          </a:p>
        </p:txBody>
      </p:sp>
      <p:sp>
        <p:nvSpPr>
          <p:cNvPr id="18" name="Avatar LuDatabase"/>
          <p:cNvSpPr/>
          <p:nvPr/>
        </p:nvSpPr>
        <p:spPr>
          <a:xfrm>
            <a:off x="8046720" y="4800600"/>
            <a:ext cx="411480" cy="411480"/>
          </a:xfrm>
          <a:prstGeom prst="roundRect">
            <a:avLst>
              <a:gd name="adj" fmla="val 22000"/>
            </a:avLst>
          </a:prstGeom>
          <a:solidFill>
            <a:srgbClr val="F1ECFF"/>
          </a:solidFill>
          <a:ln/>
        </p:spPr>
      </p:sp>
      <p:pic>
        <p:nvPicPr>
          <p:cNvPr id="19" name="Image 2" descr="LuDatabas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5475" y="4899355"/>
            <a:ext cx="213970" cy="213970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8686800" y="4764024"/>
            <a:ext cx="2953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Demonstração</a:t>
            </a:r>
            <a:endParaRPr lang="en-US" sz="1500" dirty="0"/>
          </a:p>
        </p:txBody>
      </p:sp>
      <p:sp>
        <p:nvSpPr>
          <p:cNvPr id="21" name="Text 14"/>
          <p:cNvSpPr txBox="1"/>
          <p:nvPr/>
        </p:nvSpPr>
        <p:spPr>
          <a:xfrm>
            <a:off x="8686800" y="5084064"/>
            <a:ext cx="29535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100 endereços, um principal por cliente.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TABELAS ATIVAS · ENDERECOS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Enderecos: endereços do cliente (2/2)</a:t>
            </a:r>
            <a:endParaRPr lang="en-US" sz="3200" dirty="0"/>
          </a:p>
        </p:txBody>
      </p:sp>
      <p:sp>
        <p:nvSpPr>
          <p:cNvPr id="5" name="Cartão"/>
          <p:cNvSpPr/>
          <p:nvPr/>
        </p:nvSpPr>
        <p:spPr>
          <a:xfrm>
            <a:off x="548640" y="1554480"/>
            <a:ext cx="7223760" cy="3438144"/>
          </a:xfrm>
          <a:prstGeom prst="roundRect">
            <a:avLst>
              <a:gd name="adj" fmla="val 3191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91640"/>
          <a:ext cx="6858000" cy="914400"/>
        </p:xfrm>
        <a:graphic>
          <a:graphicData uri="http://schemas.openxmlformats.org/drawingml/2006/table">
            <a:tbl>
              <a:tblPr/>
              <a:tblGrid>
                <a:gridCol w="2343873"/>
                <a:gridCol w="1562582"/>
                <a:gridCol w="2951544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Campo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Tipo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Descrição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estado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String(100)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Nome do estado (ViaCEP)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cepGeral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Boolean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CEP de município sem logradouro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cepStatus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String(1)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V validado · I inválido · X indisp.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principal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Boolean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Um principal por cliente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cepFormatado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String calc.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00000-000, na leitura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enderecoCompleto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String calc.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Texto completo do endereço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controleCampoCep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Integer calc.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7 obrigatório (CEP geral) · 1 leitura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createdAt · createdBy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managed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Quando e quem criou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modifiedAt · modifiedBy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managed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Quando e quem alterou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8046720" y="153619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6B82"/>
                </a:solidFill>
              </a:rPr>
              <a:t>TABELA NO BANCO</a:t>
            </a:r>
            <a:endParaRPr lang="en-US" sz="1100" dirty="0"/>
          </a:p>
        </p:txBody>
      </p:sp>
      <p:sp>
        <p:nvSpPr>
          <p:cNvPr id="8" name="Cartão"/>
          <p:cNvSpPr/>
          <p:nvPr/>
        </p:nvSpPr>
        <p:spPr>
          <a:xfrm>
            <a:off x="8046720" y="1828800"/>
            <a:ext cx="3593592" cy="457200"/>
          </a:xfrm>
          <a:prstGeom prst="roundRect">
            <a:avLst>
              <a:gd name="adj" fmla="val 24000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183880" y="18288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pedidoscompras_Enderecos</a:t>
            </a:r>
            <a:endParaRPr lang="en-US" sz="1100" dirty="0"/>
          </a:p>
        </p:txBody>
      </p:sp>
      <p:sp>
        <p:nvSpPr>
          <p:cNvPr id="10" name="Avatar LuBadgeCheck"/>
          <p:cNvSpPr/>
          <p:nvPr/>
        </p:nvSpPr>
        <p:spPr>
          <a:xfrm>
            <a:off x="8046720" y="2606040"/>
            <a:ext cx="411480" cy="41148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pic>
        <p:nvPicPr>
          <p:cNvPr id="11" name="Image 0" descr="LuBadge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5475" y="2704795"/>
            <a:ext cx="213970" cy="21397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8686800" y="2569464"/>
            <a:ext cx="2953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Endereço principal</a:t>
            </a:r>
            <a:endParaRPr lang="en-US" sz="1500" dirty="0"/>
          </a:p>
        </p:txBody>
      </p:sp>
      <p:sp>
        <p:nvSpPr>
          <p:cNvPr id="13" name="Text 8"/>
          <p:cNvSpPr txBox="1"/>
          <p:nvPr/>
        </p:nvSpPr>
        <p:spPr>
          <a:xfrm>
            <a:off x="8686800" y="2889504"/>
            <a:ext cx="29535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O primeiro vira principal; a ação troca o principal.</a:t>
            </a:r>
            <a:endParaRPr lang="en-US" sz="1400" dirty="0"/>
          </a:p>
        </p:txBody>
      </p:sp>
      <p:sp>
        <p:nvSpPr>
          <p:cNvPr id="14" name="Avatar LuPencil"/>
          <p:cNvSpPr/>
          <p:nvPr/>
        </p:nvSpPr>
        <p:spPr>
          <a:xfrm>
            <a:off x="8046720" y="3703320"/>
            <a:ext cx="411480" cy="411480"/>
          </a:xfrm>
          <a:prstGeom prst="roundRect">
            <a:avLst>
              <a:gd name="adj" fmla="val 22000"/>
            </a:avLst>
          </a:prstGeom>
          <a:solidFill>
            <a:srgbClr val="DAFDF5"/>
          </a:solidFill>
          <a:ln/>
        </p:spPr>
      </p:sp>
      <p:pic>
        <p:nvPicPr>
          <p:cNvPr id="15" name="Image 1" descr="LuPenci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5475" y="3802075"/>
            <a:ext cx="213970" cy="21397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8686800" y="3666744"/>
            <a:ext cx="2953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FieldControl dinâmico</a:t>
            </a:r>
            <a:endParaRPr lang="en-US" sz="1500" dirty="0"/>
          </a:p>
        </p:txBody>
      </p:sp>
      <p:sp>
        <p:nvSpPr>
          <p:cNvPr id="17" name="Text 11"/>
          <p:cNvSpPr txBox="1"/>
          <p:nvPr/>
        </p:nvSpPr>
        <p:spPr>
          <a:xfrm>
            <a:off x="8686800" y="3986784"/>
            <a:ext cx="29535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controleCampoCep libera logradouro e bairro.</a:t>
            </a:r>
            <a:endParaRPr lang="en-US" sz="1400" dirty="0"/>
          </a:p>
        </p:txBody>
      </p:sp>
      <p:sp>
        <p:nvSpPr>
          <p:cNvPr id="18" name="Avatar LuSearch"/>
          <p:cNvSpPr/>
          <p:nvPr/>
        </p:nvSpPr>
        <p:spPr>
          <a:xfrm>
            <a:off x="8046720" y="4800600"/>
            <a:ext cx="411480" cy="411480"/>
          </a:xfrm>
          <a:prstGeom prst="roundRect">
            <a:avLst>
              <a:gd name="adj" fmla="val 22000"/>
            </a:avLst>
          </a:prstGeom>
          <a:solidFill>
            <a:srgbClr val="F1ECFF"/>
          </a:solidFill>
          <a:ln/>
        </p:spPr>
      </p:sp>
      <p:pic>
        <p:nvPicPr>
          <p:cNvPr id="19" name="Image 2" descr="LuSearch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5475" y="4899355"/>
            <a:ext cx="213970" cy="213970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8686800" y="4764024"/>
            <a:ext cx="2953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Value help</a:t>
            </a:r>
            <a:endParaRPr lang="en-US" sz="1500" dirty="0"/>
          </a:p>
        </p:txBody>
      </p:sp>
      <p:sp>
        <p:nvSpPr>
          <p:cNvPr id="21" name="Text 14"/>
          <p:cNvSpPr txBox="1"/>
          <p:nvPr/>
        </p:nvSpPr>
        <p:spPr>
          <a:xfrm>
            <a:off x="8686800" y="5084064"/>
            <a:ext cx="29535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CepsCadastrados agrupa os CEPs já validados.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TABELAS ATIVAS · ITENS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Itens: itens do estoque (1/2)</a:t>
            </a:r>
            <a:endParaRPr lang="en-US" sz="3200" dirty="0"/>
          </a:p>
        </p:txBody>
      </p:sp>
      <p:sp>
        <p:nvSpPr>
          <p:cNvPr id="5" name="Cartão"/>
          <p:cNvSpPr/>
          <p:nvPr/>
        </p:nvSpPr>
        <p:spPr>
          <a:xfrm>
            <a:off x="548640" y="1554480"/>
            <a:ext cx="7223760" cy="3438144"/>
          </a:xfrm>
          <a:prstGeom prst="roundRect">
            <a:avLst>
              <a:gd name="adj" fmla="val 3191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91640"/>
          <a:ext cx="6858000" cy="914400"/>
        </p:xfrm>
        <a:graphic>
          <a:graphicData uri="http://schemas.openxmlformats.org/drawingml/2006/table">
            <a:tbl>
              <a:tblPr/>
              <a:tblGrid>
                <a:gridCol w="2343873"/>
                <a:gridCol w="1562582"/>
                <a:gridCol w="2951544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Campo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Tipo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Descrição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ID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UUID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Chave (cuid)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fotoItem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LargeBinary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Foto JPEG, PNG ou WebP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fotoItemMimeType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String(50)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MIME da foto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fotoItemNome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String(255)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Nome do arquivo enviado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sku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String(21)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SKU-&lt;3 letras&gt;-&lt;10 dígitos&gt;; único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nome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String(120)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Obrigatório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descricao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String(500)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Texto livre (MultiLineText)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categoria_code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Association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→ Categorias; base do SKU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qtdeEstoque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Integer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Saldo físico; &gt;= reservada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8046720" y="153619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6B82"/>
                </a:solidFill>
              </a:rPr>
              <a:t>TABELA NO BANCO</a:t>
            </a:r>
            <a:endParaRPr lang="en-US" sz="1100" dirty="0"/>
          </a:p>
        </p:txBody>
      </p:sp>
      <p:sp>
        <p:nvSpPr>
          <p:cNvPr id="8" name="Cartão"/>
          <p:cNvSpPr/>
          <p:nvPr/>
        </p:nvSpPr>
        <p:spPr>
          <a:xfrm>
            <a:off x="8046720" y="1828800"/>
            <a:ext cx="3593592" cy="457200"/>
          </a:xfrm>
          <a:prstGeom prst="roundRect">
            <a:avLst>
              <a:gd name="adj" fmla="val 24000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183880" y="18288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pedidoscompras_Itens</a:t>
            </a:r>
            <a:endParaRPr lang="en-US" sz="1100" dirty="0"/>
          </a:p>
        </p:txBody>
      </p:sp>
      <p:sp>
        <p:nvSpPr>
          <p:cNvPr id="10" name="Avatar LuSquareFunction"/>
          <p:cNvSpPr/>
          <p:nvPr/>
        </p:nvSpPr>
        <p:spPr>
          <a:xfrm>
            <a:off x="8046720" y="2606040"/>
            <a:ext cx="411480" cy="41148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pic>
        <p:nvPicPr>
          <p:cNvPr id="11" name="Image 0" descr="LuSquareFunc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5475" y="2704795"/>
            <a:ext cx="213970" cy="21397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8686800" y="2569464"/>
            <a:ext cx="2953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Colunas geradas</a:t>
            </a:r>
            <a:endParaRPr lang="en-US" sz="1500" dirty="0"/>
          </a:p>
        </p:txBody>
      </p:sp>
      <p:sp>
        <p:nvSpPr>
          <p:cNvPr id="13" name="Text 8"/>
          <p:cNvSpPr txBox="1"/>
          <p:nvPr/>
        </p:nvSpPr>
        <p:spPr>
          <a:xfrm>
            <a:off x="8686800" y="2889504"/>
            <a:ext cx="29535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qtdeDisponivel e statusEstoque_code são stored.</a:t>
            </a:r>
            <a:endParaRPr lang="en-US" sz="1400" dirty="0"/>
          </a:p>
        </p:txBody>
      </p:sp>
      <p:sp>
        <p:nvSpPr>
          <p:cNvPr id="14" name="Avatar LuShieldCheck"/>
          <p:cNvSpPr/>
          <p:nvPr/>
        </p:nvSpPr>
        <p:spPr>
          <a:xfrm>
            <a:off x="8046720" y="3703320"/>
            <a:ext cx="411480" cy="411480"/>
          </a:xfrm>
          <a:prstGeom prst="roundRect">
            <a:avLst>
              <a:gd name="adj" fmla="val 22000"/>
            </a:avLst>
          </a:prstGeom>
          <a:solidFill>
            <a:srgbClr val="DAFDF5"/>
          </a:solidFill>
          <a:ln/>
        </p:spPr>
      </p:sp>
      <p:pic>
        <p:nvPicPr>
          <p:cNvPr id="15" name="Image 1" descr="LuShield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5475" y="3802075"/>
            <a:ext cx="213970" cy="21397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8686800" y="3666744"/>
            <a:ext cx="2953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UNIQUE em sku</a:t>
            </a:r>
            <a:endParaRPr lang="en-US" sz="1500" dirty="0"/>
          </a:p>
        </p:txBody>
      </p:sp>
      <p:sp>
        <p:nvSpPr>
          <p:cNvPr id="17" name="Text 11"/>
          <p:cNvSpPr txBox="1"/>
          <p:nvPr/>
        </p:nvSpPr>
        <p:spPr>
          <a:xfrm>
            <a:off x="8686800" y="3986784"/>
            <a:ext cx="29535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SKU gerado no Save pelo prefixo da categoria.</a:t>
            </a:r>
            <a:endParaRPr lang="en-US" sz="1400" dirty="0"/>
          </a:p>
        </p:txBody>
      </p:sp>
      <p:sp>
        <p:nvSpPr>
          <p:cNvPr id="18" name="Avatar LuLock"/>
          <p:cNvSpPr/>
          <p:nvPr/>
        </p:nvSpPr>
        <p:spPr>
          <a:xfrm>
            <a:off x="8046720" y="4800600"/>
            <a:ext cx="411480" cy="411480"/>
          </a:xfrm>
          <a:prstGeom prst="roundRect">
            <a:avLst>
              <a:gd name="adj" fmla="val 22000"/>
            </a:avLst>
          </a:prstGeom>
          <a:solidFill>
            <a:srgbClr val="FFF3B8"/>
          </a:solidFill>
          <a:ln/>
        </p:spPr>
      </p:sp>
      <p:pic>
        <p:nvPicPr>
          <p:cNvPr id="19" name="Image 2" descr="LuLo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5475" y="4899355"/>
            <a:ext cx="213970" cy="213970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8686800" y="4764024"/>
            <a:ext cx="2953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Reserva protegida</a:t>
            </a:r>
            <a:endParaRPr lang="en-US" sz="1500" dirty="0"/>
          </a:p>
        </p:txBody>
      </p:sp>
      <p:sp>
        <p:nvSpPr>
          <p:cNvPr id="21" name="Text 14"/>
          <p:cNvSpPr txBox="1"/>
          <p:nvPr/>
        </p:nvSpPr>
        <p:spPr>
          <a:xfrm>
            <a:off x="8686800" y="5084064"/>
            <a:ext cx="29535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qtdeReservada nunca vem da UI.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TABELAS ATIVAS · ITENS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Itens: itens do estoque (2/2)</a:t>
            </a:r>
            <a:endParaRPr lang="en-US" sz="3200" dirty="0"/>
          </a:p>
        </p:txBody>
      </p:sp>
      <p:sp>
        <p:nvSpPr>
          <p:cNvPr id="5" name="Cartão"/>
          <p:cNvSpPr/>
          <p:nvPr/>
        </p:nvSpPr>
        <p:spPr>
          <a:xfrm>
            <a:off x="548640" y="1554480"/>
            <a:ext cx="7223760" cy="3438144"/>
          </a:xfrm>
          <a:prstGeom prst="roundRect">
            <a:avLst>
              <a:gd name="adj" fmla="val 3191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91640"/>
          <a:ext cx="6858000" cy="914400"/>
        </p:xfrm>
        <a:graphic>
          <a:graphicData uri="http://schemas.openxmlformats.org/drawingml/2006/table">
            <a:tbl>
              <a:tblPr/>
              <a:tblGrid>
                <a:gridCol w="2343873"/>
                <a:gridCol w="1562582"/>
                <a:gridCol w="2951544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Campo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Tipo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Descrição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qtdeReservada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Integer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Só os pedidos alteram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qtdeDisponivel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Integer stored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estoque − reservada (gerada)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statusEstoque_code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String stored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Status pelo saldo (gerada)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statusEstoque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Association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→ StatusEstoque pelo code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currency_code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Currency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Moeda; padrão BRL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precoUnitario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Decimal(15,2)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Não pode ser negativo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itemAtivo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Boolean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Inativo não entra em novo pedido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createdAt · createdBy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managed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Quando e quem criou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modifiedAt · modifiedBy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managed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Quando e quem alterou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8046720" y="153619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6B82"/>
                </a:solidFill>
              </a:rPr>
              <a:t>TABELA NO BANCO</a:t>
            </a:r>
            <a:endParaRPr lang="en-US" sz="1100" dirty="0"/>
          </a:p>
        </p:txBody>
      </p:sp>
      <p:sp>
        <p:nvSpPr>
          <p:cNvPr id="8" name="Cartão"/>
          <p:cNvSpPr/>
          <p:nvPr/>
        </p:nvSpPr>
        <p:spPr>
          <a:xfrm>
            <a:off x="8046720" y="1828800"/>
            <a:ext cx="3593592" cy="457200"/>
          </a:xfrm>
          <a:prstGeom prst="roundRect">
            <a:avLst>
              <a:gd name="adj" fmla="val 24000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183880" y="18288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pedidoscompras_Itens</a:t>
            </a:r>
            <a:endParaRPr lang="en-US" sz="1100" dirty="0"/>
          </a:p>
        </p:txBody>
      </p:sp>
      <p:sp>
        <p:nvSpPr>
          <p:cNvPr id="10" name="Avatar LuLink"/>
          <p:cNvSpPr/>
          <p:nvPr/>
        </p:nvSpPr>
        <p:spPr>
          <a:xfrm>
            <a:off x="8046720" y="2606040"/>
            <a:ext cx="411480" cy="41148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pic>
        <p:nvPicPr>
          <p:cNvPr id="11" name="Image 0" descr="LuLin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5475" y="2704795"/>
            <a:ext cx="213970" cy="21397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8686800" y="2569464"/>
            <a:ext cx="2953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Associação por código</a:t>
            </a:r>
            <a:endParaRPr lang="en-US" sz="1500" dirty="0"/>
          </a:p>
        </p:txBody>
      </p:sp>
      <p:sp>
        <p:nvSpPr>
          <p:cNvPr id="13" name="Text 8"/>
          <p:cNvSpPr txBox="1"/>
          <p:nvPr/>
        </p:nvSpPr>
        <p:spPr>
          <a:xfrm>
            <a:off x="8686800" y="2889504"/>
            <a:ext cx="29535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on statusEstoque.code = statusEstoque_code.</a:t>
            </a:r>
            <a:endParaRPr lang="en-US" sz="1400" dirty="0"/>
          </a:p>
        </p:txBody>
      </p:sp>
      <p:sp>
        <p:nvSpPr>
          <p:cNvPr id="14" name="Avatar LuDollarSign"/>
          <p:cNvSpPr/>
          <p:nvPr/>
        </p:nvSpPr>
        <p:spPr>
          <a:xfrm>
            <a:off x="8046720" y="3703320"/>
            <a:ext cx="411480" cy="411480"/>
          </a:xfrm>
          <a:prstGeom prst="roundRect">
            <a:avLst>
              <a:gd name="adj" fmla="val 22000"/>
            </a:avLst>
          </a:prstGeom>
          <a:solidFill>
            <a:srgbClr val="DAFDF5"/>
          </a:solidFill>
          <a:ln/>
        </p:spPr>
      </p:sp>
      <p:pic>
        <p:nvPicPr>
          <p:cNvPr id="15" name="Image 1" descr="LuDollarSig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5475" y="3802075"/>
            <a:ext cx="213970" cy="21397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8686800" y="3666744"/>
            <a:ext cx="2953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Moeda</a:t>
            </a:r>
            <a:endParaRPr lang="en-US" sz="1500" dirty="0"/>
          </a:p>
        </p:txBody>
      </p:sp>
      <p:sp>
        <p:nvSpPr>
          <p:cNvPr id="17" name="Text 11"/>
          <p:cNvSpPr txBox="1"/>
          <p:nvPr/>
        </p:nvSpPr>
        <p:spPr>
          <a:xfrm>
            <a:off x="8686800" y="3986784"/>
            <a:ext cx="29535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Tipo Currency → sap_common_Currencies.</a:t>
            </a:r>
            <a:endParaRPr lang="en-US" sz="1400" dirty="0"/>
          </a:p>
        </p:txBody>
      </p:sp>
      <p:sp>
        <p:nvSpPr>
          <p:cNvPr id="18" name="Avatar LuDatabase"/>
          <p:cNvSpPr/>
          <p:nvPr/>
        </p:nvSpPr>
        <p:spPr>
          <a:xfrm>
            <a:off x="8046720" y="4800600"/>
            <a:ext cx="411480" cy="411480"/>
          </a:xfrm>
          <a:prstGeom prst="roundRect">
            <a:avLst>
              <a:gd name="adj" fmla="val 22000"/>
            </a:avLst>
          </a:prstGeom>
          <a:solidFill>
            <a:srgbClr val="F1ECFF"/>
          </a:solidFill>
          <a:ln/>
        </p:spPr>
      </p:sp>
      <p:pic>
        <p:nvPicPr>
          <p:cNvPr id="19" name="Image 2" descr="LuDatabas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5475" y="4899355"/>
            <a:ext cx="213970" cy="213970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8686800" y="4764024"/>
            <a:ext cx="2953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Demonstração</a:t>
            </a:r>
            <a:endParaRPr lang="en-US" sz="1500" dirty="0"/>
          </a:p>
        </p:txBody>
      </p:sp>
      <p:sp>
        <p:nvSpPr>
          <p:cNvPr id="21" name="Text 14"/>
          <p:cNvSpPr txBox="1"/>
          <p:nvPr/>
        </p:nvSpPr>
        <p:spPr>
          <a:xfrm>
            <a:off x="8686800" y="5084064"/>
            <a:ext cx="29535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100 itens em 7 categorias.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TABELAS ATIVAS · PEDIDOS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Pedidos: cabeçalho do pedido (1/2)</a:t>
            </a:r>
            <a:endParaRPr lang="en-US" sz="3200" dirty="0"/>
          </a:p>
        </p:txBody>
      </p:sp>
      <p:sp>
        <p:nvSpPr>
          <p:cNvPr id="5" name="Cartão"/>
          <p:cNvSpPr/>
          <p:nvPr/>
        </p:nvSpPr>
        <p:spPr>
          <a:xfrm>
            <a:off x="548640" y="1554480"/>
            <a:ext cx="7223760" cy="4681728"/>
          </a:xfrm>
          <a:prstGeom prst="roundRect">
            <a:avLst>
              <a:gd name="adj" fmla="val 2344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91640"/>
          <a:ext cx="6858000" cy="914400"/>
        </p:xfrm>
        <a:graphic>
          <a:graphicData uri="http://schemas.openxmlformats.org/drawingml/2006/table">
            <a:tbl>
              <a:tblPr/>
              <a:tblGrid>
                <a:gridCol w="2343873"/>
                <a:gridCol w="1562582"/>
                <a:gridCol w="2951544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Campo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Tipo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Descrição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ID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UUID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Chave (cuid)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numeroPedido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String(10)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0000000042; único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cliente_ID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Association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→ Clientes; obrigatório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endereco_ID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Association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→ Enderecos (entrega)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enderecoPrincipalCompleto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String(500)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Texto do endereço no registro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itens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Composition many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→ ItensPedido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pagamento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Composition one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→ Pagamentos (última tentativa)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clienteSnapshot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Composition one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→ cliente congelado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itensSnapshot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Composition many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→ itens congelados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reembolsos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Association many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→ Reembolsos do pedido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statusPedido_code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Association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→ StatusPedido (5 status)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statusPagamento_code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Association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→ StatusPagamento (réplica)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observacao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String(500)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Preenchida pela importação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8046720" y="153619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6B82"/>
                </a:solidFill>
              </a:rPr>
              <a:t>TABELA NO BANCO</a:t>
            </a:r>
            <a:endParaRPr lang="en-US" sz="1100" dirty="0"/>
          </a:p>
        </p:txBody>
      </p:sp>
      <p:sp>
        <p:nvSpPr>
          <p:cNvPr id="8" name="Cartão"/>
          <p:cNvSpPr/>
          <p:nvPr/>
        </p:nvSpPr>
        <p:spPr>
          <a:xfrm>
            <a:off x="8046720" y="1828800"/>
            <a:ext cx="3593592" cy="457200"/>
          </a:xfrm>
          <a:prstGeom prst="roundRect">
            <a:avLst>
              <a:gd name="adj" fmla="val 24000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183880" y="18288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pedidoscompras_Pedidos</a:t>
            </a:r>
            <a:endParaRPr lang="en-US" sz="1100" dirty="0"/>
          </a:p>
        </p:txBody>
      </p:sp>
      <p:sp>
        <p:nvSpPr>
          <p:cNvPr id="10" name="Avatar LuShieldCheck"/>
          <p:cNvSpPr/>
          <p:nvPr/>
        </p:nvSpPr>
        <p:spPr>
          <a:xfrm>
            <a:off x="8046720" y="2606040"/>
            <a:ext cx="411480" cy="41148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pic>
        <p:nvPicPr>
          <p:cNvPr id="11" name="Image 0" descr="LuShield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5475" y="2704795"/>
            <a:ext cx="213970" cy="21397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8686800" y="2569464"/>
            <a:ext cx="2953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UNIQUE em numeroPedido</a:t>
            </a:r>
            <a:endParaRPr lang="en-US" sz="1500" dirty="0"/>
          </a:p>
        </p:txBody>
      </p:sp>
      <p:sp>
        <p:nvSpPr>
          <p:cNvPr id="13" name="Text 8"/>
          <p:cNvSpPr txBox="1"/>
          <p:nvPr/>
        </p:nvSpPr>
        <p:spPr>
          <a:xfrm>
            <a:off x="8686800" y="2889504"/>
            <a:ext cx="29535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Número gerado na transação do registro.</a:t>
            </a:r>
            <a:endParaRPr lang="en-US" sz="1400" dirty="0"/>
          </a:p>
        </p:txBody>
      </p:sp>
      <p:sp>
        <p:nvSpPr>
          <p:cNvPr id="14" name="Avatar LuLayers"/>
          <p:cNvSpPr/>
          <p:nvPr/>
        </p:nvSpPr>
        <p:spPr>
          <a:xfrm>
            <a:off x="8046720" y="3703320"/>
            <a:ext cx="411480" cy="411480"/>
          </a:xfrm>
          <a:prstGeom prst="roundRect">
            <a:avLst>
              <a:gd name="adj" fmla="val 22000"/>
            </a:avLst>
          </a:prstGeom>
          <a:solidFill>
            <a:srgbClr val="DAFDF5"/>
          </a:solidFill>
          <a:ln/>
        </p:spPr>
      </p:sp>
      <p:pic>
        <p:nvPicPr>
          <p:cNvPr id="15" name="Image 1" descr="LuLayer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5475" y="3802075"/>
            <a:ext cx="213970" cy="21397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8686800" y="3666744"/>
            <a:ext cx="2953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Raiz do agregado</a:t>
            </a:r>
            <a:endParaRPr lang="en-US" sz="1500" dirty="0"/>
          </a:p>
        </p:txBody>
      </p:sp>
      <p:sp>
        <p:nvSpPr>
          <p:cNvPr id="17" name="Text 11"/>
          <p:cNvSpPr txBox="1"/>
          <p:nvPr/>
        </p:nvSpPr>
        <p:spPr>
          <a:xfrm>
            <a:off x="8686800" y="3986784"/>
            <a:ext cx="29535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Itens, pagamento e snapshots são composições.</a:t>
            </a:r>
            <a:endParaRPr lang="en-US" sz="1400" dirty="0"/>
          </a:p>
        </p:txBody>
      </p:sp>
      <p:sp>
        <p:nvSpPr>
          <p:cNvPr id="18" name="Avatar LuLock"/>
          <p:cNvSpPr/>
          <p:nvPr/>
        </p:nvSpPr>
        <p:spPr>
          <a:xfrm>
            <a:off x="8046720" y="4800600"/>
            <a:ext cx="411480" cy="411480"/>
          </a:xfrm>
          <a:prstGeom prst="roundRect">
            <a:avLst>
              <a:gd name="adj" fmla="val 22000"/>
            </a:avLst>
          </a:prstGeom>
          <a:solidFill>
            <a:srgbClr val="FFF3B8"/>
          </a:solidFill>
          <a:ln/>
        </p:spPr>
      </p:sp>
      <p:pic>
        <p:nvPicPr>
          <p:cNvPr id="19" name="Image 2" descr="LuLo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5475" y="4899355"/>
            <a:ext cx="213970" cy="213970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8686800" y="4764024"/>
            <a:ext cx="2953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Campos controlados</a:t>
            </a:r>
            <a:endParaRPr lang="en-US" sz="1500" dirty="0"/>
          </a:p>
        </p:txBody>
      </p:sp>
      <p:sp>
        <p:nvSpPr>
          <p:cNvPr id="21" name="Text 14"/>
          <p:cNvSpPr txBox="1"/>
          <p:nvPr/>
        </p:nvSpPr>
        <p:spPr>
          <a:xfrm>
            <a:off x="8686800" y="5084064"/>
            <a:ext cx="29535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Status, totais e endereço nunca vêm da UI.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TABELAS ATIVAS · PEDIDOS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Pedidos: cabeçalho do pedido (2/2)</a:t>
            </a:r>
            <a:endParaRPr lang="en-US" sz="3200" dirty="0"/>
          </a:p>
        </p:txBody>
      </p:sp>
      <p:sp>
        <p:nvSpPr>
          <p:cNvPr id="5" name="Cartão"/>
          <p:cNvSpPr/>
          <p:nvPr/>
        </p:nvSpPr>
        <p:spPr>
          <a:xfrm>
            <a:off x="548640" y="1554480"/>
            <a:ext cx="7223760" cy="4370832"/>
          </a:xfrm>
          <a:prstGeom prst="roundRect">
            <a:avLst>
              <a:gd name="adj" fmla="val 2510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91640"/>
          <a:ext cx="6858000" cy="914400"/>
        </p:xfrm>
        <a:graphic>
          <a:graphicData uri="http://schemas.openxmlformats.org/drawingml/2006/table">
            <a:tbl>
              <a:tblPr/>
              <a:tblGrid>
                <a:gridCol w="2343873"/>
                <a:gridCol w="1562582"/>
                <a:gridCol w="2951544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Campo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Tipo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Descrição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referenciaImportacao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String(40)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Coluna Pedido da planilha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currency_code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Currency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Sempre BRL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valorTotal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Decimal(15,2)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Soma das linhas (backend)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dataFinalizacao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Timestamp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Gravada na aprovação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motivoCancelamento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String(500)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Obrigatório ao cancelar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dataCancelamento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Timestamp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Quando foi cancelado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canceladoPor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User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Usuário que cancelou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encerrado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Boolean calc.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FINALIZADO ou CANCELADO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naoEncerrado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Boolean calc.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Negação de encerrado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naoFinalizado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Boolean calc.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Esconde a seção Finalização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naoCancelado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Boolean calc.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Esconde a seção Cancelamento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createdAt … modifiedBy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managed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Data do pedido e autoria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8046720" y="153619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6B82"/>
                </a:solidFill>
              </a:rPr>
              <a:t>TABELA NO BANCO</a:t>
            </a:r>
            <a:endParaRPr lang="en-US" sz="1100" dirty="0"/>
          </a:p>
        </p:txBody>
      </p:sp>
      <p:sp>
        <p:nvSpPr>
          <p:cNvPr id="8" name="Cartão"/>
          <p:cNvSpPr/>
          <p:nvPr/>
        </p:nvSpPr>
        <p:spPr>
          <a:xfrm>
            <a:off x="8046720" y="1828800"/>
            <a:ext cx="3593592" cy="457200"/>
          </a:xfrm>
          <a:prstGeom prst="roundRect">
            <a:avLst>
              <a:gd name="adj" fmla="val 24000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183880" y="18288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pedidoscompras_Pedidos</a:t>
            </a:r>
            <a:endParaRPr lang="en-US" sz="1100" dirty="0"/>
          </a:p>
        </p:txBody>
      </p:sp>
      <p:sp>
        <p:nvSpPr>
          <p:cNvPr id="10" name="Avatar LuEyeOff"/>
          <p:cNvSpPr/>
          <p:nvPr/>
        </p:nvSpPr>
        <p:spPr>
          <a:xfrm>
            <a:off x="8046720" y="2606040"/>
            <a:ext cx="411480" cy="41148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pic>
        <p:nvPicPr>
          <p:cNvPr id="11" name="Image 0" descr="LuEyeOf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5475" y="2704795"/>
            <a:ext cx="213970" cy="21397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8686800" y="2569464"/>
            <a:ext cx="2953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Indicadores calculados</a:t>
            </a:r>
            <a:endParaRPr lang="en-US" sz="1500" dirty="0"/>
          </a:p>
        </p:txBody>
      </p:sp>
      <p:sp>
        <p:nvSpPr>
          <p:cNvPr id="13" name="Text 8"/>
          <p:cNvSpPr txBox="1"/>
          <p:nvPr/>
        </p:nvSpPr>
        <p:spPr>
          <a:xfrm>
            <a:off x="8686800" y="2889504"/>
            <a:ext cx="29535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Dirigem as seções da Object Page dinâmica.</a:t>
            </a:r>
            <a:endParaRPr lang="en-US" sz="1400" dirty="0"/>
          </a:p>
        </p:txBody>
      </p:sp>
      <p:sp>
        <p:nvSpPr>
          <p:cNvPr id="14" name="Avatar LuHistory"/>
          <p:cNvSpPr/>
          <p:nvPr/>
        </p:nvSpPr>
        <p:spPr>
          <a:xfrm>
            <a:off x="8046720" y="3703320"/>
            <a:ext cx="411480" cy="411480"/>
          </a:xfrm>
          <a:prstGeom prst="roundRect">
            <a:avLst>
              <a:gd name="adj" fmla="val 22000"/>
            </a:avLst>
          </a:prstGeom>
          <a:solidFill>
            <a:srgbClr val="DAFDF5"/>
          </a:solidFill>
          <a:ln/>
        </p:spPr>
      </p:sp>
      <p:pic>
        <p:nvPicPr>
          <p:cNvPr id="15" name="Image 1" descr="LuHistor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5475" y="3802075"/>
            <a:ext cx="213970" cy="21397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8686800" y="3666744"/>
            <a:ext cx="2953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Ciclo de vida</a:t>
            </a:r>
            <a:endParaRPr lang="en-US" sz="1500" dirty="0"/>
          </a:p>
        </p:txBody>
      </p:sp>
      <p:sp>
        <p:nvSpPr>
          <p:cNvPr id="17" name="Text 11"/>
          <p:cNvSpPr txBox="1"/>
          <p:nvPr/>
        </p:nvSpPr>
        <p:spPr>
          <a:xfrm>
            <a:off x="8686800" y="3986784"/>
            <a:ext cx="29535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Datas e autor gravados pelas actions.</a:t>
            </a:r>
            <a:endParaRPr lang="en-US" sz="1400" dirty="0"/>
          </a:p>
        </p:txBody>
      </p:sp>
      <p:sp>
        <p:nvSpPr>
          <p:cNvPr id="18" name="Avatar LuDatabase"/>
          <p:cNvSpPr/>
          <p:nvPr/>
        </p:nvSpPr>
        <p:spPr>
          <a:xfrm>
            <a:off x="8046720" y="4800600"/>
            <a:ext cx="411480" cy="411480"/>
          </a:xfrm>
          <a:prstGeom prst="roundRect">
            <a:avLst>
              <a:gd name="adj" fmla="val 22000"/>
            </a:avLst>
          </a:prstGeom>
          <a:solidFill>
            <a:srgbClr val="F1ECFF"/>
          </a:solidFill>
          <a:ln/>
        </p:spPr>
      </p:sp>
      <p:pic>
        <p:nvPicPr>
          <p:cNvPr id="19" name="Image 2" descr="LuDatabas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5475" y="4899355"/>
            <a:ext cx="213970" cy="213970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8686800" y="4764024"/>
            <a:ext cx="2953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Demonstração</a:t>
            </a:r>
            <a:endParaRPr lang="en-US" sz="1500" dirty="0"/>
          </a:p>
        </p:txBody>
      </p:sp>
      <p:sp>
        <p:nvSpPr>
          <p:cNvPr id="21" name="Text 14"/>
          <p:cNvSpPr txBox="1"/>
          <p:nvPr/>
        </p:nvSpPr>
        <p:spPr>
          <a:xfrm>
            <a:off x="8686800" y="5084064"/>
            <a:ext cx="29535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100 pedidos em todos os status.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TABELAS ATIVAS · ITENSPEDIDO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ItensPedido: linhas do pedido</a:t>
            </a:r>
            <a:endParaRPr lang="en-US" sz="3200" dirty="0"/>
          </a:p>
        </p:txBody>
      </p:sp>
      <p:sp>
        <p:nvSpPr>
          <p:cNvPr id="5" name="Cartão"/>
          <p:cNvSpPr/>
          <p:nvPr/>
        </p:nvSpPr>
        <p:spPr>
          <a:xfrm>
            <a:off x="548640" y="1554480"/>
            <a:ext cx="7223760" cy="3749040"/>
          </a:xfrm>
          <a:prstGeom prst="roundRect">
            <a:avLst>
              <a:gd name="adj" fmla="val 2927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91640"/>
          <a:ext cx="6858000" cy="914400"/>
        </p:xfrm>
        <a:graphic>
          <a:graphicData uri="http://schemas.openxmlformats.org/drawingml/2006/table">
            <a:tbl>
              <a:tblPr/>
              <a:tblGrid>
                <a:gridCol w="2343873"/>
                <a:gridCol w="1562582"/>
                <a:gridCol w="2951544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Campo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Tipo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Descrição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ID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UUID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Chave (cuid)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pedido_ID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Association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→ Pedidos (pai da composição)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item_ID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Association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→ Itens; obrigatório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qtdeItemPedido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Integer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Maior que zero (@assert)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precoUnitarioSnapshot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Decimal(15,2)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Fixado no registro do pedido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currency_code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Currency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BRL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valorTotal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Decimal(15,2)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qtde × preço, arredondado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observacao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String(500)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Observação da linha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createdAt · createdBy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managed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Quando e quem criou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modifiedAt · modifiedBy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managed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Quando e quem alterou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8046720" y="153619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6B82"/>
                </a:solidFill>
              </a:rPr>
              <a:t>TABELA NO BANCO</a:t>
            </a:r>
            <a:endParaRPr lang="en-US" sz="1100" dirty="0"/>
          </a:p>
        </p:txBody>
      </p:sp>
      <p:sp>
        <p:nvSpPr>
          <p:cNvPr id="8" name="Cartão"/>
          <p:cNvSpPr/>
          <p:nvPr/>
        </p:nvSpPr>
        <p:spPr>
          <a:xfrm>
            <a:off x="8046720" y="1828800"/>
            <a:ext cx="3593592" cy="457200"/>
          </a:xfrm>
          <a:prstGeom prst="roundRect">
            <a:avLst>
              <a:gd name="adj" fmla="val 24000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183880" y="18288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pedidoscompras_ItensPedido</a:t>
            </a:r>
            <a:endParaRPr lang="en-US" sz="1100" dirty="0"/>
          </a:p>
        </p:txBody>
      </p:sp>
      <p:sp>
        <p:nvSpPr>
          <p:cNvPr id="10" name="Avatar LuCalculator"/>
          <p:cNvSpPr/>
          <p:nvPr/>
        </p:nvSpPr>
        <p:spPr>
          <a:xfrm>
            <a:off x="8046720" y="2606040"/>
            <a:ext cx="411480" cy="41148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pic>
        <p:nvPicPr>
          <p:cNvPr id="11" name="Image 0" descr="LuCalculato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5475" y="2704795"/>
            <a:ext cx="213970" cy="21397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8686800" y="2569464"/>
            <a:ext cx="2953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Preço fixado</a:t>
            </a:r>
            <a:endParaRPr lang="en-US" sz="1500" dirty="0"/>
          </a:p>
        </p:txBody>
      </p:sp>
      <p:sp>
        <p:nvSpPr>
          <p:cNvPr id="13" name="Text 8"/>
          <p:cNvSpPr txBox="1"/>
          <p:nvPr/>
        </p:nvSpPr>
        <p:spPr>
          <a:xfrm>
            <a:off x="8686800" y="2889504"/>
            <a:ext cx="2953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Linhas antigas mantêm o preço; novas pegam o atual.</a:t>
            </a:r>
            <a:endParaRPr lang="en-US" sz="1400" dirty="0"/>
          </a:p>
        </p:txBody>
      </p:sp>
      <p:sp>
        <p:nvSpPr>
          <p:cNvPr id="14" name="Avatar LuPackage"/>
          <p:cNvSpPr/>
          <p:nvPr/>
        </p:nvSpPr>
        <p:spPr>
          <a:xfrm>
            <a:off x="8046720" y="3520440"/>
            <a:ext cx="411480" cy="411480"/>
          </a:xfrm>
          <a:prstGeom prst="roundRect">
            <a:avLst>
              <a:gd name="adj" fmla="val 22000"/>
            </a:avLst>
          </a:prstGeom>
          <a:solidFill>
            <a:srgbClr val="DAFDF5"/>
          </a:solidFill>
          <a:ln/>
        </p:spPr>
      </p:sp>
      <p:pic>
        <p:nvPicPr>
          <p:cNvPr id="15" name="Image 1" descr="LuPackag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5475" y="3619195"/>
            <a:ext cx="213970" cy="21397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8686800" y="3483864"/>
            <a:ext cx="2953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Reserva por item</a:t>
            </a:r>
            <a:endParaRPr lang="en-US" sz="1500" dirty="0"/>
          </a:p>
        </p:txBody>
      </p:sp>
      <p:sp>
        <p:nvSpPr>
          <p:cNvPr id="17" name="Text 11"/>
          <p:cNvSpPr txBox="1"/>
          <p:nvPr/>
        </p:nvSpPr>
        <p:spPr>
          <a:xfrm>
            <a:off x="8686800" y="3803904"/>
            <a:ext cx="2953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A soma das quantidades por item vira reserva.</a:t>
            </a:r>
            <a:endParaRPr lang="en-US" sz="1400" dirty="0"/>
          </a:p>
        </p:txBody>
      </p:sp>
      <p:sp>
        <p:nvSpPr>
          <p:cNvPr id="18" name="Avatar LuPencil"/>
          <p:cNvSpPr/>
          <p:nvPr/>
        </p:nvSpPr>
        <p:spPr>
          <a:xfrm>
            <a:off x="8046720" y="4434840"/>
            <a:ext cx="411480" cy="411480"/>
          </a:xfrm>
          <a:prstGeom prst="roundRect">
            <a:avLst>
              <a:gd name="adj" fmla="val 22000"/>
            </a:avLst>
          </a:prstGeom>
          <a:solidFill>
            <a:srgbClr val="F1ECFF"/>
          </a:solidFill>
          <a:ln/>
        </p:spPr>
      </p:sp>
      <p:pic>
        <p:nvPicPr>
          <p:cNvPr id="19" name="Image 2" descr="LuPencil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5475" y="4533595"/>
            <a:ext cx="213970" cy="213970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8686800" y="4398264"/>
            <a:ext cx="2953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Edição inline</a:t>
            </a:r>
            <a:endParaRPr lang="en-US" sz="1500" dirty="0"/>
          </a:p>
        </p:txBody>
      </p:sp>
      <p:sp>
        <p:nvSpPr>
          <p:cNvPr id="21" name="Text 14"/>
          <p:cNvSpPr txBox="1"/>
          <p:nvPr/>
        </p:nvSpPr>
        <p:spPr>
          <a:xfrm>
            <a:off x="8686800" y="4718304"/>
            <a:ext cx="2953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Criadas na tabela da Object Page, no rascunho.</a:t>
            </a:r>
            <a:endParaRPr lang="en-US" sz="1400" dirty="0"/>
          </a:p>
        </p:txBody>
      </p:sp>
      <p:sp>
        <p:nvSpPr>
          <p:cNvPr id="22" name="Avatar LuDatabase"/>
          <p:cNvSpPr/>
          <p:nvPr/>
        </p:nvSpPr>
        <p:spPr>
          <a:xfrm>
            <a:off x="8046720" y="5349240"/>
            <a:ext cx="411480" cy="411480"/>
          </a:xfrm>
          <a:prstGeom prst="roundRect">
            <a:avLst>
              <a:gd name="adj" fmla="val 22000"/>
            </a:avLst>
          </a:prstGeom>
          <a:solidFill>
            <a:srgbClr val="FFF3B8"/>
          </a:solidFill>
          <a:ln/>
        </p:spPr>
      </p:sp>
      <p:pic>
        <p:nvPicPr>
          <p:cNvPr id="23" name="Image 3" descr="LuDatabas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5475" y="5447995"/>
            <a:ext cx="213970" cy="213970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8686800" y="5312664"/>
            <a:ext cx="2953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Demonstração</a:t>
            </a:r>
            <a:endParaRPr lang="en-US" sz="1500" dirty="0"/>
          </a:p>
        </p:txBody>
      </p:sp>
      <p:sp>
        <p:nvSpPr>
          <p:cNvPr id="25" name="Text 17"/>
          <p:cNvSpPr txBox="1"/>
          <p:nvPr/>
        </p:nvSpPr>
        <p:spPr>
          <a:xfrm>
            <a:off x="8686800" y="5632704"/>
            <a:ext cx="2953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200 linhas nos 100 pedidos.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TABELAS ATIVAS · PAGAMENTOS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Pagamentos: última tentativa segura</a:t>
            </a:r>
            <a:endParaRPr lang="en-US" sz="3200" dirty="0"/>
          </a:p>
        </p:txBody>
      </p:sp>
      <p:sp>
        <p:nvSpPr>
          <p:cNvPr id="5" name="Cartão"/>
          <p:cNvSpPr/>
          <p:nvPr/>
        </p:nvSpPr>
        <p:spPr>
          <a:xfrm>
            <a:off x="548640" y="1554480"/>
            <a:ext cx="7223760" cy="4370832"/>
          </a:xfrm>
          <a:prstGeom prst="roundRect">
            <a:avLst>
              <a:gd name="adj" fmla="val 2510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91640"/>
          <a:ext cx="6858000" cy="914400"/>
        </p:xfrm>
        <a:graphic>
          <a:graphicData uri="http://schemas.openxmlformats.org/drawingml/2006/table">
            <a:tbl>
              <a:tblPr/>
              <a:tblGrid>
                <a:gridCol w="2343873"/>
                <a:gridCol w="1562582"/>
                <a:gridCol w="2951544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Campo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Tipo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Descrição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ID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UUID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Chave (cuid)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pedido_ID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Association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→ Pedidos (composição one)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metodoPagamento_code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Association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→ MetodosPagamento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statusPagamento_code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Association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Resultado da tentativa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bandeiraCartao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String(30)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VISA, MASTERCARD ou OUTRA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ultimos4DigitosCartao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String(4)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Últimos 4 dígitos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cartaoMascarado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String(30)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**** **** **** 1111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codigoAutorizacao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String(50)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SIM + 6 dígitos, se aprovado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mensagemPagamento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String(255)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Texto da operadora simulada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dataPagamento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Timestamp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Data da tentativa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createdAt · createdBy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managed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Quando e quem criou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modifiedAt · modifiedBy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managed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Quando e quem alterou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8046720" y="153619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6B82"/>
                </a:solidFill>
              </a:rPr>
              <a:t>TABELA NO BANCO</a:t>
            </a:r>
            <a:endParaRPr lang="en-US" sz="1100" dirty="0"/>
          </a:p>
        </p:txBody>
      </p:sp>
      <p:sp>
        <p:nvSpPr>
          <p:cNvPr id="8" name="Cartão"/>
          <p:cNvSpPr/>
          <p:nvPr/>
        </p:nvSpPr>
        <p:spPr>
          <a:xfrm>
            <a:off x="8046720" y="1828800"/>
            <a:ext cx="3593592" cy="457200"/>
          </a:xfrm>
          <a:prstGeom prst="roundRect">
            <a:avLst>
              <a:gd name="adj" fmla="val 24000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183880" y="18288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pedidoscompras_Pagamentos</a:t>
            </a:r>
            <a:endParaRPr lang="en-US" sz="1100" dirty="0"/>
          </a:p>
        </p:txBody>
      </p:sp>
      <p:sp>
        <p:nvSpPr>
          <p:cNvPr id="10" name="Avatar LuLock"/>
          <p:cNvSpPr/>
          <p:nvPr/>
        </p:nvSpPr>
        <p:spPr>
          <a:xfrm>
            <a:off x="8046720" y="2606040"/>
            <a:ext cx="411480" cy="411480"/>
          </a:xfrm>
          <a:prstGeom prst="roundRect">
            <a:avLst>
              <a:gd name="adj" fmla="val 22000"/>
            </a:avLst>
          </a:prstGeom>
          <a:solidFill>
            <a:srgbClr val="FFEAF4"/>
          </a:solidFill>
          <a:ln/>
        </p:spPr>
      </p:sp>
      <p:pic>
        <p:nvPicPr>
          <p:cNvPr id="11" name="Image 0" descr="LuLo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5475" y="2704795"/>
            <a:ext cx="213970" cy="21397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8686800" y="2569464"/>
            <a:ext cx="2953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Nada sensível</a:t>
            </a:r>
            <a:endParaRPr lang="en-US" sz="1500" dirty="0"/>
          </a:p>
        </p:txBody>
      </p:sp>
      <p:sp>
        <p:nvSpPr>
          <p:cNvPr id="13" name="Text 8"/>
          <p:cNvSpPr txBox="1"/>
          <p:nvPr/>
        </p:nvSpPr>
        <p:spPr>
          <a:xfrm>
            <a:off x="8686800" y="2889504"/>
            <a:ext cx="2953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Cartão completo, validade e CVV nunca são gravados.</a:t>
            </a:r>
            <a:endParaRPr lang="en-US" sz="1400" dirty="0"/>
          </a:p>
        </p:txBody>
      </p:sp>
      <p:sp>
        <p:nvSpPr>
          <p:cNvPr id="14" name="Avatar LuRefreshCw"/>
          <p:cNvSpPr/>
          <p:nvPr/>
        </p:nvSpPr>
        <p:spPr>
          <a:xfrm>
            <a:off x="8046720" y="3520440"/>
            <a:ext cx="411480" cy="41148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pic>
        <p:nvPicPr>
          <p:cNvPr id="15" name="Image 1" descr="LuRefreshCw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5475" y="3619195"/>
            <a:ext cx="213970" cy="21397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8686800" y="3483864"/>
            <a:ext cx="2953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Só a última tentativa</a:t>
            </a:r>
            <a:endParaRPr lang="en-US" sz="1500" dirty="0"/>
          </a:p>
        </p:txBody>
      </p:sp>
      <p:sp>
        <p:nvSpPr>
          <p:cNvPr id="17" name="Text 11"/>
          <p:cNvSpPr txBox="1"/>
          <p:nvPr/>
        </p:nvSpPr>
        <p:spPr>
          <a:xfrm>
            <a:off x="8686800" y="3803904"/>
            <a:ext cx="2953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gravarPagamento faz DELETE + INSERT.</a:t>
            </a:r>
            <a:endParaRPr lang="en-US" sz="1400" dirty="0"/>
          </a:p>
        </p:txBody>
      </p:sp>
      <p:sp>
        <p:nvSpPr>
          <p:cNvPr id="18" name="Avatar LuEyeOff"/>
          <p:cNvSpPr/>
          <p:nvPr/>
        </p:nvSpPr>
        <p:spPr>
          <a:xfrm>
            <a:off x="8046720" y="4434840"/>
            <a:ext cx="411480" cy="411480"/>
          </a:xfrm>
          <a:prstGeom prst="roundRect">
            <a:avLst>
              <a:gd name="adj" fmla="val 22000"/>
            </a:avLst>
          </a:prstGeom>
          <a:solidFill>
            <a:srgbClr val="DAFDF5"/>
          </a:solidFill>
          <a:ln/>
        </p:spPr>
      </p:sp>
      <p:pic>
        <p:nvPicPr>
          <p:cNvPr id="19" name="Image 2" descr="LuEyeOff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5475" y="4533595"/>
            <a:ext cx="213970" cy="213970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8686800" y="4398264"/>
            <a:ext cx="2953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@readonly no serviço</a:t>
            </a:r>
            <a:endParaRPr lang="en-US" sz="1500" dirty="0"/>
          </a:p>
        </p:txBody>
      </p:sp>
      <p:sp>
        <p:nvSpPr>
          <p:cNvPr id="21" name="Text 14"/>
          <p:cNvSpPr txBox="1"/>
          <p:nvPr/>
        </p:nvSpPr>
        <p:spPr>
          <a:xfrm>
            <a:off x="8686800" y="4718304"/>
            <a:ext cx="2953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Só a action efetuarPagamento grava.</a:t>
            </a:r>
            <a:endParaRPr lang="en-US" sz="1400" dirty="0"/>
          </a:p>
        </p:txBody>
      </p:sp>
      <p:sp>
        <p:nvSpPr>
          <p:cNvPr id="22" name="Avatar LuDatabase"/>
          <p:cNvSpPr/>
          <p:nvPr/>
        </p:nvSpPr>
        <p:spPr>
          <a:xfrm>
            <a:off x="8046720" y="5349240"/>
            <a:ext cx="411480" cy="411480"/>
          </a:xfrm>
          <a:prstGeom prst="roundRect">
            <a:avLst>
              <a:gd name="adj" fmla="val 22000"/>
            </a:avLst>
          </a:prstGeom>
          <a:solidFill>
            <a:srgbClr val="F1ECFF"/>
          </a:solidFill>
          <a:ln/>
        </p:spPr>
      </p:sp>
      <p:pic>
        <p:nvPicPr>
          <p:cNvPr id="23" name="Image 3" descr="LuDatabas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5475" y="5447995"/>
            <a:ext cx="213970" cy="213970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8686800" y="5312664"/>
            <a:ext cx="2953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Demonstração</a:t>
            </a:r>
            <a:endParaRPr lang="en-US" sz="1500" dirty="0"/>
          </a:p>
        </p:txBody>
      </p:sp>
      <p:sp>
        <p:nvSpPr>
          <p:cNvPr id="25" name="Text 17"/>
          <p:cNvSpPr txBox="1"/>
          <p:nvPr/>
        </p:nvSpPr>
        <p:spPr>
          <a:xfrm>
            <a:off x="8686800" y="5632704"/>
            <a:ext cx="2953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70 pagamentos.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TABELAS ATIVAS · PEDIDOSCLIENTESNAPSHOTS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PedidosClienteSnapshots: cliente congelado (1/2)</a:t>
            </a:r>
            <a:endParaRPr lang="en-US" sz="3200" dirty="0"/>
          </a:p>
        </p:txBody>
      </p:sp>
      <p:sp>
        <p:nvSpPr>
          <p:cNvPr id="5" name="Cartão"/>
          <p:cNvSpPr/>
          <p:nvPr/>
        </p:nvSpPr>
        <p:spPr>
          <a:xfrm>
            <a:off x="548640" y="1554480"/>
            <a:ext cx="7223760" cy="3438144"/>
          </a:xfrm>
          <a:prstGeom prst="roundRect">
            <a:avLst>
              <a:gd name="adj" fmla="val 3191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91640"/>
          <a:ext cx="6858000" cy="914400"/>
        </p:xfrm>
        <a:graphic>
          <a:graphicData uri="http://schemas.openxmlformats.org/drawingml/2006/table">
            <a:tbl>
              <a:tblPr/>
              <a:tblGrid>
                <a:gridCol w="2343873"/>
                <a:gridCol w="1562582"/>
                <a:gridCol w="2951544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Campo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Tipo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Descrição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ID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UUID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Chave (cuid)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pedido_ID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Association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→ Pedidos (composição one)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cliente_ID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Association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→ Clientes de origem (link)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cpf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String(11)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Cópia do CPF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nome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String(255)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Cópia do nome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email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String(100)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Cópia do e-mail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telefone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String(11)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Cópia do telefone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genero_code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Association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Cópia do gênero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dataNascimento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Date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Cópia da data de nascimento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8046720" y="153619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6B82"/>
                </a:solidFill>
              </a:rPr>
              <a:t>TABELA NO BANCO</a:t>
            </a:r>
            <a:endParaRPr lang="en-US" sz="1100" dirty="0"/>
          </a:p>
        </p:txBody>
      </p:sp>
      <p:sp>
        <p:nvSpPr>
          <p:cNvPr id="8" name="Cartão"/>
          <p:cNvSpPr/>
          <p:nvPr/>
        </p:nvSpPr>
        <p:spPr>
          <a:xfrm>
            <a:off x="8046720" y="1828800"/>
            <a:ext cx="3593592" cy="457200"/>
          </a:xfrm>
          <a:prstGeom prst="roundRect">
            <a:avLst>
              <a:gd name="adj" fmla="val 24000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183880" y="18288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pedidoscompras_PedidosClienteSnapshots</a:t>
            </a:r>
            <a:endParaRPr lang="en-US" sz="1100" dirty="0"/>
          </a:p>
        </p:txBody>
      </p:sp>
      <p:sp>
        <p:nvSpPr>
          <p:cNvPr id="10" name="Avatar LuHistory"/>
          <p:cNvSpPr/>
          <p:nvPr/>
        </p:nvSpPr>
        <p:spPr>
          <a:xfrm>
            <a:off x="8046720" y="2606040"/>
            <a:ext cx="411480" cy="41148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pic>
        <p:nvPicPr>
          <p:cNvPr id="11" name="Image 0" descr="LuHistor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5475" y="2704795"/>
            <a:ext cx="213970" cy="21397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8686800" y="2569464"/>
            <a:ext cx="2953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Cópia, não referência</a:t>
            </a:r>
            <a:endParaRPr lang="en-US" sz="1500" dirty="0"/>
          </a:p>
        </p:txBody>
      </p:sp>
      <p:sp>
        <p:nvSpPr>
          <p:cNvPr id="13" name="Text 8"/>
          <p:cNvSpPr txBox="1"/>
          <p:nvPr/>
        </p:nvSpPr>
        <p:spPr>
          <a:xfrm>
            <a:off x="8686800" y="2889504"/>
            <a:ext cx="29535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Mudanças no cadastro não alteram o pedido encerrado.</a:t>
            </a:r>
            <a:endParaRPr lang="en-US" sz="1400" dirty="0"/>
          </a:p>
        </p:txBody>
      </p:sp>
      <p:sp>
        <p:nvSpPr>
          <p:cNvPr id="14" name="Avatar LuBadgeCheck"/>
          <p:cNvSpPr/>
          <p:nvPr/>
        </p:nvSpPr>
        <p:spPr>
          <a:xfrm>
            <a:off x="8046720" y="3703320"/>
            <a:ext cx="411480" cy="411480"/>
          </a:xfrm>
          <a:prstGeom prst="roundRect">
            <a:avLst>
              <a:gd name="adj" fmla="val 22000"/>
            </a:avLst>
          </a:prstGeom>
          <a:solidFill>
            <a:srgbClr val="DAFDF5"/>
          </a:solidFill>
          <a:ln/>
        </p:spPr>
      </p:sp>
      <p:pic>
        <p:nvPicPr>
          <p:cNvPr id="15" name="Image 1" descr="LuBadge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5475" y="3802075"/>
            <a:ext cx="213970" cy="21397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8686800" y="3666744"/>
            <a:ext cx="2953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Uma vez por pedido</a:t>
            </a:r>
            <a:endParaRPr lang="en-US" sz="1500" dirty="0"/>
          </a:p>
        </p:txBody>
      </p:sp>
      <p:sp>
        <p:nvSpPr>
          <p:cNvPr id="17" name="Text 11"/>
          <p:cNvSpPr txBox="1"/>
          <p:nvPr/>
        </p:nvSpPr>
        <p:spPr>
          <a:xfrm>
            <a:off x="8686800" y="3986784"/>
            <a:ext cx="29535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Recriar só informa SNAPSHOT_EXISTENTE.</a:t>
            </a:r>
            <a:endParaRPr lang="en-US" sz="1400" dirty="0"/>
          </a:p>
        </p:txBody>
      </p:sp>
      <p:sp>
        <p:nvSpPr>
          <p:cNvPr id="18" name="Avatar LuDatabase"/>
          <p:cNvSpPr/>
          <p:nvPr/>
        </p:nvSpPr>
        <p:spPr>
          <a:xfrm>
            <a:off x="8046720" y="4800600"/>
            <a:ext cx="411480" cy="411480"/>
          </a:xfrm>
          <a:prstGeom prst="roundRect">
            <a:avLst>
              <a:gd name="adj" fmla="val 22000"/>
            </a:avLst>
          </a:prstGeom>
          <a:solidFill>
            <a:srgbClr val="F1ECFF"/>
          </a:solidFill>
          <a:ln/>
        </p:spPr>
      </p:sp>
      <p:pic>
        <p:nvPicPr>
          <p:cNvPr id="19" name="Image 2" descr="LuDatabas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5475" y="4899355"/>
            <a:ext cx="213970" cy="213970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8686800" y="4764024"/>
            <a:ext cx="2953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Demonstração</a:t>
            </a:r>
            <a:endParaRPr lang="en-US" sz="1500" dirty="0"/>
          </a:p>
        </p:txBody>
      </p:sp>
      <p:sp>
        <p:nvSpPr>
          <p:cNvPr id="21" name="Text 14"/>
          <p:cNvSpPr txBox="1"/>
          <p:nvPr/>
        </p:nvSpPr>
        <p:spPr>
          <a:xfrm>
            <a:off x="8686800" y="5084064"/>
            <a:ext cx="29535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40 pedidos encerrados.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TABELAS ATIVAS · PEDIDOSCLIENTESNAPSHOTS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PedidosClienteSnapshots: cliente congelado (2/2)</a:t>
            </a:r>
            <a:endParaRPr lang="en-US" sz="3200" dirty="0"/>
          </a:p>
        </p:txBody>
      </p:sp>
      <p:sp>
        <p:nvSpPr>
          <p:cNvPr id="5" name="Cartão"/>
          <p:cNvSpPr/>
          <p:nvPr/>
        </p:nvSpPr>
        <p:spPr>
          <a:xfrm>
            <a:off x="548640" y="1554480"/>
            <a:ext cx="7223760" cy="3127248"/>
          </a:xfrm>
          <a:prstGeom prst="roundRect">
            <a:avLst>
              <a:gd name="adj" fmla="val 3509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91640"/>
          <a:ext cx="6858000" cy="914400"/>
        </p:xfrm>
        <a:graphic>
          <a:graphicData uri="http://schemas.openxmlformats.org/drawingml/2006/table">
            <a:tbl>
              <a:tblPr/>
              <a:tblGrid>
                <a:gridCol w="2343873"/>
                <a:gridCol w="1562582"/>
                <a:gridCol w="2951544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Campo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Tipo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Descrição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clienteAtivo, score…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Boolean, Decimal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Situação e score no momento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endereco_ID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Association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→ endereço de entrega usado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cep … estado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String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Cópia dos 8 campos do endereço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enderecoCompleto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String(500)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Texto do endereço de entrega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motivoSnapshot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String(40)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FINALIZACAO ou CANCELAMENTO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cpfFormatado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String calc.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000.000.000-00, na leitura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telefoneFormatado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String calc.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(00) 00000-0000, na leitura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createdAt … modifiedBy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managed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createdAt = data do congelamento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8046720" y="153619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6B82"/>
                </a:solidFill>
              </a:rPr>
              <a:t>TABELA NO BANCO</a:t>
            </a:r>
            <a:endParaRPr lang="en-US" sz="1100" dirty="0"/>
          </a:p>
        </p:txBody>
      </p:sp>
      <p:sp>
        <p:nvSpPr>
          <p:cNvPr id="8" name="Cartão"/>
          <p:cNvSpPr/>
          <p:nvPr/>
        </p:nvSpPr>
        <p:spPr>
          <a:xfrm>
            <a:off x="8046720" y="1828800"/>
            <a:ext cx="3593592" cy="457200"/>
          </a:xfrm>
          <a:prstGeom prst="roundRect">
            <a:avLst>
              <a:gd name="adj" fmla="val 24000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183880" y="18288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pedidoscompras_PedidosClienteSnapshots</a:t>
            </a:r>
            <a:endParaRPr lang="en-US" sz="1100" dirty="0"/>
          </a:p>
        </p:txBody>
      </p:sp>
      <p:sp>
        <p:nvSpPr>
          <p:cNvPr id="10" name="Avatar LuEyeOff"/>
          <p:cNvSpPr/>
          <p:nvPr/>
        </p:nvSpPr>
        <p:spPr>
          <a:xfrm>
            <a:off x="8046720" y="2606040"/>
            <a:ext cx="411480" cy="41148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pic>
        <p:nvPicPr>
          <p:cNvPr id="11" name="Image 0" descr="LuEyeOf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5475" y="2704795"/>
            <a:ext cx="213970" cy="21397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8686800" y="2569464"/>
            <a:ext cx="2953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Somente leitura</a:t>
            </a:r>
            <a:endParaRPr lang="en-US" sz="1500" dirty="0"/>
          </a:p>
        </p:txBody>
      </p:sp>
      <p:sp>
        <p:nvSpPr>
          <p:cNvPr id="13" name="Text 8"/>
          <p:cNvSpPr txBox="1"/>
          <p:nvPr/>
        </p:nvSpPr>
        <p:spPr>
          <a:xfrm>
            <a:off x="8686800" y="2889504"/>
            <a:ext cx="29535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@readonly no PedidosService.</a:t>
            </a:r>
            <a:endParaRPr lang="en-US" sz="1400" dirty="0"/>
          </a:p>
        </p:txBody>
      </p:sp>
      <p:sp>
        <p:nvSpPr>
          <p:cNvPr id="14" name="Avatar LuPanelsTopLeft"/>
          <p:cNvSpPr/>
          <p:nvPr/>
        </p:nvSpPr>
        <p:spPr>
          <a:xfrm>
            <a:off x="8046720" y="3703320"/>
            <a:ext cx="411480" cy="411480"/>
          </a:xfrm>
          <a:prstGeom prst="roundRect">
            <a:avLst>
              <a:gd name="adj" fmla="val 22000"/>
            </a:avLst>
          </a:prstGeom>
          <a:solidFill>
            <a:srgbClr val="DAFDF5"/>
          </a:solidFill>
          <a:ln/>
        </p:spPr>
      </p:sp>
      <p:pic>
        <p:nvPicPr>
          <p:cNvPr id="15" name="Image 1" descr="LuPanelsTopLef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5475" y="3802075"/>
            <a:ext cx="213970" cy="21397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8686800" y="3666744"/>
            <a:ext cx="2953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Object Page</a:t>
            </a:r>
            <a:endParaRPr lang="en-US" sz="1500" dirty="0"/>
          </a:p>
        </p:txBody>
      </p:sp>
      <p:sp>
        <p:nvSpPr>
          <p:cNvPr id="17" name="Text 11"/>
          <p:cNvSpPr txBox="1"/>
          <p:nvPr/>
        </p:nvSpPr>
        <p:spPr>
          <a:xfrm>
            <a:off x="8686800" y="3986784"/>
            <a:ext cx="29535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Substitui Dados do Cliente quando encerrado.</a:t>
            </a:r>
            <a:endParaRPr lang="en-US" sz="1400" dirty="0"/>
          </a:p>
        </p:txBody>
      </p:sp>
      <p:sp>
        <p:nvSpPr>
          <p:cNvPr id="18" name="Avatar LuLink"/>
          <p:cNvSpPr/>
          <p:nvPr/>
        </p:nvSpPr>
        <p:spPr>
          <a:xfrm>
            <a:off x="8046720" y="4800600"/>
            <a:ext cx="411480" cy="411480"/>
          </a:xfrm>
          <a:prstGeom prst="roundRect">
            <a:avLst>
              <a:gd name="adj" fmla="val 22000"/>
            </a:avLst>
          </a:prstGeom>
          <a:solidFill>
            <a:srgbClr val="F1ECFF"/>
          </a:solidFill>
          <a:ln/>
        </p:spPr>
      </p:sp>
      <p:pic>
        <p:nvPicPr>
          <p:cNvPr id="19" name="Image 2" descr="LuLin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5475" y="4899355"/>
            <a:ext cx="213970" cy="213970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8686800" y="4764024"/>
            <a:ext cx="2953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Navegação</a:t>
            </a:r>
            <a:endParaRPr lang="en-US" sz="1500" dirty="0"/>
          </a:p>
        </p:txBody>
      </p:sp>
      <p:sp>
        <p:nvSpPr>
          <p:cNvPr id="21" name="Text 14"/>
          <p:cNvSpPr txBox="1"/>
          <p:nvPr/>
        </p:nvSpPr>
        <p:spPr>
          <a:xfrm>
            <a:off x="8686800" y="5084064"/>
            <a:ext cx="29535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Nome e CPF abrem o cliente de origem.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TABELAS ATIVAS · PEDIDOSITENSSNAPSHOTS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PedidosItensSnapshots: itens congelados</a:t>
            </a:r>
            <a:endParaRPr lang="en-US" sz="3200" dirty="0"/>
          </a:p>
        </p:txBody>
      </p:sp>
      <p:sp>
        <p:nvSpPr>
          <p:cNvPr id="5" name="Cartão"/>
          <p:cNvSpPr/>
          <p:nvPr/>
        </p:nvSpPr>
        <p:spPr>
          <a:xfrm>
            <a:off x="548640" y="1554480"/>
            <a:ext cx="7223760" cy="4681728"/>
          </a:xfrm>
          <a:prstGeom prst="roundRect">
            <a:avLst>
              <a:gd name="adj" fmla="val 2344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91640"/>
          <a:ext cx="6858000" cy="914400"/>
        </p:xfrm>
        <a:graphic>
          <a:graphicData uri="http://schemas.openxmlformats.org/drawingml/2006/table">
            <a:tbl>
              <a:tblPr/>
              <a:tblGrid>
                <a:gridCol w="2343873"/>
                <a:gridCol w="1562582"/>
                <a:gridCol w="2951544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Campo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Tipo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Descrição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ID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UUID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Chave (cuid)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pedido_ID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Association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→ Pedidos (composição many)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itemPedido_ID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Association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→ linha de origem (ItensPedido)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item_ID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Association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→ Itens (link para o estoque)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sku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String(21)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Cópia do SKU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nome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String(120)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Cópia do nome do item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descricao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String(500)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Cópia da descrição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categoria_code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Association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Cópia da categoria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quantidade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Integer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Quantidade pedida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currency_code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Currency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BRL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precoUnitario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Decimal(15,2)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Preço fixado no pedido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valorTotal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Decimal(15,2)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Total da linha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createdAt … modifiedBy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managed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createdAt = data do congelamento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8046720" y="153619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6B82"/>
                </a:solidFill>
              </a:rPr>
              <a:t>TABELA NO BANCO</a:t>
            </a:r>
            <a:endParaRPr lang="en-US" sz="1100" dirty="0"/>
          </a:p>
        </p:txBody>
      </p:sp>
      <p:sp>
        <p:nvSpPr>
          <p:cNvPr id="8" name="Cartão"/>
          <p:cNvSpPr/>
          <p:nvPr/>
        </p:nvSpPr>
        <p:spPr>
          <a:xfrm>
            <a:off x="8046720" y="1828800"/>
            <a:ext cx="3593592" cy="457200"/>
          </a:xfrm>
          <a:prstGeom prst="roundRect">
            <a:avLst>
              <a:gd name="adj" fmla="val 24000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183880" y="18288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pedidoscompras_PedidosItensSnapshots</a:t>
            </a:r>
            <a:endParaRPr lang="en-US" sz="1100" dirty="0"/>
          </a:p>
        </p:txBody>
      </p:sp>
      <p:sp>
        <p:nvSpPr>
          <p:cNvPr id="10" name="Avatar LuHistory"/>
          <p:cNvSpPr/>
          <p:nvPr/>
        </p:nvSpPr>
        <p:spPr>
          <a:xfrm>
            <a:off x="8046720" y="2606040"/>
            <a:ext cx="411480" cy="41148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pic>
        <p:nvPicPr>
          <p:cNvPr id="11" name="Image 0" descr="LuHistor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5475" y="2704795"/>
            <a:ext cx="213970" cy="21397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8686800" y="2569464"/>
            <a:ext cx="2953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Histórico do item</a:t>
            </a:r>
            <a:endParaRPr lang="en-US" sz="1500" dirty="0"/>
          </a:p>
        </p:txBody>
      </p:sp>
      <p:sp>
        <p:nvSpPr>
          <p:cNvPr id="13" name="Text 8"/>
          <p:cNvSpPr txBox="1"/>
          <p:nvPr/>
        </p:nvSpPr>
        <p:spPr>
          <a:xfrm>
            <a:off x="8686800" y="2889504"/>
            <a:ext cx="2953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Preço e descrição ficam como estavam no pedido.</a:t>
            </a:r>
            <a:endParaRPr lang="en-US" sz="1400" dirty="0"/>
          </a:p>
        </p:txBody>
      </p:sp>
      <p:sp>
        <p:nvSpPr>
          <p:cNvPr id="14" name="Avatar LuPanelsTopLeft"/>
          <p:cNvSpPr/>
          <p:nvPr/>
        </p:nvSpPr>
        <p:spPr>
          <a:xfrm>
            <a:off x="8046720" y="3520440"/>
            <a:ext cx="411480" cy="411480"/>
          </a:xfrm>
          <a:prstGeom prst="roundRect">
            <a:avLst>
              <a:gd name="adj" fmla="val 22000"/>
            </a:avLst>
          </a:prstGeom>
          <a:solidFill>
            <a:srgbClr val="DAFDF5"/>
          </a:solidFill>
          <a:ln/>
        </p:spPr>
      </p:sp>
      <p:pic>
        <p:nvPicPr>
          <p:cNvPr id="15" name="Image 1" descr="LuPanelsTopLef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5475" y="3619195"/>
            <a:ext cx="213970" cy="21397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8686800" y="3483864"/>
            <a:ext cx="2953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Object Page própria</a:t>
            </a:r>
            <a:endParaRPr lang="en-US" sz="1500" dirty="0"/>
          </a:p>
        </p:txBody>
      </p:sp>
      <p:sp>
        <p:nvSpPr>
          <p:cNvPr id="17" name="Text 11"/>
          <p:cNvSpPr txBox="1"/>
          <p:nvPr/>
        </p:nvSpPr>
        <p:spPr>
          <a:xfrm>
            <a:off x="8686800" y="3803904"/>
            <a:ext cx="2953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Item no encerramento do pedido.</a:t>
            </a:r>
            <a:endParaRPr lang="en-US" sz="1400" dirty="0"/>
          </a:p>
        </p:txBody>
      </p:sp>
      <p:sp>
        <p:nvSpPr>
          <p:cNvPr id="18" name="Avatar LuLink"/>
          <p:cNvSpPr/>
          <p:nvPr/>
        </p:nvSpPr>
        <p:spPr>
          <a:xfrm>
            <a:off x="8046720" y="4434840"/>
            <a:ext cx="411480" cy="411480"/>
          </a:xfrm>
          <a:prstGeom prst="roundRect">
            <a:avLst>
              <a:gd name="adj" fmla="val 22000"/>
            </a:avLst>
          </a:prstGeom>
          <a:solidFill>
            <a:srgbClr val="F1ECFF"/>
          </a:solidFill>
          <a:ln/>
        </p:spPr>
      </p:sp>
      <p:pic>
        <p:nvPicPr>
          <p:cNvPr id="19" name="Image 2" descr="LuLin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5475" y="4533595"/>
            <a:ext cx="213970" cy="213970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8686800" y="4398264"/>
            <a:ext cx="2953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Navegação</a:t>
            </a:r>
            <a:endParaRPr lang="en-US" sz="1500" dirty="0"/>
          </a:p>
        </p:txBody>
      </p:sp>
      <p:sp>
        <p:nvSpPr>
          <p:cNvPr id="21" name="Text 14"/>
          <p:cNvSpPr txBox="1"/>
          <p:nvPr/>
        </p:nvSpPr>
        <p:spPr>
          <a:xfrm>
            <a:off x="8686800" y="4718304"/>
            <a:ext cx="2953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Item e SKU abrem a Gestão de Estoque.</a:t>
            </a:r>
            <a:endParaRPr lang="en-US" sz="1400" dirty="0"/>
          </a:p>
        </p:txBody>
      </p:sp>
      <p:sp>
        <p:nvSpPr>
          <p:cNvPr id="22" name="Avatar LuDatabase"/>
          <p:cNvSpPr/>
          <p:nvPr/>
        </p:nvSpPr>
        <p:spPr>
          <a:xfrm>
            <a:off x="8046720" y="5349240"/>
            <a:ext cx="411480" cy="411480"/>
          </a:xfrm>
          <a:prstGeom prst="roundRect">
            <a:avLst>
              <a:gd name="adj" fmla="val 22000"/>
            </a:avLst>
          </a:prstGeom>
          <a:solidFill>
            <a:srgbClr val="FFF3B8"/>
          </a:solidFill>
          <a:ln/>
        </p:spPr>
      </p:sp>
      <p:pic>
        <p:nvPicPr>
          <p:cNvPr id="23" name="Image 3" descr="LuDatabas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5475" y="5447995"/>
            <a:ext cx="213970" cy="213970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8686800" y="5312664"/>
            <a:ext cx="2953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Demonstração</a:t>
            </a:r>
            <a:endParaRPr lang="en-US" sz="1500" dirty="0"/>
          </a:p>
        </p:txBody>
      </p:sp>
      <p:sp>
        <p:nvSpPr>
          <p:cNvPr id="25" name="Text 17"/>
          <p:cNvSpPr txBox="1"/>
          <p:nvPr/>
        </p:nvSpPr>
        <p:spPr>
          <a:xfrm>
            <a:off x="8686800" y="5632704"/>
            <a:ext cx="2953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77 linhas congeladas.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TABELAS ATIVAS · REEMBOLSOS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Reembolsos: solicitação e decisão (1/2)</a:t>
            </a:r>
            <a:endParaRPr lang="en-US" sz="3200" dirty="0"/>
          </a:p>
        </p:txBody>
      </p:sp>
      <p:sp>
        <p:nvSpPr>
          <p:cNvPr id="5" name="Cartão"/>
          <p:cNvSpPr/>
          <p:nvPr/>
        </p:nvSpPr>
        <p:spPr>
          <a:xfrm>
            <a:off x="548640" y="1554480"/>
            <a:ext cx="7223760" cy="3127248"/>
          </a:xfrm>
          <a:prstGeom prst="roundRect">
            <a:avLst>
              <a:gd name="adj" fmla="val 3509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91640"/>
          <a:ext cx="6858000" cy="914400"/>
        </p:xfrm>
        <a:graphic>
          <a:graphicData uri="http://schemas.openxmlformats.org/drawingml/2006/table">
            <a:tbl>
              <a:tblPr/>
              <a:tblGrid>
                <a:gridCol w="2343873"/>
                <a:gridCol w="1562582"/>
                <a:gridCol w="2951544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Campo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Tipo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Descrição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ID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UUID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Chave (cuid)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pedido_ID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Association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→ Pedidos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numeroPedido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String(10)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Cópia do número (chave semântica)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cliente_ID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Association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→ Clientes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statusReembolso_code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Association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Pendente, aprovado ou rejeitado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statusPedidoAnterior_code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Association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Restaurado se rejeitado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currency_code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Currency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Moeda do pedido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valorReembolso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Decimal(15,2)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Valor total do pedido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8046720" y="153619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6B82"/>
                </a:solidFill>
              </a:rPr>
              <a:t>TABELA NO BANCO</a:t>
            </a:r>
            <a:endParaRPr lang="en-US" sz="1100" dirty="0"/>
          </a:p>
        </p:txBody>
      </p:sp>
      <p:sp>
        <p:nvSpPr>
          <p:cNvPr id="8" name="Cartão"/>
          <p:cNvSpPr/>
          <p:nvPr/>
        </p:nvSpPr>
        <p:spPr>
          <a:xfrm>
            <a:off x="8046720" y="1828800"/>
            <a:ext cx="3593592" cy="457200"/>
          </a:xfrm>
          <a:prstGeom prst="roundRect">
            <a:avLst>
              <a:gd name="adj" fmla="val 24000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183880" y="18288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pedidoscompras_Reembolsos</a:t>
            </a:r>
            <a:endParaRPr lang="en-US" sz="1100" dirty="0"/>
          </a:p>
        </p:txBody>
      </p:sp>
      <p:sp>
        <p:nvSpPr>
          <p:cNvPr id="10" name="Avatar LuUndo2"/>
          <p:cNvSpPr/>
          <p:nvPr/>
        </p:nvSpPr>
        <p:spPr>
          <a:xfrm>
            <a:off x="8046720" y="2606040"/>
            <a:ext cx="411480" cy="41148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pic>
        <p:nvPicPr>
          <p:cNvPr id="11" name="Image 0" descr="LuUndo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5475" y="2704795"/>
            <a:ext cx="213970" cy="21397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8686800" y="2569464"/>
            <a:ext cx="2953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Nasce no cancelamento</a:t>
            </a:r>
            <a:endParaRPr lang="en-US" sz="1500" dirty="0"/>
          </a:p>
        </p:txBody>
      </p:sp>
      <p:sp>
        <p:nvSpPr>
          <p:cNvPr id="13" name="Text 8"/>
          <p:cNvSpPr txBox="1"/>
          <p:nvPr/>
        </p:nvSpPr>
        <p:spPr>
          <a:xfrm>
            <a:off x="8686800" y="2889504"/>
            <a:ext cx="29535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cancelarPedido com pagamento aprovado cria a linha.</a:t>
            </a:r>
            <a:endParaRPr lang="en-US" sz="1400" dirty="0"/>
          </a:p>
        </p:txBody>
      </p:sp>
      <p:sp>
        <p:nvSpPr>
          <p:cNvPr id="14" name="Avatar LuHistory"/>
          <p:cNvSpPr/>
          <p:nvPr/>
        </p:nvSpPr>
        <p:spPr>
          <a:xfrm>
            <a:off x="8046720" y="3703320"/>
            <a:ext cx="411480" cy="411480"/>
          </a:xfrm>
          <a:prstGeom prst="roundRect">
            <a:avLst>
              <a:gd name="adj" fmla="val 22000"/>
            </a:avLst>
          </a:prstGeom>
          <a:solidFill>
            <a:srgbClr val="DAFDF5"/>
          </a:solidFill>
          <a:ln/>
        </p:spPr>
      </p:sp>
      <p:pic>
        <p:nvPicPr>
          <p:cNvPr id="15" name="Image 1" descr="LuHistor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5475" y="3802075"/>
            <a:ext cx="213970" cy="21397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8686800" y="3666744"/>
            <a:ext cx="2953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Status anterior</a:t>
            </a:r>
            <a:endParaRPr lang="en-US" sz="1500" dirty="0"/>
          </a:p>
        </p:txBody>
      </p:sp>
      <p:sp>
        <p:nvSpPr>
          <p:cNvPr id="17" name="Text 11"/>
          <p:cNvSpPr txBox="1"/>
          <p:nvPr/>
        </p:nvSpPr>
        <p:spPr>
          <a:xfrm>
            <a:off x="8686800" y="3986784"/>
            <a:ext cx="29535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Permite retomar o pedido na rejeição.</a:t>
            </a:r>
            <a:endParaRPr lang="en-US" sz="1400" dirty="0"/>
          </a:p>
        </p:txBody>
      </p:sp>
      <p:sp>
        <p:nvSpPr>
          <p:cNvPr id="18" name="Avatar LuDatabase"/>
          <p:cNvSpPr/>
          <p:nvPr/>
        </p:nvSpPr>
        <p:spPr>
          <a:xfrm>
            <a:off x="8046720" y="4800600"/>
            <a:ext cx="411480" cy="411480"/>
          </a:xfrm>
          <a:prstGeom prst="roundRect">
            <a:avLst>
              <a:gd name="adj" fmla="val 22000"/>
            </a:avLst>
          </a:prstGeom>
          <a:solidFill>
            <a:srgbClr val="F1ECFF"/>
          </a:solidFill>
          <a:ln/>
        </p:spPr>
      </p:sp>
      <p:pic>
        <p:nvPicPr>
          <p:cNvPr id="19" name="Image 2" descr="LuDatabas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5475" y="4899355"/>
            <a:ext cx="213970" cy="213970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8686800" y="4764024"/>
            <a:ext cx="2953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Demonstração</a:t>
            </a:r>
            <a:endParaRPr lang="en-US" sz="1500" dirty="0"/>
          </a:p>
        </p:txBody>
      </p:sp>
      <p:sp>
        <p:nvSpPr>
          <p:cNvPr id="21" name="Text 14"/>
          <p:cNvSpPr txBox="1"/>
          <p:nvPr/>
        </p:nvSpPr>
        <p:spPr>
          <a:xfrm>
            <a:off x="8686800" y="5084064"/>
            <a:ext cx="29535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10 solicitações.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TABELAS ATIVAS · REEMBOLSOS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Reembolsos: solicitação e decisão (2/2)</a:t>
            </a:r>
            <a:endParaRPr lang="en-US" sz="3200" dirty="0"/>
          </a:p>
        </p:txBody>
      </p:sp>
      <p:sp>
        <p:nvSpPr>
          <p:cNvPr id="5" name="Cartão"/>
          <p:cNvSpPr/>
          <p:nvPr/>
        </p:nvSpPr>
        <p:spPr>
          <a:xfrm>
            <a:off x="548640" y="1554480"/>
            <a:ext cx="7223760" cy="2816352"/>
          </a:xfrm>
          <a:prstGeom prst="roundRect">
            <a:avLst>
              <a:gd name="adj" fmla="val 3896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91640"/>
          <a:ext cx="6858000" cy="914400"/>
        </p:xfrm>
        <a:graphic>
          <a:graphicData uri="http://schemas.openxmlformats.org/drawingml/2006/table">
            <a:tbl>
              <a:tblPr/>
              <a:tblGrid>
                <a:gridCol w="2343873"/>
                <a:gridCol w="1562582"/>
                <a:gridCol w="2951544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Campo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Tipo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Descrição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motivoSolicitacao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String(500)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Motivo do cancelamento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dataSolicitacao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Timestamp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Quando foi solicitado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solicitadoPor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User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Quem cancelou o pedido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motivoDecisao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String(500)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Obrigatório para rejeitar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dataDecisao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Timestamp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Quando foi decidido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decididoPor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User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Quem aprovou ou rejeitou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createdAt … modifiedBy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managed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Auditoria da solicitação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8046720" y="153619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6B82"/>
                </a:solidFill>
              </a:rPr>
              <a:t>TABELA NO BANCO</a:t>
            </a:r>
            <a:endParaRPr lang="en-US" sz="1100" dirty="0"/>
          </a:p>
        </p:txBody>
      </p:sp>
      <p:sp>
        <p:nvSpPr>
          <p:cNvPr id="8" name="Cartão"/>
          <p:cNvSpPr/>
          <p:nvPr/>
        </p:nvSpPr>
        <p:spPr>
          <a:xfrm>
            <a:off x="8046720" y="1828800"/>
            <a:ext cx="3593592" cy="457200"/>
          </a:xfrm>
          <a:prstGeom prst="roundRect">
            <a:avLst>
              <a:gd name="adj" fmla="val 24000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183880" y="18288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pedidoscompras_Reembolsos</a:t>
            </a:r>
            <a:endParaRPr lang="en-US" sz="1100" dirty="0"/>
          </a:p>
        </p:txBody>
      </p:sp>
      <p:sp>
        <p:nvSpPr>
          <p:cNvPr id="10" name="Avatar LuUsers"/>
          <p:cNvSpPr/>
          <p:nvPr/>
        </p:nvSpPr>
        <p:spPr>
          <a:xfrm>
            <a:off x="8046720" y="2606040"/>
            <a:ext cx="411480" cy="41148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pic>
        <p:nvPicPr>
          <p:cNvPr id="11" name="Image 0" descr="LuUse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5475" y="2704795"/>
            <a:ext cx="213970" cy="21397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8686800" y="2569464"/>
            <a:ext cx="2953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Quem e quando</a:t>
            </a:r>
            <a:endParaRPr lang="en-US" sz="1500" dirty="0"/>
          </a:p>
        </p:txBody>
      </p:sp>
      <p:sp>
        <p:nvSpPr>
          <p:cNvPr id="13" name="Text 8"/>
          <p:cNvSpPr txBox="1"/>
          <p:nvPr/>
        </p:nvSpPr>
        <p:spPr>
          <a:xfrm>
            <a:off x="8686800" y="2889504"/>
            <a:ext cx="29535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Solicitação e decisão guardam usuário e data.</a:t>
            </a:r>
            <a:endParaRPr lang="en-US" sz="1400" dirty="0"/>
          </a:p>
        </p:txBody>
      </p:sp>
      <p:sp>
        <p:nvSpPr>
          <p:cNvPr id="14" name="Avatar LuShieldCheck"/>
          <p:cNvSpPr/>
          <p:nvPr/>
        </p:nvSpPr>
        <p:spPr>
          <a:xfrm>
            <a:off x="8046720" y="3703320"/>
            <a:ext cx="411480" cy="411480"/>
          </a:xfrm>
          <a:prstGeom prst="roundRect">
            <a:avLst>
              <a:gd name="adj" fmla="val 22000"/>
            </a:avLst>
          </a:prstGeom>
          <a:solidFill>
            <a:srgbClr val="DAFDF5"/>
          </a:solidFill>
          <a:ln/>
        </p:spPr>
      </p:sp>
      <p:pic>
        <p:nvPicPr>
          <p:cNvPr id="15" name="Image 1" descr="LuShield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5475" y="3802075"/>
            <a:ext cx="213970" cy="21397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8686800" y="3666744"/>
            <a:ext cx="2953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Decisão única</a:t>
            </a:r>
            <a:endParaRPr lang="en-US" sz="1500" dirty="0"/>
          </a:p>
        </p:txBody>
      </p:sp>
      <p:sp>
        <p:nvSpPr>
          <p:cNvPr id="17" name="Text 11"/>
          <p:cNvSpPr txBox="1"/>
          <p:nvPr/>
        </p:nvSpPr>
        <p:spPr>
          <a:xfrm>
            <a:off x="8686800" y="3986784"/>
            <a:ext cx="29535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UPDATE condicional a PENDENTE.</a:t>
            </a:r>
            <a:endParaRPr lang="en-US" sz="1400" dirty="0"/>
          </a:p>
        </p:txBody>
      </p:sp>
      <p:sp>
        <p:nvSpPr>
          <p:cNvPr id="18" name="Avatar LuEyeOff"/>
          <p:cNvSpPr/>
          <p:nvPr/>
        </p:nvSpPr>
        <p:spPr>
          <a:xfrm>
            <a:off x="8046720" y="4800600"/>
            <a:ext cx="411480" cy="411480"/>
          </a:xfrm>
          <a:prstGeom prst="roundRect">
            <a:avLst>
              <a:gd name="adj" fmla="val 22000"/>
            </a:avLst>
          </a:prstGeom>
          <a:solidFill>
            <a:srgbClr val="F1ECFF"/>
          </a:solidFill>
          <a:ln/>
        </p:spPr>
      </p:sp>
      <p:pic>
        <p:nvPicPr>
          <p:cNvPr id="19" name="Image 2" descr="LuEyeOff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5475" y="4899355"/>
            <a:ext cx="213970" cy="213970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8686800" y="4764024"/>
            <a:ext cx="2953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Somente leitura na UI</a:t>
            </a:r>
            <a:endParaRPr lang="en-US" sz="1500" dirty="0"/>
          </a:p>
        </p:txBody>
      </p:sp>
      <p:sp>
        <p:nvSpPr>
          <p:cNvPr id="21" name="Text 14"/>
          <p:cNvSpPr txBox="1"/>
          <p:nvPr/>
        </p:nvSpPr>
        <p:spPr>
          <a:xfrm>
            <a:off x="8686800" y="5084064"/>
            <a:ext cx="29535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Só as actions alteram a solicitação.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TABELAS ATIVAS · NUMERACOES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Numeracoes: sequenciais sem buracos</a:t>
            </a:r>
            <a:endParaRPr lang="en-US" sz="3200" dirty="0"/>
          </a:p>
        </p:txBody>
      </p:sp>
      <p:sp>
        <p:nvSpPr>
          <p:cNvPr id="5" name="Cartão"/>
          <p:cNvSpPr/>
          <p:nvPr/>
        </p:nvSpPr>
        <p:spPr>
          <a:xfrm>
            <a:off x="548640" y="1554480"/>
            <a:ext cx="5486400" cy="1261872"/>
          </a:xfrm>
          <a:prstGeom prst="roundRect">
            <a:avLst>
              <a:gd name="adj" fmla="val 8696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91640"/>
          <a:ext cx="5120640" cy="914400"/>
        </p:xfrm>
        <a:graphic>
          <a:graphicData uri="http://schemas.openxmlformats.org/drawingml/2006/table">
            <a:tbl>
              <a:tblPr/>
              <a:tblGrid>
                <a:gridCol w="1750092"/>
                <a:gridCol w="1166728"/>
                <a:gridCol w="220382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Campo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Tipo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Descrição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objeto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String(20)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Chave: PEDIDO ou SKU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ultimoNumero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Integer64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Último número emitido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Cartão"/>
          <p:cNvSpPr/>
          <p:nvPr/>
        </p:nvSpPr>
        <p:spPr>
          <a:xfrm>
            <a:off x="548640" y="3017520"/>
            <a:ext cx="5486400" cy="1426464"/>
          </a:xfrm>
          <a:prstGeom prst="roundRect">
            <a:avLst>
              <a:gd name="adj" fmla="val 7692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graphicFrame>
        <p:nvGraphicFramePr>
          <p:cNvPr id="4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3154680"/>
          <a:ext cx="51206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760220"/>
                <a:gridCol w="20802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objeto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CSV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Próximo valor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PEDIDO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0000000101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SKU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SKU-ELE-0000000101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Bloco de código"/>
          <p:cNvSpPr/>
          <p:nvPr/>
        </p:nvSpPr>
        <p:spPr>
          <a:xfrm>
            <a:off x="6263640" y="1554480"/>
            <a:ext cx="5376672" cy="2057400"/>
          </a:xfrm>
          <a:prstGeom prst="roundRect">
            <a:avLst>
              <a:gd name="adj" fmla="val 5333"/>
            </a:avLst>
          </a:prstGeom>
          <a:solidFill>
            <a:srgbClr val="1F1F1F"/>
          </a:solidFill>
          <a:ln w="9525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8000"/>
              </a:srgbClr>
            </a:outerShdw>
          </a:effectLst>
        </p:spPr>
      </p:sp>
      <p:sp>
        <p:nvSpPr>
          <p:cNvPr id="10" name="Código"/>
          <p:cNvSpPr txBox="1"/>
          <p:nvPr/>
        </p:nvSpPr>
        <p:spPr>
          <a:xfrm>
            <a:off x="6492240" y="1737360"/>
            <a:ext cx="491947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srv/lib/numeracao.js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alterados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2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</a:t>
            </a:r>
            <a:pPr indent="0" marL="0">
              <a:buNone/>
            </a:pPr>
            <a:r>
              <a:rPr lang="en-US" sz="12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Numeracoes</a:t>
            </a:r>
            <a:pPr indent="0" marL="0">
              <a:buNone/>
            </a:pPr>
            <a:r>
              <a:rPr lang="en-US" sz="12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</a:t>
            </a:r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</a:t>
            </a:r>
            <a:pPr indent="0" marL="0">
              <a:buNone/>
            </a:pPr>
            <a:r>
              <a:rPr lang="en-US" sz="12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'ultimoNumero = ultimoNumero + 1'</a:t>
            </a:r>
            <a:pPr indent="0" marL="0">
              <a:buNone/>
            </a:pPr>
            <a:r>
              <a:rPr lang="en-US" sz="12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</a:t>
            </a:r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pPr indent="0" marL="0">
              <a:buNone/>
            </a:pPr>
            <a:r>
              <a:rPr lang="en-US" sz="12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objeto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2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alterados</a:t>
            </a:r>
            <a:pPr indent="0" marL="0">
              <a:buNone/>
            </a:pPr>
            <a:r>
              <a:rPr lang="en-US" sz="12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2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4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into</a:t>
            </a:r>
            <a:pPr indent="0" marL="0">
              <a:buNone/>
            </a:pPr>
            <a:r>
              <a:rPr lang="en-US" sz="12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Numeracoes</a:t>
            </a:r>
            <a:pPr indent="0" marL="0">
              <a:buNone/>
            </a:pPr>
            <a:r>
              <a:rPr lang="en-US" sz="12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</a:t>
            </a:r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entries</a:t>
            </a:r>
            <a:pPr indent="0" marL="0">
              <a:buNone/>
            </a:pPr>
            <a:r>
              <a:rPr lang="en-US" sz="12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objeto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ultimoNumero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2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2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2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11" name="Cartão"/>
          <p:cNvSpPr/>
          <p:nvPr/>
        </p:nvSpPr>
        <p:spPr>
          <a:xfrm>
            <a:off x="548640" y="4572000"/>
            <a:ext cx="11091672" cy="914400"/>
          </a:xfrm>
          <a:prstGeom prst="roundRect">
            <a:avLst>
              <a:gd name="adj" fmla="val 12000"/>
            </a:avLst>
          </a:prstGeom>
          <a:solidFill>
            <a:srgbClr val="EBF8FF"/>
          </a:solidFill>
          <a:ln w="9525">
            <a:solidFill>
              <a:srgbClr val="D1EFFF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777240" y="4572000"/>
            <a:ext cx="106801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Por que funciona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 UPDATE bloqueia a linha até o commit: Saves concorrentes ficam em fila e um Save que falha desfaz o número.</a:t>
            </a:r>
            <a:endParaRPr lang="en-US" sz="1400" dirty="0"/>
          </a:p>
        </p:txBody>
      </p:sp>
      <p:sp>
        <p:nvSpPr>
          <p:cNvPr id="13" name="Cartão"/>
          <p:cNvSpPr/>
          <p:nvPr/>
        </p:nvSpPr>
        <p:spPr>
          <a:xfrm>
            <a:off x="548640" y="5623560"/>
            <a:ext cx="11091672" cy="457200"/>
          </a:xfrm>
          <a:prstGeom prst="roundRect">
            <a:avLst>
              <a:gd name="adj" fmla="val 24000"/>
            </a:avLst>
          </a:prstGeom>
          <a:solidFill>
            <a:srgbClr val="EBF8FF"/>
          </a:solidFill>
          <a:ln w="9525">
            <a:solidFill>
              <a:srgbClr val="D1EFFF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777240" y="5623560"/>
            <a:ext cx="10680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Sem chave UUID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chave é o próprio objeto (key objeto), sem cuid nem managed.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TABELAS ATIVAS · CODELISTS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CodeLists de status e sua criticidade</a:t>
            </a:r>
            <a:endParaRPr lang="en-US" sz="3200" dirty="0"/>
          </a:p>
        </p:txBody>
      </p:sp>
      <p:sp>
        <p:nvSpPr>
          <p:cNvPr id="5" name="Cartão"/>
          <p:cNvSpPr/>
          <p:nvPr/>
        </p:nvSpPr>
        <p:spPr>
          <a:xfrm>
            <a:off x="548640" y="1554480"/>
            <a:ext cx="2642616" cy="4526280"/>
          </a:xfrm>
          <a:prstGeom prst="roundRect">
            <a:avLst>
              <a:gd name="adj" fmla="val 4152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731520" y="16916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StatusPedido</a:t>
            </a:r>
            <a:endParaRPr lang="en-US" sz="1500" dirty="0"/>
          </a:p>
        </p:txBody>
      </p:sp>
      <p:sp>
        <p:nvSpPr>
          <p:cNvPr id="7" name="Status Aberto"/>
          <p:cNvSpPr txBox="1"/>
          <p:nvPr/>
        </p:nvSpPr>
        <p:spPr>
          <a:xfrm>
            <a:off x="731520" y="2240280"/>
            <a:ext cx="2240280" cy="274320"/>
          </a:xfrm>
          <a:prstGeom prst="roundRect">
            <a:avLst>
              <a:gd name="adj" fmla="val 46667"/>
            </a:avLst>
          </a:prstGeom>
          <a:solidFill>
            <a:srgbClr val="EAECEE"/>
          </a:solidFill>
          <a:ln w="9525">
            <a:solidFill>
              <a:srgbClr val="556B8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56B82"/>
                </a:solidFill>
              </a:rPr>
              <a:t>Aberto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55117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ABERTO</a:t>
            </a:r>
            <a:endParaRPr lang="en-US" sz="1000" dirty="0"/>
          </a:p>
        </p:txBody>
      </p:sp>
      <p:sp>
        <p:nvSpPr>
          <p:cNvPr id="9" name="Status Aguardando aprovação"/>
          <p:cNvSpPr txBox="1"/>
          <p:nvPr/>
        </p:nvSpPr>
        <p:spPr>
          <a:xfrm>
            <a:off x="731520" y="2971800"/>
            <a:ext cx="2240280" cy="274320"/>
          </a:xfrm>
          <a:prstGeom prst="roundRect">
            <a:avLst>
              <a:gd name="adj" fmla="val 46667"/>
            </a:avLst>
          </a:prstGeom>
          <a:solidFill>
            <a:srgbClr val="FFF3B8"/>
          </a:solidFill>
          <a:ln w="9525">
            <a:solidFill>
              <a:srgbClr val="B44F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44F00"/>
                </a:solidFill>
              </a:rPr>
              <a:t>Aguardando aprovação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328269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AGUARDANDO_APROVACAO</a:t>
            </a:r>
            <a:endParaRPr lang="en-US" sz="1000" dirty="0"/>
          </a:p>
        </p:txBody>
      </p:sp>
      <p:sp>
        <p:nvSpPr>
          <p:cNvPr id="11" name="Status Processando reembolso"/>
          <p:cNvSpPr txBox="1"/>
          <p:nvPr/>
        </p:nvSpPr>
        <p:spPr>
          <a:xfrm>
            <a:off x="731520" y="3703320"/>
            <a:ext cx="2240280" cy="274320"/>
          </a:xfrm>
          <a:prstGeom prst="roundRect">
            <a:avLst>
              <a:gd name="adj" fmla="val 46667"/>
            </a:avLst>
          </a:prstGeom>
          <a:solidFill>
            <a:srgbClr val="FFF3B8"/>
          </a:solidFill>
          <a:ln w="9525">
            <a:solidFill>
              <a:srgbClr val="B44F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44F00"/>
                </a:solidFill>
              </a:rPr>
              <a:t>Processando reembolso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731520" y="401421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PROCESSANDO_REEMBOLSO</a:t>
            </a:r>
            <a:endParaRPr lang="en-US" sz="1000" dirty="0"/>
          </a:p>
        </p:txBody>
      </p:sp>
      <p:sp>
        <p:nvSpPr>
          <p:cNvPr id="13" name="Status Cancelado"/>
          <p:cNvSpPr txBox="1"/>
          <p:nvPr/>
        </p:nvSpPr>
        <p:spPr>
          <a:xfrm>
            <a:off x="731520" y="4434840"/>
            <a:ext cx="2240280" cy="274320"/>
          </a:xfrm>
          <a:prstGeom prst="roundRect">
            <a:avLst>
              <a:gd name="adj" fmla="val 46667"/>
            </a:avLst>
          </a:prstGeom>
          <a:solidFill>
            <a:srgbClr val="FFEAF4"/>
          </a:solidFill>
          <a:ln w="9525">
            <a:solidFill>
              <a:srgbClr val="AA080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A0808"/>
                </a:solidFill>
              </a:rPr>
              <a:t>Cancelado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731520" y="474573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CANCELADO</a:t>
            </a:r>
            <a:endParaRPr lang="en-US" sz="1000" dirty="0"/>
          </a:p>
        </p:txBody>
      </p:sp>
      <p:sp>
        <p:nvSpPr>
          <p:cNvPr id="15" name="Status Finalizado"/>
          <p:cNvSpPr txBox="1"/>
          <p:nvPr/>
        </p:nvSpPr>
        <p:spPr>
          <a:xfrm>
            <a:off x="731520" y="5166360"/>
            <a:ext cx="2240280" cy="274320"/>
          </a:xfrm>
          <a:prstGeom prst="roundRect">
            <a:avLst>
              <a:gd name="adj" fmla="val 46667"/>
            </a:avLst>
          </a:prstGeom>
          <a:solidFill>
            <a:srgbClr val="F5FAE5"/>
          </a:solidFill>
          <a:ln w="9525">
            <a:solidFill>
              <a:srgbClr val="256F3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F3A"/>
                </a:solidFill>
              </a:rPr>
              <a:t>Finalizado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731520" y="547725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FINALIZADO</a:t>
            </a:r>
            <a:endParaRPr lang="en-US" sz="1000" dirty="0"/>
          </a:p>
        </p:txBody>
      </p:sp>
      <p:sp>
        <p:nvSpPr>
          <p:cNvPr id="17" name="Cartão"/>
          <p:cNvSpPr/>
          <p:nvPr/>
        </p:nvSpPr>
        <p:spPr>
          <a:xfrm>
            <a:off x="3364992" y="1554480"/>
            <a:ext cx="2642616" cy="4526280"/>
          </a:xfrm>
          <a:prstGeom prst="roundRect">
            <a:avLst>
              <a:gd name="adj" fmla="val 4152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3547872" y="16916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StatusPagamento</a:t>
            </a:r>
            <a:endParaRPr lang="en-US" sz="1500" dirty="0"/>
          </a:p>
        </p:txBody>
      </p:sp>
      <p:sp>
        <p:nvSpPr>
          <p:cNvPr id="19" name="Status Pendente"/>
          <p:cNvSpPr txBox="1"/>
          <p:nvPr/>
        </p:nvSpPr>
        <p:spPr>
          <a:xfrm>
            <a:off x="3547872" y="2240280"/>
            <a:ext cx="2240280" cy="274320"/>
          </a:xfrm>
          <a:prstGeom prst="roundRect">
            <a:avLst>
              <a:gd name="adj" fmla="val 46667"/>
            </a:avLst>
          </a:prstGeom>
          <a:solidFill>
            <a:srgbClr val="FFF3B8"/>
          </a:solidFill>
          <a:ln w="9525">
            <a:solidFill>
              <a:srgbClr val="B44F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44F00"/>
                </a:solidFill>
              </a:rPr>
              <a:t>Pendente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3547872" y="255117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PENDENTE</a:t>
            </a:r>
            <a:endParaRPr lang="en-US" sz="1000" dirty="0"/>
          </a:p>
        </p:txBody>
      </p:sp>
      <p:sp>
        <p:nvSpPr>
          <p:cNvPr id="21" name="Status Aprovado"/>
          <p:cNvSpPr txBox="1"/>
          <p:nvPr/>
        </p:nvSpPr>
        <p:spPr>
          <a:xfrm>
            <a:off x="3547872" y="2971800"/>
            <a:ext cx="2240280" cy="274320"/>
          </a:xfrm>
          <a:prstGeom prst="roundRect">
            <a:avLst>
              <a:gd name="adj" fmla="val 46667"/>
            </a:avLst>
          </a:prstGeom>
          <a:solidFill>
            <a:srgbClr val="F5FAE5"/>
          </a:solidFill>
          <a:ln w="9525">
            <a:solidFill>
              <a:srgbClr val="256F3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F3A"/>
                </a:solidFill>
              </a:rPr>
              <a:t>Aprovado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3547872" y="328269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APROVADO</a:t>
            </a:r>
            <a:endParaRPr lang="en-US" sz="1000" dirty="0"/>
          </a:p>
        </p:txBody>
      </p:sp>
      <p:sp>
        <p:nvSpPr>
          <p:cNvPr id="23" name="Status Recusado"/>
          <p:cNvSpPr txBox="1"/>
          <p:nvPr/>
        </p:nvSpPr>
        <p:spPr>
          <a:xfrm>
            <a:off x="3547872" y="3703320"/>
            <a:ext cx="2240280" cy="274320"/>
          </a:xfrm>
          <a:prstGeom prst="roundRect">
            <a:avLst>
              <a:gd name="adj" fmla="val 46667"/>
            </a:avLst>
          </a:prstGeom>
          <a:solidFill>
            <a:srgbClr val="FFEAF4"/>
          </a:solidFill>
          <a:ln w="9525">
            <a:solidFill>
              <a:srgbClr val="AA080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A0808"/>
                </a:solidFill>
              </a:rPr>
              <a:t>Recusado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3547872" y="401421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RECUSADO</a:t>
            </a:r>
            <a:endParaRPr lang="en-US" sz="1000" dirty="0"/>
          </a:p>
        </p:txBody>
      </p:sp>
      <p:sp>
        <p:nvSpPr>
          <p:cNvPr id="25" name="Status Devolvido"/>
          <p:cNvSpPr txBox="1"/>
          <p:nvPr/>
        </p:nvSpPr>
        <p:spPr>
          <a:xfrm>
            <a:off x="3547872" y="4434840"/>
            <a:ext cx="2240280" cy="274320"/>
          </a:xfrm>
          <a:prstGeom prst="roundRect">
            <a:avLst>
              <a:gd name="adj" fmla="val 46667"/>
            </a:avLst>
          </a:prstGeom>
          <a:solidFill>
            <a:srgbClr val="EAECEE"/>
          </a:solidFill>
          <a:ln w="9525">
            <a:solidFill>
              <a:srgbClr val="556B8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56B82"/>
                </a:solidFill>
              </a:rPr>
              <a:t>Devolvido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3547872" y="474573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DEVOLVIDO</a:t>
            </a:r>
            <a:endParaRPr lang="en-US" sz="1000" dirty="0"/>
          </a:p>
        </p:txBody>
      </p:sp>
      <p:sp>
        <p:nvSpPr>
          <p:cNvPr id="27" name="Cartão"/>
          <p:cNvSpPr/>
          <p:nvPr/>
        </p:nvSpPr>
        <p:spPr>
          <a:xfrm>
            <a:off x="6181344" y="1554480"/>
            <a:ext cx="2642616" cy="4526280"/>
          </a:xfrm>
          <a:prstGeom prst="roundRect">
            <a:avLst>
              <a:gd name="adj" fmla="val 4152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sp>
        <p:nvSpPr>
          <p:cNvPr id="28" name="Text 25"/>
          <p:cNvSpPr txBox="1"/>
          <p:nvPr/>
        </p:nvSpPr>
        <p:spPr>
          <a:xfrm>
            <a:off x="6364224" y="16916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StatusReembolso</a:t>
            </a:r>
            <a:endParaRPr lang="en-US" sz="1500" dirty="0"/>
          </a:p>
        </p:txBody>
      </p:sp>
      <p:sp>
        <p:nvSpPr>
          <p:cNvPr id="29" name="Status Pendente"/>
          <p:cNvSpPr txBox="1"/>
          <p:nvPr/>
        </p:nvSpPr>
        <p:spPr>
          <a:xfrm>
            <a:off x="6364224" y="2240280"/>
            <a:ext cx="2240280" cy="274320"/>
          </a:xfrm>
          <a:prstGeom prst="roundRect">
            <a:avLst>
              <a:gd name="adj" fmla="val 46667"/>
            </a:avLst>
          </a:prstGeom>
          <a:solidFill>
            <a:srgbClr val="FFF3B8"/>
          </a:solidFill>
          <a:ln w="9525">
            <a:solidFill>
              <a:srgbClr val="B44F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44F00"/>
                </a:solidFill>
              </a:rPr>
              <a:t>Pendente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6364224" y="255117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PENDENTE</a:t>
            </a:r>
            <a:endParaRPr lang="en-US" sz="1000" dirty="0"/>
          </a:p>
        </p:txBody>
      </p:sp>
      <p:sp>
        <p:nvSpPr>
          <p:cNvPr id="31" name="Status Aprovado"/>
          <p:cNvSpPr txBox="1"/>
          <p:nvPr/>
        </p:nvSpPr>
        <p:spPr>
          <a:xfrm>
            <a:off x="6364224" y="2971800"/>
            <a:ext cx="2240280" cy="274320"/>
          </a:xfrm>
          <a:prstGeom prst="roundRect">
            <a:avLst>
              <a:gd name="adj" fmla="val 46667"/>
            </a:avLst>
          </a:prstGeom>
          <a:solidFill>
            <a:srgbClr val="F5FAE5"/>
          </a:solidFill>
          <a:ln w="9525">
            <a:solidFill>
              <a:srgbClr val="256F3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F3A"/>
                </a:solidFill>
              </a:rPr>
              <a:t>Aprovado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6364224" y="328269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APROVADO</a:t>
            </a:r>
            <a:endParaRPr lang="en-US" sz="1000" dirty="0"/>
          </a:p>
        </p:txBody>
      </p:sp>
      <p:sp>
        <p:nvSpPr>
          <p:cNvPr id="33" name="Status Rejeitado"/>
          <p:cNvSpPr txBox="1"/>
          <p:nvPr/>
        </p:nvSpPr>
        <p:spPr>
          <a:xfrm>
            <a:off x="6364224" y="3703320"/>
            <a:ext cx="2240280" cy="274320"/>
          </a:xfrm>
          <a:prstGeom prst="roundRect">
            <a:avLst>
              <a:gd name="adj" fmla="val 46667"/>
            </a:avLst>
          </a:prstGeom>
          <a:solidFill>
            <a:srgbClr val="FFEAF4"/>
          </a:solidFill>
          <a:ln w="9525">
            <a:solidFill>
              <a:srgbClr val="AA080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A0808"/>
                </a:solidFill>
              </a:rPr>
              <a:t>Rejeitado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6364224" y="401421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REJEITADO</a:t>
            </a:r>
            <a:endParaRPr lang="en-US" sz="1000" dirty="0"/>
          </a:p>
        </p:txBody>
      </p:sp>
      <p:sp>
        <p:nvSpPr>
          <p:cNvPr id="35" name="Cartão"/>
          <p:cNvSpPr/>
          <p:nvPr/>
        </p:nvSpPr>
        <p:spPr>
          <a:xfrm>
            <a:off x="8997696" y="1554480"/>
            <a:ext cx="2642616" cy="4526280"/>
          </a:xfrm>
          <a:prstGeom prst="roundRect">
            <a:avLst>
              <a:gd name="adj" fmla="val 4152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sp>
        <p:nvSpPr>
          <p:cNvPr id="36" name="Text 33"/>
          <p:cNvSpPr txBox="1"/>
          <p:nvPr/>
        </p:nvSpPr>
        <p:spPr>
          <a:xfrm>
            <a:off x="9180576" y="16916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StatusEstoque</a:t>
            </a:r>
            <a:endParaRPr lang="en-US" sz="1500" dirty="0"/>
          </a:p>
        </p:txBody>
      </p:sp>
      <p:sp>
        <p:nvSpPr>
          <p:cNvPr id="37" name="Status Sem estoque"/>
          <p:cNvSpPr txBox="1"/>
          <p:nvPr/>
        </p:nvSpPr>
        <p:spPr>
          <a:xfrm>
            <a:off x="9180576" y="2240280"/>
            <a:ext cx="2240280" cy="274320"/>
          </a:xfrm>
          <a:prstGeom prst="roundRect">
            <a:avLst>
              <a:gd name="adj" fmla="val 46667"/>
            </a:avLst>
          </a:prstGeom>
          <a:solidFill>
            <a:srgbClr val="FFEAF4"/>
          </a:solidFill>
          <a:ln w="9525">
            <a:solidFill>
              <a:srgbClr val="AA080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A0808"/>
                </a:solidFill>
              </a:rPr>
              <a:t>Sem estoque</a:t>
            </a:r>
            <a:endParaRPr lang="en-US" sz="1000" dirty="0"/>
          </a:p>
        </p:txBody>
      </p:sp>
      <p:sp>
        <p:nvSpPr>
          <p:cNvPr id="38" name="Text 35"/>
          <p:cNvSpPr txBox="1"/>
          <p:nvPr/>
        </p:nvSpPr>
        <p:spPr>
          <a:xfrm>
            <a:off x="9180576" y="255117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SEM_ESTOQUE</a:t>
            </a:r>
            <a:endParaRPr lang="en-US" sz="1000" dirty="0"/>
          </a:p>
        </p:txBody>
      </p:sp>
      <p:sp>
        <p:nvSpPr>
          <p:cNvPr id="39" name="Status Acabando"/>
          <p:cNvSpPr txBox="1"/>
          <p:nvPr/>
        </p:nvSpPr>
        <p:spPr>
          <a:xfrm>
            <a:off x="9180576" y="2971800"/>
            <a:ext cx="2240280" cy="274320"/>
          </a:xfrm>
          <a:prstGeom prst="roundRect">
            <a:avLst>
              <a:gd name="adj" fmla="val 46667"/>
            </a:avLst>
          </a:prstGeom>
          <a:solidFill>
            <a:srgbClr val="FFF3B8"/>
          </a:solidFill>
          <a:ln w="9525">
            <a:solidFill>
              <a:srgbClr val="B44F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44F00"/>
                </a:solidFill>
              </a:rPr>
              <a:t>Acabando</a:t>
            </a:r>
            <a:endParaRPr lang="en-US" sz="1000" dirty="0"/>
          </a:p>
        </p:txBody>
      </p:sp>
      <p:sp>
        <p:nvSpPr>
          <p:cNvPr id="40" name="Text 37"/>
          <p:cNvSpPr txBox="1"/>
          <p:nvPr/>
        </p:nvSpPr>
        <p:spPr>
          <a:xfrm>
            <a:off x="9180576" y="328269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ACABANDO</a:t>
            </a:r>
            <a:endParaRPr lang="en-US" sz="1000" dirty="0"/>
          </a:p>
        </p:txBody>
      </p:sp>
      <p:sp>
        <p:nvSpPr>
          <p:cNvPr id="41" name="Status Em estoque"/>
          <p:cNvSpPr txBox="1"/>
          <p:nvPr/>
        </p:nvSpPr>
        <p:spPr>
          <a:xfrm>
            <a:off x="9180576" y="3703320"/>
            <a:ext cx="2240280" cy="274320"/>
          </a:xfrm>
          <a:prstGeom prst="roundRect">
            <a:avLst>
              <a:gd name="adj" fmla="val 46667"/>
            </a:avLst>
          </a:prstGeom>
          <a:solidFill>
            <a:srgbClr val="F5FAE5"/>
          </a:solidFill>
          <a:ln w="9525">
            <a:solidFill>
              <a:srgbClr val="256F3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F3A"/>
                </a:solidFill>
              </a:rPr>
              <a:t>Em estoque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9180576" y="401421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EM_ESTOQUE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TABELAS ATIVAS · CODELISTS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CodeLists de classificação e moedas</a:t>
            </a:r>
            <a:endParaRPr lang="en-US" sz="3200" dirty="0"/>
          </a:p>
        </p:txBody>
      </p:sp>
      <p:sp>
        <p:nvSpPr>
          <p:cNvPr id="5" name="Cartão"/>
          <p:cNvSpPr/>
          <p:nvPr/>
        </p:nvSpPr>
        <p:spPr>
          <a:xfrm>
            <a:off x="548640" y="1554480"/>
            <a:ext cx="2642616" cy="3520440"/>
          </a:xfrm>
          <a:prstGeom prst="roundRect">
            <a:avLst>
              <a:gd name="adj" fmla="val 4152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731520" y="16916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Generos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194560"/>
            <a:ext cx="2331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MASCULINO · Masculino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FEMININO · Feminino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NAO_BINARIO · Não binário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OUTRO · Outro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NAO_INFORMADO · Prefiro não informar</a:t>
            </a:r>
            <a:endParaRPr lang="en-US" sz="1300" dirty="0"/>
          </a:p>
        </p:txBody>
      </p:sp>
      <p:sp>
        <p:nvSpPr>
          <p:cNvPr id="8" name="Cartão"/>
          <p:cNvSpPr/>
          <p:nvPr/>
        </p:nvSpPr>
        <p:spPr>
          <a:xfrm>
            <a:off x="3364992" y="1554480"/>
            <a:ext cx="2642616" cy="3520440"/>
          </a:xfrm>
          <a:prstGeom prst="roundRect">
            <a:avLst>
              <a:gd name="adj" fmla="val 4152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3547872" y="16916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Categorias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3547872" y="2194560"/>
            <a:ext cx="2331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ELETRONICOS → SKU-ELE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INFORMATICA → SKU-INF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ESCRITORIO → SKU-ESC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CASA → SKU-CAS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VESTUARIO → SKU-VES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ALIMENTOS → SKU-ALI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OUTROS → SKU-OUT</a:t>
            </a:r>
            <a:endParaRPr lang="en-US" sz="1300" dirty="0"/>
          </a:p>
        </p:txBody>
      </p:sp>
      <p:sp>
        <p:nvSpPr>
          <p:cNvPr id="11" name="Cartão"/>
          <p:cNvSpPr/>
          <p:nvPr/>
        </p:nvSpPr>
        <p:spPr>
          <a:xfrm>
            <a:off x="6181344" y="1554480"/>
            <a:ext cx="2642616" cy="3520440"/>
          </a:xfrm>
          <a:prstGeom prst="roundRect">
            <a:avLst>
              <a:gd name="adj" fmla="val 4152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6364224" y="16916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MetodosPagamento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6364224" y="2194560"/>
            <a:ext cx="2331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CARTAO_CREDITO · Cartão de crédito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CARTAO_DEBITO · Cartão de débito</a:t>
            </a:r>
            <a:endParaRPr lang="en-US" sz="1300" dirty="0"/>
          </a:p>
        </p:txBody>
      </p:sp>
      <p:sp>
        <p:nvSpPr>
          <p:cNvPr id="14" name="Cartão"/>
          <p:cNvSpPr/>
          <p:nvPr/>
        </p:nvSpPr>
        <p:spPr>
          <a:xfrm>
            <a:off x="8997696" y="1554480"/>
            <a:ext cx="2642616" cy="3520440"/>
          </a:xfrm>
          <a:prstGeom prst="roundRect">
            <a:avLst>
              <a:gd name="adj" fmla="val 4152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9180576" y="16916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sap_common_Currencies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9180576" y="2194560"/>
            <a:ext cx="2331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BRL · R$ · Real brasileiro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USD · US$ · Dólar americano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EUR · € · Euro</a:t>
            </a:r>
            <a:endParaRPr lang="en-US" sz="1300" dirty="0"/>
          </a:p>
        </p:txBody>
      </p:sp>
      <p:sp>
        <p:nvSpPr>
          <p:cNvPr id="17" name="Cartão"/>
          <p:cNvSpPr/>
          <p:nvPr/>
        </p:nvSpPr>
        <p:spPr>
          <a:xfrm>
            <a:off x="548640" y="5303520"/>
            <a:ext cx="11091672" cy="777240"/>
          </a:xfrm>
          <a:prstGeom prst="roundRect">
            <a:avLst>
              <a:gd name="adj" fmla="val 14118"/>
            </a:avLst>
          </a:prstGeom>
          <a:solidFill>
            <a:srgbClr val="EBF8FF"/>
          </a:solidFill>
          <a:ln w="9525">
            <a:solidFill>
              <a:srgbClr val="D1EFF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77240" y="5303520"/>
            <a:ext cx="106801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Drop-down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Common.ValueListWithFixedValues transforma a CodeList em lista fixa; Common.Text mostra o nome no lugar do código.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TABELAS ATIVAS · CODELISTS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Textos traduzíveis: tabelas _texts e views localized</a:t>
            </a:r>
            <a:endParaRPr lang="en-US" sz="3200" dirty="0"/>
          </a:p>
        </p:txBody>
      </p:sp>
      <p:sp>
        <p:nvSpPr>
          <p:cNvPr id="5" name="Bloco de código"/>
          <p:cNvSpPr/>
          <p:nvPr/>
        </p:nvSpPr>
        <p:spPr>
          <a:xfrm>
            <a:off x="548640" y="1554480"/>
            <a:ext cx="5486400" cy="2057400"/>
          </a:xfrm>
          <a:prstGeom prst="roundRect">
            <a:avLst>
              <a:gd name="adj" fmla="val 5333"/>
            </a:avLst>
          </a:prstGeom>
          <a:solidFill>
            <a:srgbClr val="1F1F1F"/>
          </a:solidFill>
          <a:ln w="9525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8000"/>
              </a:srgbClr>
            </a:outerShdw>
          </a:effectLst>
        </p:spPr>
      </p:sp>
      <p:sp>
        <p:nvSpPr>
          <p:cNvPr id="6" name="Código"/>
          <p:cNvSpPr txBox="1"/>
          <p:nvPr/>
        </p:nvSpPr>
        <p:spPr>
          <a:xfrm>
            <a:off x="777240" y="1737360"/>
            <a:ext cx="50292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@sap/cds/common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aspect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CodeList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: </a:t>
            </a:r>
            <a:pPr indent="0" marL="0">
              <a:buNone/>
            </a:pPr>
            <a:r>
              <a:rPr lang="en-US" sz="12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localized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buNone/>
            </a:pPr>
            <a:r>
              <a:rPr lang="en-US" sz="12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255</a:t>
            </a:r>
            <a:pPr indent="0" marL="0">
              <a:buNone/>
            </a:pPr>
            <a:r>
              <a:rPr lang="en-US" sz="12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: </a:t>
            </a:r>
            <a:pPr indent="0" marL="0">
              <a:buNone/>
            </a:pPr>
            <a:r>
              <a:rPr lang="en-US" sz="12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localized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buNone/>
            </a:pPr>
            <a:r>
              <a:rPr lang="en-US" sz="12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1000</a:t>
            </a:r>
            <a:pPr indent="0" marL="0">
              <a:buNone/>
            </a:pPr>
            <a:r>
              <a:rPr lang="en-US" sz="12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gera, para cada CodeList: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pedidoscompras_StatusPedido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pedidoscompras_StatusPedido_texts   (por locale)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localized_pedidoscompras_StatusPedido   (view)</a:t>
            </a:r>
            <a:endParaRPr lang="en-US" sz="1200" dirty="0"/>
          </a:p>
        </p:txBody>
      </p:sp>
      <p:sp>
        <p:nvSpPr>
          <p:cNvPr id="7" name="Avatar LuGlobe"/>
          <p:cNvSpPr/>
          <p:nvPr/>
        </p:nvSpPr>
        <p:spPr>
          <a:xfrm>
            <a:off x="6355080" y="164592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pic>
        <p:nvPicPr>
          <p:cNvPr id="8" name="Image 0" descr="LuGlob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64808" y="1755648"/>
            <a:ext cx="237744" cy="23774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040880" y="1609344"/>
            <a:ext cx="4617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Um texto por idioma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7040880" y="1929384"/>
            <a:ext cx="46177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_texts tem chave (locale, code); o padrão do projeto é pt.</a:t>
            </a:r>
            <a:endParaRPr lang="en-US" sz="1400" dirty="0"/>
          </a:p>
        </p:txBody>
      </p:sp>
      <p:sp>
        <p:nvSpPr>
          <p:cNvPr id="11" name="Avatar LuSearch"/>
          <p:cNvSpPr/>
          <p:nvPr/>
        </p:nvSpPr>
        <p:spPr>
          <a:xfrm>
            <a:off x="6355080" y="269748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DAFDF5"/>
          </a:solidFill>
          <a:ln/>
        </p:spPr>
      </p:sp>
      <p:pic>
        <p:nvPicPr>
          <p:cNvPr id="12" name="Image 1" descr="LuSearc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4808" y="2807208"/>
            <a:ext cx="237744" cy="23774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040880" y="2660904"/>
            <a:ext cx="4617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View localized_*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7040880" y="2980944"/>
            <a:ext cx="46177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Usa o texto do idioma do usuário e cai no padrão.</a:t>
            </a:r>
            <a:endParaRPr lang="en-US" sz="1400" dirty="0"/>
          </a:p>
        </p:txBody>
      </p:sp>
      <p:sp>
        <p:nvSpPr>
          <p:cNvPr id="15" name="Avatar LuListChecks"/>
          <p:cNvSpPr/>
          <p:nvPr/>
        </p:nvSpPr>
        <p:spPr>
          <a:xfrm>
            <a:off x="6355080" y="374904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1ECFF"/>
          </a:solidFill>
          <a:ln/>
        </p:spPr>
      </p:sp>
      <p:pic>
        <p:nvPicPr>
          <p:cNvPr id="16" name="Image 2" descr="LuListCheck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4808" y="3858768"/>
            <a:ext cx="237744" cy="237744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7040880" y="3712464"/>
            <a:ext cx="4617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8 tabelas _texts</a:t>
            </a:r>
            <a:endParaRPr lang="en-US" sz="1500" dirty="0"/>
          </a:p>
        </p:txBody>
      </p:sp>
      <p:sp>
        <p:nvSpPr>
          <p:cNvPr id="18" name="Text 12"/>
          <p:cNvSpPr txBox="1"/>
          <p:nvPr/>
        </p:nvSpPr>
        <p:spPr>
          <a:xfrm>
            <a:off x="7040880" y="4032504"/>
            <a:ext cx="46177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7 CodeLists do domínio + Currencies.</a:t>
            </a:r>
            <a:endParaRPr lang="en-US" sz="1400" dirty="0"/>
          </a:p>
        </p:txBody>
      </p:sp>
      <p:sp>
        <p:nvSpPr>
          <p:cNvPr id="19" name="Cartão"/>
          <p:cNvSpPr/>
          <p:nvPr/>
        </p:nvSpPr>
        <p:spPr>
          <a:xfrm>
            <a:off x="548640" y="4572000"/>
            <a:ext cx="11091672" cy="1508760"/>
          </a:xfrm>
          <a:prstGeom prst="roundRect">
            <a:avLst>
              <a:gd name="adj" fmla="val 7273"/>
            </a:avLst>
          </a:prstGeom>
          <a:solidFill>
            <a:srgbClr val="EBF8FF"/>
          </a:solidFill>
          <a:ln w="9525">
            <a:solidFill>
              <a:srgbClr val="D1EFFF"/>
            </a:solidFill>
            <a:prstDash val="solid"/>
          </a:ln>
        </p:spPr>
      </p:sp>
      <p:sp>
        <p:nvSpPr>
          <p:cNvPr id="20" name="Avatar LuMessageSquare"/>
          <p:cNvSpPr/>
          <p:nvPr/>
        </p:nvSpPr>
        <p:spPr>
          <a:xfrm>
            <a:off x="731520" y="509778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0070F2"/>
          </a:solidFill>
          <a:ln/>
        </p:spPr>
      </p:sp>
      <p:pic>
        <p:nvPicPr>
          <p:cNvPr id="21" name="Image 3" descr="LuMessageSquar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5207508"/>
            <a:ext cx="237744" cy="237744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371600" y="4572000"/>
            <a:ext cx="1008583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Na UI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Common.Text: statusPedido.name com TextArrangement #TextOnly mostra "Aguardando aprovação" no lugar do código AGUARDANDO_APROVACAO.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CONCEITOS DE MODELAGEM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Clientes e endereços: composição e associação filtrada</a:t>
            </a:r>
            <a:endParaRPr lang="en-US" sz="3200" dirty="0"/>
          </a:p>
        </p:txBody>
      </p:sp>
      <p:sp>
        <p:nvSpPr>
          <p:cNvPr id="5" name="Bloco de código"/>
          <p:cNvSpPr/>
          <p:nvPr/>
        </p:nvSpPr>
        <p:spPr>
          <a:xfrm>
            <a:off x="548640" y="1600200"/>
            <a:ext cx="6400800" cy="3779520"/>
          </a:xfrm>
          <a:prstGeom prst="roundRect">
            <a:avLst>
              <a:gd name="adj" fmla="val 2903"/>
            </a:avLst>
          </a:prstGeom>
          <a:solidFill>
            <a:srgbClr val="1F1F1F"/>
          </a:solidFill>
          <a:ln w="9525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8000"/>
              </a:srgbClr>
            </a:outerShdw>
          </a:effectLst>
        </p:spPr>
      </p:sp>
      <p:sp>
        <p:nvSpPr>
          <p:cNvPr id="6" name="Código"/>
          <p:cNvSpPr txBox="1"/>
          <p:nvPr/>
        </p:nvSpPr>
        <p:spPr>
          <a:xfrm>
            <a:off x="777240" y="1783080"/>
            <a:ext cx="5943600" cy="3413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entity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Clientes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: </a:t>
            </a:r>
            <a:pPr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cuid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managed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cpf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: </a:t>
            </a:r>
            <a:pPr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Cpf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: </a:t>
            </a:r>
            <a:pPr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buNone/>
            </a:pPr>
            <a:r>
              <a:rPr lang="en-US" sz="13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255</a:t>
            </a:r>
            <a:pPr indent="0" marL="0">
              <a:buNone/>
            </a:pPr>
            <a:r>
              <a:rPr lang="en-US" sz="13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: </a:t>
            </a:r>
            <a:pPr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buNone/>
            </a:pPr>
            <a:r>
              <a:rPr lang="en-US" sz="13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pPr indent="0" marL="0">
              <a:buNone/>
            </a:pPr>
            <a:r>
              <a:rPr lang="en-US" sz="13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telefone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: </a:t>
            </a:r>
            <a:pPr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Telefone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genero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: </a:t>
            </a:r>
            <a:pPr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Association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Generos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dataNascimento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: </a:t>
            </a:r>
            <a:pPr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clienteAtivo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: </a:t>
            </a:r>
            <a:pPr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Boolean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scoreCliente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: </a:t>
            </a:r>
            <a:pPr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Decimal</a:t>
            </a:r>
            <a:pPr indent="0" marL="0">
              <a:buNone/>
            </a:pPr>
            <a:r>
              <a:rPr lang="en-US" sz="13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3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3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enderecos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: </a:t>
            </a:r>
            <a:pPr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Composition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many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Enderecos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</a:t>
            </a:r>
            <a:pPr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enderecos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$self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enderecoPrincipal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: </a:t>
            </a:r>
            <a:pPr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Association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Enderecos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</a:t>
            </a:r>
            <a:pPr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enderecoPrincipal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= </a:t>
            </a:r>
            <a:pPr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$self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</a:t>
            </a:r>
            <a:pPr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enderecoPrincipal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principal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pedidos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: </a:t>
            </a:r>
            <a:pPr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Association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many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</a:t>
            </a:r>
            <a:pPr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pedidos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$self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7" name="Avatar LuKeyRound"/>
          <p:cNvSpPr/>
          <p:nvPr/>
        </p:nvSpPr>
        <p:spPr>
          <a:xfrm>
            <a:off x="7315200" y="169164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pic>
        <p:nvPicPr>
          <p:cNvPr id="8" name="Image 0" descr="LuKeyRoun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4928" y="1801368"/>
            <a:ext cx="237744" cy="23774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8001000" y="1655064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cuid + managed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8001000" y="1975104"/>
            <a:ext cx="3611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Chave UUID e createdAt/By, modifiedAt/By preenchidos pelo CAP.</a:t>
            </a:r>
            <a:endParaRPr lang="en-US" sz="1400" dirty="0"/>
          </a:p>
        </p:txBody>
      </p:sp>
      <p:sp>
        <p:nvSpPr>
          <p:cNvPr id="11" name="Avatar LuLayers"/>
          <p:cNvSpPr/>
          <p:nvPr/>
        </p:nvSpPr>
        <p:spPr>
          <a:xfrm>
            <a:off x="7315200" y="278892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DAFDF5"/>
          </a:solidFill>
          <a:ln/>
        </p:spPr>
      </p:sp>
      <p:pic>
        <p:nvPicPr>
          <p:cNvPr id="12" name="Image 1" descr="LuLayer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4928" y="2898648"/>
            <a:ext cx="237744" cy="23774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8001000" y="2752344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Composition of many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8001000" y="3072384"/>
            <a:ext cx="3611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Endereços pertencem ao cliente: criados, editados e excluídos com ele.</a:t>
            </a:r>
            <a:endParaRPr lang="en-US" sz="1400" dirty="0"/>
          </a:p>
        </p:txBody>
      </p:sp>
      <p:sp>
        <p:nvSpPr>
          <p:cNvPr id="15" name="Avatar LuFilter"/>
          <p:cNvSpPr/>
          <p:nvPr/>
        </p:nvSpPr>
        <p:spPr>
          <a:xfrm>
            <a:off x="7315200" y="388620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1ECFF"/>
          </a:solidFill>
          <a:ln/>
        </p:spPr>
      </p:sp>
      <p:pic>
        <p:nvPicPr>
          <p:cNvPr id="16" name="Image 2" descr="LuFilte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4928" y="3995928"/>
            <a:ext cx="237744" cy="237744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001000" y="3849624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Associação com condição</a:t>
            </a:r>
            <a:endParaRPr lang="en-US" sz="1500" dirty="0"/>
          </a:p>
        </p:txBody>
      </p:sp>
      <p:sp>
        <p:nvSpPr>
          <p:cNvPr id="18" name="Text 12"/>
          <p:cNvSpPr txBox="1"/>
          <p:nvPr/>
        </p:nvSpPr>
        <p:spPr>
          <a:xfrm>
            <a:off x="8001000" y="4169664"/>
            <a:ext cx="3611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enderecoPrincipal aponta só para o endereço com principal = true.</a:t>
            </a:r>
            <a:endParaRPr lang="en-US" sz="1400" dirty="0"/>
          </a:p>
        </p:txBody>
      </p:sp>
      <p:sp>
        <p:nvSpPr>
          <p:cNvPr id="19" name="Avatar LuImage"/>
          <p:cNvSpPr/>
          <p:nvPr/>
        </p:nvSpPr>
        <p:spPr>
          <a:xfrm>
            <a:off x="7315200" y="498348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FF3B8"/>
          </a:solidFill>
          <a:ln/>
        </p:spPr>
      </p:sp>
      <p:pic>
        <p:nvPicPr>
          <p:cNvPr id="20" name="Image 3" descr="LuImag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4928" y="5093208"/>
            <a:ext cx="237744" cy="237744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8001000" y="4946904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Foto como mídia</a:t>
            </a:r>
            <a:endParaRPr lang="en-US" sz="1500" dirty="0"/>
          </a:p>
        </p:txBody>
      </p:sp>
      <p:sp>
        <p:nvSpPr>
          <p:cNvPr id="22" name="Text 15"/>
          <p:cNvSpPr txBox="1"/>
          <p:nvPr/>
        </p:nvSpPr>
        <p:spPr>
          <a:xfrm>
            <a:off x="8001000" y="5266944"/>
            <a:ext cx="3611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LargeBinary com @Core.MediaType e tipos aceitos: JPEG, PNG e WebP.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CONCEITOS DE MODELAGEM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Elementos calculados: na leitura e armazenados</a:t>
            </a:r>
            <a:endParaRPr lang="en-US" sz="3200" dirty="0"/>
          </a:p>
        </p:txBody>
      </p:sp>
      <p:sp>
        <p:nvSpPr>
          <p:cNvPr id="5" name="Cartão"/>
          <p:cNvSpPr/>
          <p:nvPr/>
        </p:nvSpPr>
        <p:spPr>
          <a:xfrm>
            <a:off x="548640" y="1600200"/>
            <a:ext cx="5440680" cy="3749040"/>
          </a:xfrm>
          <a:prstGeom prst="roundRect">
            <a:avLst>
              <a:gd name="adj" fmla="val 2927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sp>
        <p:nvSpPr>
          <p:cNvPr id="6" name="Avatar LuSquareFunction"/>
          <p:cNvSpPr/>
          <p:nvPr/>
        </p:nvSpPr>
        <p:spPr>
          <a:xfrm>
            <a:off x="822960" y="182880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pic>
        <p:nvPicPr>
          <p:cNvPr id="7" name="Image 0" descr="LuSquareFunc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634" y="1960474"/>
            <a:ext cx="285293" cy="285293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554480" y="18745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Calculados na leitura</a:t>
            </a:r>
            <a:endParaRPr lang="en-US" sz="1800" dirty="0"/>
          </a:p>
        </p:txBody>
      </p:sp>
      <p:sp>
        <p:nvSpPr>
          <p:cNvPr id="9" name="Text 5"/>
          <p:cNvSpPr txBox="1"/>
          <p:nvPr/>
        </p:nvSpPr>
        <p:spPr>
          <a:xfrm>
            <a:off x="822960" y="25146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Expressão avaliada na consulta; nenhuma coluna na tabela.</a:t>
            </a:r>
            <a:endParaRPr lang="en-US" sz="1400" dirty="0"/>
          </a:p>
        </p:txBody>
      </p:sp>
      <p:sp>
        <p:nvSpPr>
          <p:cNvPr id="10" name="Bloco de código"/>
          <p:cNvSpPr/>
          <p:nvPr/>
        </p:nvSpPr>
        <p:spPr>
          <a:xfrm>
            <a:off x="822960" y="3017520"/>
            <a:ext cx="4892040" cy="1874520"/>
          </a:xfrm>
          <a:prstGeom prst="roundRect">
            <a:avLst>
              <a:gd name="adj" fmla="val 5854"/>
            </a:avLst>
          </a:prstGeom>
          <a:solidFill>
            <a:srgbClr val="1F1F1F"/>
          </a:solidFill>
          <a:ln w="9525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8000"/>
              </a:srgbClr>
            </a:outerShdw>
          </a:effectLst>
        </p:spPr>
      </p:sp>
      <p:sp>
        <p:nvSpPr>
          <p:cNvPr id="11" name="Código"/>
          <p:cNvSpPr txBox="1"/>
          <p:nvPr/>
        </p:nvSpPr>
        <p:spPr>
          <a:xfrm>
            <a:off x="1051560" y="3200400"/>
            <a:ext cx="44348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cpfFormatado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: </a:t>
            </a:r>
            <a:pPr indent="0" marL="0">
              <a:buNone/>
            </a:pPr>
            <a:r>
              <a:rPr lang="en-US" sz="12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buNone/>
            </a:pPr>
            <a:r>
              <a:rPr lang="en-US" sz="12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pPr indent="0" marL="0">
              <a:buNone/>
            </a:pPr>
            <a:r>
              <a:rPr lang="en-US" sz="12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substring</a:t>
            </a:r>
            <a:pPr indent="0" marL="0">
              <a:buNone/>
            </a:pPr>
            <a:r>
              <a:rPr lang="en-US" sz="12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cpf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2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2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12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|| </a:t>
            </a:r>
            <a:pPr indent="0" marL="0">
              <a:buNone/>
            </a:pPr>
            <a:r>
              <a:rPr lang="en-US" sz="12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'.'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|| ...;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scoreCriticality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: </a:t>
            </a:r>
            <a:pPr indent="0" marL="0">
              <a:buNone/>
            </a:pPr>
            <a:r>
              <a:rPr lang="en-US" sz="12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Integer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2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2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when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scoreCliente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&lt;= </a:t>
            </a:r>
            <a:pPr indent="0" marL="0">
              <a:buNone/>
            </a:pPr>
            <a:r>
              <a:rPr lang="en-US" sz="12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2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when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scoreCliente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  </a:t>
            </a:r>
            <a:pPr indent="0" marL="0">
              <a:buNone/>
            </a:pPr>
            <a:r>
              <a:rPr lang="en-US" sz="12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70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2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encerrado, naoFinalizado... (Pedidos)</a:t>
            </a:r>
            <a:endParaRPr lang="en-US" sz="1200" dirty="0"/>
          </a:p>
        </p:txBody>
      </p:sp>
      <p:sp>
        <p:nvSpPr>
          <p:cNvPr id="12" name="Cartão"/>
          <p:cNvSpPr/>
          <p:nvPr/>
        </p:nvSpPr>
        <p:spPr>
          <a:xfrm>
            <a:off x="6199632" y="1600200"/>
            <a:ext cx="5440680" cy="3749040"/>
          </a:xfrm>
          <a:prstGeom prst="roundRect">
            <a:avLst>
              <a:gd name="adj" fmla="val 2927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sp>
        <p:nvSpPr>
          <p:cNvPr id="13" name="Avatar LuDatabase"/>
          <p:cNvSpPr/>
          <p:nvPr/>
        </p:nvSpPr>
        <p:spPr>
          <a:xfrm>
            <a:off x="6473952" y="182880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DAFDF5"/>
          </a:solidFill>
          <a:ln/>
        </p:spPr>
      </p:sp>
      <p:pic>
        <p:nvPicPr>
          <p:cNvPr id="14" name="Image 1" descr="LuDatabas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5626" y="1960474"/>
            <a:ext cx="285293" cy="285293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7205472" y="18745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Armazenados (stored)</a:t>
            </a:r>
            <a:endParaRPr lang="en-US" sz="1800" dirty="0"/>
          </a:p>
        </p:txBody>
      </p:sp>
      <p:sp>
        <p:nvSpPr>
          <p:cNvPr id="16" name="Text 11"/>
          <p:cNvSpPr txBox="1"/>
          <p:nvPr/>
        </p:nvSpPr>
        <p:spPr>
          <a:xfrm>
            <a:off x="6473952" y="25146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Coluna gerada pelo banco, recalculada a cada alteração.</a:t>
            </a:r>
            <a:endParaRPr lang="en-US" sz="1400" dirty="0"/>
          </a:p>
        </p:txBody>
      </p:sp>
      <p:sp>
        <p:nvSpPr>
          <p:cNvPr id="17" name="Bloco de código"/>
          <p:cNvSpPr/>
          <p:nvPr/>
        </p:nvSpPr>
        <p:spPr>
          <a:xfrm>
            <a:off x="6473952" y="3017520"/>
            <a:ext cx="4892040" cy="2057400"/>
          </a:xfrm>
          <a:prstGeom prst="roundRect">
            <a:avLst>
              <a:gd name="adj" fmla="val 5333"/>
            </a:avLst>
          </a:prstGeom>
          <a:solidFill>
            <a:srgbClr val="1F1F1F"/>
          </a:solidFill>
          <a:ln w="9525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8000"/>
              </a:srgbClr>
            </a:outerShdw>
          </a:effectLst>
        </p:spPr>
      </p:sp>
      <p:sp>
        <p:nvSpPr>
          <p:cNvPr id="18" name="Código"/>
          <p:cNvSpPr txBox="1"/>
          <p:nvPr/>
        </p:nvSpPr>
        <p:spPr>
          <a:xfrm>
            <a:off x="6702552" y="3200400"/>
            <a:ext cx="44348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qtdeDisponivel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: </a:t>
            </a:r>
            <a:pPr indent="0" marL="0">
              <a:buNone/>
            </a:pPr>
            <a:r>
              <a:rPr lang="en-US" sz="12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Integer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qtdeEstoque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 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qtdeReservada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stored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statusEstoque_code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: </a:t>
            </a:r>
            <a:pPr indent="0" marL="0">
              <a:buNone/>
            </a:pPr>
            <a:r>
              <a:rPr lang="en-US" sz="12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buNone/>
            </a:pPr>
            <a:r>
              <a:rPr lang="en-US" sz="12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pPr indent="0" marL="0">
              <a:buNone/>
            </a:pPr>
            <a:r>
              <a:rPr lang="en-US" sz="12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2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2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when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qtdeEstoque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 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qtdeReservada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&lt;= </a:t>
            </a:r>
            <a:pPr indent="0" marL="0">
              <a:buNone/>
            </a:pPr>
            <a:r>
              <a:rPr lang="en-US" sz="12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'SEM_ESTOQUE'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2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when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qtdeEstoque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 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qtdeReservada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&lt;= </a:t>
            </a:r>
            <a:pPr indent="0" marL="0">
              <a:buNone/>
            </a:pPr>
            <a:r>
              <a:rPr lang="en-US" sz="12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'ACABANDO'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2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'EM_ESTOQUE'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stored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</p:txBody>
      </p:sp>
      <p:sp>
        <p:nvSpPr>
          <p:cNvPr id="19" name="Cartão"/>
          <p:cNvSpPr/>
          <p:nvPr/>
        </p:nvSpPr>
        <p:spPr>
          <a:xfrm>
            <a:off x="548640" y="5532120"/>
            <a:ext cx="11091672" cy="594360"/>
          </a:xfrm>
          <a:prstGeom prst="roundRect">
            <a:avLst>
              <a:gd name="adj" fmla="val 18462"/>
            </a:avLst>
          </a:prstGeom>
          <a:solidFill>
            <a:srgbClr val="EBF8FF"/>
          </a:solidFill>
          <a:ln w="9525">
            <a:solidFill>
              <a:srgbClr val="D1EFFF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777240" y="5532120"/>
            <a:ext cx="106801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Regra prática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use stored quando o valor precisa ser filtrado, ordenado ou agregado pelo banco; senão, calcule na leitura.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CONCEITOS DE MODELAGEM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Pedidos: composições, pagamento e histórico imutável</a:t>
            </a:r>
            <a:endParaRPr lang="en-US" sz="3200" dirty="0"/>
          </a:p>
        </p:txBody>
      </p:sp>
      <p:sp>
        <p:nvSpPr>
          <p:cNvPr id="5" name="Bloco de código"/>
          <p:cNvSpPr/>
          <p:nvPr/>
        </p:nvSpPr>
        <p:spPr>
          <a:xfrm>
            <a:off x="548640" y="1600200"/>
            <a:ext cx="6309360" cy="3581400"/>
          </a:xfrm>
          <a:prstGeom prst="roundRect">
            <a:avLst>
              <a:gd name="adj" fmla="val 3064"/>
            </a:avLst>
          </a:prstGeom>
          <a:solidFill>
            <a:srgbClr val="1F1F1F"/>
          </a:solidFill>
          <a:ln w="9525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8000"/>
              </a:srgbClr>
            </a:outerShdw>
          </a:effectLst>
        </p:spPr>
      </p:sp>
      <p:sp>
        <p:nvSpPr>
          <p:cNvPr id="6" name="Código"/>
          <p:cNvSpPr txBox="1"/>
          <p:nvPr/>
        </p:nvSpPr>
        <p:spPr>
          <a:xfrm>
            <a:off x="777240" y="1783080"/>
            <a:ext cx="5852160" cy="3215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entity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Pedidos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: </a:t>
            </a:r>
            <a:pPr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cuid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managed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numeroPedido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: </a:t>
            </a:r>
            <a:pPr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buNone/>
            </a:pPr>
            <a:r>
              <a:rPr lang="en-US" sz="13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pPr indent="0" marL="0">
              <a:buNone/>
            </a:pPr>
            <a:r>
              <a:rPr lang="en-US" sz="13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  </a:t>
            </a:r>
            <a:pPr indent="0" marL="0">
              <a:buNone/>
            </a:pPr>
            <a:r>
              <a:rPr lang="en-US" sz="13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0000000042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: </a:t>
            </a:r>
            <a:pPr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Association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Clientes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endereco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: </a:t>
            </a:r>
            <a:pPr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Association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Enderecos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itens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: </a:t>
            </a:r>
            <a:pPr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Composition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many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ItensPedido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</a:t>
            </a:r>
            <a:pPr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itens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$self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pagamento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: </a:t>
            </a:r>
            <a:pPr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Composition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Pagamentos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</a:t>
            </a:r>
            <a:pPr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pagamento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$self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clienteSnapshot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Composition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</a:t>
            </a:r>
            <a:pPr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PedidosClienteSnapshots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...;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itensSnapshot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: </a:t>
            </a:r>
            <a:pPr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Composition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</a:t>
            </a:r>
            <a:pPr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PedidosItensSnapshots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...;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statusPedido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: </a:t>
            </a:r>
            <a:pPr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Association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StatusPedido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statusPagamento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Association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StatusPagamento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valorTotal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: </a:t>
            </a:r>
            <a:pPr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Valor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7" name="Avatar LuCreditCard"/>
          <p:cNvSpPr/>
          <p:nvPr/>
        </p:nvSpPr>
        <p:spPr>
          <a:xfrm>
            <a:off x="7223760" y="169164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pic>
        <p:nvPicPr>
          <p:cNvPr id="8" name="Image 0" descr="LuCreditC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33488" y="1801368"/>
            <a:ext cx="237744" cy="23774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909560" y="1655064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Só a última tentativa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7909560" y="1975104"/>
            <a:ext cx="3703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Pagamentos guarda bandeira e últimos 4 dígitos; cartão, validade e CVV nunca.</a:t>
            </a:r>
            <a:endParaRPr lang="en-US" sz="1400" dirty="0"/>
          </a:p>
        </p:txBody>
      </p:sp>
      <p:sp>
        <p:nvSpPr>
          <p:cNvPr id="11" name="Avatar LuHistory"/>
          <p:cNvSpPr/>
          <p:nvPr/>
        </p:nvSpPr>
        <p:spPr>
          <a:xfrm>
            <a:off x="7223760" y="278892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DAFDF5"/>
          </a:solidFill>
          <a:ln/>
        </p:spPr>
      </p:sp>
      <p:pic>
        <p:nvPicPr>
          <p:cNvPr id="12" name="Image 1" descr="LuHistor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3488" y="2898648"/>
            <a:ext cx="237744" cy="23774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909560" y="2752344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Snapshots no encerramento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7909560" y="3072384"/>
            <a:ext cx="3703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Cliente, endereço e itens congelados ao finalizar ou cancelar o pedido.</a:t>
            </a:r>
            <a:endParaRPr lang="en-US" sz="1400" dirty="0"/>
          </a:p>
        </p:txBody>
      </p:sp>
      <p:sp>
        <p:nvSpPr>
          <p:cNvPr id="15" name="Avatar LuHash"/>
          <p:cNvSpPr/>
          <p:nvPr/>
        </p:nvSpPr>
        <p:spPr>
          <a:xfrm>
            <a:off x="7223760" y="388620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1ECFF"/>
          </a:solidFill>
          <a:ln/>
        </p:spPr>
      </p:sp>
      <p:pic>
        <p:nvPicPr>
          <p:cNvPr id="16" name="Image 2" descr="LuHash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3488" y="3995928"/>
            <a:ext cx="237744" cy="237744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7909560" y="3849624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Numeracoes</a:t>
            </a:r>
            <a:endParaRPr lang="en-US" sz="1500" dirty="0"/>
          </a:p>
        </p:txBody>
      </p:sp>
      <p:sp>
        <p:nvSpPr>
          <p:cNvPr id="18" name="Text 12"/>
          <p:cNvSpPr txBox="1"/>
          <p:nvPr/>
        </p:nvSpPr>
        <p:spPr>
          <a:xfrm>
            <a:off x="7909560" y="4169664"/>
            <a:ext cx="3703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Último número de PEDIDO e SKU, incrementado dentro da transação.</a:t>
            </a:r>
            <a:endParaRPr lang="en-US" sz="1400" dirty="0"/>
          </a:p>
        </p:txBody>
      </p:sp>
      <p:sp>
        <p:nvSpPr>
          <p:cNvPr id="19" name="Avatar LuUndo2"/>
          <p:cNvSpPr/>
          <p:nvPr/>
        </p:nvSpPr>
        <p:spPr>
          <a:xfrm>
            <a:off x="7223760" y="498348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FF3B8"/>
          </a:solidFill>
          <a:ln/>
        </p:spPr>
      </p:sp>
      <p:pic>
        <p:nvPicPr>
          <p:cNvPr id="20" name="Image 3" descr="LuUndo2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3488" y="5093208"/>
            <a:ext cx="237744" cy="237744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7909560" y="4946904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Reembolsos</a:t>
            </a:r>
            <a:endParaRPr lang="en-US" sz="1500" dirty="0"/>
          </a:p>
        </p:txBody>
      </p:sp>
      <p:sp>
        <p:nvSpPr>
          <p:cNvPr id="22" name="Text 15"/>
          <p:cNvSpPr txBox="1"/>
          <p:nvPr/>
        </p:nvSpPr>
        <p:spPr>
          <a:xfrm>
            <a:off x="7909560" y="5266944"/>
            <a:ext cx="3703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Guarda o status anterior do pedido para restaurá-lo se rejeitado.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INTEGRIDADE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Unicidade e validações declarativas</a:t>
            </a:r>
            <a:endParaRPr lang="en-US" sz="3200" dirty="0"/>
          </a:p>
        </p:txBody>
      </p:sp>
      <p:sp>
        <p:nvSpPr>
          <p:cNvPr id="5" name="Bloco de código"/>
          <p:cNvSpPr/>
          <p:nvPr/>
        </p:nvSpPr>
        <p:spPr>
          <a:xfrm>
            <a:off x="548640" y="1600200"/>
            <a:ext cx="5532120" cy="2194560"/>
          </a:xfrm>
          <a:prstGeom prst="roundRect">
            <a:avLst>
              <a:gd name="adj" fmla="val 5000"/>
            </a:avLst>
          </a:prstGeom>
          <a:solidFill>
            <a:srgbClr val="1F1F1F"/>
          </a:solidFill>
          <a:ln w="9525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8000"/>
              </a:srgbClr>
            </a:outerShdw>
          </a:effectLst>
        </p:spPr>
      </p:sp>
      <p:sp>
        <p:nvSpPr>
          <p:cNvPr id="6" name="Código"/>
          <p:cNvSpPr txBox="1"/>
          <p:nvPr/>
        </p:nvSpPr>
        <p:spPr>
          <a:xfrm>
            <a:off x="777240" y="1783080"/>
            <a:ext cx="5074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db/schema.cds: UNIQUE nas tabelas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annotate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Clientes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3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@assert.unique.cpf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3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cpf</a:t>
            </a:r>
            <a:pPr indent="0" marL="0">
              <a:buNone/>
            </a:pPr>
            <a:r>
              <a:rPr lang="en-US" sz="13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annotate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Itens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3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@assert.unique.sku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3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sku</a:t>
            </a:r>
            <a:pPr indent="0" marL="0">
              <a:buNone/>
            </a:pPr>
            <a:r>
              <a:rPr lang="en-US" sz="13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annotate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Pedidos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3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@assert.unique.numeroPedido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3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numeroPedido</a:t>
            </a:r>
            <a:pPr indent="0" marL="0">
              <a:buNone/>
            </a:pPr>
            <a:r>
              <a:rPr lang="en-US" sz="13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annotate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Enderecos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3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@assert.unique.cepPorCliente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3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cep</a:t>
            </a:r>
            <a:pPr indent="0" marL="0">
              <a:buNone/>
            </a:pPr>
            <a:r>
              <a:rPr lang="en-US" sz="13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</p:txBody>
      </p:sp>
      <p:sp>
        <p:nvSpPr>
          <p:cNvPr id="7" name="Avatar LuKeyRound"/>
          <p:cNvSpPr/>
          <p:nvPr/>
        </p:nvSpPr>
        <p:spPr>
          <a:xfrm>
            <a:off x="685800" y="411480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pic>
        <p:nvPicPr>
          <p:cNvPr id="8" name="Image 0" descr="LuKeyRoun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4224528"/>
            <a:ext cx="237744" cy="23774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71600" y="4078224"/>
            <a:ext cx="4617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UNIQUE no banco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1371600" y="4398264"/>
            <a:ext cx="46177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CPF, SKU, número do pedido e CEP por cliente.</a:t>
            </a:r>
            <a:endParaRPr lang="en-US" sz="1400" dirty="0"/>
          </a:p>
        </p:txBody>
      </p:sp>
      <p:sp>
        <p:nvSpPr>
          <p:cNvPr id="11" name="Avatar LuMessageSquare"/>
          <p:cNvSpPr/>
          <p:nvPr/>
        </p:nvSpPr>
        <p:spPr>
          <a:xfrm>
            <a:off x="685800" y="507492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DAFDF5"/>
          </a:solidFill>
          <a:ln/>
        </p:spPr>
      </p:sp>
      <p:pic>
        <p:nvPicPr>
          <p:cNvPr id="12" name="Image 1" descr="LuMessageSquar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5184648"/>
            <a:ext cx="237744" cy="23774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371600" y="5038344"/>
            <a:ext cx="4617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Mensagens por chave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1371600" y="5358384"/>
            <a:ext cx="46177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Códigos como EMAIL_INVALIDO vêm de _i18n/messages.properties.</a:t>
            </a:r>
            <a:endParaRPr lang="en-US" sz="1400" dirty="0"/>
          </a:p>
        </p:txBody>
      </p:sp>
      <p:sp>
        <p:nvSpPr>
          <p:cNvPr id="15" name="Bloco de código"/>
          <p:cNvSpPr/>
          <p:nvPr/>
        </p:nvSpPr>
        <p:spPr>
          <a:xfrm>
            <a:off x="6263640" y="1600200"/>
            <a:ext cx="5376672" cy="4480560"/>
          </a:xfrm>
          <a:prstGeom prst="roundRect">
            <a:avLst>
              <a:gd name="adj" fmla="val 2449"/>
            </a:avLst>
          </a:prstGeom>
          <a:solidFill>
            <a:srgbClr val="1F1F1F"/>
          </a:solidFill>
          <a:ln w="9525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8000"/>
              </a:srgbClr>
            </a:outerShdw>
          </a:effectLst>
        </p:spPr>
      </p:sp>
      <p:sp>
        <p:nvSpPr>
          <p:cNvPr id="16" name="Código"/>
          <p:cNvSpPr txBox="1"/>
          <p:nvPr/>
        </p:nvSpPr>
        <p:spPr>
          <a:xfrm>
            <a:off x="6492240" y="1783080"/>
            <a:ext cx="4919472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srv/validacoes.cds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annotate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Clientes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cpf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indent="0" marL="0">
              <a:buNone/>
            </a:pPr>
            <a:r>
              <a:rPr lang="en-US" sz="13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@mandatory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@mandatory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@assert.format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3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$value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: </a:t>
            </a:r>
            <a:pPr indent="0" marL="0">
              <a:buNone/>
            </a:pPr>
            <a:r>
              <a:rPr lang="en-US" sz="13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'^[a-z0-9._%+-]+@...$'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3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'EMAIL_INVALIDO'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dataNascimento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@mandatory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@assert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3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3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when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dataNascimento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&gt; </a:t>
            </a:r>
            <a:pPr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$now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3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'DATA_NASCIMENTO_FUTURA'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pPr indent="0" marL="0">
              <a:buNone/>
            </a:pPr>
            <a:r>
              <a:rPr lang="en-US" sz="13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annotate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ItensPedido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qtdeItemPedido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@mandatory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@assert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3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3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when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qtdeItemPedido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&lt;= </a:t>
            </a:r>
            <a:pPr indent="0" marL="0">
              <a:buNone/>
            </a:pPr>
            <a:r>
              <a:rPr lang="en-US" sz="13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3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'ITEM_QTDE_INVALIDA'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pPr indent="0" marL="0">
              <a:buNone/>
            </a:pPr>
            <a:r>
              <a:rPr lang="en-US" sz="13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PERSISTÊNCIA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Dados iniciais e bancos por perfil</a:t>
            </a:r>
            <a:endParaRPr lang="en-US" sz="3200" dirty="0"/>
          </a:p>
        </p:txBody>
      </p:sp>
      <p:sp>
        <p:nvSpPr>
          <p:cNvPr id="5" name="Cartão"/>
          <p:cNvSpPr/>
          <p:nvPr/>
        </p:nvSpPr>
        <p:spPr>
          <a:xfrm>
            <a:off x="548640" y="1600200"/>
            <a:ext cx="2642616" cy="2423160"/>
          </a:xfrm>
          <a:prstGeom prst="roundRect">
            <a:avLst>
              <a:gd name="adj" fmla="val 4528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sp>
        <p:nvSpPr>
          <p:cNvPr id="6" name="Avatar LuFileSpreadsheet"/>
          <p:cNvSpPr/>
          <p:nvPr/>
        </p:nvSpPr>
        <p:spPr>
          <a:xfrm>
            <a:off x="822960" y="1874520"/>
            <a:ext cx="566928" cy="566928"/>
          </a:xfrm>
          <a:prstGeom prst="roundRect">
            <a:avLst>
              <a:gd name="adj" fmla="val 22000"/>
            </a:avLst>
          </a:prstGeom>
          <a:solidFill>
            <a:srgbClr val="DAFDF5"/>
          </a:solidFill>
          <a:ln/>
        </p:spPr>
      </p:sp>
      <p:pic>
        <p:nvPicPr>
          <p:cNvPr id="7" name="Image 0" descr="LuFileSpreadshee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9023" y="2010583"/>
            <a:ext cx="294803" cy="294803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22960" y="2578608"/>
            <a:ext cx="2093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CSV em db/data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822960" y="2990088"/>
            <a:ext cx="20939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CodeLists e dados de demonstração gerados por npm run dados:demo.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3191256" y="2514600"/>
            <a:ext cx="173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›</a:t>
            </a:r>
            <a:endParaRPr lang="en-US" sz="2400" dirty="0"/>
          </a:p>
        </p:txBody>
      </p:sp>
      <p:sp>
        <p:nvSpPr>
          <p:cNvPr id="11" name="Cartão"/>
          <p:cNvSpPr/>
          <p:nvPr/>
        </p:nvSpPr>
        <p:spPr>
          <a:xfrm>
            <a:off x="3364992" y="1600200"/>
            <a:ext cx="2642616" cy="2423160"/>
          </a:xfrm>
          <a:prstGeom prst="roundRect">
            <a:avLst>
              <a:gd name="adj" fmla="val 4528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sp>
        <p:nvSpPr>
          <p:cNvPr id="12" name="Avatar LuTerminal"/>
          <p:cNvSpPr/>
          <p:nvPr/>
        </p:nvSpPr>
        <p:spPr>
          <a:xfrm>
            <a:off x="3639312" y="1874520"/>
            <a:ext cx="566928" cy="566928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pic>
        <p:nvPicPr>
          <p:cNvPr id="13" name="Image 1" descr="LuTermina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5375" y="2010583"/>
            <a:ext cx="294803" cy="294803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3639312" y="2578608"/>
            <a:ext cx="2093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cds deploy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3639312" y="2990088"/>
            <a:ext cx="20939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Cria as tabelas, as colunas geradas e carrega os CSVs.</a:t>
            </a:r>
            <a:endParaRPr lang="en-US" sz="1400" dirty="0"/>
          </a:p>
        </p:txBody>
      </p:sp>
      <p:sp>
        <p:nvSpPr>
          <p:cNvPr id="16" name="Text 11"/>
          <p:cNvSpPr txBox="1"/>
          <p:nvPr/>
        </p:nvSpPr>
        <p:spPr>
          <a:xfrm>
            <a:off x="6007608" y="2514600"/>
            <a:ext cx="173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›</a:t>
            </a:r>
            <a:endParaRPr lang="en-US" sz="2400" dirty="0"/>
          </a:p>
        </p:txBody>
      </p:sp>
      <p:sp>
        <p:nvSpPr>
          <p:cNvPr id="17" name="Cartão"/>
          <p:cNvSpPr/>
          <p:nvPr/>
        </p:nvSpPr>
        <p:spPr>
          <a:xfrm>
            <a:off x="6181344" y="1600200"/>
            <a:ext cx="2642616" cy="2423160"/>
          </a:xfrm>
          <a:prstGeom prst="roundRect">
            <a:avLst>
              <a:gd name="adj" fmla="val 4528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sp>
        <p:nvSpPr>
          <p:cNvPr id="18" name="Avatar LuDatabase"/>
          <p:cNvSpPr/>
          <p:nvPr/>
        </p:nvSpPr>
        <p:spPr>
          <a:xfrm>
            <a:off x="6455664" y="1874520"/>
            <a:ext cx="566928" cy="566928"/>
          </a:xfrm>
          <a:prstGeom prst="roundRect">
            <a:avLst>
              <a:gd name="adj" fmla="val 22000"/>
            </a:avLst>
          </a:prstGeom>
          <a:solidFill>
            <a:srgbClr val="F1ECFF"/>
          </a:solidFill>
          <a:ln/>
        </p:spPr>
      </p:sp>
      <p:pic>
        <p:nvPicPr>
          <p:cNvPr id="19" name="Image 2" descr="LuDatabas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1727" y="2010583"/>
            <a:ext cx="294803" cy="294803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6455664" y="2578608"/>
            <a:ext cx="2093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SQLite em arquivo</a:t>
            </a:r>
            <a:endParaRPr lang="en-US" sz="1600" dirty="0"/>
          </a:p>
        </p:txBody>
      </p:sp>
      <p:sp>
        <p:nvSpPr>
          <p:cNvPr id="21" name="Text 15"/>
          <p:cNvSpPr txBox="1"/>
          <p:nvPr/>
        </p:nvSpPr>
        <p:spPr>
          <a:xfrm>
            <a:off x="6455664" y="2990088"/>
            <a:ext cx="20939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db.sqlite no perfil [development], mantido entre reinícios.</a:t>
            </a:r>
            <a:endParaRPr lang="en-US" sz="1400" dirty="0"/>
          </a:p>
        </p:txBody>
      </p:sp>
      <p:sp>
        <p:nvSpPr>
          <p:cNvPr id="22" name="Text 16"/>
          <p:cNvSpPr txBox="1"/>
          <p:nvPr/>
        </p:nvSpPr>
        <p:spPr>
          <a:xfrm>
            <a:off x="8823960" y="2514600"/>
            <a:ext cx="173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›</a:t>
            </a:r>
            <a:endParaRPr lang="en-US" sz="2400" dirty="0"/>
          </a:p>
        </p:txBody>
      </p:sp>
      <p:sp>
        <p:nvSpPr>
          <p:cNvPr id="23" name="Cartão"/>
          <p:cNvSpPr/>
          <p:nvPr/>
        </p:nvSpPr>
        <p:spPr>
          <a:xfrm>
            <a:off x="8997696" y="1600200"/>
            <a:ext cx="2642616" cy="2423160"/>
          </a:xfrm>
          <a:prstGeom prst="roundRect">
            <a:avLst>
              <a:gd name="adj" fmla="val 4528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sp>
        <p:nvSpPr>
          <p:cNvPr id="24" name="Avatar LuCloud"/>
          <p:cNvSpPr/>
          <p:nvPr/>
        </p:nvSpPr>
        <p:spPr>
          <a:xfrm>
            <a:off x="9272016" y="1874520"/>
            <a:ext cx="566928" cy="566928"/>
          </a:xfrm>
          <a:prstGeom prst="roundRect">
            <a:avLst>
              <a:gd name="adj" fmla="val 22000"/>
            </a:avLst>
          </a:prstGeom>
          <a:solidFill>
            <a:srgbClr val="FFF3B8"/>
          </a:solidFill>
          <a:ln/>
        </p:spPr>
      </p:sp>
      <p:pic>
        <p:nvPicPr>
          <p:cNvPr id="25" name="Image 3" descr="LuCloud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8079" y="2010583"/>
            <a:ext cx="294803" cy="294803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9272016" y="2578608"/>
            <a:ext cx="2093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SAP HANA Cloud</a:t>
            </a:r>
            <a:endParaRPr lang="en-US" sz="1600" dirty="0"/>
          </a:p>
        </p:txBody>
      </p:sp>
      <p:sp>
        <p:nvSpPr>
          <p:cNvPr id="27" name="Text 20"/>
          <p:cNvSpPr txBox="1"/>
          <p:nvPr/>
        </p:nvSpPr>
        <p:spPr>
          <a:xfrm>
            <a:off x="9272016" y="2990088"/>
            <a:ext cx="20939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Perfil [production] com @cap-js/hana e container HDI.</a:t>
            </a:r>
            <a:endParaRPr lang="en-US" sz="1400" dirty="0"/>
          </a:p>
        </p:txBody>
      </p:sp>
      <p:sp>
        <p:nvSpPr>
          <p:cNvPr id="28" name="Bloco de código"/>
          <p:cNvSpPr/>
          <p:nvPr/>
        </p:nvSpPr>
        <p:spPr>
          <a:xfrm>
            <a:off x="548640" y="4251960"/>
            <a:ext cx="11091672" cy="1203960"/>
          </a:xfrm>
          <a:prstGeom prst="roundRect">
            <a:avLst>
              <a:gd name="adj" fmla="val 9114"/>
            </a:avLst>
          </a:prstGeom>
          <a:solidFill>
            <a:srgbClr val="1F1F1F"/>
          </a:solidFill>
          <a:ln w="9525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8000"/>
              </a:srgbClr>
            </a:outerShdw>
          </a:effectLst>
        </p:spPr>
      </p:sp>
      <p:sp>
        <p:nvSpPr>
          <p:cNvPr id="29" name="Código"/>
          <p:cNvSpPr txBox="1"/>
          <p:nvPr/>
        </p:nvSpPr>
        <p:spPr>
          <a:xfrm>
            <a:off x="777240" y="4434840"/>
            <a:ext cx="10634472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"requires"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3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"[development]"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3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"db"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3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"kind"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3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"sqlite"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"credentials"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3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"url"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3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"db.sqlite"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"[production]"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 </a:t>
            </a:r>
            <a:pPr indent="0" marL="0">
              <a:buNone/>
            </a:pPr>
            <a:r>
              <a:rPr lang="en-US" sz="13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"db"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3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"hana"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buNone/>
            </a:pPr>
            <a:r>
              <a:rPr lang="en-US" sz="13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testes: sempre SQLite em memória, sem tocar no db.sqlite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89D1FF"/>
                </a:solidFill>
              </a:rPr>
              <a:t>RESUMO DA ETAPA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96012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O que construímos na etapa 1</a:t>
            </a:r>
            <a:endParaRPr lang="en-US" sz="3600" dirty="0"/>
          </a:p>
        </p:txBody>
      </p:sp>
      <p:sp>
        <p:nvSpPr>
          <p:cNvPr id="4" name="Marcador"/>
          <p:cNvSpPr/>
          <p:nvPr/>
        </p:nvSpPr>
        <p:spPr>
          <a:xfrm>
            <a:off x="731520" y="2103120"/>
            <a:ext cx="457200" cy="457200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</p:sp>
      <p:pic>
        <p:nvPicPr>
          <p:cNvPr id="5" name="Image 0" descr="concluíd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2203704"/>
            <a:ext cx="256032" cy="25603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2029968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Domínio mapeado em quatro áreas: clientes, estoque, pedidos e reembolsos</a:t>
            </a:r>
            <a:endParaRPr lang="en-US" sz="1500" dirty="0"/>
          </a:p>
        </p:txBody>
      </p:sp>
      <p:sp>
        <p:nvSpPr>
          <p:cNvPr id="7" name="Marcador"/>
          <p:cNvSpPr/>
          <p:nvPr/>
        </p:nvSpPr>
        <p:spPr>
          <a:xfrm>
            <a:off x="6263640" y="2103120"/>
            <a:ext cx="457200" cy="457200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</p:sp>
      <p:pic>
        <p:nvPicPr>
          <p:cNvPr id="8" name="Image 1" descr="concluíd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4224" y="2203704"/>
            <a:ext cx="256032" cy="25603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903720" y="2029968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Tipos semânticos e sete CodeLists com ordem e criticidade</a:t>
            </a:r>
            <a:endParaRPr lang="en-US" sz="1500" dirty="0"/>
          </a:p>
        </p:txBody>
      </p:sp>
      <p:sp>
        <p:nvSpPr>
          <p:cNvPr id="10" name="Marcador"/>
          <p:cNvSpPr/>
          <p:nvPr/>
        </p:nvSpPr>
        <p:spPr>
          <a:xfrm>
            <a:off x="731520" y="3063240"/>
            <a:ext cx="457200" cy="457200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</p:sp>
      <p:pic>
        <p:nvPicPr>
          <p:cNvPr id="11" name="Image 2" descr="concluíd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" y="3163824"/>
            <a:ext cx="256032" cy="25603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371600" y="2990088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26 tabelas ativas detalhadas campo a campo, e 9 de rascunho</a:t>
            </a:r>
            <a:endParaRPr lang="en-US" sz="1500" dirty="0"/>
          </a:p>
        </p:txBody>
      </p:sp>
      <p:sp>
        <p:nvSpPr>
          <p:cNvPr id="13" name="Marcador"/>
          <p:cNvSpPr/>
          <p:nvPr/>
        </p:nvSpPr>
        <p:spPr>
          <a:xfrm>
            <a:off x="6263640" y="3063240"/>
            <a:ext cx="457200" cy="457200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</p:sp>
      <p:pic>
        <p:nvPicPr>
          <p:cNvPr id="14" name="Image 3" descr="concluído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4224" y="3163824"/>
            <a:ext cx="256032" cy="256032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6903720" y="2990088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Elementos calculados na leitura e colunas geradas (stored)</a:t>
            </a:r>
            <a:endParaRPr lang="en-US" sz="1500" dirty="0"/>
          </a:p>
        </p:txBody>
      </p:sp>
      <p:sp>
        <p:nvSpPr>
          <p:cNvPr id="16" name="Marcador"/>
          <p:cNvSpPr/>
          <p:nvPr/>
        </p:nvSpPr>
        <p:spPr>
          <a:xfrm>
            <a:off x="731520" y="4023360"/>
            <a:ext cx="457200" cy="457200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</p:sp>
      <p:pic>
        <p:nvPicPr>
          <p:cNvPr id="17" name="Image 4" descr="concluído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104" y="4123944"/>
            <a:ext cx="256032" cy="256032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371600" y="3950208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Unicidade e validações declarativas no próprio modelo</a:t>
            </a:r>
            <a:endParaRPr lang="en-US" sz="1500" dirty="0"/>
          </a:p>
        </p:txBody>
      </p:sp>
      <p:sp>
        <p:nvSpPr>
          <p:cNvPr id="19" name="Marcador"/>
          <p:cNvSpPr/>
          <p:nvPr/>
        </p:nvSpPr>
        <p:spPr>
          <a:xfrm>
            <a:off x="6263640" y="4023360"/>
            <a:ext cx="457200" cy="457200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</p:sp>
      <p:pic>
        <p:nvPicPr>
          <p:cNvPr id="20" name="Image 5" descr="concluído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64224" y="4123944"/>
            <a:ext cx="256032" cy="256032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6903720" y="3950208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Dados de demonstração em CSV, SQLite local e HANA em produção</a:t>
            </a:r>
            <a:endParaRPr lang="en-US" sz="1500" dirty="0"/>
          </a:p>
        </p:txBody>
      </p:sp>
      <p:sp>
        <p:nvSpPr>
          <p:cNvPr id="22" name="Próxima etapa"/>
          <p:cNvSpPr/>
          <p:nvPr/>
        </p:nvSpPr>
        <p:spPr>
          <a:xfrm>
            <a:off x="731520" y="5394960"/>
            <a:ext cx="10725912" cy="777240"/>
          </a:xfrm>
          <a:prstGeom prst="roundRect">
            <a:avLst>
              <a:gd name="adj" fmla="val 16471"/>
            </a:avLst>
          </a:prstGeom>
          <a:solidFill>
            <a:srgbClr val="1B3A7A"/>
          </a:solidFill>
          <a:ln/>
        </p:spPr>
      </p:sp>
      <p:pic>
        <p:nvPicPr>
          <p:cNvPr id="23" name="Image 6" descr="próxima etapa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120" y="5559552"/>
            <a:ext cx="438912" cy="438912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1600200" y="544068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9D1FF"/>
                </a:solidFill>
              </a:rPr>
              <a:t>Próxima etapa ·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Serviços OData V4: projeções, rascunho, actions e autorização sobre este modelo.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AP Horizon">
  <a:themeElements>
    <a:clrScheme name="SAP Horizon">
      <a:dk1>
        <a:srgbClr val="1D2D3E"/>
      </a:dk1>
      <a:lt1>
        <a:srgbClr val="FFFFFF"/>
      </a:lt1>
      <a:dk2>
        <a:srgbClr val="00144A"/>
      </a:dk2>
      <a:lt2>
        <a:srgbClr val="F5F6F7"/>
      </a:lt2>
      <a:accent1>
        <a:srgbClr val="0070F2"/>
      </a:accent1>
      <a:accent2>
        <a:srgbClr val="049F9A"/>
      </a:accent2>
      <a:accent3>
        <a:srgbClr val="7858FF"/>
      </a:accent3>
      <a:accent4>
        <a:srgbClr val="E76500"/>
      </a:accent4>
      <a:accent5>
        <a:srgbClr val="256F3A"/>
      </a:accent5>
      <a:accent6>
        <a:srgbClr val="AA0808"/>
      </a:accent6>
      <a:hlink>
        <a:srgbClr val="0064D9"/>
      </a:hlink>
      <a:folHlink>
        <a:srgbClr val="7858FF"/>
      </a:folHlink>
    </a:clrScheme>
    <a:fontScheme name="SAP Horizon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Pedidos de Compras - SAP CAP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Etapa 1 - Modelagem de Dados</dc:title>
  <dc:subject>Projeto Pedidos de Compras em SAP CAP e SAP Fiori</dc:subject>
  <dc:creator>Adriano Bispo</dc:creator>
  <cp:lastModifiedBy>Adriano Bispo</cp:lastModifiedBy>
  <cp:revision>1</cp:revision>
  <dcterms:created xsi:type="dcterms:W3CDTF">2026-10-20T11:27:54Z</dcterms:created>
  <dcterms:modified xsi:type="dcterms:W3CDTF">2026-10-20T11:27:54Z</dcterms:modified>
</cp:coreProperties>
</file>