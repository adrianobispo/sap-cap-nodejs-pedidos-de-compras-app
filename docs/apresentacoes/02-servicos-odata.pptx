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32c4d33-2dea-62a5-172c-474a9320dc69}">
          <p14:sldIdLst>
            <p14:sldId id="256"/>
          </p14:sldIdLst>
        </p14:section>
        <p14:section name="Contexto" id="{8cd9cb1f-7662-c4a2-3526-2bf20f4857ba}">
          <p14:sldIdLst>
            <p14:sldId id="257"/>
          </p14:sldIdLst>
        </p14:section>
        <p14:section name="Arquitetura" id="{3d108641-687f-1c2c-5d11-226d0d0c264b}">
          <p14:sldIdLst>
            <p14:sldId id="258"/>
            <p14:sldId id="259"/>
          </p14:sldIdLst>
        </p14:section>
        <p14:section name="Definição dos serviços" id="{4ebe0e56-3761-70cd-75a5-b15af7fa7d3e}">
          <p14:sldIdLst>
            <p14:sldId id="260"/>
            <p14:sldId id="261"/>
            <p14:sldId id="262"/>
            <p14:sldId id="263"/>
            <p14:sldId id="264"/>
          </p14:sldIdLst>
        </p14:section>
        <p14:section name="Autorização e validação" id="{fc48948e-0038-a821-c6c1-fe4d3b616432}">
          <p14:sldIdLst>
            <p14:sldId id="265"/>
            <p14:sldId id="266"/>
          </p14:sldIdLst>
        </p14:section>
        <p14:section name="Publicação local" id="{dc1af244-ed3e-c8f3-e265-1aa6526a1c18}">
          <p14:sldIdLst>
            <p14:sldId id="267"/>
          </p14:sldIdLst>
        </p14:section>
        <p14:section name="Encerramento" id="{8b72fe52-55ff-12bf-fc38-b1479f82e08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2: o modelo CDS vira APIs OData V4 consumidas pelas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aplicação tem o seu serviço; regras que atravessam domínios ficam em srv/lib (etapa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geral: launchpad e apps SAPUI5 consomem os serviços OData do CAP, que usam srv/lib e o modelo CDS sobre SQLite ou HANA.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serviços. O AnaliticoService é somente leitura e atende às quatro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expor, achata dados de associações e esconde o que não deve sair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anotação liga o rascunho: o CAP cria as tabelas _drafts e trata Editar, Salvar e Descartar. Os handlers se encaixam nos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são vinculadas à instância. OperationAvailable habilita o botão só no status certo; SideEffects recarrega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status do pedido e as ações que os movem. O reembolso aparece quando um pedido pago é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Entidades auxiliares expostas só para leitura: ajudas de valores e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@requires protege o serviço inteiro; @restrict define o que cada papel pode fazer em cada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Validações simples são declarativas; as que dependem de algoritmo, de outros registros ou de serviços externos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comando sobe os serviços e as apps. O prewatch cria o db.sqlite na primeira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 V4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Expondo o modelo como serviços OData V4: projeções, rascunho, actions, autorização e publicação local.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 V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publicamos o modelo como cinco serviços OData V4, um por aplicação, com rascunho, actions do ciclo de vida, value helps e autorização declarativa por papel.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da solução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990758" y="1463040"/>
            <a:ext cx="6065204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da solu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198" y="1554480"/>
            <a:ext cx="5882324" cy="4617720"/>
          </a:xfrm>
          <a:prstGeom prst="rect">
            <a:avLst/>
          </a:prstGeom>
        </p:spPr>
      </p:pic>
      <p:sp>
        <p:nvSpPr>
          <p:cNvPr id="7" name="Avatar LuAppWindow"/>
          <p:cNvSpPr/>
          <p:nvPr/>
        </p:nvSpPr>
        <p:spPr>
          <a:xfrm>
            <a:off x="7818120" y="1783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App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89280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7465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Front-end SAPUI5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206654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Launchpad, 4 apps Fiori Elements e 4 apps freestyle de análise.</a:t>
            </a:r>
            <a:endParaRPr lang="en-US" sz="1400" dirty="0"/>
          </a:p>
        </p:txBody>
      </p:sp>
      <p:sp>
        <p:nvSpPr>
          <p:cNvPr id="11" name="Avatar LuServer"/>
          <p:cNvSpPr/>
          <p:nvPr/>
        </p:nvSpPr>
        <p:spPr>
          <a:xfrm>
            <a:off x="781812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9008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843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serviço por app, servidos em /odata/v4/&lt;caminho&gt;.</a:t>
            </a:r>
            <a:endParaRPr lang="en-US" sz="1400" dirty="0"/>
          </a:p>
        </p:txBody>
      </p:sp>
      <p:sp>
        <p:nvSpPr>
          <p:cNvPr id="15" name="Avatar LuCodeXml"/>
          <p:cNvSpPr/>
          <p:nvPr/>
        </p:nvSpPr>
        <p:spPr>
          <a:xfrm>
            <a:off x="781812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CodeXm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08736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srv/lib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26110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Regras de domínio compartilhadas, sempre na transação.</a:t>
            </a:r>
            <a:endParaRPr lang="en-US" sz="1400" dirty="0"/>
          </a:p>
        </p:txBody>
      </p:sp>
      <p:sp>
        <p:nvSpPr>
          <p:cNvPr id="19" name="Avatar LuDatabase"/>
          <p:cNvSpPr/>
          <p:nvPr/>
        </p:nvSpPr>
        <p:spPr>
          <a:xfrm>
            <a:off x="781812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51846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03920" y="5038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Persistência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503920" y="535838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SQLite no desenvolvimento, SAP HANA Cloud em produção.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serviço OData por aplicação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62675"/>
                <a:gridCol w="2145182"/>
                <a:gridCol w="3135267"/>
                <a:gridCol w="577549"/>
                <a:gridCol w="280523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 principais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Enderecos, CepsCadastrados,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definirEnderecoPrincipal,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Categorias, StatusEstoque,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Pedidos, ItensPedido, ClientesAtivos, ItensAtivos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efetuarPagamento, aprovarPedido, cancelarPedido,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 (somente leitura), 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aprovarReembolso, rejeitarReembolso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AnaliticoService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PedidosAnalise, ClientesAnalise, ItensAnalise, ReembolsosAnalise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 ($apply)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de um serviço: projeções sobre o modelo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9224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0350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'../db/schema'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@odata.draft.enabled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semReembolso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Route"/>
          <p:cNvSpPr/>
          <p:nvPr/>
        </p:nvSpPr>
        <p:spPr>
          <a:xfrm>
            <a:off x="7406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55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@path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97510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Define a URL: /odata/v4/pedidos.</a:t>
            </a:r>
            <a:endParaRPr lang="en-US" sz="1400" dirty="0"/>
          </a:p>
        </p:txBody>
      </p:sp>
      <p:sp>
        <p:nvSpPr>
          <p:cNvPr id="11" name="Avatar LuLink"/>
          <p:cNvSpPr/>
          <p:nvPr/>
        </p:nvSpPr>
        <p:spPr>
          <a:xfrm>
            <a:off x="7406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2440" y="2752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achatados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92440" y="3072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Dados do cliente lidos pela associação, sem duplicar colunas.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406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92440" y="3849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excluding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92440" y="4169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Remove do serviço o que a app não deve navegar.</a:t>
            </a:r>
            <a:endParaRPr lang="en-US" sz="1400" dirty="0"/>
          </a:p>
        </p:txBody>
      </p:sp>
      <p:sp>
        <p:nvSpPr>
          <p:cNvPr id="19" name="Avatar LuSquareFunction"/>
          <p:cNvSpPr/>
          <p:nvPr/>
        </p:nvSpPr>
        <p:spPr>
          <a:xfrm>
            <a:off x="7406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SquareFun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92440" y="4946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Colunas calculadas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92440" y="5266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semReembolso controla a visibilidade de um link na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Rascunho (draft) com @odata.draft.enabled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que o CAP entrega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 &lt;Serviço&gt;_&lt;Entidade&gt;_drafts geradas automaticamente, bloqueio de edição por usuário, mensagens de validação durante a digitação e o Salvar que ativa o registro. Clientes (com endereços), Itens e Pedidos (com itens) usam rascunho.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709160" y="1600200"/>
            <a:ext cx="693115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37360"/>
          <a:ext cx="6565392" cy="914400"/>
        </p:xfrm>
        <a:graphic>
          <a:graphicData uri="http://schemas.openxmlformats.org/drawingml/2006/table">
            <a:tbl>
              <a:tblPr/>
              <a:tblGrid>
                <a:gridCol w="1681381"/>
                <a:gridCol w="2001644"/>
                <a:gridCol w="288236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Uso no projeto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Valores iniciais: status, moeda, score,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pelo CEP, preço e total dos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entidade ativa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só é editado em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/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Salvar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Validações, SKU, registro e reserva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DISCARD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ao excluir linha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Actions vinculadas ao ciclo de vida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766560" cy="4175760"/>
          </a:xfrm>
          <a:prstGeom prst="roundRect">
            <a:avLst>
              <a:gd name="adj" fmla="val 262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30936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7589520" y="1600200"/>
            <a:ext cx="4050792" cy="448056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Disponível quando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endParaRPr lang="en-US" sz="1400" dirty="0"/>
          </a:p>
        </p:txBody>
      </p:sp>
      <p:sp>
        <p:nvSpPr>
          <p:cNvPr id="10" name="Status ABERTO"/>
          <p:cNvSpPr txBox="1"/>
          <p:nvPr/>
        </p:nvSpPr>
        <p:spPr>
          <a:xfrm>
            <a:off x="7863840" y="2642616"/>
            <a:ext cx="903427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ABERTO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endParaRPr lang="en-US" sz="1400" dirty="0"/>
          </a:p>
        </p:txBody>
      </p:sp>
      <p:sp>
        <p:nvSpPr>
          <p:cNvPr id="12" name="Status AGUARDANDO_APROVACAO"/>
          <p:cNvSpPr txBox="1"/>
          <p:nvPr/>
        </p:nvSpPr>
        <p:spPr>
          <a:xfrm>
            <a:off x="7863840" y="337413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DAFDF5"/>
          </a:solidFill>
          <a:ln w="9525">
            <a:solidFill>
              <a:srgbClr val="047A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7A76"/>
                </a:solidFill>
              </a:rPr>
              <a:t>AGUARDANDO_APROVACAO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400" dirty="0"/>
          </a:p>
        </p:txBody>
      </p:sp>
      <p:sp>
        <p:nvSpPr>
          <p:cNvPr id="14" name="Status ABERTO ou AGUARDANDO"/>
          <p:cNvSpPr txBox="1"/>
          <p:nvPr/>
        </p:nvSpPr>
        <p:spPr>
          <a:xfrm>
            <a:off x="7863840" y="410565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ABERTO ou AGUARDANDO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400" dirty="0"/>
          </a:p>
        </p:txBody>
      </p:sp>
      <p:sp>
        <p:nvSpPr>
          <p:cNvPr id="16" name="Status Reembolso PENDENTE"/>
          <p:cNvSpPr txBox="1"/>
          <p:nvPr/>
        </p:nvSpPr>
        <p:spPr>
          <a:xfrm>
            <a:off x="7863840" y="483717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400" dirty="0"/>
          </a:p>
        </p:txBody>
      </p:sp>
      <p:sp>
        <p:nvSpPr>
          <p:cNvPr id="18" name="Status Reembolso PENDENTE"/>
          <p:cNvSpPr txBox="1"/>
          <p:nvPr/>
        </p:nvSpPr>
        <p:spPr>
          <a:xfrm>
            <a:off x="7863840" y="556869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As transições de status que as actions implementam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490950" y="1463040"/>
            <a:ext cx="9207052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Ciclo de vida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390" y="1554480"/>
            <a:ext cx="9024172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entidades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ClientesAtivos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Projeção com where clienteAtivo = true: só clientes ativos fazem pedidos.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ItensAtivos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ativos com SKU, preço e qtdeDisponivel para escolher no pedido.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MapPin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CepsCadastrados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registro por CEP já validado: escolher um evita nova chamada ao ViaCEP.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ShieldCheck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Permissoes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Singleton com somenteLeitura, que esconde botões na UI do perfil Comum.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ListChecks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CodeLists @readonly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StatusPedido, StatusPagamento, MetodosPagamento e demais: textos e filtros.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ock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e snapshots são @readonly: só as actions os gravam.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AUTORIZAÇÃO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Autorização declarativa por papel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58368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217920" cy="914400"/>
        </p:xfrm>
        <a:graphic>
          <a:graphicData uri="http://schemas.openxmlformats.org/drawingml/2006/table">
            <a:tbl>
              <a:tblPr/>
              <a:tblGrid>
                <a:gridCol w="2072640"/>
                <a:gridCol w="2418080"/>
                <a:gridCol w="1727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Recurso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Comum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 e endereços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Criar, pagar, aprovar, cancelar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 e rejeitar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406640" y="1600200"/>
            <a:ext cx="423367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635240" y="1783080"/>
            <a:ext cx="377647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406640" y="4846320"/>
            <a:ext cx="4233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0" y="4892040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Desenvolvimento: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autenticação mocked com admin/admin e comum/comum. Produção: XSUAA (etapa 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cada validação acontece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Declarativas (CDS)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@mandatory: campos obrigatórios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@assert.format: e-mail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 com case: telefone, datas, quantidades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@assert.target: CodeList existente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@assert.unique: CPF, SKU, número, CEP</a:t>
            </a:r>
            <a:endParaRPr lang="en-US" sz="15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odeXml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Nos handlers (JS/TS)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Dígitos verificadores do CPF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CEP no ViaCEP e CEP único por cliente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Saldo de estoque e item ativo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permitido em cada action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Imagem por MIME, extensão e assinatura</a:t>
            </a:r>
            <a:endParaRPr lang="en-US" sz="1500" dirty="0"/>
          </a:p>
        </p:txBody>
      </p:sp>
      <p:sp>
        <p:nvSpPr>
          <p:cNvPr id="15" name="Cartão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6" name="Avatar LuMessageSquare"/>
          <p:cNvSpPr/>
          <p:nvPr/>
        </p:nvSpPr>
        <p:spPr>
          <a:xfrm>
            <a:off x="777240" y="5276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7" name="Image 2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5407762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50292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 linguagem de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@assert e req.error usam chaves de _i18n/messages.properties (ex.: ITEM_SEM_ESTOQUE), e o Fiori mostra o texto junto do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Publicando os serviços com cds watch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Terminal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Instala CAP e as 8 apps (workspaces)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Database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prewatch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o db.sqlite com cds deploy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RefreshCw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500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watch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Serve e recarrega a cada mudança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Globe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6637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localhost:4004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Serviços, $metadata e apps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474720"/>
            <a:ext cx="5486400" cy="1996440"/>
          </a:xfrm>
          <a:prstGeom prst="roundRect">
            <a:avLst>
              <a:gd name="adj" fmla="val 549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657600"/>
            <a:ext cx="5029200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nodejs-padrao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 nodejs-typescript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watch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serving PedidosService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at: ['/odata/v4/pedidos']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server listening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url: 'http://localhost:4004'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https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proxy 8443 -&gt; 4004</a:t>
            </a:r>
            <a:endParaRPr lang="en-US" sz="1300" dirty="0"/>
          </a:p>
        </p:txBody>
      </p:sp>
      <p:sp>
        <p:nvSpPr>
          <p:cNvPr id="30" name="Bloco de código"/>
          <p:cNvSpPr/>
          <p:nvPr/>
        </p:nvSpPr>
        <p:spPr>
          <a:xfrm>
            <a:off x="6263640" y="3474720"/>
            <a:ext cx="5376672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1" name="Código"/>
          <p:cNvSpPr txBox="1"/>
          <p:nvPr/>
        </p:nvSpPr>
        <p:spPr>
          <a:xfrm>
            <a:off x="6492240" y="3657600"/>
            <a:ext cx="491947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$expand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=itens,pagamento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/odata/v4/pedidos/Pedidos(ID=...,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IsActiveEntity=true)/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PedidosService.aprovarPedido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/launchpad.html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 tiles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serviços OData V4, um por aplicação, em /odata/v4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Projeções que achatam associações e escondem navegações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Rascunho com uma anotação e eventos NEW, PATCH, EDIT e Salvar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com OperationAvailable e SideEffects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por papel com @requires e @restrict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Serviços publicados localmente com npm run watch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Lógica de negócio: handlers, srv/lib, estoque, concorrência e integrações.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Serviços OData V4</dc:title>
  <dc:subject>Projeto Pedidos de Compras em SAP CAP e SAP Fiori</dc:subject>
  <dc:creator>Adriano Bispo</dc:creator>
  <cp:lastModifiedBy>Adriano Bispo</cp:lastModifiedBy>
  <cp:revision>1</cp:revision>
  <dcterms:created xsi:type="dcterms:W3CDTF">2026-10-20T02:46:38Z</dcterms:created>
  <dcterms:modified xsi:type="dcterms:W3CDTF">2026-10-20T02:46:38Z</dcterms:modified>
</cp:coreProperties>
</file>