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700dca9-ca4a-8e9f-666f-b30ed41bedf1}">
          <p14:sldIdLst>
            <p14:sldId id="256"/>
          </p14:sldIdLst>
        </p14:section>
        <p14:section name="Contexto" id="{d0bd0bd0-5cfa-c5fd-6db5-ca7bf7d7a2d2}">
          <p14:sldIdLst>
            <p14:sldId id="257"/>
          </p14:sldIdLst>
        </p14:section>
        <p14:section name="Domínio" id="{05cc9b61-50a2-eaf3-bf71-0e540096658d}">
          <p14:sldIdLst>
            <p14:sldId id="258"/>
            <p14:sldId id="259"/>
          </p14:sldIdLst>
        </p14:section>
        <p14:section name="Tipos e CodeLists" id="{4b0b035f-8137-6f07-07b2-00bb5747bc42}">
          <p14:sldIdLst>
            <p14:sldId id="260"/>
            <p14:sldId id="261"/>
          </p14:sldIdLst>
        </p14:section>
        <p14:section name="Entidades e relações" id="{f230c2ef-fe5b-1a31-f457-e1e3ad5f6c4e}">
          <p14:sldIdLst>
            <p14:sldId id="262"/>
            <p14:sldId id="263"/>
            <p14:sldId id="264"/>
            <p14:sldId id="265"/>
          </p14:sldIdLst>
        </p14:section>
        <p14:section name="Integridade e persistência" id="{d5060148-c03e-cf40-4f51-07b78a7aae30}">
          <p14:sldIdLst>
            <p14:sldId id="266"/>
            <p14:sldId id="267"/>
          </p14:sldIdLst>
        </p14:section>
        <p14:section name="Encerramento" id="{724e00a1-7a4e-8756-15c3-9d5abe7d764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1. O objetivo é mostrar como o domínio de negócio virou o modelo CDS que sustenta todo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modelo de dados é a fundação: serviços, handlers, anotações de UI e análises partem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escrever CDS, mapeamos as áreas do negócio e o que cada uma precisa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Separação clara: tipos e CodeLists em common.cds, entidades em schema.cds, dados em CSV e validações no srv.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Tipos semânticos evitam repetir tamanhos e precisão; o aspect CodeListOrdenada padroniza todas as listas de valores.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CodeLists com enum garantem códigos válidos e alimentam a criticidade (cores) nas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Composições (linha contínua) têm ciclo de vida junto do pai e entram no rascunho; associações (tracejado) só referenciam.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 e managed vêm de @sap/cds/common. A composição faz os endereços serem editados no mesmo rascunho do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sabores: calculados na leitura (sem coluna) e stored (coluna gerada pelo banco, filtrável e sempre consistente).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concentra as composições. Os snapshots congelam cliente e itens no encerramento, preservando o histórico.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simples ficam no modelo e são avaliadas pelo CAP no rascunho e no Save; regras que dependem de algoritmo ou de outros registros ficam nos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modelo roda em SQLite no desenvolvimento e no SAP HANA Cloud em produção, sem mudar uma linha de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1 e ponte para a etapa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1 — Modelagem de Dados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01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Modelagem de Dados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Do domínio de pedidos de compras ao modelo CDS: tipos, CodeLists, entidades, relacionamentos e persistência.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Modelagem de D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9" name="Etapa 2"/>
          <p:cNvSpPr/>
          <p:nvPr/>
        </p:nvSpPr>
        <p:spPr>
          <a:xfrm>
            <a:off x="8750808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317736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84664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451592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3" name="Etapa 6"/>
          <p:cNvSpPr/>
          <p:nvPr/>
        </p:nvSpPr>
        <p:spPr>
          <a:xfrm>
            <a:off x="11018520" y="5074920"/>
            <a:ext cx="457200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1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traduzimos o domínio (clientes, estoque, pedidos e reembolsos) em um modelo CDS único no namespace pedidoscompras, base para os serviços, as regras e as apps das próximas etapas.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ponto de partida: quatro áreas de negócio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Users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Clientes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contato, score e vários endereços; um deles é o principal, validado pelo CEP.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3364992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Avatar LuPackage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3639312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 com SKU, foto, categoria, preço e saldo: em estoque, reservado e disponível.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6181344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6" name="Avatar LuShoppingCart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7" name="Image 2" descr="LuShopping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Pedidos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455664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itens, pagamento simulado e histórico congelado no encerramento.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8997696" y="1600200"/>
            <a:ext cx="2642616" cy="2606040"/>
          </a:xfrm>
          <a:prstGeom prst="roundRect">
            <a:avLst>
              <a:gd name="adj" fmla="val 421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Avatar LuUndo2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2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Reembolsos</a:t>
            </a:r>
            <a:endParaRPr lang="en-US" sz="1600" dirty="0"/>
          </a:p>
        </p:txBody>
      </p:sp>
      <p:sp>
        <p:nvSpPr>
          <p:cNvPr id="24" name="Text 17"/>
          <p:cNvSpPr txBox="1"/>
          <p:nvPr/>
        </p:nvSpPr>
        <p:spPr>
          <a:xfrm>
            <a:off x="9272016" y="299008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Solicitação aberta ao cancelar um pedido pago; aprovada ou rejeitada.</a:t>
            </a:r>
            <a:endParaRPr lang="en-US" sz="1400" dirty="0"/>
          </a:p>
        </p:txBody>
      </p:sp>
      <p:sp>
        <p:nvSpPr>
          <p:cNvPr id="25" name="Cartão"/>
          <p:cNvSpPr/>
          <p:nvPr/>
        </p:nvSpPr>
        <p:spPr>
          <a:xfrm>
            <a:off x="54864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6" name="Text 19"/>
          <p:cNvSpPr txBox="1"/>
          <p:nvPr/>
        </p:nvSpPr>
        <p:spPr>
          <a:xfrm>
            <a:off x="82296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</a:t>
            </a:r>
            <a:endParaRPr lang="en-US" sz="4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entidades persistentes</a:t>
            </a:r>
            <a:endParaRPr lang="en-US" sz="1400" dirty="0"/>
          </a:p>
        </p:txBody>
      </p:sp>
      <p:sp>
        <p:nvSpPr>
          <p:cNvPr id="28" name="Cartão"/>
          <p:cNvSpPr/>
          <p:nvPr/>
        </p:nvSpPr>
        <p:spPr>
          <a:xfrm>
            <a:off x="429768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9" name="Text 22"/>
          <p:cNvSpPr txBox="1"/>
          <p:nvPr/>
        </p:nvSpPr>
        <p:spPr>
          <a:xfrm>
            <a:off x="457200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</a:t>
            </a:r>
            <a:endParaRPr lang="en-US" sz="48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com texto e criticidade</a:t>
            </a:r>
            <a:endParaRPr lang="en-US" sz="1400" dirty="0"/>
          </a:p>
        </p:txBody>
      </p:sp>
      <p:sp>
        <p:nvSpPr>
          <p:cNvPr id="31" name="Cartão"/>
          <p:cNvSpPr/>
          <p:nvPr/>
        </p:nvSpPr>
        <p:spPr>
          <a:xfrm>
            <a:off x="8046720" y="4480560"/>
            <a:ext cx="3593592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8321040" y="4572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100</a:t>
            </a:r>
            <a:endParaRPr lang="en-US" sz="4800" dirty="0"/>
          </a:p>
        </p:txBody>
      </p:sp>
      <p:sp>
        <p:nvSpPr>
          <p:cNvPr id="33" name="Text 26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 e pedidos de demonstração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ORGANIZAÇÃO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Onde o modelo vive e como os nomes são dados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nodejs-padrao/ (igual em nodejs-typescript/)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tipos e CodeLists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entidades e relações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pedidoscompras-Clientes.csv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pedidoscompras-Itens.csv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pedidoscompras-StatusPedido.csv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sap.common-Currencies.csv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(18 arquivos)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srv/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validacoes.cds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@mandatory / @assert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gerar-dados-demo.js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preparar-sqlite.js</a:t>
            </a:r>
            <a:endParaRPr lang="en-US" sz="1300" dirty="0"/>
          </a:p>
        </p:txBody>
      </p:sp>
      <p:sp>
        <p:nvSpPr>
          <p:cNvPr id="7" name="Avatar LuFolderTree"/>
          <p:cNvSpPr/>
          <p:nvPr/>
        </p:nvSpPr>
        <p:spPr>
          <a:xfrm>
            <a:off x="60350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Folder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20840" y="165506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Namespace único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720840" y="197510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Tudo em pedidoscompras; os CSVs seguem &lt;namespace&gt;-&lt;Entidade&gt;.csv.</a:t>
            </a:r>
            <a:endParaRPr lang="en-US" sz="1400" dirty="0"/>
          </a:p>
        </p:txBody>
      </p:sp>
      <p:sp>
        <p:nvSpPr>
          <p:cNvPr id="11" name="Avatar LuBookOpen"/>
          <p:cNvSpPr/>
          <p:nvPr/>
        </p:nvSpPr>
        <p:spPr>
          <a:xfrm>
            <a:off x="603504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720840" y="27523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Entidades no plural, em português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720840" y="307238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Clientes, Itens, Pedidos; CodeLists pelo conceito (Generos, StatusPedido).</a:t>
            </a:r>
            <a:endParaRPr lang="en-US" sz="1400" dirty="0"/>
          </a:p>
        </p:txBody>
      </p:sp>
      <p:sp>
        <p:nvSpPr>
          <p:cNvPr id="15" name="Avatar LuBraces"/>
          <p:cNvSpPr/>
          <p:nvPr/>
        </p:nvSpPr>
        <p:spPr>
          <a:xfrm>
            <a:off x="603504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Brac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0840" y="384962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camelCase e UPPER_SNAKE_CASE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6720840" y="416966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Campos em camelCase; códigos de status como AGUARDANDO_APROVACAO.</a:t>
            </a:r>
            <a:endParaRPr lang="en-US" sz="1400" dirty="0"/>
          </a:p>
        </p:txBody>
      </p:sp>
      <p:sp>
        <p:nvSpPr>
          <p:cNvPr id="19" name="Avatar LuLink"/>
          <p:cNvSpPr/>
          <p:nvPr/>
        </p:nvSpPr>
        <p:spPr>
          <a:xfrm>
            <a:off x="603504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0840" y="494690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Chaves estrangeiras geradas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720840" y="5266944"/>
            <a:ext cx="4892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Associações viram &lt;associação&gt;_&lt;chave&gt;: cliente_ID, statusPedido_code.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TIPOS E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Tipos reutilizáveis e o aspect das CodeLists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03504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57784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pedidoscompras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'@sap/cds/common'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só dígitos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Criticidade Fiori: 0 neutra ... 3 positiva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Neutra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Negativa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Positiva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aspect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CodeListOrdenada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CodeList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Criticidade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Hash"/>
          <p:cNvSpPr/>
          <p:nvPr/>
        </p:nvSpPr>
        <p:spPr>
          <a:xfrm>
            <a:off x="694944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Ha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35240" y="165506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Dígitos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97510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CEP e telefone são gravados sem máscara; a formatação vem de elementos calculados.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6949440" y="3017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3127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635240" y="298094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CodeList padrão do CAP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635240" y="330098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code, name e descr traduzíveis, prontos para value help e textos no Fiori.</a:t>
            </a:r>
            <a:endParaRPr lang="en-US" sz="1400" dirty="0"/>
          </a:p>
        </p:txBody>
      </p:sp>
      <p:sp>
        <p:nvSpPr>
          <p:cNvPr id="15" name="Avatar LuGauge"/>
          <p:cNvSpPr/>
          <p:nvPr/>
        </p:nvSpPr>
        <p:spPr>
          <a:xfrm>
            <a:off x="6949440" y="43434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Gau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44531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635240" y="430682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Ordem e criticidade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635240" y="4626864"/>
            <a:ext cx="397764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valor traz a ordem de exibição e a cor semântica usada nas listas.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TIPOS E CODELISTS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Sete CodeLists dirigem status e classificações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4315968"/>
          </a:xfrm>
          <a:prstGeom prst="roundRect">
            <a:avLst>
              <a:gd name="adj" fmla="val 254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106876"/>
                <a:gridCol w="6129093"/>
                <a:gridCol w="248994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CodeList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Códigos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Onde aparece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ABERTO · AGUARDANDO_APROVACAO · PROCESSANDO_REEMBOLSO · CANCELADO · FINALIZADO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Ciclo de vida do pedido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RECUSADO · DEVOLVIDO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 e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StatusReembolso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PENDENTE · APROVADO · REJEITADO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StatusEstoque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SEM_ESTOQUE · ACABANDO · EM_ESTOQUE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Coluna gerada nos 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MetodosPagamento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CARTAO_CREDITO · CARTAO_DEBITO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Ação Efetuar Pagamento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Categorias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Categorias dos itens (base do prefixo do SKU)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Generos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 do cliente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Gestão de 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modelo de entidades e seus relacionamentos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920240" y="2514600"/>
            <a:ext cx="0" cy="20116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6" name="Text 3"/>
          <p:cNvSpPr txBox="1"/>
          <p:nvPr/>
        </p:nvSpPr>
        <p:spPr>
          <a:xfrm>
            <a:off x="1965960" y="33832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 flipH="1">
            <a:off x="3108960" y="2075688"/>
            <a:ext cx="1783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703320" y="1810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0760" y="2514600"/>
            <a:ext cx="0" cy="5486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0" name="Shape 7"/>
          <p:cNvSpPr/>
          <p:nvPr/>
        </p:nvSpPr>
        <p:spPr>
          <a:xfrm flipH="1" flipV="1">
            <a:off x="3108960" y="2377440"/>
            <a:ext cx="1783080" cy="91440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3749040" y="28529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N:1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flipH="1">
            <a:off x="3108960" y="3703320"/>
            <a:ext cx="1783080" cy="100584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383280" y="39776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entrega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 flipV="1">
            <a:off x="7269480" y="2194560"/>
            <a:ext cx="1783080" cy="109728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5" name="Text 12"/>
          <p:cNvSpPr txBox="1"/>
          <p:nvPr/>
        </p:nvSpPr>
        <p:spPr>
          <a:xfrm>
            <a:off x="7955280" y="24688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69480" y="3493008"/>
            <a:ext cx="1783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17" name="Text 14"/>
          <p:cNvSpPr txBox="1"/>
          <p:nvPr/>
        </p:nvSpPr>
        <p:spPr>
          <a:xfrm>
            <a:off x="7882128" y="32004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1:N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241280" y="3931920"/>
            <a:ext cx="0" cy="59436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6080760" y="3931920"/>
            <a:ext cx="0" cy="59436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20" name="Cartão"/>
          <p:cNvSpPr/>
          <p:nvPr/>
        </p:nvSpPr>
        <p:spPr>
          <a:xfrm>
            <a:off x="73152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9611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cpf · nome · score</a:t>
            </a:r>
            <a:endParaRPr lang="en-US" sz="1100" dirty="0"/>
          </a:p>
        </p:txBody>
      </p:sp>
      <p:sp>
        <p:nvSpPr>
          <p:cNvPr id="23" name="Cartão"/>
          <p:cNvSpPr/>
          <p:nvPr/>
        </p:nvSpPr>
        <p:spPr>
          <a:xfrm>
            <a:off x="73152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9611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Enderecos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611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cep · uf · principal</a:t>
            </a:r>
            <a:endParaRPr lang="en-US" sz="1100" dirty="0"/>
          </a:p>
        </p:txBody>
      </p:sp>
      <p:sp>
        <p:nvSpPr>
          <p:cNvPr id="26" name="Cartão"/>
          <p:cNvSpPr/>
          <p:nvPr/>
        </p:nvSpPr>
        <p:spPr>
          <a:xfrm>
            <a:off x="489204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05663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05663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status · valor · motivo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489204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05663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Pedidos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05663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numeroPedido · status · total</a:t>
            </a:r>
            <a:endParaRPr lang="en-US" sz="1100" dirty="0"/>
          </a:p>
        </p:txBody>
      </p:sp>
      <p:sp>
        <p:nvSpPr>
          <p:cNvPr id="32" name="Cartão"/>
          <p:cNvSpPr/>
          <p:nvPr/>
        </p:nvSpPr>
        <p:spPr>
          <a:xfrm>
            <a:off x="9052560" y="164592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9217152" y="173736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Pagamentos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217152" y="209397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bandeira · últimos 4</a:t>
            </a:r>
            <a:endParaRPr lang="en-US" sz="1100" dirty="0"/>
          </a:p>
        </p:txBody>
      </p:sp>
      <p:sp>
        <p:nvSpPr>
          <p:cNvPr id="35" name="Cartão"/>
          <p:cNvSpPr/>
          <p:nvPr/>
        </p:nvSpPr>
        <p:spPr>
          <a:xfrm>
            <a:off x="9052560" y="30632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9217152" y="315468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ItensPedido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217152" y="351129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qtde · preço fixado</a:t>
            </a:r>
            <a:endParaRPr lang="en-US" sz="1100" dirty="0"/>
          </a:p>
        </p:txBody>
      </p:sp>
      <p:sp>
        <p:nvSpPr>
          <p:cNvPr id="38" name="Cartão"/>
          <p:cNvSpPr/>
          <p:nvPr/>
        </p:nvSpPr>
        <p:spPr>
          <a:xfrm>
            <a:off x="9052560" y="452628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49F9A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9217152" y="4617720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Itens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9217152" y="497433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sku · qtdeDisponivel</a:t>
            </a:r>
            <a:endParaRPr lang="en-US" sz="1100" dirty="0"/>
          </a:p>
        </p:txBody>
      </p:sp>
      <p:sp>
        <p:nvSpPr>
          <p:cNvPr id="41" name="Cartão"/>
          <p:cNvSpPr/>
          <p:nvPr/>
        </p:nvSpPr>
        <p:spPr>
          <a:xfrm>
            <a:off x="4709160" y="4526280"/>
            <a:ext cx="2743200" cy="868680"/>
          </a:xfrm>
          <a:prstGeom prst="roundRect">
            <a:avLst>
              <a:gd name="adj" fmla="val 12632"/>
            </a:avLst>
          </a:prstGeom>
          <a:solidFill>
            <a:schemeClr val="bg1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4873752" y="4617720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4873752" y="4974336"/>
            <a:ext cx="2414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 e itens congelados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31520" y="5833872"/>
            <a:ext cx="64008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  <a:headEnd type="diamond"/>
          </a:ln>
        </p:spPr>
      </p:sp>
      <p:sp>
        <p:nvSpPr>
          <p:cNvPr id="45" name="Text 42"/>
          <p:cNvSpPr txBox="1"/>
          <p:nvPr/>
        </p:nvSpPr>
        <p:spPr>
          <a:xfrm>
            <a:off x="1508760" y="5705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Composição (ciclo de vida junto do pai)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486400" y="5833872"/>
            <a:ext cx="64008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  <a:tailEnd type="triangle"/>
          </a:ln>
        </p:spPr>
      </p:sp>
      <p:sp>
        <p:nvSpPr>
          <p:cNvPr id="47" name="Text 44"/>
          <p:cNvSpPr txBox="1"/>
          <p:nvPr/>
        </p:nvSpPr>
        <p:spPr>
          <a:xfrm>
            <a:off x="6263640" y="5705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Associação (referência)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686800" y="57058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B82"/>
                </a:solidFill>
              </a:rPr>
              <a:t>Omitidos: Numeracoes e as CodeLists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Clientes e endereços: composição e associação filtrada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779520"/>
          </a:xfrm>
          <a:prstGeom prst="roundRect">
            <a:avLst>
              <a:gd name="adj" fmla="val 290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413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731520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2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01000" y="16550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cuid + managed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9751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Chave UUID e createdAt/By, modifiedAt/By preenchidos pelo CAP.</a:t>
            </a:r>
            <a:endParaRPr lang="en-US" sz="1400" dirty="0"/>
          </a:p>
        </p:txBody>
      </p:sp>
      <p:sp>
        <p:nvSpPr>
          <p:cNvPr id="11" name="Avatar LuLayers"/>
          <p:cNvSpPr/>
          <p:nvPr/>
        </p:nvSpPr>
        <p:spPr>
          <a:xfrm>
            <a:off x="731520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492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001000" y="275234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Composition of many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01000" y="307238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Endereços pertencem ao cliente: criados, editados e excluídos com ele.</a:t>
            </a:r>
            <a:endParaRPr lang="en-US" sz="1400" dirty="0"/>
          </a:p>
        </p:txBody>
      </p:sp>
      <p:sp>
        <p:nvSpPr>
          <p:cNvPr id="15" name="Avatar LuFilter"/>
          <p:cNvSpPr/>
          <p:nvPr/>
        </p:nvSpPr>
        <p:spPr>
          <a:xfrm>
            <a:off x="731520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01000" y="38496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Associação com condição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001000" y="416966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enderecoPrincipal aponta só para o endereço com principal = true.</a:t>
            </a:r>
            <a:endParaRPr lang="en-US" sz="1400" dirty="0"/>
          </a:p>
        </p:txBody>
      </p:sp>
      <p:sp>
        <p:nvSpPr>
          <p:cNvPr id="19" name="Avatar LuImage"/>
          <p:cNvSpPr/>
          <p:nvPr/>
        </p:nvSpPr>
        <p:spPr>
          <a:xfrm>
            <a:off x="731520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Im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001000" y="49469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Foto como mídia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001000" y="526694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LargeBinary com @Core.MediaType e tipos aceitos: JPEG, PNG e WebP.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Elementos calculados: na leitura e armazenados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SquareFunction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SquareFun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9604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Calculados na leitura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Expressão avaliada na consulta; nenhuma coluna na tabela.</a:t>
            </a:r>
            <a:endParaRPr lang="en-US" sz="1400" dirty="0"/>
          </a:p>
        </p:txBody>
      </p:sp>
      <p:sp>
        <p:nvSpPr>
          <p:cNvPr id="10" name="Bloco de código"/>
          <p:cNvSpPr/>
          <p:nvPr/>
        </p:nvSpPr>
        <p:spPr>
          <a:xfrm>
            <a:off x="822960" y="3017520"/>
            <a:ext cx="4892040" cy="1874520"/>
          </a:xfrm>
          <a:prstGeom prst="roundRect">
            <a:avLst>
              <a:gd name="adj" fmla="val 585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1" name="Código"/>
          <p:cNvSpPr txBox="1"/>
          <p:nvPr/>
        </p:nvSpPr>
        <p:spPr>
          <a:xfrm>
            <a:off x="1051560" y="3200400"/>
            <a:ext cx="4434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cpfFormatado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scoreCriticality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encerrado, naoFinalizado... (Pedidos)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6199632" y="1600200"/>
            <a:ext cx="544068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Database"/>
          <p:cNvSpPr/>
          <p:nvPr/>
        </p:nvSpPr>
        <p:spPr>
          <a:xfrm>
            <a:off x="6473952" y="1828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5626" y="19604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05472" y="18745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Armazenados (stored)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73952" y="2514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gerada pelo banco, recalculada a cada alteração.</a:t>
            </a:r>
            <a:endParaRPr lang="en-US" sz="1400" dirty="0"/>
          </a:p>
        </p:txBody>
      </p:sp>
      <p:sp>
        <p:nvSpPr>
          <p:cNvPr id="17" name="Bloco de código"/>
          <p:cNvSpPr/>
          <p:nvPr/>
        </p:nvSpPr>
        <p:spPr>
          <a:xfrm>
            <a:off x="6473952" y="3017520"/>
            <a:ext cx="4892040" cy="2057400"/>
          </a:xfrm>
          <a:prstGeom prst="roundRect">
            <a:avLst>
              <a:gd name="adj" fmla="val 5333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8" name="Código"/>
          <p:cNvSpPr txBox="1"/>
          <p:nvPr/>
        </p:nvSpPr>
        <p:spPr>
          <a:xfrm>
            <a:off x="6702552" y="320040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statusEstoque_code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'SEM_ESTOQUE'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'ACABANDO'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'EM_ESTOQUE'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19" name="Cartão"/>
          <p:cNvSpPr/>
          <p:nvPr/>
        </p:nvSpPr>
        <p:spPr>
          <a:xfrm>
            <a:off x="548640" y="5532120"/>
            <a:ext cx="11091672" cy="594360"/>
          </a:xfrm>
          <a:prstGeom prst="roundRect">
            <a:avLst>
              <a:gd name="adj" fmla="val 18462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553212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Regra prática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stored quando o valor precisa ser filtrado, ordenado ou agregado pelo banco; senão, calcule na leitura.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ENTIDADES E RELAÇÕES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Pedidos: composições, pagamento e histórico imutável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309360" cy="3581400"/>
          </a:xfrm>
          <a:prstGeom prst="roundRect">
            <a:avLst>
              <a:gd name="adj" fmla="val 306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852160" cy="3215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cuid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0000000042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$self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PedidosClienteSnapshots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itensSnapshot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PedidosItensSnapshots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: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Avatar LuCreditCard"/>
          <p:cNvSpPr/>
          <p:nvPr/>
        </p:nvSpPr>
        <p:spPr>
          <a:xfrm>
            <a:off x="7223760" y="1691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Credit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18013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09560" y="165506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Só a última tentativa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7510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Pagamentos guarda bandeira e últimos 4 dígitos; cartão, validade e CVV nunca.</a:t>
            </a:r>
            <a:endParaRPr lang="en-US" sz="1400" dirty="0"/>
          </a:p>
        </p:txBody>
      </p:sp>
      <p:sp>
        <p:nvSpPr>
          <p:cNvPr id="11" name="Avatar LuHistory"/>
          <p:cNvSpPr/>
          <p:nvPr/>
        </p:nvSpPr>
        <p:spPr>
          <a:xfrm>
            <a:off x="7223760" y="2788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2898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909560" y="275234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Snapshots no encerramento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909560" y="307238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Cliente, endereço e itens congelados ao finalizar ou cancelar o pedido.</a:t>
            </a:r>
            <a:endParaRPr lang="en-US" sz="1400" dirty="0"/>
          </a:p>
        </p:txBody>
      </p:sp>
      <p:sp>
        <p:nvSpPr>
          <p:cNvPr id="15" name="Avatar LuHash"/>
          <p:cNvSpPr/>
          <p:nvPr/>
        </p:nvSpPr>
        <p:spPr>
          <a:xfrm>
            <a:off x="7223760" y="3886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Ha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3488" y="399592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909560" y="384962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Numeracoes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909560" y="416966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Último número de PEDIDO e SKU, incrementado dentro da transação.</a:t>
            </a:r>
            <a:endParaRPr lang="en-US" sz="1400" dirty="0"/>
          </a:p>
        </p:txBody>
      </p:sp>
      <p:sp>
        <p:nvSpPr>
          <p:cNvPr id="19" name="Avatar LuUndo2"/>
          <p:cNvSpPr/>
          <p:nvPr/>
        </p:nvSpPr>
        <p:spPr>
          <a:xfrm>
            <a:off x="7223760" y="4983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3488" y="509320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09560" y="49469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Reembolsos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7909560" y="5266944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Guarda o status anterior do pedido para restaurá-lo se rejeitado.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INTEGRIDADE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Unicidade e validações declarativas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5532120" cy="2194560"/>
          </a:xfrm>
          <a:prstGeom prst="roundRect">
            <a:avLst>
              <a:gd name="adj" fmla="val 500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db/schema.cds: UNIQUE nas tabelas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@assert.unique.sku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@assert.unique.numeroPedido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numeroPedido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@assert.unique.cepPorCliente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7" name="Avatar LuKeyRound"/>
          <p:cNvSpPr/>
          <p:nvPr/>
        </p:nvSpPr>
        <p:spPr>
          <a:xfrm>
            <a:off x="685800" y="4114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KeyR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42245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407822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UNIQUE no banco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9826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CPF, SKU, número do pedido e CEP por cliente.</a:t>
            </a:r>
            <a:endParaRPr lang="en-US" sz="1400" dirty="0"/>
          </a:p>
        </p:txBody>
      </p:sp>
      <p:sp>
        <p:nvSpPr>
          <p:cNvPr id="11" name="Avatar LuMessageSquare"/>
          <p:cNvSpPr/>
          <p:nvPr/>
        </p:nvSpPr>
        <p:spPr>
          <a:xfrm>
            <a:off x="685800" y="5074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MessageSqua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51846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5038344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por chave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358384"/>
            <a:ext cx="4617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Códigos como EMAIL_INVALIDO vêm de _i18n/messages.properties.</a:t>
            </a:r>
            <a:endParaRPr lang="en-US" sz="1400" dirty="0"/>
          </a:p>
        </p:txBody>
      </p:sp>
      <p:sp>
        <p:nvSpPr>
          <p:cNvPr id="15" name="Bloco de código"/>
          <p:cNvSpPr/>
          <p:nvPr/>
        </p:nvSpPr>
        <p:spPr>
          <a:xfrm>
            <a:off x="6263640" y="1600200"/>
            <a:ext cx="5376672" cy="4480560"/>
          </a:xfrm>
          <a:prstGeom prst="roundRect">
            <a:avLst>
              <a:gd name="adj" fmla="val 2449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6" name="Código"/>
          <p:cNvSpPr txBox="1"/>
          <p:nvPr/>
        </p:nvSpPr>
        <p:spPr>
          <a:xfrm>
            <a:off x="6492240" y="1783080"/>
            <a:ext cx="49194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srv/validacoes.cds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cpf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@assert.format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$value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'^[a-z0-9._%+-]+@...$'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'EMAIL_INVALIDO'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dataNascimento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$now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'DATA_NASCIMENTO_FUTURA'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@mandatory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@assert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qtdeItemPedido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&lt;= </a:t>
            </a:r>
            <a:pPr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'ITEM_QTDE_INVALIDA'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PERSISTÊNCIA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Dados iniciais e bancos por perfil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eSpreadsheet"/>
          <p:cNvSpPr/>
          <p:nvPr/>
        </p:nvSpPr>
        <p:spPr>
          <a:xfrm>
            <a:off x="822960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7" name="Image 0" descr="LuFileSpread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2010583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CSV em db/data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CodeLists e dados de demonstração gerados por npm run dados:demo.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191256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1" name="Cartão"/>
          <p:cNvSpPr/>
          <p:nvPr/>
        </p:nvSpPr>
        <p:spPr>
          <a:xfrm>
            <a:off x="3364992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Terminal"/>
          <p:cNvSpPr/>
          <p:nvPr/>
        </p:nvSpPr>
        <p:spPr>
          <a:xfrm>
            <a:off x="3639312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375" y="2010583"/>
            <a:ext cx="294803" cy="29480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39312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cds deploy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639312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Cria as tabelas, as colunas geradas e carrega os CSVs.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007608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Cartão"/>
          <p:cNvSpPr/>
          <p:nvPr/>
        </p:nvSpPr>
        <p:spPr>
          <a:xfrm>
            <a:off x="6181344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Database"/>
          <p:cNvSpPr/>
          <p:nvPr/>
        </p:nvSpPr>
        <p:spPr>
          <a:xfrm>
            <a:off x="6455664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727" y="2010583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455664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SQLite em arquivo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6455664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db.sqlite no perfil [development], mantido entre reinícios.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823960" y="25146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Cartão"/>
          <p:cNvSpPr/>
          <p:nvPr/>
        </p:nvSpPr>
        <p:spPr>
          <a:xfrm>
            <a:off x="8997696" y="1600200"/>
            <a:ext cx="2642616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Cloud"/>
          <p:cNvSpPr/>
          <p:nvPr/>
        </p:nvSpPr>
        <p:spPr>
          <a:xfrm>
            <a:off x="9272016" y="187452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5" name="Image 3" descr="LuClou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079" y="2010583"/>
            <a:ext cx="294803" cy="29480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272016" y="2578608"/>
            <a:ext cx="2093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SAP HANA Cloud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9272016" y="2990088"/>
            <a:ext cx="20939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Perfil [production] com @cap-js/hana e container HDI.</a:t>
            </a:r>
            <a:endParaRPr lang="en-US" sz="1400" dirty="0"/>
          </a:p>
        </p:txBody>
      </p:sp>
      <p:sp>
        <p:nvSpPr>
          <p:cNvPr id="28" name="Bloco de código"/>
          <p:cNvSpPr/>
          <p:nvPr/>
        </p:nvSpPr>
        <p:spPr>
          <a:xfrm>
            <a:off x="548640" y="4251960"/>
            <a:ext cx="11091672" cy="1203960"/>
          </a:xfrm>
          <a:prstGeom prst="roundRect">
            <a:avLst>
              <a:gd name="adj" fmla="val 911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29" name="Código"/>
          <p:cNvSpPr txBox="1"/>
          <p:nvPr/>
        </p:nvSpPr>
        <p:spPr>
          <a:xfrm>
            <a:off x="777240" y="4434840"/>
            <a:ext cx="10634472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"requires"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"[development]"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"kind"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"sqlite"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"credentials"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"url"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"db.sqlite"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"[production]"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"db"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3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"hana"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testes: sempre SQLite em memória, sem tocar no db.sqlite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1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Domínio mapeado em quatro áreas: clientes, estoque, pedidos e reembolsos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Tipos semânticos e sete CodeLists com ordem e criticidade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Dez entidades com composições, associações e chaves UUID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Elementos calculados na leitura e colunas geradas (stored)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Unicidade e validações declarativas no próprio modelo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Dados de demonstração em CSV, SQLite local e HANA em produção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Serviços OData V4: projeções, rascunho, actions e autorização sobre este modelo.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Projeto Pedidos de Compras em SAP CAP e SAP Fiori</dc:subject>
  <dc:creator>Adriano Bispo</dc:creator>
  <cp:lastModifiedBy>Adriano Bispo</cp:lastModifiedBy>
  <cp:revision>1</cp:revision>
  <dcterms:created xsi:type="dcterms:W3CDTF">2026-10-20T02:45:48Z</dcterms:created>
  <dcterms:modified xsi:type="dcterms:W3CDTF">2026-10-20T02:45:48Z</dcterms:modified>
</cp:coreProperties>
</file>