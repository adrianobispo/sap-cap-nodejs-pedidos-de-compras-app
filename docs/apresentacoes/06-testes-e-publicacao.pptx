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ca2eab20-abc3-f3f3-002d-25dbd9d45632}">
          <p14:sldIdLst>
            <p14:sldId id="256"/>
          </p14:sldIdLst>
        </p14:section>
        <p14:section name="Contexto" id="{77afef28-ca4b-8d83-4a4d-55df22e5583e}">
          <p14:sldIdLst>
            <p14:sldId id="257"/>
          </p14:sldIdLst>
        </p14:section>
        <p14:section name="Testes" id="{1083a28d-3b08-1b60-2a9e-12672a5d3728}">
          <p14:sldIdLst>
            <p14:sldId id="258"/>
            <p14:sldId id="259"/>
            <p14:sldId id="260"/>
            <p14:sldId id="261"/>
            <p14:sldId id="262"/>
            <p14:sldId id="263"/>
            <p14:sldId id="264"/>
          </p14:sldIdLst>
        </p14:section>
        <p14:section name="Publicação" id="{d90ecbf2-a2d1-5aa9-75b7-3665ada74309}">
          <p14:sldIdLst>
            <p14:sldId id="265"/>
            <p14:sldId id="266"/>
            <p14:sldId id="267"/>
            <p14:sldId id="268"/>
            <p14:sldId id="269"/>
            <p14:sldId id="270"/>
            <p14:sldId id="271"/>
          </p14:sldIdLst>
        </p14:section>
        <p14:section name="Encerramento" id="{30eb4bf6-81c1-886e-182b-6b74b8ab1da6}">
          <p14:sldIdLst>
            <p14:sldId id="27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 da etapa 6: como garantimos a qualidade e como o projeto chega à SAP BTP.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Importante: o perfil de produção está configurado, mas a implantação na BTP ainda é pendente.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Testes permanentes: mantidos e ajustados junto com as regras de negócio, nas duas implementações.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Três arquivos de apoio preparam o servidor, imitam o ViaCEP e geram planilhas .xlsx para a importação.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Sete arquivos de teste, iguais em JavaScript e TypeScript.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Títulos reais dos testes de clientes.test e estoque.test.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Títulos reais de pedidos.test, agrupados por describe.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reembolsos.test, importacao.test, analitico.test e unidade.test.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teste percorre o fluxo pelas APIs OData: cria o pedido, paga, cancela e decide o reembolso, conferindo estoque e status.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mesmo código roda nos dois perfis; muda a configuração de banco e de autenticação.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 Zone e HTML5 Repository servem as apps; o Destination service leva o token do usuário ao serviço CAP no Cloud Foundry, que usa o HDI container no HANA Cloud.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build separa o que vai para cada módulo do MTA: o serviço Node.js e o deployer do banco.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Sequência de comandos do deploy. Os passos 1 a 5 ainda serão executados (implantação pendente).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Proposta do descritor de segurança para os papéis já usados no @restrict. Ainda não existe no repositório.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que o descritor MTA criará e como cada parte se conecta.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Transparência sobre o que está pronto, configurado e pendente.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Encerramento da série de etapas: recapitula as seis etapas e indica a série por BO.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417320"/>
            <a:ext cx="5486400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spc="200" kern="0" dirty="0">
                <a:solidFill>
                  <a:srgbClr val="89D1FF"/>
                </a:solidFill>
              </a:defRPr>
            </a:lvl1pPr>
          </a:lstStyle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965960"/>
            <a:ext cx="676656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840480"/>
            <a:ext cx="64008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rgbClr val="D1EFFF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  <p:sp>
        <p:nvSpPr>
          <p:cNvPr id="5" name="Text 0"/>
          <p:cNvSpPr/>
          <p:nvPr/>
        </p:nvSpPr>
        <p:spPr>
          <a:xfrm>
            <a:off x="731520" y="5989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9D1FF"/>
                </a:solidFill>
              </a:rPr>
              <a:t>Pedidos de Compras · SAP CAP 10 + SAP Fiori · Design System SAP Horizon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b="1" spc="150" kern="0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6B82"/>
                </a:solidFill>
              </a:rPr>
              <a:t>Pedidos de Compras · SAP CAP + SAP Fiori   |   Etapa 6 — Testes e Publicação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ncerramento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548640"/>
            <a:ext cx="73152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spc="200" kern="0" dirty="0">
                <a:solidFill>
                  <a:srgbClr val="89D1FF"/>
                </a:solidFill>
              </a:defRPr>
            </a:lvl1pPr>
          </a:lstStyle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960120"/>
            <a:ext cx="1069848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4" name="Text 0"/>
          <p:cNvSpPr/>
          <p:nvPr/>
        </p:nvSpPr>
        <p:spPr>
          <a:xfrm>
            <a:off x="731520" y="641908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9D1FF"/>
                </a:solidFill>
              </a:rPr>
              <a:t>Pedidos de Compras · SAP CAP + SAP Fiori   |   Etapa 6 — Testes e Publicação</a:t>
            </a:r>
            <a:endParaRPr lang="en-US" sz="1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image" Target="../media/image-17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41732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ETAPA 06 DE 06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965960"/>
            <a:ext cx="6766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Testes e Publicação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84048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D1EFFF"/>
                </a:solidFill>
              </a:rPr>
              <a:t>Qualidade com testes automatizados e o roteiro de publicação na SAP BTP: SAP HANA Cloud, XSUAA, MTA e SAP Build Work Zone.</a:t>
            </a:r>
            <a:endParaRPr lang="en-US" sz="1800" dirty="0"/>
          </a:p>
        </p:txBody>
      </p:sp>
      <p:sp>
        <p:nvSpPr>
          <p:cNvPr id="5" name="Avatar da etapa"/>
          <p:cNvSpPr/>
          <p:nvPr/>
        </p:nvSpPr>
        <p:spPr>
          <a:xfrm>
            <a:off x="8183880" y="1417320"/>
            <a:ext cx="3291840" cy="3291840"/>
          </a:xfrm>
          <a:prstGeom prst="roundRect">
            <a:avLst>
              <a:gd name="adj" fmla="val 22222"/>
            </a:avLst>
          </a:prstGeom>
          <a:solidFill>
            <a:srgbClr val="1B3A7A"/>
          </a:solidFill>
          <a:ln/>
        </p:spPr>
      </p:sp>
      <p:sp>
        <p:nvSpPr>
          <p:cNvPr id="6" name="Avatar interno"/>
          <p:cNvSpPr/>
          <p:nvPr/>
        </p:nvSpPr>
        <p:spPr>
          <a:xfrm>
            <a:off x="8732520" y="1965960"/>
            <a:ext cx="2194560" cy="2194560"/>
          </a:xfrm>
          <a:prstGeom prst="roundRect">
            <a:avLst>
              <a:gd name="adj" fmla="val 22917"/>
            </a:avLst>
          </a:prstGeom>
          <a:solidFill>
            <a:schemeClr val="accent1"/>
          </a:solidFill>
          <a:ln/>
        </p:spPr>
      </p:sp>
      <p:pic>
        <p:nvPicPr>
          <p:cNvPr id="7" name="Image 0" descr="Testes e Publicaçã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81160" y="2514600"/>
            <a:ext cx="1097280" cy="1097280"/>
          </a:xfrm>
          <a:prstGeom prst="rect">
            <a:avLst/>
          </a:prstGeom>
        </p:spPr>
      </p:pic>
      <p:sp>
        <p:nvSpPr>
          <p:cNvPr id="8" name="Etapa 1"/>
          <p:cNvSpPr/>
          <p:nvPr/>
        </p:nvSpPr>
        <p:spPr>
          <a:xfrm>
            <a:off x="8183880" y="5074920"/>
            <a:ext cx="438912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9" name="Etapa 2"/>
          <p:cNvSpPr/>
          <p:nvPr/>
        </p:nvSpPr>
        <p:spPr>
          <a:xfrm>
            <a:off x="8732520" y="5074920"/>
            <a:ext cx="438912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0" name="Etapa 3"/>
          <p:cNvSpPr/>
          <p:nvPr/>
        </p:nvSpPr>
        <p:spPr>
          <a:xfrm>
            <a:off x="9281160" y="5074920"/>
            <a:ext cx="438912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1" name="Etapa 4"/>
          <p:cNvSpPr/>
          <p:nvPr/>
        </p:nvSpPr>
        <p:spPr>
          <a:xfrm>
            <a:off x="9829800" y="5074920"/>
            <a:ext cx="438912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2" name="Etapa 5"/>
          <p:cNvSpPr/>
          <p:nvPr/>
        </p:nvSpPr>
        <p:spPr>
          <a:xfrm>
            <a:off x="10378440" y="5074920"/>
            <a:ext cx="438912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3" name="Etapa 6"/>
          <p:cNvSpPr/>
          <p:nvPr/>
        </p:nvSpPr>
        <p:spPr>
          <a:xfrm>
            <a:off x="10927080" y="5074920"/>
            <a:ext cx="438912" cy="109728"/>
          </a:xfrm>
          <a:prstGeom prst="roundRect">
            <a:avLst>
              <a:gd name="adj" fmla="val 50000"/>
            </a:avLst>
          </a:prstGeom>
          <a:solidFill>
            <a:srgbClr val="89D1FF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8183880" y="53035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9D1FF"/>
                </a:solidFill>
              </a:rPr>
              <a:t>Etapa 6 de 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CONTEXTO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A jornada do projeto em seis etapas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691640"/>
            <a:ext cx="1700784" cy="2514600"/>
          </a:xfrm>
          <a:prstGeom prst="roundRect">
            <a:avLst>
              <a:gd name="adj" fmla="val 6452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6" name="Avatar LuDatabase"/>
          <p:cNvSpPr/>
          <p:nvPr/>
        </p:nvSpPr>
        <p:spPr>
          <a:xfrm>
            <a:off x="777240" y="1947672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7" name="Image 0" descr="LuDataba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8914" y="2079346"/>
            <a:ext cx="285293" cy="285293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77240" y="2651760"/>
            <a:ext cx="1335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56B82"/>
                </a:solidFill>
              </a:rPr>
              <a:t>ETAPA 01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2907792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Modelagem de Dados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777240" y="3474720"/>
            <a:ext cx="13350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CDS: tipos, CodeLists e entidades</a:t>
            </a:r>
            <a:endParaRPr lang="en-US" sz="1200" dirty="0"/>
          </a:p>
        </p:txBody>
      </p:sp>
      <p:sp>
        <p:nvSpPr>
          <p:cNvPr id="11" name="Cartão"/>
          <p:cNvSpPr/>
          <p:nvPr/>
        </p:nvSpPr>
        <p:spPr>
          <a:xfrm>
            <a:off x="2423160" y="1691640"/>
            <a:ext cx="1700784" cy="2514600"/>
          </a:xfrm>
          <a:prstGeom prst="roundRect">
            <a:avLst>
              <a:gd name="adj" fmla="val 6452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12" name="Avatar LuServer"/>
          <p:cNvSpPr/>
          <p:nvPr/>
        </p:nvSpPr>
        <p:spPr>
          <a:xfrm>
            <a:off x="2651760" y="1947672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13" name="Image 1" descr="LuServ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3434" y="2079346"/>
            <a:ext cx="285293" cy="285293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2651760" y="2651760"/>
            <a:ext cx="1335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56B82"/>
                </a:solidFill>
              </a:rPr>
              <a:t>ETAPA 02</a:t>
            </a:r>
            <a:endParaRPr lang="en-US" sz="1100" dirty="0"/>
          </a:p>
        </p:txBody>
      </p:sp>
      <p:sp>
        <p:nvSpPr>
          <p:cNvPr id="15" name="Text 10"/>
          <p:cNvSpPr txBox="1"/>
          <p:nvPr/>
        </p:nvSpPr>
        <p:spPr>
          <a:xfrm>
            <a:off x="2651760" y="2907792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Serviços OData V4</a:t>
            </a:r>
            <a:endParaRPr lang="en-US" sz="1500" dirty="0"/>
          </a:p>
        </p:txBody>
      </p:sp>
      <p:sp>
        <p:nvSpPr>
          <p:cNvPr id="16" name="Text 11"/>
          <p:cNvSpPr txBox="1"/>
          <p:nvPr/>
        </p:nvSpPr>
        <p:spPr>
          <a:xfrm>
            <a:off x="2651760" y="3474720"/>
            <a:ext cx="13350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Projeções, draft, actions e autorização</a:t>
            </a:r>
            <a:endParaRPr lang="en-US" sz="1200" dirty="0"/>
          </a:p>
        </p:txBody>
      </p:sp>
      <p:sp>
        <p:nvSpPr>
          <p:cNvPr id="17" name="Cartão"/>
          <p:cNvSpPr/>
          <p:nvPr/>
        </p:nvSpPr>
        <p:spPr>
          <a:xfrm>
            <a:off x="4297680" y="1691640"/>
            <a:ext cx="1700784" cy="2514600"/>
          </a:xfrm>
          <a:prstGeom prst="roundRect">
            <a:avLst>
              <a:gd name="adj" fmla="val 6452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18" name="Avatar LuCodeXml"/>
          <p:cNvSpPr/>
          <p:nvPr/>
        </p:nvSpPr>
        <p:spPr>
          <a:xfrm>
            <a:off x="4526280" y="1947672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19" name="Image 2" descr="LuCodeXm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57954" y="2079346"/>
            <a:ext cx="285293" cy="285293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4526280" y="2651760"/>
            <a:ext cx="1335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56B82"/>
                </a:solidFill>
              </a:rPr>
              <a:t>ETAPA 03</a:t>
            </a:r>
            <a:endParaRPr lang="en-US" sz="1100" dirty="0"/>
          </a:p>
        </p:txBody>
      </p:sp>
      <p:sp>
        <p:nvSpPr>
          <p:cNvPr id="21" name="Text 15"/>
          <p:cNvSpPr txBox="1"/>
          <p:nvPr/>
        </p:nvSpPr>
        <p:spPr>
          <a:xfrm>
            <a:off x="4526280" y="2907792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Lógica de Negócio</a:t>
            </a:r>
            <a:endParaRPr lang="en-US" sz="1500" dirty="0"/>
          </a:p>
        </p:txBody>
      </p:sp>
      <p:sp>
        <p:nvSpPr>
          <p:cNvPr id="22" name="Text 16"/>
          <p:cNvSpPr txBox="1"/>
          <p:nvPr/>
        </p:nvSpPr>
        <p:spPr>
          <a:xfrm>
            <a:off x="4526280" y="3474720"/>
            <a:ext cx="13350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Handlers, srv/lib e transações</a:t>
            </a:r>
            <a:endParaRPr lang="en-US" sz="1200" dirty="0"/>
          </a:p>
        </p:txBody>
      </p:sp>
      <p:sp>
        <p:nvSpPr>
          <p:cNvPr id="23" name="Cartão"/>
          <p:cNvSpPr/>
          <p:nvPr/>
        </p:nvSpPr>
        <p:spPr>
          <a:xfrm>
            <a:off x="6172200" y="1691640"/>
            <a:ext cx="1700784" cy="2514600"/>
          </a:xfrm>
          <a:prstGeom prst="roundRect">
            <a:avLst>
              <a:gd name="adj" fmla="val 6452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24" name="Avatar LuLayoutDashboard"/>
          <p:cNvSpPr/>
          <p:nvPr/>
        </p:nvSpPr>
        <p:spPr>
          <a:xfrm>
            <a:off x="6400800" y="1947672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25" name="Image 3" descr="LuLayoutDashboard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2474" y="2079346"/>
            <a:ext cx="285293" cy="285293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6400800" y="2651760"/>
            <a:ext cx="1335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56B82"/>
                </a:solidFill>
              </a:rPr>
              <a:t>ETAPA 04</a:t>
            </a:r>
            <a:endParaRPr lang="en-US" sz="1100" dirty="0"/>
          </a:p>
        </p:txBody>
      </p:sp>
      <p:sp>
        <p:nvSpPr>
          <p:cNvPr id="27" name="Text 20"/>
          <p:cNvSpPr txBox="1"/>
          <p:nvPr/>
        </p:nvSpPr>
        <p:spPr>
          <a:xfrm>
            <a:off x="6400800" y="2907792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Apps Fiori Elements</a:t>
            </a:r>
            <a:endParaRPr lang="en-US" sz="1500" dirty="0"/>
          </a:p>
        </p:txBody>
      </p:sp>
      <p:sp>
        <p:nvSpPr>
          <p:cNvPr id="28" name="Text 21"/>
          <p:cNvSpPr txBox="1"/>
          <p:nvPr/>
        </p:nvSpPr>
        <p:spPr>
          <a:xfrm>
            <a:off x="6400800" y="3474720"/>
            <a:ext cx="13350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Anotações, extensões e launchpad</a:t>
            </a:r>
            <a:endParaRPr lang="en-US" sz="1200" dirty="0"/>
          </a:p>
        </p:txBody>
      </p:sp>
      <p:sp>
        <p:nvSpPr>
          <p:cNvPr id="29" name="Cartão"/>
          <p:cNvSpPr/>
          <p:nvPr/>
        </p:nvSpPr>
        <p:spPr>
          <a:xfrm>
            <a:off x="8046720" y="1691640"/>
            <a:ext cx="1700784" cy="2514600"/>
          </a:xfrm>
          <a:prstGeom prst="roundRect">
            <a:avLst>
              <a:gd name="adj" fmla="val 6452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30" name="Avatar LuChartColumn"/>
          <p:cNvSpPr/>
          <p:nvPr/>
        </p:nvSpPr>
        <p:spPr>
          <a:xfrm>
            <a:off x="8275320" y="1947672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31" name="Image 4" descr="LuChartColum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06994" y="2079346"/>
            <a:ext cx="285293" cy="285293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8275320" y="2651760"/>
            <a:ext cx="1335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56B82"/>
                </a:solidFill>
              </a:rPr>
              <a:t>ETAPA 05</a:t>
            </a:r>
            <a:endParaRPr lang="en-US" sz="1100" dirty="0"/>
          </a:p>
        </p:txBody>
      </p:sp>
      <p:sp>
        <p:nvSpPr>
          <p:cNvPr id="33" name="Text 25"/>
          <p:cNvSpPr txBox="1"/>
          <p:nvPr/>
        </p:nvSpPr>
        <p:spPr>
          <a:xfrm>
            <a:off x="8275320" y="2907792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Análises</a:t>
            </a:r>
            <a:endParaRPr lang="en-US" sz="1500" dirty="0"/>
          </a:p>
        </p:txBody>
      </p:sp>
      <p:sp>
        <p:nvSpPr>
          <p:cNvPr id="34" name="Text 26"/>
          <p:cNvSpPr txBox="1"/>
          <p:nvPr/>
        </p:nvSpPr>
        <p:spPr>
          <a:xfrm>
            <a:off x="8275320" y="3474720"/>
            <a:ext cx="13350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$apply e apps SAPUI5 freestyle</a:t>
            </a:r>
            <a:endParaRPr lang="en-US" sz="1200" dirty="0"/>
          </a:p>
        </p:txBody>
      </p:sp>
      <p:sp>
        <p:nvSpPr>
          <p:cNvPr id="35" name="Cartão"/>
          <p:cNvSpPr/>
          <p:nvPr/>
        </p:nvSpPr>
        <p:spPr>
          <a:xfrm>
            <a:off x="9921240" y="1691640"/>
            <a:ext cx="1700784" cy="2514600"/>
          </a:xfrm>
          <a:prstGeom prst="roundRect">
            <a:avLst>
              <a:gd name="adj" fmla="val 6452"/>
            </a:avLst>
          </a:prstGeom>
          <a:solidFill>
            <a:schemeClr val="bg1"/>
          </a:solidFill>
          <a:ln w="28575">
            <a:solidFill>
              <a:schemeClr val="accent1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36" name="Avatar LuRocket"/>
          <p:cNvSpPr/>
          <p:nvPr/>
        </p:nvSpPr>
        <p:spPr>
          <a:xfrm>
            <a:off x="10149840" y="1947672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0070F2"/>
          </a:solidFill>
          <a:ln/>
        </p:spPr>
      </p:sp>
      <p:pic>
        <p:nvPicPr>
          <p:cNvPr id="37" name="Image 5" descr="LuRocket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81514" y="2079346"/>
            <a:ext cx="285293" cy="285293"/>
          </a:xfrm>
          <a:prstGeom prst="rect">
            <a:avLst/>
          </a:prstGeom>
        </p:spPr>
      </p:pic>
      <p:sp>
        <p:nvSpPr>
          <p:cNvPr id="38" name="Text 29"/>
          <p:cNvSpPr txBox="1"/>
          <p:nvPr/>
        </p:nvSpPr>
        <p:spPr>
          <a:xfrm>
            <a:off x="10149840" y="2651760"/>
            <a:ext cx="1335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ETAPA 06</a:t>
            </a:r>
            <a:endParaRPr lang="en-US" sz="1100" dirty="0"/>
          </a:p>
        </p:txBody>
      </p:sp>
      <p:sp>
        <p:nvSpPr>
          <p:cNvPr id="39" name="Text 30"/>
          <p:cNvSpPr txBox="1"/>
          <p:nvPr/>
        </p:nvSpPr>
        <p:spPr>
          <a:xfrm>
            <a:off x="10149840" y="2907792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Testes e Publicação</a:t>
            </a:r>
            <a:endParaRPr lang="en-US" sz="1500" dirty="0"/>
          </a:p>
        </p:txBody>
      </p:sp>
      <p:sp>
        <p:nvSpPr>
          <p:cNvPr id="40" name="Text 31"/>
          <p:cNvSpPr txBox="1"/>
          <p:nvPr/>
        </p:nvSpPr>
        <p:spPr>
          <a:xfrm>
            <a:off x="10149840" y="3474720"/>
            <a:ext cx="13350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Qualidade, build e SAP BTP</a:t>
            </a:r>
            <a:endParaRPr lang="en-US" sz="1200" dirty="0"/>
          </a:p>
        </p:txBody>
      </p:sp>
      <p:sp>
        <p:nvSpPr>
          <p:cNvPr id="41" name="Cartão"/>
          <p:cNvSpPr/>
          <p:nvPr/>
        </p:nvSpPr>
        <p:spPr>
          <a:xfrm>
            <a:off x="548640" y="4526280"/>
            <a:ext cx="11091672" cy="1554480"/>
          </a:xfrm>
          <a:prstGeom prst="roundRect">
            <a:avLst>
              <a:gd name="adj" fmla="val 7059"/>
            </a:avLst>
          </a:prstGeom>
          <a:solidFill>
            <a:srgbClr val="EBF8FF"/>
          </a:solidFill>
          <a:ln w="9525">
            <a:solidFill>
              <a:srgbClr val="D1EFFF"/>
            </a:solidFill>
            <a:prstDash val="solid"/>
          </a:ln>
        </p:spPr>
      </p:sp>
      <p:sp>
        <p:nvSpPr>
          <p:cNvPr id="42" name="Avatar LuTarget"/>
          <p:cNvSpPr/>
          <p:nvPr/>
        </p:nvSpPr>
        <p:spPr>
          <a:xfrm>
            <a:off x="822960" y="480060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0070F2"/>
          </a:solidFill>
          <a:ln/>
        </p:spPr>
      </p:sp>
      <p:pic>
        <p:nvPicPr>
          <p:cNvPr id="43" name="Image 6" descr="LuTarget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4634" y="4932274"/>
            <a:ext cx="285293" cy="285293"/>
          </a:xfrm>
          <a:prstGeom prst="rect">
            <a:avLst/>
          </a:prstGeom>
        </p:spPr>
      </p:pic>
      <p:sp>
        <p:nvSpPr>
          <p:cNvPr id="44" name="Text 34"/>
          <p:cNvSpPr txBox="1"/>
          <p:nvPr/>
        </p:nvSpPr>
        <p:spPr>
          <a:xfrm>
            <a:off x="1645920" y="4709160"/>
            <a:ext cx="9784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Nesta etapa 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garantimos a qualidade com testes de serviço e de unidade e preparamos a publicação: perfil de produção com SAP HANA Cloud e o roteiro de deploy na SAP BTP.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TESTES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Qualidade em números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600200"/>
            <a:ext cx="2642616" cy="2011680"/>
          </a:xfrm>
          <a:prstGeom prst="roundRect">
            <a:avLst>
              <a:gd name="adj" fmla="val 5455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822960" y="173736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1"/>
                </a:solidFill>
              </a:rPr>
              <a:t>74</a:t>
            </a:r>
            <a:endParaRPr lang="en-US" sz="60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78892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testes na versão JavaScript</a:t>
            </a:r>
            <a:endParaRPr lang="en-US" sz="1400" dirty="0"/>
          </a:p>
        </p:txBody>
      </p:sp>
      <p:sp>
        <p:nvSpPr>
          <p:cNvPr id="8" name="Cartão"/>
          <p:cNvSpPr/>
          <p:nvPr/>
        </p:nvSpPr>
        <p:spPr>
          <a:xfrm>
            <a:off x="3364992" y="1600200"/>
            <a:ext cx="2642616" cy="2011680"/>
          </a:xfrm>
          <a:prstGeom prst="roundRect">
            <a:avLst>
              <a:gd name="adj" fmla="val 5455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3639312" y="173736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1"/>
                </a:solidFill>
              </a:rPr>
              <a:t>76</a:t>
            </a:r>
            <a:endParaRPr lang="en-US" sz="6000" dirty="0"/>
          </a:p>
        </p:txBody>
      </p:sp>
      <p:sp>
        <p:nvSpPr>
          <p:cNvPr id="10" name="Text 7"/>
          <p:cNvSpPr txBox="1"/>
          <p:nvPr/>
        </p:nvSpPr>
        <p:spPr>
          <a:xfrm>
            <a:off x="3639312" y="278892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testes na versão TypeScript</a:t>
            </a:r>
            <a:endParaRPr lang="en-US" sz="1400" dirty="0"/>
          </a:p>
        </p:txBody>
      </p:sp>
      <p:sp>
        <p:nvSpPr>
          <p:cNvPr id="11" name="Cartão"/>
          <p:cNvSpPr/>
          <p:nvPr/>
        </p:nvSpPr>
        <p:spPr>
          <a:xfrm>
            <a:off x="6181344" y="1600200"/>
            <a:ext cx="2642616" cy="2011680"/>
          </a:xfrm>
          <a:prstGeom prst="roundRect">
            <a:avLst>
              <a:gd name="adj" fmla="val 5455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6455664" y="173736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1"/>
                </a:solidFill>
              </a:rPr>
              <a:t>7</a:t>
            </a:r>
            <a:endParaRPr lang="en-US" sz="6000" dirty="0"/>
          </a:p>
        </p:txBody>
      </p:sp>
      <p:sp>
        <p:nvSpPr>
          <p:cNvPr id="13" name="Text 10"/>
          <p:cNvSpPr txBox="1"/>
          <p:nvPr/>
        </p:nvSpPr>
        <p:spPr>
          <a:xfrm>
            <a:off x="6455664" y="278892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suítes de serviço e unidade</a:t>
            </a:r>
            <a:endParaRPr lang="en-US" sz="1400" dirty="0"/>
          </a:p>
        </p:txBody>
      </p:sp>
      <p:sp>
        <p:nvSpPr>
          <p:cNvPr id="14" name="Cartão"/>
          <p:cNvSpPr/>
          <p:nvPr/>
        </p:nvSpPr>
        <p:spPr>
          <a:xfrm>
            <a:off x="8997696" y="1600200"/>
            <a:ext cx="2642616" cy="2011680"/>
          </a:xfrm>
          <a:prstGeom prst="roundRect">
            <a:avLst>
              <a:gd name="adj" fmla="val 5455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9272016" y="173736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1"/>
                </a:solidFill>
              </a:rPr>
              <a:t>0</a:t>
            </a:r>
            <a:endParaRPr lang="en-US" sz="6000" dirty="0"/>
          </a:p>
        </p:txBody>
      </p:sp>
      <p:sp>
        <p:nvSpPr>
          <p:cNvPr id="16" name="Text 13"/>
          <p:cNvSpPr txBox="1"/>
          <p:nvPr/>
        </p:nvSpPr>
        <p:spPr>
          <a:xfrm>
            <a:off x="9272016" y="278892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apontamentos do UI5 linter</a:t>
            </a:r>
            <a:endParaRPr lang="en-US" sz="1400" dirty="0"/>
          </a:p>
        </p:txBody>
      </p:sp>
      <p:sp>
        <p:nvSpPr>
          <p:cNvPr id="17" name="Cartão"/>
          <p:cNvSpPr/>
          <p:nvPr/>
        </p:nvSpPr>
        <p:spPr>
          <a:xfrm>
            <a:off x="548640" y="3886200"/>
            <a:ext cx="3575304" cy="2194560"/>
          </a:xfrm>
          <a:prstGeom prst="roundRect">
            <a:avLst>
              <a:gd name="adj" fmla="val 5000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18" name="Avatar LuTestTube"/>
          <p:cNvSpPr/>
          <p:nvPr/>
        </p:nvSpPr>
        <p:spPr>
          <a:xfrm>
            <a:off x="777240" y="411480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19" name="Image 0" descr="LuTestTub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8914" y="4246474"/>
            <a:ext cx="285293" cy="285293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1508760" y="4087368"/>
            <a:ext cx="2386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node:test + cds-test</a:t>
            </a:r>
            <a:endParaRPr lang="en-US" sz="1600" dirty="0"/>
          </a:p>
        </p:txBody>
      </p:sp>
      <p:sp>
        <p:nvSpPr>
          <p:cNvPr id="21" name="Text 17"/>
          <p:cNvSpPr txBox="1"/>
          <p:nvPr/>
        </p:nvSpPr>
        <p:spPr>
          <a:xfrm>
            <a:off x="1508760" y="4489704"/>
            <a:ext cx="238658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Sobe o servidor CAP e chama os serviços OData de verdade.</a:t>
            </a:r>
            <a:endParaRPr lang="en-US" sz="1400" dirty="0"/>
          </a:p>
        </p:txBody>
      </p:sp>
      <p:sp>
        <p:nvSpPr>
          <p:cNvPr id="22" name="Cartão"/>
          <p:cNvSpPr/>
          <p:nvPr/>
        </p:nvSpPr>
        <p:spPr>
          <a:xfrm>
            <a:off x="4306824" y="3886200"/>
            <a:ext cx="3575304" cy="2194560"/>
          </a:xfrm>
          <a:prstGeom prst="roundRect">
            <a:avLst>
              <a:gd name="adj" fmla="val 5000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23" name="Avatar LuDatabase"/>
          <p:cNvSpPr/>
          <p:nvPr/>
        </p:nvSpPr>
        <p:spPr>
          <a:xfrm>
            <a:off x="4535424" y="411480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DAFDF5"/>
          </a:solidFill>
          <a:ln/>
        </p:spPr>
      </p:sp>
      <p:pic>
        <p:nvPicPr>
          <p:cNvPr id="24" name="Image 1" descr="LuDatabas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7098" y="4246474"/>
            <a:ext cx="285293" cy="285293"/>
          </a:xfrm>
          <a:prstGeom prst="rect">
            <a:avLst/>
          </a:prstGeom>
        </p:spPr>
      </p:pic>
      <p:sp>
        <p:nvSpPr>
          <p:cNvPr id="25" name="Text 20"/>
          <p:cNvSpPr txBox="1"/>
          <p:nvPr/>
        </p:nvSpPr>
        <p:spPr>
          <a:xfrm>
            <a:off x="5266944" y="4087368"/>
            <a:ext cx="2386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SQLite em memória</a:t>
            </a:r>
            <a:endParaRPr lang="en-US" sz="1600" dirty="0"/>
          </a:p>
        </p:txBody>
      </p:sp>
      <p:sp>
        <p:nvSpPr>
          <p:cNvPr id="26" name="Text 21"/>
          <p:cNvSpPr txBox="1"/>
          <p:nvPr/>
        </p:nvSpPr>
        <p:spPr>
          <a:xfrm>
            <a:off x="5266944" y="4489704"/>
            <a:ext cx="238658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Cada execução começa limpa, sem tocar no db.sqlite.</a:t>
            </a:r>
            <a:endParaRPr lang="en-US" sz="1400" dirty="0"/>
          </a:p>
        </p:txBody>
      </p:sp>
      <p:sp>
        <p:nvSpPr>
          <p:cNvPr id="27" name="Cartão"/>
          <p:cNvSpPr/>
          <p:nvPr/>
        </p:nvSpPr>
        <p:spPr>
          <a:xfrm>
            <a:off x="8065008" y="3886200"/>
            <a:ext cx="3575304" cy="2194560"/>
          </a:xfrm>
          <a:prstGeom prst="roundRect">
            <a:avLst>
              <a:gd name="adj" fmla="val 5000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28" name="Avatar LuGlobe"/>
          <p:cNvSpPr/>
          <p:nvPr/>
        </p:nvSpPr>
        <p:spPr>
          <a:xfrm>
            <a:off x="8293608" y="411480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F1ECFF"/>
          </a:solidFill>
          <a:ln/>
        </p:spPr>
      </p:sp>
      <p:pic>
        <p:nvPicPr>
          <p:cNvPr id="29" name="Image 2" descr="LuGlob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25282" y="4246474"/>
            <a:ext cx="285293" cy="285293"/>
          </a:xfrm>
          <a:prstGeom prst="rect">
            <a:avLst/>
          </a:prstGeom>
        </p:spPr>
      </p:pic>
      <p:sp>
        <p:nvSpPr>
          <p:cNvPr id="30" name="Text 24"/>
          <p:cNvSpPr txBox="1"/>
          <p:nvPr/>
        </p:nvSpPr>
        <p:spPr>
          <a:xfrm>
            <a:off x="9025128" y="4087368"/>
            <a:ext cx="2386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ViaCEP falso local</a:t>
            </a:r>
            <a:endParaRPr lang="en-US" sz="1600" dirty="0"/>
          </a:p>
        </p:txBody>
      </p:sp>
      <p:sp>
        <p:nvSpPr>
          <p:cNvPr id="31" name="Text 25"/>
          <p:cNvSpPr txBox="1"/>
          <p:nvPr/>
        </p:nvSpPr>
        <p:spPr>
          <a:xfrm>
            <a:off x="9025128" y="4489704"/>
            <a:ext cx="238658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Sem rede externa; URL trocada pela configuração.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TESTES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Infraestrutura de teste em test/apoio</a:t>
            </a:r>
            <a:endParaRPr lang="en-US" sz="3200" dirty="0"/>
          </a:p>
        </p:txBody>
      </p:sp>
      <p:sp>
        <p:nvSpPr>
          <p:cNvPr id="5" name="Bloco de código"/>
          <p:cNvSpPr/>
          <p:nvPr/>
        </p:nvSpPr>
        <p:spPr>
          <a:xfrm>
            <a:off x="548640" y="1554480"/>
            <a:ext cx="6583680" cy="2255520"/>
          </a:xfrm>
          <a:prstGeom prst="roundRect">
            <a:avLst>
              <a:gd name="adj" fmla="val 4865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8000"/>
              </a:srgbClr>
            </a:outerShdw>
          </a:effectLst>
        </p:spPr>
      </p:sp>
      <p:sp>
        <p:nvSpPr>
          <p:cNvPr id="6" name="Código"/>
          <p:cNvSpPr txBox="1"/>
          <p:nvPr/>
        </p:nvSpPr>
        <p:spPr>
          <a:xfrm>
            <a:off x="777240" y="1737360"/>
            <a:ext cx="6126480" cy="188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test/apoio/contexto.js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ADMIN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auth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username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'admin'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password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'admin'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COMUM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auth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username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'comum'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password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'comum'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iniciarServidor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teste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cds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raiz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'serve'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'all'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'--in-memory'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before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async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=&gt; </a:t>
            </a:r>
            <a:pPr indent="0" marL="0">
              <a:buNone/>
            </a:pPr>
            <a:r>
              <a:rPr lang="en-US" sz="11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Object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assign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viacep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iniciarViaCepFalso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cds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env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requires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viacep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credentials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url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viacep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url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...</a:t>
            </a:r>
            <a:endParaRPr lang="en-US" sz="1100" dirty="0"/>
          </a:p>
        </p:txBody>
      </p:sp>
      <p:sp>
        <p:nvSpPr>
          <p:cNvPr id="7" name="Cartão"/>
          <p:cNvSpPr/>
          <p:nvPr/>
        </p:nvSpPr>
        <p:spPr>
          <a:xfrm>
            <a:off x="548640" y="4526280"/>
            <a:ext cx="6583680" cy="1609344"/>
          </a:xfrm>
          <a:prstGeom prst="roundRect">
            <a:avLst>
              <a:gd name="adj" fmla="val 6818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4663440"/>
          <a:ext cx="621792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310896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CEP no ViaCEP falso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Resposta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01001000 · 70040010 · 64000020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Endereço completo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69990000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CEP geral (sem logradouro)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99999999 · 55555555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Inexistente · HTTP 503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Avatar LuServer"/>
          <p:cNvSpPr/>
          <p:nvPr/>
        </p:nvSpPr>
        <p:spPr>
          <a:xfrm>
            <a:off x="7452360" y="164592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10" name="Image 0" descr="LuServ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62088" y="1755648"/>
            <a:ext cx="237744" cy="237744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8138160" y="1609344"/>
            <a:ext cx="3520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contexto.js</a:t>
            </a:r>
            <a:endParaRPr lang="en-US" sz="1500" dirty="0"/>
          </a:p>
        </p:txBody>
      </p:sp>
      <p:sp>
        <p:nvSpPr>
          <p:cNvPr id="12" name="Text 7"/>
          <p:cNvSpPr txBox="1"/>
          <p:nvPr/>
        </p:nvSpPr>
        <p:spPr>
          <a:xfrm>
            <a:off x="8138160" y="1929384"/>
            <a:ext cx="3520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cds.test com o projeto inteiro, usuários e atalhos de rascunho.</a:t>
            </a:r>
            <a:endParaRPr lang="en-US" sz="1400" dirty="0"/>
          </a:p>
        </p:txBody>
      </p:sp>
      <p:sp>
        <p:nvSpPr>
          <p:cNvPr id="13" name="Avatar LuGlobe"/>
          <p:cNvSpPr/>
          <p:nvPr/>
        </p:nvSpPr>
        <p:spPr>
          <a:xfrm>
            <a:off x="7452360" y="274320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DAFDF5"/>
          </a:solidFill>
          <a:ln/>
        </p:spPr>
      </p:sp>
      <p:pic>
        <p:nvPicPr>
          <p:cNvPr id="14" name="Image 1" descr="LuGlob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62088" y="2852928"/>
            <a:ext cx="237744" cy="237744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8138160" y="2706624"/>
            <a:ext cx="3520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viacep-falso.js</a:t>
            </a:r>
            <a:endParaRPr lang="en-US" sz="1500" dirty="0"/>
          </a:p>
        </p:txBody>
      </p:sp>
      <p:sp>
        <p:nvSpPr>
          <p:cNvPr id="16" name="Text 10"/>
          <p:cNvSpPr txBox="1"/>
          <p:nvPr/>
        </p:nvSpPr>
        <p:spPr>
          <a:xfrm>
            <a:off x="8138160" y="3026664"/>
            <a:ext cx="3520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Servidor HTTP local com CEPs conhecidos e falhas.</a:t>
            </a:r>
            <a:endParaRPr lang="en-US" sz="1400" dirty="0"/>
          </a:p>
        </p:txBody>
      </p:sp>
      <p:sp>
        <p:nvSpPr>
          <p:cNvPr id="17" name="Avatar LuFileSpreadsheet"/>
          <p:cNvSpPr/>
          <p:nvPr/>
        </p:nvSpPr>
        <p:spPr>
          <a:xfrm>
            <a:off x="7452360" y="384048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1ECFF"/>
          </a:solidFill>
          <a:ln/>
        </p:spPr>
      </p:sp>
      <p:pic>
        <p:nvPicPr>
          <p:cNvPr id="18" name="Image 2" descr="LuFileSpreadshee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2088" y="3950208"/>
            <a:ext cx="237744" cy="237744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8138160" y="3803904"/>
            <a:ext cx="3520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xlsx.js</a:t>
            </a:r>
            <a:endParaRPr lang="en-US" sz="1500" dirty="0"/>
          </a:p>
        </p:txBody>
      </p:sp>
      <p:sp>
        <p:nvSpPr>
          <p:cNvPr id="20" name="Text 13"/>
          <p:cNvSpPr txBox="1"/>
          <p:nvPr/>
        </p:nvSpPr>
        <p:spPr>
          <a:xfrm>
            <a:off x="8138160" y="4123944"/>
            <a:ext cx="3520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Gerador mínimo de .xlsx para testar a importação.</a:t>
            </a:r>
            <a:endParaRPr lang="en-US" sz="1400" dirty="0"/>
          </a:p>
        </p:txBody>
      </p:sp>
      <p:sp>
        <p:nvSpPr>
          <p:cNvPr id="21" name="Avatar LuEyeOff"/>
          <p:cNvSpPr/>
          <p:nvPr/>
        </p:nvSpPr>
        <p:spPr>
          <a:xfrm>
            <a:off x="7452360" y="493776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FF3B8"/>
          </a:solidFill>
          <a:ln/>
        </p:spPr>
      </p:sp>
      <p:pic>
        <p:nvPicPr>
          <p:cNvPr id="22" name="Image 3" descr="LuEyeOff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62088" y="5047488"/>
            <a:ext cx="237744" cy="237744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8138160" y="4901184"/>
            <a:ext cx="3520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Sem as apps</a:t>
            </a:r>
            <a:endParaRPr lang="en-US" sz="1500" dirty="0"/>
          </a:p>
        </p:txBody>
      </p:sp>
      <p:sp>
        <p:nvSpPr>
          <p:cNvPr id="24" name="Text 16"/>
          <p:cNvSpPr txBox="1"/>
          <p:nvPr/>
        </p:nvSpPr>
        <p:spPr>
          <a:xfrm>
            <a:off x="8138160" y="5221224"/>
            <a:ext cx="3520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CDS_PLUGIN_UI5_ACTIVE=false: só o backend.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TESTES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O que cada suíte cobre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600200"/>
            <a:ext cx="11091672" cy="4572000"/>
          </a:xfrm>
          <a:prstGeom prst="roundRect">
            <a:avLst>
              <a:gd name="adj" fmla="val 2400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737360"/>
          <a:ext cx="10725912" cy="914400"/>
        </p:xfrm>
        <a:graphic>
          <a:graphicData uri="http://schemas.openxmlformats.org/drawingml/2006/table">
            <a:tbl>
              <a:tblPr/>
              <a:tblGrid>
                <a:gridCol w="1772878"/>
                <a:gridCol w="8953034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Suíte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Cobertura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unidade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CPF, e-mail, telefone, imagens, status de estoque, SKU, pagamento simulado, leitor XLSX/CSV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clientes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Rascunho, ViaCEP, CEP geral, CEP único, endereço principal, autorização, exclusão, foto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estoque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SKU, disponibilidade e status, concorrência com edição, inativação, exclusão, foto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pedidos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Reserva, edição pela diferença, pagamento, aprovação, cancelamento, ações concorrentes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reembolsos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Aprovar, rejeitar com motivo obrigatório, decisão única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importacao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Clientes, estoque e pedidos (tudo ou nada), duplicidade e modelos de planilha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analitico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Agregações $apply dos quatro domínios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TESTES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Casos de teste: clientes e estoque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554480"/>
            <a:ext cx="5440680" cy="4526280"/>
          </a:xfrm>
          <a:prstGeom prst="roundRect">
            <a:avLst>
              <a:gd name="adj" fmla="val 2424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822960" y="1691640"/>
            <a:ext cx="4892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clientes.test (13)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194560"/>
            <a:ext cx="493776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cria cliente com endereço preenchido pelo ViaCEP, ativo e com score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CEP já cadastrado é reaproveitado sem chamar o ViaCEP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CPF inválido ou duplicado bloqueia o Save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e-mail, telefone e data de nascimento são validados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CEP inexistente ou ViaCEP indisponível bloqueiam o Save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CEP geral exige logradouro e bairro informados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número obrigatório e CEP único por cliente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definir endereço principal desmarca os demais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comum consulta, mas não cria, edita nem exclui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Permissoes.somenteLeitura por usuário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cliente com pedido não pode ser excluído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foto aceita só JPEG, PNG ou WEBP; gravada após o Save</a:t>
            </a:r>
            <a:endParaRPr lang="en-US" sz="1300" dirty="0"/>
          </a:p>
        </p:txBody>
      </p:sp>
      <p:sp>
        <p:nvSpPr>
          <p:cNvPr id="8" name="Cartão"/>
          <p:cNvSpPr/>
          <p:nvPr/>
        </p:nvSpPr>
        <p:spPr>
          <a:xfrm>
            <a:off x="6199632" y="1554480"/>
            <a:ext cx="5440680" cy="4526280"/>
          </a:xfrm>
          <a:prstGeom prst="roundRect">
            <a:avLst>
              <a:gd name="adj" fmla="val 2424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6473952" y="1691640"/>
            <a:ext cx="4892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estoque.test (10)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6473952" y="2194560"/>
            <a:ext cx="493776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gera SKU no Save com as 3 primeiras letras da categoria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regenera o SKU quando a categoria muda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disponível = estoque − reservada e os três status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preço negativo e estoque menor que a reserva rejeitados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salvar a edição do item não sobrescreve reservas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inativação bloqueada com estoque disponível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exclusão bloqueada para item vinculado a pedido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usuário comum consulta, mas não mantém itens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Permissoes.somenteLeitura por usuário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foto enviada no rascunho é gravada após o Save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TESTES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Casos de teste: pedidos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554480"/>
            <a:ext cx="5440680" cy="4526280"/>
          </a:xfrm>
          <a:prstGeom prst="roundRect">
            <a:avLst>
              <a:gd name="adj" fmla="val 2424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822960" y="1691640"/>
            <a:ext cx="4892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registro e edição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194560"/>
            <a:ext cx="493776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rascunho não reserva estoque e calcula o total provisório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Salvar registra ABERTO, gera o número e reserva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estoque insuficiente bloqueia o Save; nada é reservado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pedido sem itens não é registrado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item sem estoque é barrado ao entrar no rascunho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o usuário comum também registra pedidos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aumentar, diminuir, incluir e remover itens: reserva pela diferença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aumento sem saldo bloqueia o Save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o cliente de um pedido registrado não pode ser trocado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só o ABERTO é editado; o registrado não é excluído</a:t>
            </a:r>
            <a:endParaRPr lang="en-US" sz="1300" dirty="0"/>
          </a:p>
        </p:txBody>
      </p:sp>
      <p:sp>
        <p:nvSpPr>
          <p:cNvPr id="8" name="Cartão"/>
          <p:cNvSpPr/>
          <p:nvPr/>
        </p:nvSpPr>
        <p:spPr>
          <a:xfrm>
            <a:off x="6199632" y="1554480"/>
            <a:ext cx="5440680" cy="4526280"/>
          </a:xfrm>
          <a:prstGeom prst="roundRect">
            <a:avLst>
              <a:gd name="adj" fmla="val 2424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6473952" y="1691640"/>
            <a:ext cx="4892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ações e campos somente leitura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6473952" y="2194560"/>
            <a:ext cx="493776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recusado mantém ABERTO; aprovado leva a AGUARDANDO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dados de cartão inválidos são erro (não recusa)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aprovar exige pagamento aprovado; baixa e snapshots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cancelar sem pagamento libera a reserva e exige motivo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cancelar com pagamento aprovado abre reembolso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ação com leitura desatualizada é recusada sem efeito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ações não rodam no rascunho nem durante a edição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dados do cliente e do pagamento calculados no $metadata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dados do cliente chegam pela associação, sem escrita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pagamento não aceita escrita e é preservado na edição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TESTES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Casos de teste: reembolsos, importação e outros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554480"/>
            <a:ext cx="5440680" cy="4526280"/>
          </a:xfrm>
          <a:prstGeom prst="roundRect">
            <a:avLst>
              <a:gd name="adj" fmla="val 2424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822960" y="1691640"/>
            <a:ext cx="4892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reembolsos (4) · analitico (3)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194560"/>
            <a:ext cx="493776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aprovar cancela, devolve o pagamento, libera e gera snapshots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rejeitar exige motivo e devolve o status anterior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solicitação já decidida não pode ser decidida de novo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comum também decide; a lista é somente leitura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pedidos: valor, quantidade e ticket por status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clientes por faixa de score e itens por categoria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reembolsos por mês (AAAAMM), serviço só leitura</a:t>
            </a:r>
            <a:endParaRPr lang="en-US" sz="1300" dirty="0"/>
          </a:p>
        </p:txBody>
      </p:sp>
      <p:sp>
        <p:nvSpPr>
          <p:cNvPr id="8" name="Cartão"/>
          <p:cNvSpPr/>
          <p:nvPr/>
        </p:nvSpPr>
        <p:spPr>
          <a:xfrm>
            <a:off x="6199632" y="1554480"/>
            <a:ext cx="5440680" cy="4526280"/>
          </a:xfrm>
          <a:prstGeom prst="roundRect">
            <a:avLst>
              <a:gd name="adj" fmla="val 2424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6473952" y="1691640"/>
            <a:ext cx="4892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importacao (10) · unidade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6473952" y="2194560"/>
            <a:ext cx="493776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clientes por CSV; erro cancela tudo; CEP inexistente cancela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estoque por XLSX com SKU; nomes repetidos recusados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pedidos agrupados pela referência, ABERTO e reservados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demanda acima do estoque na planilha cancela tudo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a mesma referência não é reimportada para o cliente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clientes e estoque exigem o perfil administrador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os modelos de docs/modelos-importacao são importados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unidade: CPF, imagens, status, SKU, pagamento, leitor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TESTES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Um teste de ponta a ponta do reembolso</a:t>
            </a:r>
            <a:endParaRPr lang="en-US" sz="3200" dirty="0"/>
          </a:p>
        </p:txBody>
      </p:sp>
      <p:sp>
        <p:nvSpPr>
          <p:cNvPr id="5" name="Bloco de código"/>
          <p:cNvSpPr/>
          <p:nvPr/>
        </p:nvSpPr>
        <p:spPr>
          <a:xfrm>
            <a:off x="548640" y="1600200"/>
            <a:ext cx="7223760" cy="3520440"/>
          </a:xfrm>
          <a:prstGeom prst="roundRect">
            <a:avLst>
              <a:gd name="adj" fmla="val 3117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8000"/>
              </a:srgbClr>
            </a:outerShdw>
          </a:effectLst>
        </p:spPr>
      </p:sp>
      <p:sp>
        <p:nvSpPr>
          <p:cNvPr id="6" name="Código"/>
          <p:cNvSpPr txBox="1"/>
          <p:nvPr/>
        </p:nvSpPr>
        <p:spPr>
          <a:xfrm>
            <a:off x="777240" y="1783080"/>
            <a:ext cx="6766560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</a:t>
            </a:r>
            <a:pPr indent="0" marL="0">
              <a:buNone/>
            </a:pPr>
            <a:r>
              <a:rPr lang="en-US" sz="12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'aprovar cancela o pedido e devolve o pagamento'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2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async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=&gt; </a:t>
            </a:r>
            <a:pPr indent="0" marL="0">
              <a:buNone/>
            </a:pPr>
            <a:r>
              <a:rPr lang="en-US" sz="12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2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reembolso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solicitacao</a:t>
            </a:r>
            <a:pPr indent="0" marL="0">
              <a:buNone/>
            </a:pPr>
            <a:r>
              <a:rPr lang="en-US" sz="12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assert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equal</a:t>
            </a:r>
            <a:pPr indent="0" marL="0">
              <a:buNone/>
            </a:pPr>
            <a:r>
              <a:rPr lang="en-US" sz="12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reembolso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statusReembolso_code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2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'PENDENTE'</a:t>
            </a:r>
            <a:pPr indent="0" marL="0">
              <a:buNone/>
            </a:pPr>
            <a:r>
              <a:rPr lang="en-US" sz="12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2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antes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reservado</a:t>
            </a:r>
            <a:pPr indent="0" marL="0">
              <a:buNone/>
            </a:pPr>
            <a:r>
              <a:rPr lang="en-US" sz="12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</a:t>
            </a:r>
            <a:pPr indent="0" marL="0">
              <a:buNone/>
            </a:pPr>
            <a:r>
              <a:rPr lang="en-US" sz="12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2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api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</a:t>
            </a:r>
            <a:pPr indent="0" marL="0">
              <a:buNone/>
            </a:pPr>
            <a:r>
              <a:rPr lang="en-US" sz="12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2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`</a:t>
            </a:r>
            <a:pPr indent="0" marL="0">
              <a:buNone/>
            </a:pPr>
            <a:r>
              <a:rPr lang="en-US" sz="12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${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</a:t>
            </a:r>
            <a:pPr indent="0" marL="0">
              <a:buNone/>
            </a:pPr>
            <a:r>
              <a:rPr lang="en-US" sz="12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2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/Reembolsos(</a:t>
            </a:r>
            <a:pPr indent="0" marL="0">
              <a:buNone/>
            </a:pPr>
            <a:r>
              <a:rPr lang="en-US" sz="12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${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reembolso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</a:t>
            </a:r>
            <a:pPr indent="0" marL="0">
              <a:buNone/>
            </a:pPr>
            <a:r>
              <a:rPr lang="en-US" sz="12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2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)/`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+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2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'ReembolsosService.aprovarReembolso'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2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motivoDecisao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2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'Procedente'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2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assert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equal</a:t>
            </a:r>
            <a:pPr indent="0" marL="0">
              <a:buNone/>
            </a:pPr>
            <a:r>
              <a:rPr lang="en-US" sz="12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statusReembolso_code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2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'APROVADO'</a:t>
            </a:r>
            <a:pPr indent="0" marL="0">
              <a:buNone/>
            </a:pPr>
            <a:r>
              <a:rPr lang="en-US" sz="12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2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atual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pedidoAtual</a:t>
            </a:r>
            <a:pPr indent="0" marL="0">
              <a:buNone/>
            </a:pPr>
            <a:r>
              <a:rPr lang="en-US" sz="12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</a:t>
            </a:r>
            <a:pPr indent="0" marL="0">
              <a:buNone/>
            </a:pPr>
            <a:r>
              <a:rPr lang="en-US" sz="12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assert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equal</a:t>
            </a:r>
            <a:pPr indent="0" marL="0">
              <a:buNone/>
            </a:pPr>
            <a:r>
              <a:rPr lang="en-US" sz="12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atual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statusPedido_code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2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'CANCELADO'</a:t>
            </a:r>
            <a:pPr indent="0" marL="0">
              <a:buNone/>
            </a:pPr>
            <a:r>
              <a:rPr lang="en-US" sz="12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assert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equal</a:t>
            </a:r>
            <a:pPr indent="0" marL="0">
              <a:buNone/>
            </a:pPr>
            <a:r>
              <a:rPr lang="en-US" sz="12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atual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statusPagamento_code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2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'DEVOLVIDO'</a:t>
            </a:r>
            <a:pPr indent="0" marL="0">
              <a:buNone/>
            </a:pPr>
            <a:r>
              <a:rPr lang="en-US" sz="12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assert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equal</a:t>
            </a:r>
            <a:pPr indent="0" marL="0">
              <a:buNone/>
            </a:pPr>
            <a:r>
              <a:rPr lang="en-US" sz="12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reservado</a:t>
            </a:r>
            <a:pPr indent="0" marL="0">
              <a:buNone/>
            </a:pPr>
            <a:r>
              <a:rPr lang="en-US" sz="12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</a:t>
            </a:r>
            <a:pPr indent="0" marL="0">
              <a:buNone/>
            </a:pPr>
            <a:r>
              <a:rPr lang="en-US" sz="12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antes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- </a:t>
            </a:r>
            <a:pPr indent="0" marL="0">
              <a:buNone/>
            </a:pPr>
            <a:r>
              <a:rPr lang="en-US" sz="12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pPr indent="0" marL="0">
              <a:buNone/>
            </a:pPr>
            <a:r>
              <a:rPr lang="en-US" sz="12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2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200" dirty="0"/>
          </a:p>
        </p:txBody>
      </p:sp>
      <p:sp>
        <p:nvSpPr>
          <p:cNvPr id="7" name="Avatar LuTerminal"/>
          <p:cNvSpPr/>
          <p:nvPr/>
        </p:nvSpPr>
        <p:spPr>
          <a:xfrm>
            <a:off x="8092440" y="169164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8" name="Image 0" descr="LuTermin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02168" y="1801368"/>
            <a:ext cx="237744" cy="237744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8778240" y="1655064"/>
            <a:ext cx="2880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npm test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8778240" y="1975104"/>
            <a:ext cx="2880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Em nodejs-padrao ou nodejs-typescript.</a:t>
            </a:r>
            <a:endParaRPr lang="en-US" sz="1400" dirty="0"/>
          </a:p>
        </p:txBody>
      </p:sp>
      <p:sp>
        <p:nvSpPr>
          <p:cNvPr id="11" name="Avatar LuListChecks"/>
          <p:cNvSpPr/>
          <p:nvPr/>
        </p:nvSpPr>
        <p:spPr>
          <a:xfrm>
            <a:off x="8092440" y="288036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DAFDF5"/>
          </a:solidFill>
          <a:ln/>
        </p:spPr>
      </p:sp>
      <p:pic>
        <p:nvPicPr>
          <p:cNvPr id="12" name="Image 1" descr="LuListCheck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02168" y="2990088"/>
            <a:ext cx="237744" cy="23774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8778240" y="2843784"/>
            <a:ext cx="2880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Lint e tipos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8778240" y="3163824"/>
            <a:ext cx="2880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npm run lint; no TS, cds-typer + tsc --noEmit.</a:t>
            </a:r>
            <a:endParaRPr lang="en-US" sz="1400" dirty="0"/>
          </a:p>
        </p:txBody>
      </p:sp>
      <p:sp>
        <p:nvSpPr>
          <p:cNvPr id="15" name="Avatar LuBug"/>
          <p:cNvSpPr/>
          <p:nvPr/>
        </p:nvSpPr>
        <p:spPr>
          <a:xfrm>
            <a:off x="8092440" y="406908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1ECFF"/>
          </a:solidFill>
          <a:ln/>
        </p:spPr>
      </p:sp>
      <p:pic>
        <p:nvPicPr>
          <p:cNvPr id="16" name="Image 2" descr="LuBu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02168" y="4178808"/>
            <a:ext cx="237744" cy="237744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8778240" y="4032504"/>
            <a:ext cx="2880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Regressões</a:t>
            </a:r>
            <a:endParaRPr lang="en-US" sz="1500" dirty="0"/>
          </a:p>
        </p:txBody>
      </p:sp>
      <p:sp>
        <p:nvSpPr>
          <p:cNvPr id="18" name="Text 12"/>
          <p:cNvSpPr txBox="1"/>
          <p:nvPr/>
        </p:nvSpPr>
        <p:spPr>
          <a:xfrm>
            <a:off x="8778240" y="4352544"/>
            <a:ext cx="2880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Cada correção vem com um teste nas duas suítes.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PUBLICAÇÃO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Do desenvolvimento à produção: perfis do CAP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600200"/>
            <a:ext cx="5440680" cy="4480560"/>
          </a:xfrm>
          <a:prstGeom prst="roundRect">
            <a:avLst>
              <a:gd name="adj" fmla="val 2449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6" name="Avatar LuLaptop"/>
          <p:cNvSpPr/>
          <p:nvPr/>
        </p:nvSpPr>
        <p:spPr>
          <a:xfrm>
            <a:off x="822960" y="182880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7" name="Image 0" descr="LuLapto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4634" y="1960474"/>
            <a:ext cx="285293" cy="285293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554480" y="187452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[development]</a:t>
            </a:r>
            <a:endParaRPr lang="en-US" sz="2000" dirty="0"/>
          </a:p>
        </p:txBody>
      </p:sp>
      <p:sp>
        <p:nvSpPr>
          <p:cNvPr id="9" name="Text 5"/>
          <p:cNvSpPr txBox="1"/>
          <p:nvPr/>
        </p:nvSpPr>
        <p:spPr>
          <a:xfrm>
            <a:off x="868680" y="2651760"/>
            <a:ext cx="48463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SQLite em arquivo (db.sqlite)</a:t>
            </a:r>
            <a:endParaRPr lang="en-US" sz="16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Autenticação mocked: admin e comum</a:t>
            </a:r>
            <a:endParaRPr lang="en-US" sz="16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Apps servidas pelo cds-plugin-ui5</a:t>
            </a:r>
            <a:endParaRPr lang="en-US" sz="16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Launchpad local (sandbox)</a:t>
            </a:r>
            <a:endParaRPr lang="en-US" sz="16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npm run watch</a:t>
            </a:r>
            <a:endParaRPr lang="en-US" sz="1600" dirty="0"/>
          </a:p>
        </p:txBody>
      </p:sp>
      <p:sp>
        <p:nvSpPr>
          <p:cNvPr id="10" name="Cartão"/>
          <p:cNvSpPr/>
          <p:nvPr/>
        </p:nvSpPr>
        <p:spPr>
          <a:xfrm>
            <a:off x="6199632" y="1600200"/>
            <a:ext cx="5440680" cy="4480560"/>
          </a:xfrm>
          <a:prstGeom prst="roundRect">
            <a:avLst>
              <a:gd name="adj" fmla="val 2449"/>
            </a:avLst>
          </a:prstGeom>
          <a:solidFill>
            <a:schemeClr val="bg1"/>
          </a:solidFill>
          <a:ln w="19050">
            <a:solidFill>
              <a:schemeClr val="accent1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11" name="Avatar LuCloud"/>
          <p:cNvSpPr/>
          <p:nvPr/>
        </p:nvSpPr>
        <p:spPr>
          <a:xfrm>
            <a:off x="6473952" y="182880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5D36FF"/>
          </a:solidFill>
          <a:ln/>
        </p:spPr>
      </p:sp>
      <p:pic>
        <p:nvPicPr>
          <p:cNvPr id="12" name="Image 1" descr="LuClou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5626" y="1960474"/>
            <a:ext cx="285293" cy="285293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7205472" y="187452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[production]</a:t>
            </a:r>
            <a:endParaRPr lang="en-US" sz="2000" dirty="0"/>
          </a:p>
        </p:txBody>
      </p:sp>
      <p:sp>
        <p:nvSpPr>
          <p:cNvPr id="14" name="Text 9"/>
          <p:cNvSpPr txBox="1"/>
          <p:nvPr/>
        </p:nvSpPr>
        <p:spPr>
          <a:xfrm>
            <a:off x="6519672" y="2651760"/>
            <a:ext cx="48463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SAP HANA Cloud (@cap-js/hana, HDI)</a:t>
            </a:r>
            <a:endParaRPr lang="en-US" sz="16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XSUAA com papéis Admin e Comum</a:t>
            </a:r>
            <a:endParaRPr lang="en-US" sz="16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Apps no HTML5 Application Repository</a:t>
            </a:r>
            <a:endParaRPr lang="en-US" sz="16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SAP Build Work Zone, standard edition</a:t>
            </a:r>
            <a:endParaRPr lang="en-US" sz="16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cds build --production + mbt build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PUBLICAÇÃO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Arquitetura alvo na SAP BTP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1693987" y="1463040"/>
            <a:ext cx="8800978" cy="4800600"/>
          </a:xfrm>
          <a:prstGeom prst="roundRect">
            <a:avLst>
              <a:gd name="adj" fmla="val 2286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pic>
        <p:nvPicPr>
          <p:cNvPr id="6" name="Image 0" descr="Arquitetura alvo na SAP BT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85427" y="1554480"/>
            <a:ext cx="8618098" cy="46177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PUBLICAÇÃO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cds build --production: o que é gerado</a:t>
            </a:r>
            <a:endParaRPr lang="en-US" sz="3200" dirty="0"/>
          </a:p>
        </p:txBody>
      </p:sp>
      <p:sp>
        <p:nvSpPr>
          <p:cNvPr id="5" name="Bloco de código"/>
          <p:cNvSpPr/>
          <p:nvPr/>
        </p:nvSpPr>
        <p:spPr>
          <a:xfrm>
            <a:off x="548640" y="1554480"/>
            <a:ext cx="5669280" cy="2606040"/>
          </a:xfrm>
          <a:prstGeom prst="roundRect">
            <a:avLst>
              <a:gd name="adj" fmla="val 4211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8000"/>
              </a:srgbClr>
            </a:outerShdw>
          </a:effectLst>
        </p:spPr>
      </p:sp>
      <p:sp>
        <p:nvSpPr>
          <p:cNvPr id="6" name="Código"/>
          <p:cNvSpPr txBox="1"/>
          <p:nvPr/>
        </p:nvSpPr>
        <p:spPr>
          <a:xfrm>
            <a:off x="777240" y="1737360"/>
            <a:ext cx="521208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gen/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2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srv/</a:t>
            </a:r>
            <a:pPr indent="0" marL="0">
              <a:buNone/>
            </a:pPr>
            <a:r>
              <a:rPr lang="en-US" sz="12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módulo do serviço CAP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package.json</a:t>
            </a:r>
            <a:pPr indent="0" marL="0">
              <a:buNone/>
            </a:pPr>
            <a:r>
              <a:rPr lang="en-US" sz="12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dependências de produção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srv/*.js, srv/lib/   handlers (TS: compilados)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srv/csn.json</a:t>
            </a:r>
            <a:pPr indent="0" marL="0">
              <a:buNone/>
            </a:pPr>
            <a:r>
              <a:rPr lang="en-US" sz="12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modelo compilado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2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_i18n/</a:t>
            </a:r>
            <a:pPr indent="0" marL="0">
              <a:buNone/>
            </a:pPr>
            <a:r>
              <a:rPr lang="en-US" sz="12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mensagens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2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db/</a:t>
            </a:r>
            <a:pPr indent="0" marL="0">
              <a:buNone/>
            </a:pPr>
            <a:r>
              <a:rPr lang="en-US" sz="12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módulo do deployer HDI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src/gen/*.hdbtable</a:t>
            </a:r>
            <a:pPr indent="0" marL="0">
              <a:buNone/>
            </a:pPr>
            <a:r>
              <a:rPr lang="en-US" sz="12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36: ativas e de rascunho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src/gen/*.hdbview</a:t>
            </a:r>
            <a:pPr indent="0" marL="0">
              <a:buNone/>
            </a:pPr>
            <a:r>
              <a:rPr lang="en-US" sz="12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73: serviços e localized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src/gen/*.hdbindex</a:t>
            </a:r>
            <a:pPr indent="0" marL="0">
              <a:buNone/>
            </a:pPr>
            <a:r>
              <a:rPr lang="en-US" sz="12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4: UNIQUE do @assert.unique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2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src/gen/data/</a:t>
            </a:r>
            <a:pPr indent="0" marL="0">
              <a:buNone/>
            </a:pPr>
            <a:r>
              <a:rPr lang="en-US" sz="12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CSV + .hdbtabledata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undeploy.json</a:t>
            </a:r>
            <a:pPr indent="0" marL="0">
              <a:buNone/>
            </a:pPr>
            <a:r>
              <a:rPr lang="en-US" sz="12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artefatos a remover</a:t>
            </a:r>
            <a:endParaRPr lang="en-US" sz="1200" dirty="0"/>
          </a:p>
        </p:txBody>
      </p:sp>
      <p:sp>
        <p:nvSpPr>
          <p:cNvPr id="7" name="Avatar LuDatabase"/>
          <p:cNvSpPr/>
          <p:nvPr/>
        </p:nvSpPr>
        <p:spPr>
          <a:xfrm>
            <a:off x="6537960" y="164592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8" name="Image 0" descr="LuDataba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47688" y="1755648"/>
            <a:ext cx="237744" cy="237744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223760" y="1609344"/>
            <a:ext cx="4434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Artefatos HDI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7223760" y="1929384"/>
            <a:ext cx="44348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Saída real do build: 36 tabelas, 73 views e 4 índices únicos.</a:t>
            </a:r>
            <a:endParaRPr lang="en-US" sz="1400" dirty="0"/>
          </a:p>
        </p:txBody>
      </p:sp>
      <p:sp>
        <p:nvSpPr>
          <p:cNvPr id="11" name="Avatar LuCodeXml"/>
          <p:cNvSpPr/>
          <p:nvPr/>
        </p:nvSpPr>
        <p:spPr>
          <a:xfrm>
            <a:off x="6537960" y="283464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DAFDF5"/>
          </a:solidFill>
          <a:ln/>
        </p:spPr>
      </p:sp>
      <p:pic>
        <p:nvPicPr>
          <p:cNvPr id="12" name="Image 1" descr="LuCodeXm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7688" y="2944368"/>
            <a:ext cx="237744" cy="23774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7223760" y="2798064"/>
            <a:ext cx="4434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TypeScript compilado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7223760" y="3118104"/>
            <a:ext cx="44348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npm run build usa tsconfig.cdsbuild.json para gerar JS.</a:t>
            </a:r>
            <a:endParaRPr lang="en-US" sz="1400" dirty="0"/>
          </a:p>
        </p:txBody>
      </p:sp>
      <p:sp>
        <p:nvSpPr>
          <p:cNvPr id="15" name="Avatar LuShieldCheck"/>
          <p:cNvSpPr/>
          <p:nvPr/>
        </p:nvSpPr>
        <p:spPr>
          <a:xfrm>
            <a:off x="6537960" y="402336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1ECFF"/>
          </a:solidFill>
          <a:ln/>
        </p:spPr>
      </p:sp>
      <p:pic>
        <p:nvPicPr>
          <p:cNvPr id="16" name="Image 2" descr="LuShieldChe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7688" y="4133088"/>
            <a:ext cx="237744" cy="237744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7223760" y="3986784"/>
            <a:ext cx="4434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Perfil [production]</a:t>
            </a:r>
            <a:endParaRPr lang="en-US" sz="1500" dirty="0"/>
          </a:p>
        </p:txBody>
      </p:sp>
      <p:sp>
        <p:nvSpPr>
          <p:cNvPr id="18" name="Text 12"/>
          <p:cNvSpPr txBox="1"/>
          <p:nvPr/>
        </p:nvSpPr>
        <p:spPr>
          <a:xfrm>
            <a:off x="7223760" y="4306824"/>
            <a:ext cx="44348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db = hana; o SQLite só existe no desenvolvimento.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PUBLICAÇÃO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Roteiro de publicação na SAP BTP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600200"/>
            <a:ext cx="2079346" cy="2103120"/>
          </a:xfrm>
          <a:prstGeom prst="roundRect">
            <a:avLst>
              <a:gd name="adj" fmla="val 5277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6" name="Avatar LuSettings"/>
          <p:cNvSpPr/>
          <p:nvPr/>
        </p:nvSpPr>
        <p:spPr>
          <a:xfrm>
            <a:off x="749808" y="180136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7" name="Image 0" descr="LuSetting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" y="1911096"/>
            <a:ext cx="237744" cy="23774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2061058" y="1764792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1EFFF"/>
                </a:solidFill>
              </a:rPr>
              <a:t>1</a:t>
            </a:r>
            <a:endParaRPr lang="en-US" sz="2000" dirty="0"/>
          </a:p>
        </p:txBody>
      </p:sp>
      <p:sp>
        <p:nvSpPr>
          <p:cNvPr id="9" name="Text 5"/>
          <p:cNvSpPr txBox="1"/>
          <p:nvPr/>
        </p:nvSpPr>
        <p:spPr>
          <a:xfrm>
            <a:off x="749808" y="2368296"/>
            <a:ext cx="171358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cds add</a:t>
            </a:r>
            <a:endParaRPr lang="en-US" sz="1300" dirty="0"/>
          </a:p>
        </p:txBody>
      </p:sp>
      <p:sp>
        <p:nvSpPr>
          <p:cNvPr id="10" name="Text 6"/>
          <p:cNvSpPr txBox="1"/>
          <p:nvPr/>
        </p:nvSpPr>
        <p:spPr>
          <a:xfrm>
            <a:off x="749808" y="2743200"/>
            <a:ext cx="171358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xsuaa, html5-repo, workzone, mta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2627986" y="2423160"/>
            <a:ext cx="173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›</a:t>
            </a:r>
            <a:endParaRPr lang="en-US" sz="2200" dirty="0"/>
          </a:p>
        </p:txBody>
      </p:sp>
      <p:sp>
        <p:nvSpPr>
          <p:cNvPr id="12" name="Cartão"/>
          <p:cNvSpPr/>
          <p:nvPr/>
        </p:nvSpPr>
        <p:spPr>
          <a:xfrm>
            <a:off x="2801722" y="1600200"/>
            <a:ext cx="2079346" cy="2103120"/>
          </a:xfrm>
          <a:prstGeom prst="roundRect">
            <a:avLst>
              <a:gd name="adj" fmla="val 5277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13" name="Avatar LuShieldCheck"/>
          <p:cNvSpPr/>
          <p:nvPr/>
        </p:nvSpPr>
        <p:spPr>
          <a:xfrm>
            <a:off x="3002890" y="180136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14" name="Image 1" descr="LuShield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12618" y="1911096"/>
            <a:ext cx="237744" cy="237744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4314139" y="1764792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1EFFF"/>
                </a:solidFill>
              </a:rPr>
              <a:t>2</a:t>
            </a:r>
            <a:endParaRPr lang="en-US" sz="2000" dirty="0"/>
          </a:p>
        </p:txBody>
      </p:sp>
      <p:sp>
        <p:nvSpPr>
          <p:cNvPr id="16" name="Text 11"/>
          <p:cNvSpPr txBox="1"/>
          <p:nvPr/>
        </p:nvSpPr>
        <p:spPr>
          <a:xfrm>
            <a:off x="3002890" y="2368296"/>
            <a:ext cx="171358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xs-security.json</a:t>
            </a:r>
            <a:endParaRPr lang="en-US" sz="1300" dirty="0"/>
          </a:p>
        </p:txBody>
      </p:sp>
      <p:sp>
        <p:nvSpPr>
          <p:cNvPr id="17" name="Text 12"/>
          <p:cNvSpPr txBox="1"/>
          <p:nvPr/>
        </p:nvSpPr>
        <p:spPr>
          <a:xfrm>
            <a:off x="3002890" y="2743200"/>
            <a:ext cx="171358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Escopos e role templates Admin e Comum</a:t>
            </a:r>
            <a:endParaRPr lang="en-US" sz="1300" dirty="0"/>
          </a:p>
        </p:txBody>
      </p:sp>
      <p:sp>
        <p:nvSpPr>
          <p:cNvPr id="18" name="Text 13"/>
          <p:cNvSpPr txBox="1"/>
          <p:nvPr/>
        </p:nvSpPr>
        <p:spPr>
          <a:xfrm>
            <a:off x="4881067" y="2423160"/>
            <a:ext cx="173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›</a:t>
            </a:r>
            <a:endParaRPr lang="en-US" sz="2200" dirty="0"/>
          </a:p>
        </p:txBody>
      </p:sp>
      <p:sp>
        <p:nvSpPr>
          <p:cNvPr id="19" name="Cartão"/>
          <p:cNvSpPr/>
          <p:nvPr/>
        </p:nvSpPr>
        <p:spPr>
          <a:xfrm>
            <a:off x="5054803" y="1600200"/>
            <a:ext cx="2079346" cy="2103120"/>
          </a:xfrm>
          <a:prstGeom prst="roundRect">
            <a:avLst>
              <a:gd name="adj" fmla="val 5277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20" name="Avatar LuBox"/>
          <p:cNvSpPr/>
          <p:nvPr/>
        </p:nvSpPr>
        <p:spPr>
          <a:xfrm>
            <a:off x="5255971" y="180136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21" name="Image 2" descr="LuBox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65699" y="1911096"/>
            <a:ext cx="237744" cy="237744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6567221" y="1764792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1EFFF"/>
                </a:solidFill>
              </a:rPr>
              <a:t>3</a:t>
            </a:r>
            <a:endParaRPr lang="en-US" sz="2000" dirty="0"/>
          </a:p>
        </p:txBody>
      </p:sp>
      <p:sp>
        <p:nvSpPr>
          <p:cNvPr id="23" name="Text 17"/>
          <p:cNvSpPr txBox="1"/>
          <p:nvPr/>
        </p:nvSpPr>
        <p:spPr>
          <a:xfrm>
            <a:off x="5255971" y="2368296"/>
            <a:ext cx="171358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mbt build</a:t>
            </a:r>
            <a:endParaRPr lang="en-US" sz="1300" dirty="0"/>
          </a:p>
        </p:txBody>
      </p:sp>
      <p:sp>
        <p:nvSpPr>
          <p:cNvPr id="24" name="Text 18"/>
          <p:cNvSpPr txBox="1"/>
          <p:nvPr/>
        </p:nvSpPr>
        <p:spPr>
          <a:xfrm>
            <a:off x="5255971" y="2743200"/>
            <a:ext cx="171358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Gera o .mtar com serviço, db e apps</a:t>
            </a:r>
            <a:endParaRPr lang="en-US" sz="1300" dirty="0"/>
          </a:p>
        </p:txBody>
      </p:sp>
      <p:sp>
        <p:nvSpPr>
          <p:cNvPr id="25" name="Text 19"/>
          <p:cNvSpPr txBox="1"/>
          <p:nvPr/>
        </p:nvSpPr>
        <p:spPr>
          <a:xfrm>
            <a:off x="7134149" y="2423160"/>
            <a:ext cx="173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›</a:t>
            </a:r>
            <a:endParaRPr lang="en-US" sz="2200" dirty="0"/>
          </a:p>
        </p:txBody>
      </p:sp>
      <p:sp>
        <p:nvSpPr>
          <p:cNvPr id="26" name="Cartão"/>
          <p:cNvSpPr/>
          <p:nvPr/>
        </p:nvSpPr>
        <p:spPr>
          <a:xfrm>
            <a:off x="7307885" y="1600200"/>
            <a:ext cx="2079346" cy="2103120"/>
          </a:xfrm>
          <a:prstGeom prst="roundRect">
            <a:avLst>
              <a:gd name="adj" fmla="val 5277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27" name="Avatar LuCloudUpload"/>
          <p:cNvSpPr/>
          <p:nvPr/>
        </p:nvSpPr>
        <p:spPr>
          <a:xfrm>
            <a:off x="7509053" y="180136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0070F2"/>
          </a:solidFill>
          <a:ln/>
        </p:spPr>
      </p:sp>
      <p:pic>
        <p:nvPicPr>
          <p:cNvPr id="28" name="Image 3" descr="LuCloudUpload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18781" y="1911096"/>
            <a:ext cx="237744" cy="237744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8820302" y="1764792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1EFFF"/>
                </a:solidFill>
              </a:rPr>
              <a:t>4</a:t>
            </a:r>
            <a:endParaRPr lang="en-US" sz="2000" dirty="0"/>
          </a:p>
        </p:txBody>
      </p:sp>
      <p:sp>
        <p:nvSpPr>
          <p:cNvPr id="30" name="Text 23"/>
          <p:cNvSpPr txBox="1"/>
          <p:nvPr/>
        </p:nvSpPr>
        <p:spPr>
          <a:xfrm>
            <a:off x="7509053" y="2368296"/>
            <a:ext cx="171358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cf deploy</a:t>
            </a:r>
            <a:endParaRPr lang="en-US" sz="1300" dirty="0"/>
          </a:p>
        </p:txBody>
      </p:sp>
      <p:sp>
        <p:nvSpPr>
          <p:cNvPr id="31" name="Text 24"/>
          <p:cNvSpPr txBox="1"/>
          <p:nvPr/>
        </p:nvSpPr>
        <p:spPr>
          <a:xfrm>
            <a:off x="7509053" y="2743200"/>
            <a:ext cx="171358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Serviço, db-deployer, apps e instâncias</a:t>
            </a:r>
            <a:endParaRPr lang="en-US" sz="1300" dirty="0"/>
          </a:p>
        </p:txBody>
      </p:sp>
      <p:sp>
        <p:nvSpPr>
          <p:cNvPr id="32" name="Text 25"/>
          <p:cNvSpPr txBox="1"/>
          <p:nvPr/>
        </p:nvSpPr>
        <p:spPr>
          <a:xfrm>
            <a:off x="9387230" y="2423160"/>
            <a:ext cx="173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›</a:t>
            </a:r>
            <a:endParaRPr lang="en-US" sz="2200" dirty="0"/>
          </a:p>
        </p:txBody>
      </p:sp>
      <p:sp>
        <p:nvSpPr>
          <p:cNvPr id="33" name="Cartão"/>
          <p:cNvSpPr/>
          <p:nvPr/>
        </p:nvSpPr>
        <p:spPr>
          <a:xfrm>
            <a:off x="9560966" y="1600200"/>
            <a:ext cx="2079346" cy="2103120"/>
          </a:xfrm>
          <a:prstGeom prst="roundRect">
            <a:avLst>
              <a:gd name="adj" fmla="val 5277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34" name="Avatar LuLayoutGrid"/>
          <p:cNvSpPr/>
          <p:nvPr/>
        </p:nvSpPr>
        <p:spPr>
          <a:xfrm>
            <a:off x="9762134" y="180136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35" name="Image 4" descr="LuLayoutGrid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71862" y="1911096"/>
            <a:ext cx="237744" cy="237744"/>
          </a:xfrm>
          <a:prstGeom prst="rect">
            <a:avLst/>
          </a:prstGeom>
        </p:spPr>
      </p:pic>
      <p:sp>
        <p:nvSpPr>
          <p:cNvPr id="36" name="Text 28"/>
          <p:cNvSpPr txBox="1"/>
          <p:nvPr/>
        </p:nvSpPr>
        <p:spPr>
          <a:xfrm>
            <a:off x="11073384" y="1764792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1EFFF"/>
                </a:solidFill>
              </a:rPr>
              <a:t>5</a:t>
            </a:r>
            <a:endParaRPr lang="en-US" sz="2000" dirty="0"/>
          </a:p>
        </p:txBody>
      </p:sp>
      <p:sp>
        <p:nvSpPr>
          <p:cNvPr id="37" name="Text 29"/>
          <p:cNvSpPr txBox="1"/>
          <p:nvPr/>
        </p:nvSpPr>
        <p:spPr>
          <a:xfrm>
            <a:off x="9762134" y="2368296"/>
            <a:ext cx="171358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Work Zone</a:t>
            </a:r>
            <a:endParaRPr lang="en-US" sz="1300" dirty="0"/>
          </a:p>
        </p:txBody>
      </p:sp>
      <p:sp>
        <p:nvSpPr>
          <p:cNvPr id="38" name="Text 30"/>
          <p:cNvSpPr txBox="1"/>
          <p:nvPr/>
        </p:nvSpPr>
        <p:spPr>
          <a:xfrm>
            <a:off x="9762134" y="2743200"/>
            <a:ext cx="171358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Site com os 8 tiles e role collections</a:t>
            </a:r>
            <a:endParaRPr lang="en-US" sz="1300" dirty="0"/>
          </a:p>
        </p:txBody>
      </p:sp>
      <p:sp>
        <p:nvSpPr>
          <p:cNvPr id="39" name="Bloco de código"/>
          <p:cNvSpPr/>
          <p:nvPr/>
        </p:nvSpPr>
        <p:spPr>
          <a:xfrm>
            <a:off x="548640" y="3977640"/>
            <a:ext cx="11091672" cy="1402080"/>
          </a:xfrm>
          <a:prstGeom prst="roundRect">
            <a:avLst>
              <a:gd name="adj" fmla="val 7826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8000"/>
              </a:srgbClr>
            </a:outerShdw>
          </a:effectLst>
        </p:spPr>
      </p:sp>
      <p:sp>
        <p:nvSpPr>
          <p:cNvPr id="40" name="Código"/>
          <p:cNvSpPr txBox="1"/>
          <p:nvPr/>
        </p:nvSpPr>
        <p:spPr>
          <a:xfrm>
            <a:off x="777240" y="4160520"/>
            <a:ext cx="10634472" cy="103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pPr indent="0" marL="0">
              <a:buNone/>
            </a:pPr>
            <a:r>
              <a:rPr lang="en-US" sz="13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cds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add xsuaa,html5-repo,workzone,mta   </a:t>
            </a:r>
            <a:pPr indent="0" marL="0">
              <a:buNone/>
            </a:pPr>
            <a:r>
              <a:rPr lang="en-US" sz="13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@cap-js/hana e [production] já configurados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pPr indent="0" marL="0">
              <a:buNone/>
            </a:pPr>
            <a:r>
              <a:rPr lang="en-US" sz="13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run build                          </a:t>
            </a:r>
            <a:pPr indent="0" marL="0">
              <a:buNone/>
            </a:pPr>
            <a:r>
              <a:rPr lang="en-US" sz="13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TS: compila para gen/srv (JS: cds build --production)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pPr indent="0" marL="0">
              <a:buNone/>
            </a:pPr>
            <a:r>
              <a:rPr lang="en-US" sz="13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mbt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build                              </a:t>
            </a:r>
            <a:pPr indent="0" marL="0">
              <a:buNone/>
            </a:pPr>
            <a:r>
              <a:rPr lang="en-US" sz="13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mta_archives/pedidos-compras-cap_1.0.0.mtar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pPr indent="0" marL="0">
              <a:buNone/>
            </a:pPr>
            <a:r>
              <a:rPr lang="en-US" sz="13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cf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login </a:t>
            </a:r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-a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https://api.cf.&lt;região&gt;.hana.ondemand.com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pPr indent="0" marL="0">
              <a:buNone/>
            </a:pPr>
            <a:r>
              <a:rPr lang="en-US" sz="13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cf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deploy mta_archives/pedidos-compras-cap_1.0.0.mtar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PUBLICAÇÃO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Papéis na produção: xs-security.json (proposta)</a:t>
            </a:r>
            <a:endParaRPr lang="en-US" sz="3200" dirty="0"/>
          </a:p>
        </p:txBody>
      </p:sp>
      <p:sp>
        <p:nvSpPr>
          <p:cNvPr id="5" name="Bloco de código"/>
          <p:cNvSpPr/>
          <p:nvPr/>
        </p:nvSpPr>
        <p:spPr>
          <a:xfrm>
            <a:off x="548640" y="1554480"/>
            <a:ext cx="6035040" cy="3764280"/>
          </a:xfrm>
          <a:prstGeom prst="roundRect">
            <a:avLst>
              <a:gd name="adj" fmla="val 2915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8000"/>
              </a:srgbClr>
            </a:outerShdw>
          </a:effectLst>
        </p:spPr>
      </p:sp>
      <p:sp>
        <p:nvSpPr>
          <p:cNvPr id="6" name="Código"/>
          <p:cNvSpPr txBox="1"/>
          <p:nvPr/>
        </p:nvSpPr>
        <p:spPr>
          <a:xfrm>
            <a:off x="777240" y="1737360"/>
            <a:ext cx="5577840" cy="3398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"xsappname"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"pedidos-compras"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"tenant-mode"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"dedicated"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"scopes"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1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"name"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"$XSAPPNAME.Admin"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1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"name"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"$XSAPPNAME.Comum"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"role-templates"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1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"name"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"Admin"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"scope-references"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"$XSAPPNAME.Admin"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1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"name"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"Comum"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"scope-references"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"$XSAPPNAME.Comum"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"role-collections"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1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"name"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"PedidosCompras_Admin"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"role-template-references"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"$XSAPPNAME.Admin"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1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"name"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"PedidosCompras_Comum"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"role-template-references"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"$XSAPPNAME.Comum"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</p:txBody>
      </p:sp>
      <p:sp>
        <p:nvSpPr>
          <p:cNvPr id="7" name="Avatar LuKeyRound"/>
          <p:cNvSpPr/>
          <p:nvPr/>
        </p:nvSpPr>
        <p:spPr>
          <a:xfrm>
            <a:off x="6903720" y="164592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8" name="Image 0" descr="LuKeyRoun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13448" y="1755648"/>
            <a:ext cx="237744" cy="237744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589520" y="1609344"/>
            <a:ext cx="4069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Mesmo nome do @restrict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7589520" y="1929384"/>
            <a:ext cx="40690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Admin e Comum chegam ao CAP como papéis do usuário.</a:t>
            </a:r>
            <a:endParaRPr lang="en-US" sz="1400" dirty="0"/>
          </a:p>
        </p:txBody>
      </p:sp>
      <p:sp>
        <p:nvSpPr>
          <p:cNvPr id="11" name="Avatar LuUsers"/>
          <p:cNvSpPr/>
          <p:nvPr/>
        </p:nvSpPr>
        <p:spPr>
          <a:xfrm>
            <a:off x="6903720" y="283464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DAFDF5"/>
          </a:solidFill>
          <a:ln/>
        </p:spPr>
      </p:sp>
      <p:pic>
        <p:nvPicPr>
          <p:cNvPr id="12" name="Image 1" descr="LuUser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13448" y="2944368"/>
            <a:ext cx="237744" cy="23774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7589520" y="2798064"/>
            <a:ext cx="4069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Role collections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7589520" y="3118104"/>
            <a:ext cx="40690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Atribuídas aos usuários na subconta da BTP.</a:t>
            </a:r>
            <a:endParaRPr lang="en-US" sz="1400" dirty="0"/>
          </a:p>
        </p:txBody>
      </p:sp>
      <p:sp>
        <p:nvSpPr>
          <p:cNvPr id="15" name="Avatar LuFileCode"/>
          <p:cNvSpPr/>
          <p:nvPr/>
        </p:nvSpPr>
        <p:spPr>
          <a:xfrm>
            <a:off x="6903720" y="402336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1ECFF"/>
          </a:solidFill>
          <a:ln/>
        </p:spPr>
      </p:sp>
      <p:pic>
        <p:nvPicPr>
          <p:cNvPr id="16" name="Image 2" descr="LuFileCod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13448" y="4133088"/>
            <a:ext cx="237744" cy="237744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7589520" y="3986784"/>
            <a:ext cx="4069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cds add xsuaa</a:t>
            </a:r>
            <a:endParaRPr lang="en-US" sz="1500" dirty="0"/>
          </a:p>
        </p:txBody>
      </p:sp>
      <p:sp>
        <p:nvSpPr>
          <p:cNvPr id="18" name="Text 12"/>
          <p:cNvSpPr txBox="1"/>
          <p:nvPr/>
        </p:nvSpPr>
        <p:spPr>
          <a:xfrm>
            <a:off x="7589520" y="4306824"/>
            <a:ext cx="40690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Gera o arquivo a partir dos papéis do modelo.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PUBLICAÇÃO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Componentes do MTA e serviços da SAP BTP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600200"/>
            <a:ext cx="3575304" cy="2103120"/>
          </a:xfrm>
          <a:prstGeom prst="roundRect">
            <a:avLst>
              <a:gd name="adj" fmla="val 5217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6" name="Avatar LuServer"/>
          <p:cNvSpPr/>
          <p:nvPr/>
        </p:nvSpPr>
        <p:spPr>
          <a:xfrm>
            <a:off x="777240" y="182880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7" name="Image 0" descr="LuServ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8914" y="1960474"/>
            <a:ext cx="285293" cy="285293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508760" y="1801368"/>
            <a:ext cx="2386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pedidos-compras-srv</a:t>
            </a:r>
            <a:endParaRPr lang="en-US" sz="1600" dirty="0"/>
          </a:p>
        </p:txBody>
      </p:sp>
      <p:sp>
        <p:nvSpPr>
          <p:cNvPr id="9" name="Text 5"/>
          <p:cNvSpPr txBox="1"/>
          <p:nvPr/>
        </p:nvSpPr>
        <p:spPr>
          <a:xfrm>
            <a:off x="1508760" y="2203704"/>
            <a:ext cx="238658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Node.js 22 com @sap/cds 10 e os 5 serviços OData V4.</a:t>
            </a:r>
            <a:endParaRPr lang="en-US" sz="1400" dirty="0"/>
          </a:p>
        </p:txBody>
      </p:sp>
      <p:sp>
        <p:nvSpPr>
          <p:cNvPr id="10" name="Cartão"/>
          <p:cNvSpPr/>
          <p:nvPr/>
        </p:nvSpPr>
        <p:spPr>
          <a:xfrm>
            <a:off x="4306824" y="1600200"/>
            <a:ext cx="3575304" cy="2103120"/>
          </a:xfrm>
          <a:prstGeom prst="roundRect">
            <a:avLst>
              <a:gd name="adj" fmla="val 5217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11" name="Avatar LuDatabase"/>
          <p:cNvSpPr/>
          <p:nvPr/>
        </p:nvSpPr>
        <p:spPr>
          <a:xfrm>
            <a:off x="4535424" y="182880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DAFDF5"/>
          </a:solidFill>
          <a:ln/>
        </p:spPr>
      </p:sp>
      <p:pic>
        <p:nvPicPr>
          <p:cNvPr id="12" name="Image 1" descr="LuDatabas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7098" y="1960474"/>
            <a:ext cx="285293" cy="285293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266944" y="1801368"/>
            <a:ext cx="2386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db-deployer + HDI</a:t>
            </a:r>
            <a:endParaRPr lang="en-US" sz="1600" dirty="0"/>
          </a:p>
        </p:txBody>
      </p:sp>
      <p:sp>
        <p:nvSpPr>
          <p:cNvPr id="14" name="Text 9"/>
          <p:cNvSpPr txBox="1"/>
          <p:nvPr/>
        </p:nvSpPr>
        <p:spPr>
          <a:xfrm>
            <a:off x="5266944" y="2203704"/>
            <a:ext cx="238658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Tabelas, views, CodeLists e dados no container hdi-shared.</a:t>
            </a:r>
            <a:endParaRPr lang="en-US" sz="1400" dirty="0"/>
          </a:p>
        </p:txBody>
      </p:sp>
      <p:sp>
        <p:nvSpPr>
          <p:cNvPr id="15" name="Cartão"/>
          <p:cNvSpPr/>
          <p:nvPr/>
        </p:nvSpPr>
        <p:spPr>
          <a:xfrm>
            <a:off x="8065008" y="1600200"/>
            <a:ext cx="3575304" cy="2103120"/>
          </a:xfrm>
          <a:prstGeom prst="roundRect">
            <a:avLst>
              <a:gd name="adj" fmla="val 5217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16" name="Avatar LuKeyRound"/>
          <p:cNvSpPr/>
          <p:nvPr/>
        </p:nvSpPr>
        <p:spPr>
          <a:xfrm>
            <a:off x="8293608" y="182880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F1ECFF"/>
          </a:solidFill>
          <a:ln/>
        </p:spPr>
      </p:sp>
      <p:pic>
        <p:nvPicPr>
          <p:cNvPr id="17" name="Image 2" descr="LuKeyRoun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25282" y="1960474"/>
            <a:ext cx="285293" cy="285293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9025128" y="1801368"/>
            <a:ext cx="2386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XSUAA</a:t>
            </a:r>
            <a:endParaRPr lang="en-US" sz="1600" dirty="0"/>
          </a:p>
        </p:txBody>
      </p:sp>
      <p:sp>
        <p:nvSpPr>
          <p:cNvPr id="19" name="Text 13"/>
          <p:cNvSpPr txBox="1"/>
          <p:nvPr/>
        </p:nvSpPr>
        <p:spPr>
          <a:xfrm>
            <a:off x="9025128" y="2203704"/>
            <a:ext cx="238658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Role collections Admin e Comum; login via SAP ID ou IAS.</a:t>
            </a:r>
            <a:endParaRPr lang="en-US" sz="1400" dirty="0"/>
          </a:p>
        </p:txBody>
      </p:sp>
      <p:sp>
        <p:nvSpPr>
          <p:cNvPr id="20" name="Cartão"/>
          <p:cNvSpPr/>
          <p:nvPr/>
        </p:nvSpPr>
        <p:spPr>
          <a:xfrm>
            <a:off x="548640" y="3886200"/>
            <a:ext cx="3575304" cy="2103120"/>
          </a:xfrm>
          <a:prstGeom prst="roundRect">
            <a:avLst>
              <a:gd name="adj" fmla="val 5217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21" name="Avatar LuRoute"/>
          <p:cNvSpPr/>
          <p:nvPr/>
        </p:nvSpPr>
        <p:spPr>
          <a:xfrm>
            <a:off x="777240" y="411480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FFF3B8"/>
          </a:solidFill>
          <a:ln/>
        </p:spPr>
      </p:sp>
      <p:pic>
        <p:nvPicPr>
          <p:cNvPr id="22" name="Image 3" descr="LuRout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8914" y="4246474"/>
            <a:ext cx="285293" cy="285293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508760" y="4087368"/>
            <a:ext cx="2386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Destination service</a:t>
            </a:r>
            <a:endParaRPr lang="en-US" sz="1600" dirty="0"/>
          </a:p>
        </p:txBody>
      </p:sp>
      <p:sp>
        <p:nvSpPr>
          <p:cNvPr id="24" name="Text 17"/>
          <p:cNvSpPr txBox="1"/>
          <p:nvPr/>
        </p:nvSpPr>
        <p:spPr>
          <a:xfrm>
            <a:off x="1508760" y="4489704"/>
            <a:ext cx="238658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Aponta para o serviço CAP com forwardAuthToken.</a:t>
            </a:r>
            <a:endParaRPr lang="en-US" sz="1400" dirty="0"/>
          </a:p>
        </p:txBody>
      </p:sp>
      <p:sp>
        <p:nvSpPr>
          <p:cNvPr id="25" name="Cartão"/>
          <p:cNvSpPr/>
          <p:nvPr/>
        </p:nvSpPr>
        <p:spPr>
          <a:xfrm>
            <a:off x="4306824" y="3886200"/>
            <a:ext cx="3575304" cy="2103120"/>
          </a:xfrm>
          <a:prstGeom prst="roundRect">
            <a:avLst>
              <a:gd name="adj" fmla="val 5217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26" name="Avatar LuAppWindow"/>
          <p:cNvSpPr/>
          <p:nvPr/>
        </p:nvSpPr>
        <p:spPr>
          <a:xfrm>
            <a:off x="4535424" y="411480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F5FAE5"/>
          </a:solidFill>
          <a:ln/>
        </p:spPr>
      </p:sp>
      <p:pic>
        <p:nvPicPr>
          <p:cNvPr id="27" name="Image 4" descr="LuAppWindow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7098" y="4246474"/>
            <a:ext cx="285293" cy="285293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5266944" y="4087368"/>
            <a:ext cx="2386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HTML5 Repository</a:t>
            </a:r>
            <a:endParaRPr lang="en-US" sz="1600" dirty="0"/>
          </a:p>
        </p:txBody>
      </p:sp>
      <p:sp>
        <p:nvSpPr>
          <p:cNvPr id="29" name="Text 21"/>
          <p:cNvSpPr txBox="1"/>
          <p:nvPr/>
        </p:nvSpPr>
        <p:spPr>
          <a:xfrm>
            <a:off x="5266944" y="4489704"/>
            <a:ext cx="238658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Hospeda as 8 apps SAPUI5 construídas.</a:t>
            </a:r>
            <a:endParaRPr lang="en-US" sz="1400" dirty="0"/>
          </a:p>
        </p:txBody>
      </p:sp>
      <p:sp>
        <p:nvSpPr>
          <p:cNvPr id="30" name="Cartão"/>
          <p:cNvSpPr/>
          <p:nvPr/>
        </p:nvSpPr>
        <p:spPr>
          <a:xfrm>
            <a:off x="8065008" y="3886200"/>
            <a:ext cx="3575304" cy="2103120"/>
          </a:xfrm>
          <a:prstGeom prst="roundRect">
            <a:avLst>
              <a:gd name="adj" fmla="val 5217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31" name="Avatar LuLayoutGrid"/>
          <p:cNvSpPr/>
          <p:nvPr/>
        </p:nvSpPr>
        <p:spPr>
          <a:xfrm>
            <a:off x="8293608" y="411480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FFEAF4"/>
          </a:solidFill>
          <a:ln/>
        </p:spPr>
      </p:sp>
      <p:pic>
        <p:nvPicPr>
          <p:cNvPr id="32" name="Image 5" descr="LuLayoutGrid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25282" y="4246474"/>
            <a:ext cx="285293" cy="285293"/>
          </a:xfrm>
          <a:prstGeom prst="rect">
            <a:avLst/>
          </a:prstGeom>
        </p:spPr>
      </p:pic>
      <p:sp>
        <p:nvSpPr>
          <p:cNvPr id="33" name="Text 24"/>
          <p:cNvSpPr txBox="1"/>
          <p:nvPr/>
        </p:nvSpPr>
        <p:spPr>
          <a:xfrm>
            <a:off x="9025128" y="4087368"/>
            <a:ext cx="2386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SAP Build Work Zone</a:t>
            </a:r>
            <a:endParaRPr lang="en-US" sz="1600" dirty="0"/>
          </a:p>
        </p:txBody>
      </p:sp>
      <p:sp>
        <p:nvSpPr>
          <p:cNvPr id="34" name="Text 25"/>
          <p:cNvSpPr txBox="1"/>
          <p:nvPr/>
        </p:nvSpPr>
        <p:spPr>
          <a:xfrm>
            <a:off x="9025128" y="4489704"/>
            <a:ext cx="238658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Site com tiles e approuter gerenciado.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PUBLICAÇÃO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Situação atual e próximos passos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600200"/>
            <a:ext cx="6949440" cy="4480560"/>
          </a:xfrm>
          <a:prstGeom prst="roundRect">
            <a:avLst>
              <a:gd name="adj" fmla="val 2449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822960" y="1810512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Modelo, serviços, regras, apps e análises</a:t>
            </a:r>
            <a:endParaRPr lang="en-US" sz="1400" dirty="0"/>
          </a:p>
        </p:txBody>
      </p:sp>
      <p:sp>
        <p:nvSpPr>
          <p:cNvPr id="7" name="Status Implementado"/>
          <p:cNvSpPr txBox="1"/>
          <p:nvPr/>
        </p:nvSpPr>
        <p:spPr>
          <a:xfrm>
            <a:off x="5852160" y="1879092"/>
            <a:ext cx="1371600" cy="274320"/>
          </a:xfrm>
          <a:prstGeom prst="roundRect">
            <a:avLst>
              <a:gd name="adj" fmla="val 46667"/>
            </a:avLst>
          </a:prstGeom>
          <a:solidFill>
            <a:srgbClr val="F5FAE5"/>
          </a:solidFill>
          <a:ln w="9525">
            <a:solidFill>
              <a:srgbClr val="256F3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F3A"/>
                </a:solidFill>
              </a:rPr>
              <a:t>Implementado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395728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Testes automatizados (74 JS · 76 TS) e lint</a:t>
            </a:r>
            <a:endParaRPr lang="en-US" sz="1400" dirty="0"/>
          </a:p>
        </p:txBody>
      </p:sp>
      <p:sp>
        <p:nvSpPr>
          <p:cNvPr id="9" name="Status Implementado"/>
          <p:cNvSpPr txBox="1"/>
          <p:nvPr/>
        </p:nvSpPr>
        <p:spPr>
          <a:xfrm>
            <a:off x="5852160" y="2464308"/>
            <a:ext cx="1371600" cy="274320"/>
          </a:xfrm>
          <a:prstGeom prst="roundRect">
            <a:avLst>
              <a:gd name="adj" fmla="val 46667"/>
            </a:avLst>
          </a:prstGeom>
          <a:solidFill>
            <a:srgbClr val="F5FAE5"/>
          </a:solidFill>
          <a:ln w="9525">
            <a:solidFill>
              <a:srgbClr val="256F3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F3A"/>
                </a:solidFill>
              </a:rPr>
              <a:t>Implementado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822960" y="2980944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SAP HANA Cloud: @cap-js/hana e perfil [production]</a:t>
            </a:r>
            <a:endParaRPr lang="en-US" sz="1400" dirty="0"/>
          </a:p>
        </p:txBody>
      </p:sp>
      <p:sp>
        <p:nvSpPr>
          <p:cNvPr id="11" name="Status Configurado"/>
          <p:cNvSpPr txBox="1"/>
          <p:nvPr/>
        </p:nvSpPr>
        <p:spPr>
          <a:xfrm>
            <a:off x="5852160" y="3049524"/>
            <a:ext cx="1371600" cy="274320"/>
          </a:xfrm>
          <a:prstGeom prst="roundRect">
            <a:avLst>
              <a:gd name="adj" fmla="val 46667"/>
            </a:avLst>
          </a:prstGeom>
          <a:solidFill>
            <a:srgbClr val="EBF8FF"/>
          </a:solidFill>
          <a:ln w="9525">
            <a:solidFill>
              <a:srgbClr val="0070F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70F2"/>
                </a:solidFill>
              </a:rPr>
              <a:t>Configurado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822960" y="356616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cds build --production gera os artefatos HDI</a:t>
            </a:r>
            <a:endParaRPr lang="en-US" sz="1400" dirty="0"/>
          </a:p>
        </p:txBody>
      </p:sp>
      <p:sp>
        <p:nvSpPr>
          <p:cNvPr id="13" name="Status Configurado"/>
          <p:cNvSpPr txBox="1"/>
          <p:nvPr/>
        </p:nvSpPr>
        <p:spPr>
          <a:xfrm>
            <a:off x="5852160" y="3634740"/>
            <a:ext cx="1371600" cy="274320"/>
          </a:xfrm>
          <a:prstGeom prst="roundRect">
            <a:avLst>
              <a:gd name="adj" fmla="val 46667"/>
            </a:avLst>
          </a:prstGeom>
          <a:solidFill>
            <a:srgbClr val="EBF8FF"/>
          </a:solidFill>
          <a:ln w="9525">
            <a:solidFill>
              <a:srgbClr val="0070F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70F2"/>
                </a:solidFill>
              </a:rPr>
              <a:t>Configurado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822960" y="4151376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XSUAA (xs-security.json) e role collections</a:t>
            </a:r>
            <a:endParaRPr lang="en-US" sz="1400" dirty="0"/>
          </a:p>
        </p:txBody>
      </p:sp>
      <p:sp>
        <p:nvSpPr>
          <p:cNvPr id="15" name="Status Pendente"/>
          <p:cNvSpPr txBox="1"/>
          <p:nvPr/>
        </p:nvSpPr>
        <p:spPr>
          <a:xfrm>
            <a:off x="5852160" y="4219956"/>
            <a:ext cx="1371600" cy="274320"/>
          </a:xfrm>
          <a:prstGeom prst="roundRect">
            <a:avLst>
              <a:gd name="adj" fmla="val 46667"/>
            </a:avLst>
          </a:prstGeom>
          <a:solidFill>
            <a:srgbClr val="FFF3B8"/>
          </a:solidFill>
          <a:ln w="9525">
            <a:solidFill>
              <a:srgbClr val="B44F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44F00"/>
                </a:solidFill>
              </a:rPr>
              <a:t>Pendente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822960" y="4736592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Descritor MTA e deploy no Cloud Foundry</a:t>
            </a:r>
            <a:endParaRPr lang="en-US" sz="1400" dirty="0"/>
          </a:p>
        </p:txBody>
      </p:sp>
      <p:sp>
        <p:nvSpPr>
          <p:cNvPr id="17" name="Status Pendente"/>
          <p:cNvSpPr txBox="1"/>
          <p:nvPr/>
        </p:nvSpPr>
        <p:spPr>
          <a:xfrm>
            <a:off x="5852160" y="4805172"/>
            <a:ext cx="1371600" cy="274320"/>
          </a:xfrm>
          <a:prstGeom prst="roundRect">
            <a:avLst>
              <a:gd name="adj" fmla="val 46667"/>
            </a:avLst>
          </a:prstGeom>
          <a:solidFill>
            <a:srgbClr val="FFF3B8"/>
          </a:solidFill>
          <a:ln w="9525">
            <a:solidFill>
              <a:srgbClr val="B44F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44F00"/>
                </a:solidFill>
              </a:rPr>
              <a:t>Pendente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822960" y="5321808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Apps no SAP Build Work Zone</a:t>
            </a:r>
            <a:endParaRPr lang="en-US" sz="1400" dirty="0"/>
          </a:p>
        </p:txBody>
      </p:sp>
      <p:sp>
        <p:nvSpPr>
          <p:cNvPr id="19" name="Status Pendente"/>
          <p:cNvSpPr txBox="1"/>
          <p:nvPr/>
        </p:nvSpPr>
        <p:spPr>
          <a:xfrm>
            <a:off x="5852160" y="5390388"/>
            <a:ext cx="1371600" cy="274320"/>
          </a:xfrm>
          <a:prstGeom prst="roundRect">
            <a:avLst>
              <a:gd name="adj" fmla="val 46667"/>
            </a:avLst>
          </a:prstGeom>
          <a:solidFill>
            <a:srgbClr val="FFF3B8"/>
          </a:solidFill>
          <a:ln w="9525">
            <a:solidFill>
              <a:srgbClr val="B44F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44F00"/>
                </a:solidFill>
              </a:rPr>
              <a:t>Pendente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7818120" y="16459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56B82"/>
                </a:solidFill>
              </a:rPr>
              <a:t>EVOLUÇÕES FUTURAS</a:t>
            </a:r>
            <a:endParaRPr lang="en-US" sz="1200" dirty="0"/>
          </a:p>
        </p:txBody>
      </p:sp>
      <p:sp>
        <p:nvSpPr>
          <p:cNvPr id="21" name="Avatar LuCreditCard"/>
          <p:cNvSpPr/>
          <p:nvPr/>
        </p:nvSpPr>
        <p:spPr>
          <a:xfrm>
            <a:off x="7818120" y="210312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22" name="Image 0" descr="LuCreditCa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27848" y="2212848"/>
            <a:ext cx="237744" cy="237744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8503920" y="2066544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Histórico de pagamentos</a:t>
            </a:r>
            <a:endParaRPr lang="en-US" sz="1500" dirty="0"/>
          </a:p>
        </p:txBody>
      </p:sp>
      <p:sp>
        <p:nvSpPr>
          <p:cNvPr id="24" name="Text 20"/>
          <p:cNvSpPr txBox="1"/>
          <p:nvPr/>
        </p:nvSpPr>
        <p:spPr>
          <a:xfrm>
            <a:off x="8503920" y="2386584"/>
            <a:ext cx="3154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Hoje só a última tentativa é mantida.</a:t>
            </a:r>
            <a:endParaRPr lang="en-US" sz="1400" dirty="0"/>
          </a:p>
        </p:txBody>
      </p:sp>
      <p:sp>
        <p:nvSpPr>
          <p:cNvPr id="25" name="Avatar LuFileText"/>
          <p:cNvSpPr/>
          <p:nvPr/>
        </p:nvSpPr>
        <p:spPr>
          <a:xfrm>
            <a:off x="7818120" y="310896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DAFDF5"/>
          </a:solidFill>
          <a:ln/>
        </p:spPr>
      </p:sp>
      <p:pic>
        <p:nvPicPr>
          <p:cNvPr id="26" name="Image 1" descr="LuFileTex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7848" y="3218688"/>
            <a:ext cx="237744" cy="237744"/>
          </a:xfrm>
          <a:prstGeom prst="rect">
            <a:avLst/>
          </a:prstGeom>
        </p:spPr>
      </p:pic>
      <p:sp>
        <p:nvSpPr>
          <p:cNvPr id="27" name="Text 22"/>
          <p:cNvSpPr txBox="1"/>
          <p:nvPr/>
        </p:nvSpPr>
        <p:spPr>
          <a:xfrm>
            <a:off x="8503920" y="3072384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Auditoria e logs</a:t>
            </a:r>
            <a:endParaRPr lang="en-US" sz="1500" dirty="0"/>
          </a:p>
        </p:txBody>
      </p:sp>
      <p:sp>
        <p:nvSpPr>
          <p:cNvPr id="28" name="Text 23"/>
          <p:cNvSpPr txBox="1"/>
          <p:nvPr/>
        </p:nvSpPr>
        <p:spPr>
          <a:xfrm>
            <a:off x="8503920" y="3392424"/>
            <a:ext cx="3154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Alterações críticas e logs estruturados.</a:t>
            </a:r>
            <a:endParaRPr lang="en-US" sz="1400" dirty="0"/>
          </a:p>
        </p:txBody>
      </p:sp>
      <p:sp>
        <p:nvSpPr>
          <p:cNvPr id="29" name="Avatar LuImage"/>
          <p:cNvSpPr/>
          <p:nvPr/>
        </p:nvSpPr>
        <p:spPr>
          <a:xfrm>
            <a:off x="7818120" y="411480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1ECFF"/>
          </a:solidFill>
          <a:ln/>
        </p:spPr>
      </p:sp>
      <p:pic>
        <p:nvPicPr>
          <p:cNvPr id="30" name="Image 2" descr="LuImag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27848" y="4224528"/>
            <a:ext cx="237744" cy="237744"/>
          </a:xfrm>
          <a:prstGeom prst="rect">
            <a:avLst/>
          </a:prstGeom>
        </p:spPr>
      </p:pic>
      <p:sp>
        <p:nvSpPr>
          <p:cNvPr id="31" name="Text 25"/>
          <p:cNvSpPr txBox="1"/>
          <p:nvPr/>
        </p:nvSpPr>
        <p:spPr>
          <a:xfrm>
            <a:off x="8503920" y="4078224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Imagens externas</a:t>
            </a:r>
            <a:endParaRPr lang="en-US" sz="1500" dirty="0"/>
          </a:p>
        </p:txBody>
      </p:sp>
      <p:sp>
        <p:nvSpPr>
          <p:cNvPr id="32" name="Text 26"/>
          <p:cNvSpPr txBox="1"/>
          <p:nvPr/>
        </p:nvSpPr>
        <p:spPr>
          <a:xfrm>
            <a:off x="8503920" y="4398264"/>
            <a:ext cx="3154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Fotos fora do banco de dados.</a:t>
            </a:r>
            <a:endParaRPr lang="en-US" sz="1400" dirty="0"/>
          </a:p>
        </p:txBody>
      </p:sp>
      <p:sp>
        <p:nvSpPr>
          <p:cNvPr id="33" name="Avatar LuPlug"/>
          <p:cNvSpPr/>
          <p:nvPr/>
        </p:nvSpPr>
        <p:spPr>
          <a:xfrm>
            <a:off x="7818120" y="512064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FF3B8"/>
          </a:solidFill>
          <a:ln/>
        </p:spPr>
      </p:sp>
      <p:pic>
        <p:nvPicPr>
          <p:cNvPr id="34" name="Image 3" descr="LuPlu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7848" y="5230368"/>
            <a:ext cx="237744" cy="237744"/>
          </a:xfrm>
          <a:prstGeom prst="rect">
            <a:avLst/>
          </a:prstGeom>
        </p:spPr>
      </p:pic>
      <p:sp>
        <p:nvSpPr>
          <p:cNvPr id="35" name="Text 28"/>
          <p:cNvSpPr txBox="1"/>
          <p:nvPr/>
        </p:nvSpPr>
        <p:spPr>
          <a:xfrm>
            <a:off x="8503920" y="5084064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Integrações reais</a:t>
            </a:r>
            <a:endParaRPr lang="en-US" sz="1500" dirty="0"/>
          </a:p>
        </p:txBody>
      </p:sp>
      <p:sp>
        <p:nvSpPr>
          <p:cNvPr id="36" name="Text 29"/>
          <p:cNvSpPr txBox="1"/>
          <p:nvPr/>
        </p:nvSpPr>
        <p:spPr>
          <a:xfrm>
            <a:off x="8503920" y="5404104"/>
            <a:ext cx="3154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Gateway de pagamento e frete.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RESUMO DA JORNADA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96012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Seis etapas, do modelo às apps publicadas</a:t>
            </a:r>
            <a:endParaRPr lang="en-US" sz="3600" dirty="0"/>
          </a:p>
        </p:txBody>
      </p:sp>
      <p:sp>
        <p:nvSpPr>
          <p:cNvPr id="4" name="Etapa 1"/>
          <p:cNvSpPr/>
          <p:nvPr/>
        </p:nvSpPr>
        <p:spPr>
          <a:xfrm>
            <a:off x="731520" y="2148840"/>
            <a:ext cx="1645920" cy="3108960"/>
          </a:xfrm>
          <a:prstGeom prst="roundRect">
            <a:avLst>
              <a:gd name="adj" fmla="val 7778"/>
            </a:avLst>
          </a:prstGeom>
          <a:solidFill>
            <a:srgbClr val="1B3A7A"/>
          </a:solidFill>
          <a:ln/>
        </p:spPr>
      </p:sp>
      <p:sp>
        <p:nvSpPr>
          <p:cNvPr id="5" name="Avatar"/>
          <p:cNvSpPr/>
          <p:nvPr/>
        </p:nvSpPr>
        <p:spPr>
          <a:xfrm>
            <a:off x="960120" y="2377440"/>
            <a:ext cx="566928" cy="566928"/>
          </a:xfrm>
          <a:prstGeom prst="roundRect">
            <a:avLst>
              <a:gd name="adj" fmla="val 22581"/>
            </a:avLst>
          </a:prstGeom>
          <a:solidFill>
            <a:schemeClr val="accent1"/>
          </a:solidFill>
          <a:ln/>
        </p:spPr>
      </p:sp>
      <p:pic>
        <p:nvPicPr>
          <p:cNvPr id="6" name="Image 0" descr="Modelagem de Dado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8136" y="2505456"/>
            <a:ext cx="310896" cy="31089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960120" y="31089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9D1FF"/>
                </a:solidFill>
              </a:rPr>
              <a:t>ETAPA 01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960120" y="3383280"/>
            <a:ext cx="1325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Modelagem de Dados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960120" y="4023360"/>
            <a:ext cx="1325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1EFFF"/>
                </a:solidFill>
              </a:rPr>
              <a:t>26 tabelas ativas, 7 CodeLists e colunas geradas</a:t>
            </a:r>
            <a:endParaRPr lang="en-US" sz="1200" dirty="0"/>
          </a:p>
        </p:txBody>
      </p:sp>
      <p:sp>
        <p:nvSpPr>
          <p:cNvPr id="10" name="Etapa 2"/>
          <p:cNvSpPr/>
          <p:nvPr/>
        </p:nvSpPr>
        <p:spPr>
          <a:xfrm>
            <a:off x="2542032" y="2148840"/>
            <a:ext cx="1645920" cy="3108960"/>
          </a:xfrm>
          <a:prstGeom prst="roundRect">
            <a:avLst>
              <a:gd name="adj" fmla="val 7778"/>
            </a:avLst>
          </a:prstGeom>
          <a:solidFill>
            <a:srgbClr val="1B3A7A"/>
          </a:solidFill>
          <a:ln/>
        </p:spPr>
      </p:sp>
      <p:sp>
        <p:nvSpPr>
          <p:cNvPr id="11" name="Avatar"/>
          <p:cNvSpPr/>
          <p:nvPr/>
        </p:nvSpPr>
        <p:spPr>
          <a:xfrm>
            <a:off x="2770632" y="2377440"/>
            <a:ext cx="566928" cy="566928"/>
          </a:xfrm>
          <a:prstGeom prst="roundRect">
            <a:avLst>
              <a:gd name="adj" fmla="val 22581"/>
            </a:avLst>
          </a:prstGeom>
          <a:solidFill>
            <a:schemeClr val="accent1"/>
          </a:solidFill>
          <a:ln/>
        </p:spPr>
      </p:sp>
      <p:pic>
        <p:nvPicPr>
          <p:cNvPr id="12" name="Image 1" descr="Serviços OData V4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8648" y="2505456"/>
            <a:ext cx="310896" cy="310896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2770632" y="31089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9D1FF"/>
                </a:solidFill>
              </a:rPr>
              <a:t>ETAPA 02</a:t>
            </a:r>
            <a:endParaRPr lang="en-US" sz="1100" dirty="0"/>
          </a:p>
        </p:txBody>
      </p:sp>
      <p:sp>
        <p:nvSpPr>
          <p:cNvPr id="14" name="Text 10"/>
          <p:cNvSpPr txBox="1"/>
          <p:nvPr/>
        </p:nvSpPr>
        <p:spPr>
          <a:xfrm>
            <a:off x="2770632" y="3383280"/>
            <a:ext cx="1325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Serviços OData V4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2770632" y="4023360"/>
            <a:ext cx="1325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1EFFF"/>
                </a:solidFill>
              </a:rPr>
              <a:t>5 serviços OData V4 com draft e actions</a:t>
            </a:r>
            <a:endParaRPr lang="en-US" sz="1200" dirty="0"/>
          </a:p>
        </p:txBody>
      </p:sp>
      <p:sp>
        <p:nvSpPr>
          <p:cNvPr id="16" name="Etapa 3"/>
          <p:cNvSpPr/>
          <p:nvPr/>
        </p:nvSpPr>
        <p:spPr>
          <a:xfrm>
            <a:off x="4352544" y="2148840"/>
            <a:ext cx="1645920" cy="3108960"/>
          </a:xfrm>
          <a:prstGeom prst="roundRect">
            <a:avLst>
              <a:gd name="adj" fmla="val 7778"/>
            </a:avLst>
          </a:prstGeom>
          <a:solidFill>
            <a:srgbClr val="1B3A7A"/>
          </a:solidFill>
          <a:ln/>
        </p:spPr>
      </p:sp>
      <p:sp>
        <p:nvSpPr>
          <p:cNvPr id="17" name="Avatar"/>
          <p:cNvSpPr/>
          <p:nvPr/>
        </p:nvSpPr>
        <p:spPr>
          <a:xfrm>
            <a:off x="4581144" y="2377440"/>
            <a:ext cx="566928" cy="566928"/>
          </a:xfrm>
          <a:prstGeom prst="roundRect">
            <a:avLst>
              <a:gd name="adj" fmla="val 22581"/>
            </a:avLst>
          </a:prstGeom>
          <a:solidFill>
            <a:schemeClr val="accent1"/>
          </a:solidFill>
          <a:ln/>
        </p:spPr>
      </p:sp>
      <p:pic>
        <p:nvPicPr>
          <p:cNvPr id="18" name="Image 2" descr="Lógica de Negócio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09160" y="2505456"/>
            <a:ext cx="310896" cy="310896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4581144" y="31089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9D1FF"/>
                </a:solidFill>
              </a:rPr>
              <a:t>ETAPA 03</a:t>
            </a:r>
            <a:endParaRPr lang="en-US" sz="1100" dirty="0"/>
          </a:p>
        </p:txBody>
      </p:sp>
      <p:sp>
        <p:nvSpPr>
          <p:cNvPr id="20" name="Text 15"/>
          <p:cNvSpPr txBox="1"/>
          <p:nvPr/>
        </p:nvSpPr>
        <p:spPr>
          <a:xfrm>
            <a:off x="4581144" y="3383280"/>
            <a:ext cx="1325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Lógica de Negócio</a:t>
            </a:r>
            <a:endParaRPr lang="en-US" sz="1400" dirty="0"/>
          </a:p>
        </p:txBody>
      </p:sp>
      <p:sp>
        <p:nvSpPr>
          <p:cNvPr id="21" name="Text 16"/>
          <p:cNvSpPr txBox="1"/>
          <p:nvPr/>
        </p:nvSpPr>
        <p:spPr>
          <a:xfrm>
            <a:off x="4581144" y="4023360"/>
            <a:ext cx="1325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1EFFF"/>
                </a:solidFill>
              </a:rPr>
              <a:t>Regras atômicas em srv/lib, JS e TS</a:t>
            </a:r>
            <a:endParaRPr lang="en-US" sz="1200" dirty="0"/>
          </a:p>
        </p:txBody>
      </p:sp>
      <p:sp>
        <p:nvSpPr>
          <p:cNvPr id="22" name="Etapa 4"/>
          <p:cNvSpPr/>
          <p:nvPr/>
        </p:nvSpPr>
        <p:spPr>
          <a:xfrm>
            <a:off x="6163056" y="2148840"/>
            <a:ext cx="1645920" cy="3108960"/>
          </a:xfrm>
          <a:prstGeom prst="roundRect">
            <a:avLst>
              <a:gd name="adj" fmla="val 7778"/>
            </a:avLst>
          </a:prstGeom>
          <a:solidFill>
            <a:srgbClr val="1B3A7A"/>
          </a:solidFill>
          <a:ln/>
        </p:spPr>
      </p:sp>
      <p:sp>
        <p:nvSpPr>
          <p:cNvPr id="23" name="Avatar"/>
          <p:cNvSpPr/>
          <p:nvPr/>
        </p:nvSpPr>
        <p:spPr>
          <a:xfrm>
            <a:off x="6391656" y="2377440"/>
            <a:ext cx="566928" cy="566928"/>
          </a:xfrm>
          <a:prstGeom prst="roundRect">
            <a:avLst>
              <a:gd name="adj" fmla="val 22581"/>
            </a:avLst>
          </a:prstGeom>
          <a:solidFill>
            <a:schemeClr val="accent1"/>
          </a:solidFill>
          <a:ln/>
        </p:spPr>
      </p:sp>
      <p:pic>
        <p:nvPicPr>
          <p:cNvPr id="24" name="Image 3" descr="Apps Fiori Element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19672" y="2505456"/>
            <a:ext cx="310896" cy="310896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6391656" y="31089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9D1FF"/>
                </a:solidFill>
              </a:rPr>
              <a:t>ETAPA 04</a:t>
            </a:r>
            <a:endParaRPr lang="en-US" sz="1100" dirty="0"/>
          </a:p>
        </p:txBody>
      </p:sp>
      <p:sp>
        <p:nvSpPr>
          <p:cNvPr id="26" name="Text 20"/>
          <p:cNvSpPr txBox="1"/>
          <p:nvPr/>
        </p:nvSpPr>
        <p:spPr>
          <a:xfrm>
            <a:off x="6391656" y="3383280"/>
            <a:ext cx="1325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Apps Fiori Elements</a:t>
            </a:r>
            <a:endParaRPr lang="en-US" sz="1400" dirty="0"/>
          </a:p>
        </p:txBody>
      </p:sp>
      <p:sp>
        <p:nvSpPr>
          <p:cNvPr id="27" name="Text 21"/>
          <p:cNvSpPr txBox="1"/>
          <p:nvPr/>
        </p:nvSpPr>
        <p:spPr>
          <a:xfrm>
            <a:off x="6391656" y="4023360"/>
            <a:ext cx="1325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1EFFF"/>
                </a:solidFill>
              </a:rPr>
              <a:t>4 apps Fiori Elements por anotações</a:t>
            </a:r>
            <a:endParaRPr lang="en-US" sz="1200" dirty="0"/>
          </a:p>
        </p:txBody>
      </p:sp>
      <p:sp>
        <p:nvSpPr>
          <p:cNvPr id="28" name="Etapa 5"/>
          <p:cNvSpPr/>
          <p:nvPr/>
        </p:nvSpPr>
        <p:spPr>
          <a:xfrm>
            <a:off x="7973568" y="2148840"/>
            <a:ext cx="1645920" cy="3108960"/>
          </a:xfrm>
          <a:prstGeom prst="roundRect">
            <a:avLst>
              <a:gd name="adj" fmla="val 7778"/>
            </a:avLst>
          </a:prstGeom>
          <a:solidFill>
            <a:srgbClr val="1B3A7A"/>
          </a:solidFill>
          <a:ln/>
        </p:spPr>
      </p:sp>
      <p:sp>
        <p:nvSpPr>
          <p:cNvPr id="29" name="Avatar"/>
          <p:cNvSpPr/>
          <p:nvPr/>
        </p:nvSpPr>
        <p:spPr>
          <a:xfrm>
            <a:off x="8202168" y="2377440"/>
            <a:ext cx="566928" cy="566928"/>
          </a:xfrm>
          <a:prstGeom prst="roundRect">
            <a:avLst>
              <a:gd name="adj" fmla="val 22581"/>
            </a:avLst>
          </a:prstGeom>
          <a:solidFill>
            <a:schemeClr val="accent1"/>
          </a:solidFill>
          <a:ln/>
        </p:spPr>
      </p:sp>
      <p:pic>
        <p:nvPicPr>
          <p:cNvPr id="30" name="Image 4" descr="Análises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30184" y="2505456"/>
            <a:ext cx="310896" cy="310896"/>
          </a:xfrm>
          <a:prstGeom prst="rect">
            <a:avLst/>
          </a:prstGeom>
        </p:spPr>
      </p:pic>
      <p:sp>
        <p:nvSpPr>
          <p:cNvPr id="31" name="Text 24"/>
          <p:cNvSpPr txBox="1"/>
          <p:nvPr/>
        </p:nvSpPr>
        <p:spPr>
          <a:xfrm>
            <a:off x="8202168" y="31089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9D1FF"/>
                </a:solidFill>
              </a:rPr>
              <a:t>ETAPA 05</a:t>
            </a:r>
            <a:endParaRPr lang="en-US" sz="1100" dirty="0"/>
          </a:p>
        </p:txBody>
      </p:sp>
      <p:sp>
        <p:nvSpPr>
          <p:cNvPr id="32" name="Text 25"/>
          <p:cNvSpPr txBox="1"/>
          <p:nvPr/>
        </p:nvSpPr>
        <p:spPr>
          <a:xfrm>
            <a:off x="8202168" y="3383280"/>
            <a:ext cx="1325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Análises</a:t>
            </a:r>
            <a:endParaRPr lang="en-US" sz="1400" dirty="0"/>
          </a:p>
        </p:txBody>
      </p:sp>
      <p:sp>
        <p:nvSpPr>
          <p:cNvPr id="33" name="Text 26"/>
          <p:cNvSpPr txBox="1"/>
          <p:nvPr/>
        </p:nvSpPr>
        <p:spPr>
          <a:xfrm>
            <a:off x="8202168" y="4023360"/>
            <a:ext cx="1325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1EFFF"/>
                </a:solidFill>
              </a:rPr>
              <a:t>AnaliticoService e 20 análises freestyle</a:t>
            </a:r>
            <a:endParaRPr lang="en-US" sz="1200" dirty="0"/>
          </a:p>
        </p:txBody>
      </p:sp>
      <p:sp>
        <p:nvSpPr>
          <p:cNvPr id="34" name="Etapa 6"/>
          <p:cNvSpPr/>
          <p:nvPr/>
        </p:nvSpPr>
        <p:spPr>
          <a:xfrm>
            <a:off x="9784080" y="2148840"/>
            <a:ext cx="1645920" cy="3108960"/>
          </a:xfrm>
          <a:prstGeom prst="roundRect">
            <a:avLst>
              <a:gd name="adj" fmla="val 7778"/>
            </a:avLst>
          </a:prstGeom>
          <a:solidFill>
            <a:srgbClr val="1B3A7A"/>
          </a:solidFill>
          <a:ln/>
        </p:spPr>
      </p:sp>
      <p:sp>
        <p:nvSpPr>
          <p:cNvPr id="35" name="Avatar"/>
          <p:cNvSpPr/>
          <p:nvPr/>
        </p:nvSpPr>
        <p:spPr>
          <a:xfrm>
            <a:off x="10012680" y="2377440"/>
            <a:ext cx="566928" cy="566928"/>
          </a:xfrm>
          <a:prstGeom prst="roundRect">
            <a:avLst>
              <a:gd name="adj" fmla="val 22581"/>
            </a:avLst>
          </a:prstGeom>
          <a:solidFill>
            <a:schemeClr val="accent1"/>
          </a:solidFill>
          <a:ln/>
        </p:spPr>
      </p:sp>
      <p:pic>
        <p:nvPicPr>
          <p:cNvPr id="36" name="Image 5" descr="Testes e Publicação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40696" y="2505456"/>
            <a:ext cx="310896" cy="310896"/>
          </a:xfrm>
          <a:prstGeom prst="rect">
            <a:avLst/>
          </a:prstGeom>
        </p:spPr>
      </p:pic>
      <p:sp>
        <p:nvSpPr>
          <p:cNvPr id="37" name="Text 29"/>
          <p:cNvSpPr txBox="1"/>
          <p:nvPr/>
        </p:nvSpPr>
        <p:spPr>
          <a:xfrm>
            <a:off x="10012680" y="31089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9D1FF"/>
                </a:solidFill>
              </a:rPr>
              <a:t>ETAPA 06</a:t>
            </a:r>
            <a:endParaRPr lang="en-US" sz="1100" dirty="0"/>
          </a:p>
        </p:txBody>
      </p:sp>
      <p:sp>
        <p:nvSpPr>
          <p:cNvPr id="38" name="Text 30"/>
          <p:cNvSpPr txBox="1"/>
          <p:nvPr/>
        </p:nvSpPr>
        <p:spPr>
          <a:xfrm>
            <a:off x="10012680" y="3383280"/>
            <a:ext cx="1325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Testes e Publicação</a:t>
            </a:r>
            <a:endParaRPr lang="en-US" sz="1400" dirty="0"/>
          </a:p>
        </p:txBody>
      </p:sp>
      <p:sp>
        <p:nvSpPr>
          <p:cNvPr id="39" name="Text 31"/>
          <p:cNvSpPr txBox="1"/>
          <p:nvPr/>
        </p:nvSpPr>
        <p:spPr>
          <a:xfrm>
            <a:off x="10012680" y="4023360"/>
            <a:ext cx="1325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1EFFF"/>
                </a:solidFill>
              </a:rPr>
              <a:t>150 testes e roteiro para a SAP BTP</a:t>
            </a:r>
            <a:endParaRPr lang="en-US" sz="1200" dirty="0"/>
          </a:p>
        </p:txBody>
      </p:sp>
      <p:sp>
        <p:nvSpPr>
          <p:cNvPr id="40" name="Text 32"/>
          <p:cNvSpPr txBox="1"/>
          <p:nvPr/>
        </p:nvSpPr>
        <p:spPr>
          <a:xfrm>
            <a:off x="731520" y="55778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9D1FF"/>
                </a:solidFill>
              </a:rPr>
              <a:t>Continue na série Implementação por BO (decks 07 a 11) · github.com/AdrianoBispo/sap-cap-nodejs-pedidos-de-compras-app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AP Horizon">
  <a:themeElements>
    <a:clrScheme name="SAP Horizon">
      <a:dk1>
        <a:srgbClr val="1D2D3E"/>
      </a:dk1>
      <a:lt1>
        <a:srgbClr val="FFFFFF"/>
      </a:lt1>
      <a:dk2>
        <a:srgbClr val="00144A"/>
      </a:dk2>
      <a:lt2>
        <a:srgbClr val="F5F6F7"/>
      </a:lt2>
      <a:accent1>
        <a:srgbClr val="0070F2"/>
      </a:accent1>
      <a:accent2>
        <a:srgbClr val="049F9A"/>
      </a:accent2>
      <a:accent3>
        <a:srgbClr val="7858FF"/>
      </a:accent3>
      <a:accent4>
        <a:srgbClr val="E76500"/>
      </a:accent4>
      <a:accent5>
        <a:srgbClr val="256F3A"/>
      </a:accent5>
      <a:accent6>
        <a:srgbClr val="AA0808"/>
      </a:accent6>
      <a:hlink>
        <a:srgbClr val="0064D9"/>
      </a:hlink>
      <a:folHlink>
        <a:srgbClr val="7858FF"/>
      </a:folHlink>
    </a:clrScheme>
    <a:fontScheme name="SAP Horizon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Pedidos de Compras - SAP CAP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Etapa 6 - Testes e Publicação</dc:title>
  <dc:subject>Projeto Pedidos de Compras em SAP CAP e SAP Fiori</dc:subject>
  <dc:creator>Adriano Bispo</dc:creator>
  <cp:lastModifiedBy>Adriano Bispo</cp:lastModifiedBy>
  <cp:revision>1</cp:revision>
  <dcterms:created xsi:type="dcterms:W3CDTF">2026-10-20T11:28:15Z</dcterms:created>
  <dcterms:modified xsi:type="dcterms:W3CDTF">2026-10-20T11:28:15Z</dcterms:modified>
</cp:coreProperties>
</file>