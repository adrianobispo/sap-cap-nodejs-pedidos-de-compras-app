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f219ba3-dd3b-7093-de3d-cd2b24289f23}">
          <p14:sldIdLst>
            <p14:sldId id="256"/>
          </p14:sldIdLst>
        </p14:section>
        <p14:section name="Contexto" id="{85b13603-ff69-a50f-6523-c139d6d9844f}">
          <p14:sldIdLst>
            <p14:sldId id="257"/>
          </p14:sldIdLst>
        </p14:section>
        <p14:section name="Testes" id="{8a2fe34a-9b1a-5387-d068-90d40d654cfd}">
          <p14:sldIdLst>
            <p14:sldId id="258"/>
            <p14:sldId id="259"/>
            <p14:sldId id="260"/>
          </p14:sldIdLst>
        </p14:section>
        <p14:section name="Publicação" id="{3e5ca41c-f57b-7d0d-751f-7421b7075c6b}">
          <p14:sldIdLst>
            <p14:sldId id="261"/>
            <p14:sldId id="262"/>
            <p14:sldId id="263"/>
            <p14:sldId id="264"/>
            <p14:sldId id="265"/>
          </p14:sldIdLst>
        </p14:section>
        <p14:section name="Encerramento" id="{7a6ee0a8-2acf-c928-a0da-0b7ca5fc44e9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6: como garantimos a qualidade e como o projeto chega à SAP BTP.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Importante: o perfil de produção está configurado, mas a implantação na BTP ainda é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Testes permanentes: mantidos e ajustados junto com as regras de negócio, nas duas implementações.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Sete arquivos de teste, iguais em JavaScript e TypeScript.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teste percorre o fluxo pelas APIs OData: cria o pedido, paga, cancela e decide o reembolso, conferindo estoque e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código roda nos dois perfis; muda a configuração de banco e de autenticação.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Zone e HTML5 Repository servem as apps; o Destination service leva o token do usuário ao serviço CAP no Cloud Foundry, que usa o HDI container no HANA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Sequência de comandos do deploy. Os passos 1 a 5 ainda serão executados (implantação pendente).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o descritor MTA criará e como cada parte se conecta.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Transparência sobre o que está pronto, configurado e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série: recapitula as seis etapas e indica 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6 — Testes e Publicação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6 — Testes e Publicação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06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Testes e Publicação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Qualidade com testes automatizados e o roteiro de publicação na SAP BTP: SAP HANA Cloud, XSUAA, MTA e SAP Build Work Zone.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Testes e Public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50808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317736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84664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451592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101852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6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garantimos a qualidade com testes de serviço e de unidade e preparamos a publicação: perfil de produção com SAP HANA Cloud e o roteiro de deploy na SAP BTP.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Qualidade em números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74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testes na versão JavaScript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3364992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639312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76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3639312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testes na versão TypeScript</a:t>
            </a:r>
            <a:endParaRPr lang="en-US" sz="1400" dirty="0"/>
          </a:p>
        </p:txBody>
      </p:sp>
      <p:sp>
        <p:nvSpPr>
          <p:cNvPr id="11" name="Cartão"/>
          <p:cNvSpPr/>
          <p:nvPr/>
        </p:nvSpPr>
        <p:spPr>
          <a:xfrm>
            <a:off x="6181344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55664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7</a:t>
            </a:r>
            <a:endParaRPr lang="en-US" sz="6000" dirty="0"/>
          </a:p>
        </p:txBody>
      </p:sp>
      <p:sp>
        <p:nvSpPr>
          <p:cNvPr id="13" name="Text 10"/>
          <p:cNvSpPr txBox="1"/>
          <p:nvPr/>
        </p:nvSpPr>
        <p:spPr>
          <a:xfrm>
            <a:off x="6455664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suítes de serviço e unidade</a:t>
            </a:r>
            <a:endParaRPr lang="en-US" sz="1400" dirty="0"/>
          </a:p>
        </p:txBody>
      </p:sp>
      <p:sp>
        <p:nvSpPr>
          <p:cNvPr id="14" name="Cartão"/>
          <p:cNvSpPr/>
          <p:nvPr/>
        </p:nvSpPr>
        <p:spPr>
          <a:xfrm>
            <a:off x="8997696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9272016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</a:t>
            </a:r>
            <a:endParaRPr lang="en-US" sz="6000" dirty="0"/>
          </a:p>
        </p:txBody>
      </p:sp>
      <p:sp>
        <p:nvSpPr>
          <p:cNvPr id="16" name="Text 13"/>
          <p:cNvSpPr txBox="1"/>
          <p:nvPr/>
        </p:nvSpPr>
        <p:spPr>
          <a:xfrm>
            <a:off x="9272016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apontamentos do UI5 linter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548640" y="3886200"/>
            <a:ext cx="357530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TestTube"/>
          <p:cNvSpPr/>
          <p:nvPr/>
        </p:nvSpPr>
        <p:spPr>
          <a:xfrm>
            <a:off x="777240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0" descr="LuTest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508760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node:test + cds-test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508760" y="4489704"/>
            <a:ext cx="238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Sobe o servidor CAP e chama os serviços OData de verdade.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306824" y="3886200"/>
            <a:ext cx="357530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3" name="Avatar LuDatabase"/>
          <p:cNvSpPr/>
          <p:nvPr/>
        </p:nvSpPr>
        <p:spPr>
          <a:xfrm>
            <a:off x="4535424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24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4246474"/>
            <a:ext cx="285293" cy="285293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266944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SQLite em memória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5266944" y="4489704"/>
            <a:ext cx="238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execução começa limpa, sem tocar no db.sqlite.</a:t>
            </a:r>
            <a:endParaRPr lang="en-US" sz="1400" dirty="0"/>
          </a:p>
        </p:txBody>
      </p:sp>
      <p:sp>
        <p:nvSpPr>
          <p:cNvPr id="27" name="Cartão"/>
          <p:cNvSpPr/>
          <p:nvPr/>
        </p:nvSpPr>
        <p:spPr>
          <a:xfrm>
            <a:off x="8065008" y="3886200"/>
            <a:ext cx="357530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8" name="Avatar LuGlobe"/>
          <p:cNvSpPr/>
          <p:nvPr/>
        </p:nvSpPr>
        <p:spPr>
          <a:xfrm>
            <a:off x="8293608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9" name="Image 2" descr="Lu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4246474"/>
            <a:ext cx="285293" cy="285293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025128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ViaCEP falso local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9025128" y="4489704"/>
            <a:ext cx="238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 rede externa; URL trocada pela configuração.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cada suíte cobre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572000"/>
          </a:xfrm>
          <a:prstGeom prst="roundRect">
            <a:avLst>
              <a:gd name="adj" fmla="val 24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1772878"/>
                <a:gridCol w="895303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Suíte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Cobertura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unidade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CPF, e-mail, telefone, imagens, status de estoque, SKU, pagamento simulado, leitor XLSX/CSV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Rascunho, ViaCEP, CEP geral, CEP único, endereço principal, autorização, exclusão, foto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SKU, disponibilidade e status, concorrência com edição, inativação, exclusão, foto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Reserva, edição pela diferença, pagamento, aprovação, cancelamento, ações concorrentes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Aprovar, rejeitar com motivo obrigatório, decisão única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importacao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Clientes, estoque e pedidos (tudo ou nada), duplicidade e modelos de 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analitico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Agregações $apply dos quatro domínios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Um teste de ponta a ponta do reembolso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7223760" cy="3520440"/>
          </a:xfrm>
          <a:prstGeom prst="roundRect">
            <a:avLst>
              <a:gd name="adj" fmla="val 3117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7665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 cancela o pedido e devolve o pagamento'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solicitacao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reservado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/Reembolsos(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)/`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'ReembolsosService.aprovarReembolso'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'Procedente'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'APROVADO'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pedidoAtual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'CANCELADO'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'DEVOLVIDO'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Avatar LuTerminal"/>
          <p:cNvSpPr/>
          <p:nvPr/>
        </p:nvSpPr>
        <p:spPr>
          <a:xfrm>
            <a:off x="80924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Termi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778240" y="165506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npm test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1975104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Em nodejs-padrao ou nodejs-typescript.</a:t>
            </a:r>
            <a:endParaRPr lang="en-US" sz="1400" dirty="0"/>
          </a:p>
        </p:txBody>
      </p:sp>
      <p:sp>
        <p:nvSpPr>
          <p:cNvPr id="11" name="Avatar LuEyeOff"/>
          <p:cNvSpPr/>
          <p:nvPr/>
        </p:nvSpPr>
        <p:spPr>
          <a:xfrm>
            <a:off x="80924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EyeOf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16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778240" y="275234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as apps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778240" y="3072384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CDS_PLUGIN_UI5_ACTIVE=false: só o backend.</a:t>
            </a:r>
            <a:endParaRPr lang="en-US" sz="1400" dirty="0"/>
          </a:p>
        </p:txBody>
      </p:sp>
      <p:sp>
        <p:nvSpPr>
          <p:cNvPr id="15" name="Avatar LuListChecks"/>
          <p:cNvSpPr/>
          <p:nvPr/>
        </p:nvSpPr>
        <p:spPr>
          <a:xfrm>
            <a:off x="80924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List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384962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Lint e tipos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778240" y="4169664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npm run lint; no TS, cds-typer + tsc --noEmit.</a:t>
            </a:r>
            <a:endParaRPr lang="en-US" sz="1400" dirty="0"/>
          </a:p>
        </p:txBody>
      </p:sp>
      <p:sp>
        <p:nvSpPr>
          <p:cNvPr id="19" name="Avatar LuBug"/>
          <p:cNvSpPr/>
          <p:nvPr/>
        </p:nvSpPr>
        <p:spPr>
          <a:xfrm>
            <a:off x="80924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Bu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778240" y="49469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Regressões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778240" y="5266944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correção vem com um teste nas duas suítes.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Do desenvolvimento à produção: perfis do CAP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544068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Laptop"/>
          <p:cNvSpPr/>
          <p:nvPr/>
        </p:nvSpPr>
        <p:spPr>
          <a:xfrm>
            <a:off x="82296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[development]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265176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SQLite em arquivo (db.sqlite)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Autenticação mocked: admin e comum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Apps servidas pelo cds-plugin-ui5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Launchpad local (sandbox)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npm run watch</a:t>
            </a:r>
            <a:endParaRPr lang="en-US" sz="1600" dirty="0"/>
          </a:p>
        </p:txBody>
      </p:sp>
      <p:sp>
        <p:nvSpPr>
          <p:cNvPr id="10" name="Cartão"/>
          <p:cNvSpPr/>
          <p:nvPr/>
        </p:nvSpPr>
        <p:spPr>
          <a:xfrm>
            <a:off x="6199632" y="1600200"/>
            <a:ext cx="544068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Cloud"/>
          <p:cNvSpPr/>
          <p:nvPr/>
        </p:nvSpPr>
        <p:spPr>
          <a:xfrm>
            <a:off x="6473952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D36FF"/>
          </a:solidFill>
          <a:ln/>
        </p:spPr>
      </p:sp>
      <p:pic>
        <p:nvPicPr>
          <p:cNvPr id="12" name="Image 1" descr="Lu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626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05472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[production]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6519672" y="265176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SAP HANA Cloud (@cap-js/hana, HDI)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XSUAA com papéis Admin e Comum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Apps no HTML5 Application Repository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SAP Build Work Zone, standard edition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cds build --production + mbt build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alvo na SAP BTP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1693987" y="1463040"/>
            <a:ext cx="8800978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Arquitetura alvo na SAP BT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427" y="1554480"/>
            <a:ext cx="8618098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Roteiro de publicação na SAP BTP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10312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Settings"/>
          <p:cNvSpPr/>
          <p:nvPr/>
        </p:nvSpPr>
        <p:spPr>
          <a:xfrm>
            <a:off x="749808" y="1801368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509" y="1922069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18013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1EFFF"/>
                </a:solidFill>
              </a:rPr>
              <a:t>1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50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 add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8346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xsuaa, html5-repo, workzone, mta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2807208" y="1600200"/>
            <a:ext cx="210312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hieldCheck"/>
          <p:cNvSpPr/>
          <p:nvPr/>
        </p:nvSpPr>
        <p:spPr>
          <a:xfrm>
            <a:off x="3008376" y="1801368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9077" y="1922069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270248" y="18013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1EFFF"/>
                </a:solidFill>
              </a:rPr>
              <a:t>2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3008376" y="2450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xs-security.json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008376" y="28346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Escopos e role templates Admin e Comum</a:t>
            </a:r>
            <a:endParaRPr lang="en-US" sz="1300" dirty="0"/>
          </a:p>
        </p:txBody>
      </p:sp>
      <p:sp>
        <p:nvSpPr>
          <p:cNvPr id="17" name="Cartão"/>
          <p:cNvSpPr/>
          <p:nvPr/>
        </p:nvSpPr>
        <p:spPr>
          <a:xfrm>
            <a:off x="5065776" y="1600200"/>
            <a:ext cx="210312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Box"/>
          <p:cNvSpPr/>
          <p:nvPr/>
        </p:nvSpPr>
        <p:spPr>
          <a:xfrm>
            <a:off x="5266944" y="1801368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5" y="1922069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28816" y="18013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1EFFF"/>
                </a:solidFill>
              </a:rPr>
              <a:t>3</a:t>
            </a:r>
            <a:endParaRPr lang="en-US" sz="2200" dirty="0"/>
          </a:p>
        </p:txBody>
      </p:sp>
      <p:sp>
        <p:nvSpPr>
          <p:cNvPr id="21" name="Text 15"/>
          <p:cNvSpPr txBox="1"/>
          <p:nvPr/>
        </p:nvSpPr>
        <p:spPr>
          <a:xfrm>
            <a:off x="5266944" y="2450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mbt build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266944" y="28346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Gera o .mtar com serviço, db e apps</a:t>
            </a:r>
            <a:endParaRPr lang="en-US" sz="1300" dirty="0"/>
          </a:p>
        </p:txBody>
      </p:sp>
      <p:sp>
        <p:nvSpPr>
          <p:cNvPr id="23" name="Cartão"/>
          <p:cNvSpPr/>
          <p:nvPr/>
        </p:nvSpPr>
        <p:spPr>
          <a:xfrm>
            <a:off x="7324344" y="1600200"/>
            <a:ext cx="210312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CloudUpload"/>
          <p:cNvSpPr/>
          <p:nvPr/>
        </p:nvSpPr>
        <p:spPr>
          <a:xfrm>
            <a:off x="7525512" y="1801368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25" name="Image 3" descr="LuCloudUplo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213" y="1922069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787384" y="18013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1EFFF"/>
                </a:solidFill>
              </a:rPr>
              <a:t>4</a:t>
            </a:r>
            <a:endParaRPr lang="en-US" sz="2200" dirty="0"/>
          </a:p>
        </p:txBody>
      </p:sp>
      <p:sp>
        <p:nvSpPr>
          <p:cNvPr id="27" name="Text 20"/>
          <p:cNvSpPr txBox="1"/>
          <p:nvPr/>
        </p:nvSpPr>
        <p:spPr>
          <a:xfrm>
            <a:off x="7525512" y="2450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 deploy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7525512" y="28346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Serviço, db-deployer, apps e instâncias</a:t>
            </a:r>
            <a:endParaRPr lang="en-US" sz="1300" dirty="0"/>
          </a:p>
        </p:txBody>
      </p:sp>
      <p:sp>
        <p:nvSpPr>
          <p:cNvPr id="29" name="Cartão"/>
          <p:cNvSpPr/>
          <p:nvPr/>
        </p:nvSpPr>
        <p:spPr>
          <a:xfrm>
            <a:off x="9582912" y="1600200"/>
            <a:ext cx="210312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LayoutGrid"/>
          <p:cNvSpPr/>
          <p:nvPr/>
        </p:nvSpPr>
        <p:spPr>
          <a:xfrm>
            <a:off x="9784080" y="1801368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LayoutGri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4781" y="1922069"/>
            <a:ext cx="261518" cy="26151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1045952" y="18013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1EFFF"/>
                </a:solidFill>
              </a:rPr>
              <a:t>5</a:t>
            </a:r>
            <a:endParaRPr lang="en-US" sz="2200" dirty="0"/>
          </a:p>
        </p:txBody>
      </p:sp>
      <p:sp>
        <p:nvSpPr>
          <p:cNvPr id="33" name="Text 25"/>
          <p:cNvSpPr txBox="1"/>
          <p:nvPr/>
        </p:nvSpPr>
        <p:spPr>
          <a:xfrm>
            <a:off x="9784080" y="2450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Zone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9784080" y="28346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Site com os 8 tiles e role collections</a:t>
            </a:r>
            <a:endParaRPr lang="en-US" sz="1300" dirty="0"/>
          </a:p>
        </p:txBody>
      </p:sp>
      <p:sp>
        <p:nvSpPr>
          <p:cNvPr id="35" name="Bloco de código"/>
          <p:cNvSpPr/>
          <p:nvPr/>
        </p:nvSpPr>
        <p:spPr>
          <a:xfrm>
            <a:off x="548640" y="3977640"/>
            <a:ext cx="11091672" cy="1402080"/>
          </a:xfrm>
          <a:prstGeom prst="roundRect">
            <a:avLst>
              <a:gd name="adj" fmla="val 782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6" name="Código"/>
          <p:cNvSpPr txBox="1"/>
          <p:nvPr/>
        </p:nvSpPr>
        <p:spPr>
          <a:xfrm>
            <a:off x="777240" y="4160520"/>
            <a:ext cx="10634472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add xsuaa,html5-repo,workzone,mta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@cap-js/hana e [production] já configurados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 build                     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TS: compila para gen/srv (JS: cds build --production)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mbt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build                         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mta_archives/pedidos-compras-cap_1.0.0.mtar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https://api.cf.&lt;região&gt;.hana.ondemand.com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deploy mta_archives/pedidos-compras-cap_1.0.0.mtar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Componentes do MTA e serviços da SAP BTP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Server"/>
          <p:cNvSpPr/>
          <p:nvPr/>
        </p:nvSpPr>
        <p:spPr>
          <a:xfrm>
            <a:off x="77724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pedidos-compras-srv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Node.js 22 com @sap/cds 10 e os 5 serviços OData V4.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4306824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Database"/>
          <p:cNvSpPr/>
          <p:nvPr/>
        </p:nvSpPr>
        <p:spPr>
          <a:xfrm>
            <a:off x="4535424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66944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db-deployer + HDI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5266944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Tabelas, views, CodeLists e dados no container hdi-shared.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8065008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6" name="Avatar LuKeyRound"/>
          <p:cNvSpPr/>
          <p:nvPr/>
        </p:nvSpPr>
        <p:spPr>
          <a:xfrm>
            <a:off x="8293608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7" name="Image 2" descr="LuKey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196047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25128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XSUAA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025128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Role collections Admin e Comum; login via SAP ID ou IAS.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548640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1" name="Avatar LuRoute"/>
          <p:cNvSpPr/>
          <p:nvPr/>
        </p:nvSpPr>
        <p:spPr>
          <a:xfrm>
            <a:off x="777240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Ro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Destination service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1508760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Aponta para o serviço CAP com forwardAuthToken.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4306824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6" name="Avatar LuAppWindow"/>
          <p:cNvSpPr/>
          <p:nvPr/>
        </p:nvSpPr>
        <p:spPr>
          <a:xfrm>
            <a:off x="4535424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27" name="Image 4" descr="LuApp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098" y="4246474"/>
            <a:ext cx="285293" cy="28529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266944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HTML5 Repository</a:t>
            </a:r>
            <a:endParaRPr lang="en-US" sz="1600" dirty="0"/>
          </a:p>
        </p:txBody>
      </p:sp>
      <p:sp>
        <p:nvSpPr>
          <p:cNvPr id="29" name="Text 21"/>
          <p:cNvSpPr txBox="1"/>
          <p:nvPr/>
        </p:nvSpPr>
        <p:spPr>
          <a:xfrm>
            <a:off x="5266944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Hospeda as 8 apps SAPUI5 construídas.</a:t>
            </a:r>
            <a:endParaRPr lang="en-US" sz="1400" dirty="0"/>
          </a:p>
        </p:txBody>
      </p:sp>
      <p:sp>
        <p:nvSpPr>
          <p:cNvPr id="30" name="Cartão"/>
          <p:cNvSpPr/>
          <p:nvPr/>
        </p:nvSpPr>
        <p:spPr>
          <a:xfrm>
            <a:off x="8065008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1" name="Avatar LuLayoutGrid"/>
          <p:cNvSpPr/>
          <p:nvPr/>
        </p:nvSpPr>
        <p:spPr>
          <a:xfrm>
            <a:off x="8293608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2" name="Image 5" descr="LuLayoutGri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5282" y="4246474"/>
            <a:ext cx="285293" cy="285293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025128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SAP Build Work Zone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9025128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Site com tiles e approuter gerenciado.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Situação atual e próximos passos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94944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10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Modelo, serviços, regras, apps e análises</a:t>
            </a:r>
            <a:endParaRPr lang="en-US" sz="1400" dirty="0"/>
          </a:p>
        </p:txBody>
      </p:sp>
      <p:sp>
        <p:nvSpPr>
          <p:cNvPr id="7" name="Status Implementado"/>
          <p:cNvSpPr txBox="1"/>
          <p:nvPr/>
        </p:nvSpPr>
        <p:spPr>
          <a:xfrm>
            <a:off x="5852160" y="1879092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Implementado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9572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Testes automatizados (74 JS · 76 TS) e lint</a:t>
            </a:r>
            <a:endParaRPr lang="en-US" sz="1400" dirty="0"/>
          </a:p>
        </p:txBody>
      </p:sp>
      <p:sp>
        <p:nvSpPr>
          <p:cNvPr id="9" name="Status Implementado"/>
          <p:cNvSpPr txBox="1"/>
          <p:nvPr/>
        </p:nvSpPr>
        <p:spPr>
          <a:xfrm>
            <a:off x="5852160" y="2464308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Implementado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98094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SAP HANA Cloud: @cap-js/hana e perfil [production]</a:t>
            </a:r>
            <a:endParaRPr lang="en-US" sz="1400" dirty="0"/>
          </a:p>
        </p:txBody>
      </p:sp>
      <p:sp>
        <p:nvSpPr>
          <p:cNvPr id="11" name="Status Configurado"/>
          <p:cNvSpPr txBox="1"/>
          <p:nvPr/>
        </p:nvSpPr>
        <p:spPr>
          <a:xfrm>
            <a:off x="5852160" y="3049524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Configurado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566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cds build --production gera os artefatos HDI</a:t>
            </a:r>
            <a:endParaRPr lang="en-US" sz="1400" dirty="0"/>
          </a:p>
        </p:txBody>
      </p:sp>
      <p:sp>
        <p:nvSpPr>
          <p:cNvPr id="13" name="Status Configurado"/>
          <p:cNvSpPr txBox="1"/>
          <p:nvPr/>
        </p:nvSpPr>
        <p:spPr>
          <a:xfrm>
            <a:off x="5852160" y="3634740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Configurado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15137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XSUAA (xs-security.json) e role collections</a:t>
            </a:r>
            <a:endParaRPr lang="en-US" sz="1400" dirty="0"/>
          </a:p>
        </p:txBody>
      </p:sp>
      <p:sp>
        <p:nvSpPr>
          <p:cNvPr id="15" name="Status Pendente"/>
          <p:cNvSpPr txBox="1"/>
          <p:nvPr/>
        </p:nvSpPr>
        <p:spPr>
          <a:xfrm>
            <a:off x="5852160" y="4219956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Pendente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4736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Descritor MTA e deploy no Cloud Foundry</a:t>
            </a:r>
            <a:endParaRPr lang="en-US" sz="1400" dirty="0"/>
          </a:p>
        </p:txBody>
      </p:sp>
      <p:sp>
        <p:nvSpPr>
          <p:cNvPr id="17" name="Status Pendente"/>
          <p:cNvSpPr txBox="1"/>
          <p:nvPr/>
        </p:nvSpPr>
        <p:spPr>
          <a:xfrm>
            <a:off x="5852160" y="4805172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Pendente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53218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Apps no SAP Build Work Zone</a:t>
            </a:r>
            <a:endParaRPr lang="en-US" sz="1400" dirty="0"/>
          </a:p>
        </p:txBody>
      </p:sp>
      <p:sp>
        <p:nvSpPr>
          <p:cNvPr id="19" name="Status Pendente"/>
          <p:cNvSpPr txBox="1"/>
          <p:nvPr/>
        </p:nvSpPr>
        <p:spPr>
          <a:xfrm>
            <a:off x="5852160" y="5390388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Pendente</a:t>
            </a:r>
            <a:endParaRPr lang="en-US" sz="1000" dirty="0"/>
          </a:p>
        </p:txBody>
      </p:sp>
      <p:sp>
        <p:nvSpPr>
          <p:cNvPr id="20" name="Avatar LuCreditCard"/>
          <p:cNvSpPr/>
          <p:nvPr/>
        </p:nvSpPr>
        <p:spPr>
          <a:xfrm>
            <a:off x="78181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1" name="Image 0" descr="LuCredit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7848" y="2212848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503920" y="20665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Histórico de pagamentos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503920" y="238658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Hoje só a última tentativa é mantida.</a:t>
            </a:r>
            <a:endParaRPr lang="en-US" sz="1400" dirty="0"/>
          </a:p>
        </p:txBody>
      </p:sp>
      <p:sp>
        <p:nvSpPr>
          <p:cNvPr id="24" name="Avatar LuFileText"/>
          <p:cNvSpPr/>
          <p:nvPr/>
        </p:nvSpPr>
        <p:spPr>
          <a:xfrm>
            <a:off x="7818120" y="3200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25" name="Image 1" descr="LuFile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3310128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503920" y="316382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Auditoria e logs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8503920" y="348386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Alterações críticas e logs estruturados.</a:t>
            </a:r>
            <a:endParaRPr lang="en-US" sz="1400" dirty="0"/>
          </a:p>
        </p:txBody>
      </p:sp>
      <p:sp>
        <p:nvSpPr>
          <p:cNvPr id="28" name="Avatar LuImage"/>
          <p:cNvSpPr/>
          <p:nvPr/>
        </p:nvSpPr>
        <p:spPr>
          <a:xfrm>
            <a:off x="7818120" y="4297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9" name="Image 2" descr="LuIm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4407408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503920" y="42611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Imagens externas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8503920" y="458114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Fotos fora do banco de dados.</a:t>
            </a:r>
            <a:endParaRPr lang="en-US" sz="1400" dirty="0"/>
          </a:p>
        </p:txBody>
      </p:sp>
      <p:sp>
        <p:nvSpPr>
          <p:cNvPr id="32" name="Avatar LuPlug"/>
          <p:cNvSpPr/>
          <p:nvPr/>
        </p:nvSpPr>
        <p:spPr>
          <a:xfrm>
            <a:off x="7818120" y="53949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33" name="Image 3" descr="LuPlu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5504688"/>
            <a:ext cx="237744" cy="23774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503920" y="535838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Integrações reais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8503920" y="567842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Gateway de pagamento e frete.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781812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56B82"/>
                </a:solidFill>
              </a:rPr>
              <a:t>EVOLUÇÕES FUTURAS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JORNADA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Seis etapas, do modelo às apps publicadas</a:t>
            </a:r>
            <a:endParaRPr lang="en-US" sz="3600" dirty="0"/>
          </a:p>
        </p:txBody>
      </p:sp>
      <p:sp>
        <p:nvSpPr>
          <p:cNvPr id="4" name="Etapa 1"/>
          <p:cNvSpPr/>
          <p:nvPr/>
        </p:nvSpPr>
        <p:spPr>
          <a:xfrm>
            <a:off x="731520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5" name="Avatar"/>
          <p:cNvSpPr/>
          <p:nvPr/>
        </p:nvSpPr>
        <p:spPr>
          <a:xfrm>
            <a:off x="960120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6" name="Image 0" descr="Modelagem de D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505456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Modelagem de Dados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10 entidades, 7 CodeLists e colunas geradas</a:t>
            </a:r>
            <a:endParaRPr lang="en-US" sz="1200" dirty="0"/>
          </a:p>
        </p:txBody>
      </p:sp>
      <p:sp>
        <p:nvSpPr>
          <p:cNvPr id="10" name="Etapa 2"/>
          <p:cNvSpPr/>
          <p:nvPr/>
        </p:nvSpPr>
        <p:spPr>
          <a:xfrm>
            <a:off x="2542032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11" name="Avatar"/>
          <p:cNvSpPr/>
          <p:nvPr/>
        </p:nvSpPr>
        <p:spPr>
          <a:xfrm>
            <a:off x="2770632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12" name="Image 1" descr="Serviços OData V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2505456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70632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770632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Serviços OData V4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70632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5 serviços OData V4 com draft e actions</a:t>
            </a:r>
            <a:endParaRPr lang="en-US" sz="1200" dirty="0"/>
          </a:p>
        </p:txBody>
      </p:sp>
      <p:sp>
        <p:nvSpPr>
          <p:cNvPr id="16" name="Etapa 3"/>
          <p:cNvSpPr/>
          <p:nvPr/>
        </p:nvSpPr>
        <p:spPr>
          <a:xfrm>
            <a:off x="4352544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17" name="Avatar"/>
          <p:cNvSpPr/>
          <p:nvPr/>
        </p:nvSpPr>
        <p:spPr>
          <a:xfrm>
            <a:off x="4581144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18" name="Image 2" descr="Lógica de Negóc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505456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81144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4581144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Lógica de Negócio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581144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Regras atômicas em srv/lib, JS e TS</a:t>
            </a:r>
            <a:endParaRPr lang="en-US" sz="1200" dirty="0"/>
          </a:p>
        </p:txBody>
      </p:sp>
      <p:sp>
        <p:nvSpPr>
          <p:cNvPr id="22" name="Etapa 4"/>
          <p:cNvSpPr/>
          <p:nvPr/>
        </p:nvSpPr>
        <p:spPr>
          <a:xfrm>
            <a:off x="6163056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23" name="Avatar"/>
          <p:cNvSpPr/>
          <p:nvPr/>
        </p:nvSpPr>
        <p:spPr>
          <a:xfrm>
            <a:off x="6391656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24" name="Image 3" descr="Apps Fiori Elemen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2505456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391656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04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6391656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Apps Fiori Elements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391656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4 apps Fiori Elements por anotações</a:t>
            </a:r>
            <a:endParaRPr lang="en-US" sz="1200" dirty="0"/>
          </a:p>
        </p:txBody>
      </p:sp>
      <p:sp>
        <p:nvSpPr>
          <p:cNvPr id="28" name="Etapa 5"/>
          <p:cNvSpPr/>
          <p:nvPr/>
        </p:nvSpPr>
        <p:spPr>
          <a:xfrm>
            <a:off x="7973568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29" name="Avatar"/>
          <p:cNvSpPr/>
          <p:nvPr/>
        </p:nvSpPr>
        <p:spPr>
          <a:xfrm>
            <a:off x="8202168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30" name="Image 4" descr="Anális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0184" y="2505456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202168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05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8202168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Análises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8202168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AnaliticoService e 20 análises freestyle</a:t>
            </a:r>
            <a:endParaRPr lang="en-US" sz="1200" dirty="0"/>
          </a:p>
        </p:txBody>
      </p:sp>
      <p:sp>
        <p:nvSpPr>
          <p:cNvPr id="34" name="Etapa 6"/>
          <p:cNvSpPr/>
          <p:nvPr/>
        </p:nvSpPr>
        <p:spPr>
          <a:xfrm>
            <a:off x="9784080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35" name="Avatar"/>
          <p:cNvSpPr/>
          <p:nvPr/>
        </p:nvSpPr>
        <p:spPr>
          <a:xfrm>
            <a:off x="10012680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36" name="Image 5" descr="Testes e Publicaçã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0696" y="2505456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01268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06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10012680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Testes e Publicação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10012680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150 testes e roteiro para a SAP BTP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</a:rPr>
              <a:t>Repositório: github.com/AdrianoBispo/sap-cap-nodejs-pedidos-de-compras-app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6 - Testes e Publicação</dc:title>
  <dc:subject>Projeto Pedidos de Compras em SAP CAP e SAP Fiori</dc:subject>
  <dc:creator>Adriano Bispo</dc:creator>
  <cp:lastModifiedBy>Adriano Bispo</cp:lastModifiedBy>
  <cp:revision>1</cp:revision>
  <dcterms:created xsi:type="dcterms:W3CDTF">2026-10-20T02:46:49Z</dcterms:created>
  <dcterms:modified xsi:type="dcterms:W3CDTF">2026-10-20T02:46:49Z</dcterms:modified>
</cp:coreProperties>
</file>