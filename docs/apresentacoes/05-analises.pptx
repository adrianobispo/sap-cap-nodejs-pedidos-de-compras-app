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221a04b-04a1-7ff6-0ab1-4fc84b08a28f}">
          <p14:sldIdLst>
            <p14:sldId id="256"/>
          </p14:sldIdLst>
        </p14:section>
        <p14:section name="Contexto" id="{5d24d65c-265c-51b1-20d8-0f02ce1d033a}">
          <p14:sldIdLst>
            <p14:sldId id="257"/>
          </p14:sldIdLst>
        </p14:section>
        <p14:section name="Camada analítica" id="{d3192ab5-d389-a19d-b96d-2aa8037611c9}">
          <p14:sldIdLst>
            <p14:sldId id="258"/>
            <p14:sldId id="259"/>
          </p14:sldIdLst>
        </p14:section>
        <p14:section name="Apps freestyle" id="{dbfca20c-6195-fcb9-0996-e3359d7c3113}">
          <p14:sldIdLst>
            <p14:sldId id="260"/>
            <p14:sldId id="261"/>
            <p14:sldId id="262"/>
            <p14:sldId id="263"/>
          </p14:sldIdLst>
        </p14:section>
        <p14:section name="Encerramento" id="{6bd4895e-5db4-bd5a-5efc-630953b9a8f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5: indicadores e gráficos sobre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agregação acontece no banco; as apps só montam a consulta e desenham 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visão é um select sobre uma entidade do modelo, com dimensões para agrupar e medidas com agregação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@Aggregation.default define o método de cada medida; ApplySupported declara o que pode ser agrupado e agregado.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têm a mesma estrutura; muda só o catálogo de cenários do domínio em 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de filtros, indicadores no topo e cinco gráficos. Cada gráfico abre a página de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experiência para os quatro domínios: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catálogo de cada domínio define indicadores e as cinco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Análises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Camada analítica somente leitura com agregações $apply e quatro apps SAPUI5 freestyle com 20 análises.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nál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o AnaliticoService, com visões de dimensões e medidas agregadas no servidor via $apply, e quatro apps freestyle com filtros, indicadores, gráficos e detalhe.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visões analíticas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026664"/>
          </a:xfrm>
          <a:prstGeom prst="roundRect">
            <a:avLst>
              <a:gd name="adj" fmla="val 36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22098"/>
                <a:gridCol w="1318760"/>
                <a:gridCol w="3692527"/>
                <a:gridCol w="36925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Dimensões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Medidas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status do pagamento, UF, mês de criação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valorTotal (SUM), valorMedio (AVG), qtdePedidos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gênero, UF, faixa de score, mês de cadastro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qtdeClientes (SUM), scoreMedio (AVG)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categoria, status do estoque, item ativo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qtdeEstoque, qtdeReservada, qtdeDisponivel, valorEstoque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motivo, UF, mês da solicitação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valorReembolso (SUM), qtdeReembolsos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Lock"/>
          <p:cNvSpPr/>
          <p:nvPr/>
        </p:nvSpPr>
        <p:spPr>
          <a:xfrm>
            <a:off x="777240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20659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@readonly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Nenhuma escrita: só leitura e agregação.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4535424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520659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Comum e Admin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os dois perfis consultam.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igma"/>
          <p:cNvSpPr/>
          <p:nvPr/>
        </p:nvSpPr>
        <p:spPr>
          <a:xfrm>
            <a:off x="8293608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520659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 aggregates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cliente pede a medida sem informar o método.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Agregações no servidor com $apply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886200"/>
          </a:xfrm>
          <a:prstGeom prst="roundRect">
            <a:avLst>
              <a:gd name="adj" fmla="val 282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@Aggregation.ApplySupported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Transformations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'aggregate'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'groupby'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'filter'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'orderby'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'top'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'Edm.Decimal'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PedidosAnalise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7178040" y="160020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83080"/>
            <a:ext cx="4005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/odata/v4/analitico/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PedidosAnalise?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$apply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groupby((statusPedido,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statusPedidoTexto,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currency),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aggregate(valorTotal))</a:t>
            </a:r>
            <a:endParaRPr lang="en-US" sz="1300" dirty="0"/>
          </a:p>
        </p:txBody>
      </p:sp>
      <p:sp>
        <p:nvSpPr>
          <p:cNvPr id="9" name="Avatar LuDatabase"/>
          <p:cNvSpPr/>
          <p:nvPr/>
        </p:nvSpPr>
        <p:spPr>
          <a:xfrm>
            <a:off x="72237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3721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35753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linha por grupo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38953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banco devolve só os totais, não os registros.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comum às quatro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ter"/>
          <p:cNvSpPr/>
          <p:nvPr/>
        </p:nvSpPr>
        <p:spPr>
          <a:xfrm>
            <a:off x="777240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31213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FilterBar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Filtros do domínio (lista, booleano, busca)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Braces"/>
          <p:cNvSpPr/>
          <p:nvPr/>
        </p:nvSpPr>
        <p:spPr>
          <a:xfrm>
            <a:off x="3593592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3" name="Image 1" descr="LuBra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1931213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93592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AnalyticsQuery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3593592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Monta groupby, aggregate e filter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Network"/>
          <p:cNvSpPr/>
          <p:nvPr/>
        </p:nvSpPr>
        <p:spPr>
          <a:xfrm>
            <a:off x="6409944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Net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645" y="1931213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09944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AnalyticsService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6409944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ODataListBinding com $$aggregation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hartColumn"/>
          <p:cNvSpPr/>
          <p:nvPr/>
        </p:nvSpPr>
        <p:spPr>
          <a:xfrm>
            <a:off x="9226296" y="1810512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5" name="Image 3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6997" y="1931213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26296" y="245059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AnalysisChart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9226296" y="2816352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VizFrame (sap.viz) com o resultado</a:t>
            </a:r>
            <a:endParaRPr lang="en-US" sz="13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3703320"/>
            <a:ext cx="5120640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3886200"/>
            <a:ext cx="466344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medidas, dimensões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regra do $apply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control/FilterBar.js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view/Dashboard · Detail.view.xml</a:t>
            </a:r>
            <a:endParaRPr lang="en-US" sz="1300" dirty="0"/>
          </a:p>
        </p:txBody>
      </p:sp>
      <p:sp>
        <p:nvSpPr>
          <p:cNvPr id="30" name="Avatar LuTestTube"/>
          <p:cNvSpPr/>
          <p:nvPr/>
        </p:nvSpPr>
        <p:spPr>
          <a:xfrm>
            <a:off x="6035040" y="3794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1" name="Image 4" descr="LuTestTu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3904488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20840" y="375818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Regra testável sem UI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720840" y="407822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AnalyticsQuery devolve descritores simples, cobertos por QUnit.</a:t>
            </a:r>
            <a:endParaRPr lang="en-US" sz="1400" dirty="0"/>
          </a:p>
        </p:txBody>
      </p:sp>
      <p:sp>
        <p:nvSpPr>
          <p:cNvPr id="34" name="Avatar LuRoute"/>
          <p:cNvSpPr/>
          <p:nvPr/>
        </p:nvSpPr>
        <p:spPr>
          <a:xfrm>
            <a:off x="60350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5" name="Image 5" descr="Lu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49560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720840" y="48097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→ Detalhe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6720840" y="512978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análise abre gráfico ampliado e tabela; Abrir gestão leva à app do domínio.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Painel da 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60195"/>
            <a:ext cx="7589520" cy="4606290"/>
          </a:xfrm>
          <a:prstGeom prst="roundRect">
            <a:avLst>
              <a:gd name="adj" fmla="val 23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Painel da 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1635"/>
            <a:ext cx="7406640" cy="442341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12480" y="1600200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41080" y="16916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9418320" y="1737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indicadores: valor total, pedidos e ticket médio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8412480" y="3118104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41080" y="3209544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</a:t>
            </a:r>
            <a:endParaRPr lang="en-US" sz="4400" dirty="0"/>
          </a:p>
        </p:txBody>
      </p:sp>
      <p:sp>
        <p:nvSpPr>
          <p:cNvPr id="12" name="Text 8"/>
          <p:cNvSpPr txBox="1"/>
          <p:nvPr/>
        </p:nvSpPr>
        <p:spPr>
          <a:xfrm>
            <a:off x="9418320" y="3255264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análises: status, mês, UF, pagamento e ticket</a:t>
            </a:r>
            <a:endParaRPr lang="en-US" sz="1400" dirty="0"/>
          </a:p>
        </p:txBody>
      </p:sp>
      <p:sp>
        <p:nvSpPr>
          <p:cNvPr id="13" name="Cartão"/>
          <p:cNvSpPr/>
          <p:nvPr/>
        </p:nvSpPr>
        <p:spPr>
          <a:xfrm>
            <a:off x="8412480" y="4636008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8641080" y="4727448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477316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página de detalhe com gráfico e tabela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Vinte análises em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335"/>
            <a:ext cx="3383280" cy="20205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Compras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9632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0" name="Image 1" descr="Análise de 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664335"/>
            <a:ext cx="3383280" cy="20205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902952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Clientes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902952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48640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4" name="Image 2" descr="Análise de Itens do Estoq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41775"/>
            <a:ext cx="3383280" cy="202057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51960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Itens do Estoque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25196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99632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8" name="Image 3" descr="Análise de Pedidos de Reembol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41775"/>
            <a:ext cx="3383280" cy="202057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902952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Reembolsos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902952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Indicadores e análises por domínio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657600"/>
          </a:xfrm>
          <a:prstGeom prst="roundRect">
            <a:avLst>
              <a:gd name="adj" fmla="val 3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110015"/>
                <a:gridCol w="2989189"/>
                <a:gridCol w="56267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Indicadores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Análises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Compras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total, pedidos, ticket médio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por status · pedidos por mês · valor por UF · por status do pagamento · ticket por status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Clientes, score médio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Por gênero · por UF · por faixa de score · cadastros por mês · score médio por UF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Itens do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Itens, em estoque, reservada, disponível, valor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Estoque por categoria · por situação · valor por categoria · top 10 reservados · itens por categoria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Reembolsos, valor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 por status · quantidade por status · valor por mês · por UF · por motivo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55321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Testes QUnit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catálogo (Scenarios) e da montagem do $apply (AnalyticsQuery) em /&lt;app&gt;/test/testsuite.qunit.html.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AnaliticoService somente leitura com quatro visões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Medidas com agregação padrão e custom aggregates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Agrupamento e soma no banco com $apply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freestyle com a mesma arquitetura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 análises com filtros, indicadores e detalhe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Regra das consultas coberta por testes QUnit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Testes, build e publicação na SAP BTP com SAP HANA Cloud, XSUAA e Work Zone.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Análises</dc:title>
  <dc:subject>Projeto Pedidos de Compras em SAP CAP e SAP Fiori</dc:subject>
  <dc:creator>Adriano Bispo</dc:creator>
  <cp:lastModifiedBy>Adriano Bispo</cp:lastModifiedBy>
  <cp:revision>1</cp:revision>
  <dcterms:created xsi:type="dcterms:W3CDTF">2026-10-20T02:46:46Z</dcterms:created>
  <dcterms:modified xsi:type="dcterms:W3CDTF">2026-10-20T02:46:46Z</dcterms:modified>
</cp:coreProperties>
</file>