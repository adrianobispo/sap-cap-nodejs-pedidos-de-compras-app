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3e3bafd-75c5-3fa8-3d9b-b931edcb5eea}">
          <p14:sldIdLst>
            <p14:sldId id="256"/>
          </p14:sldIdLst>
        </p14:section>
        <p14:section name="Contexto" id="{44f5d237-4192-b99a-88ee-a166d8c3b09f}">
          <p14:sldIdLst>
            <p14:sldId id="257"/>
          </p14:sldIdLst>
        </p14:section>
        <p14:section name="Visão geral" id="{aa6b11cf-eead-337a-430e-de7696feb8a6}">
          <p14:sldIdLst>
            <p14:sldId id="258"/>
            <p14:sldId id="259"/>
          </p14:sldIdLst>
        </p14:section>
        <p14:section name="Anotações" id="{13582097-e7ed-80bb-592a-8991bac5b398}">
          <p14:sldIdLst>
            <p14:sldId id="260"/>
            <p14:sldId id="261"/>
            <p14:sldId id="262"/>
          </p14:sldIdLst>
        </p14:section>
        <p14:section name="Extensões" id="{05451c38-275a-2e0d-8fd6-d604b6c050cc}">
          <p14:sldIdLst>
            <p14:sldId id="263"/>
            <p14:sldId id="264"/>
            <p14:sldId id="265"/>
          </p14:sldIdLst>
        </p14:section>
        <p14:section name="Encerramento" id="{68e6fdd1-032a-b665-2c59-bcda49fa4d6a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4: a interface Fiori Elements sobre os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UI é orientada a anotações: colunas, filtros, seções, ações, criticidade e side effects vêm do 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tem rota própria e um intent (objeto semântico + ação) usado no launchpad e na navegação.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SAP Fiori Application Generator lê o serviço CAP local e cria a app já ligada às anotações em app/&lt;app&gt;/annotations.cds.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HeaderInfo, SelectionFields, LineItem e DataPoint: a List Report e a Object Page saem destas anotações, sem código de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seções aparecem conforme o status, usando os elementos calculados do modelo (etapa 1) em @UI.Hidden.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recarregam campos após uma mudança; FieldControl e UpdateHidden usam expressões; Permissoes esconde botões do perfil Comum.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ações customizadas registradas no manifest.json: o diálogo de importação e o diálogo de pagamento com máscara.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Campos viram links para o registro na app de destino, localizado pela chave semântica recebida no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Sandbox do SAP Fiori launchpad em app/launchpad.html: quatro tiles de gestão e quatro de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4 — Apps Fiori Elements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4 — Apps Fiori Elements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04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 Elements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de gestão geradas com SAP Fiori tools e dirigidas por anotações, com extensões, navegação e launchpad.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 Ele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50808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317736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84664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451592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101852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4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criamos as quatro apps de gestão em Fiori Elements V4 (List Report + Object Page) no tema SAP Horizon, com a UI descrita por anotações CDS e extensões só onde o padrão não basta.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VISÃO GERAL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Quatro apps de gestão, uma por serviço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285850"/>
                <a:gridCol w="2110015"/>
                <a:gridCol w="4044196"/>
                <a:gridCol w="228585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Caminho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Páginas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Tile (intent)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Gestão de 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/gestaoclientes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 → Endereço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Gestão de 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/gestaoestoque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ItemEstoque-manage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 de Compras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/pedidoscompras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→ Item do pedido / Item no encerramento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PedidoCompra-manage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Gestão de 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/gestaoreembolsos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572000"/>
            <a:ext cx="3575304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Avatar LuPanelsTopLeft"/>
          <p:cNvSpPr/>
          <p:nvPr/>
        </p:nvSpPr>
        <p:spPr>
          <a:xfrm>
            <a:off x="77724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0" descr="LuPanelsTopLe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493227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47731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Fiori Elements V4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508760" y="5175504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List Report e Object Page para listas, filtros e detalhes.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4306824" y="4572000"/>
            <a:ext cx="3575304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parkles"/>
          <p:cNvSpPr/>
          <p:nvPr/>
        </p:nvSpPr>
        <p:spPr>
          <a:xfrm>
            <a:off x="4535424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4" name="Image 1" descr="Lu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4932274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66944" y="47731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Tema sap_horizon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5266944" y="5175504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SAPUI5 1.148 LTS com o visual Horizon em todas as apps.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8065008" y="4572000"/>
            <a:ext cx="3575304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Server"/>
          <p:cNvSpPr/>
          <p:nvPr/>
        </p:nvSpPr>
        <p:spPr>
          <a:xfrm>
            <a:off x="8293608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9" name="Image 2" descr="Lu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4932274"/>
            <a:ext cx="285293" cy="285293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025128" y="47731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Servidas pelo CAP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9025128" y="5175504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cds-plugin-ui5 e npm workspaces: um único npm run watch.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GERAÇÃO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Geração das apps com SAP Fiori tools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Wand"/>
          <p:cNvSpPr/>
          <p:nvPr/>
        </p:nvSpPr>
        <p:spPr>
          <a:xfrm>
            <a:off x="777240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7" name="Image 0" descr="LuW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31213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0604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505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Application Generator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8163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Template List Report Page V4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91256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2" name="Cartão"/>
          <p:cNvSpPr/>
          <p:nvPr/>
        </p:nvSpPr>
        <p:spPr>
          <a:xfrm>
            <a:off x="3364992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erver"/>
          <p:cNvSpPr/>
          <p:nvPr/>
        </p:nvSpPr>
        <p:spPr>
          <a:xfrm>
            <a:off x="3593592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4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1931213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22392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93592" y="24505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Local CAP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593592" y="28163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Serviço lido do projeto, sem URL externa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007608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9" name="Cartão"/>
          <p:cNvSpPr/>
          <p:nvPr/>
        </p:nvSpPr>
        <p:spPr>
          <a:xfrm>
            <a:off x="6181344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Table"/>
          <p:cNvSpPr/>
          <p:nvPr/>
        </p:nvSpPr>
        <p:spPr>
          <a:xfrm>
            <a:off x="6409944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1" name="Image 2" descr="Lu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645" y="1931213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38744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409944" y="24505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Entidade principal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409944" y="28163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Ex.: Itens em EstoqueService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26" name="Cartão"/>
          <p:cNvSpPr/>
          <p:nvPr/>
        </p:nvSpPr>
        <p:spPr>
          <a:xfrm>
            <a:off x="8997696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FileCode"/>
          <p:cNvSpPr/>
          <p:nvPr/>
        </p:nvSpPr>
        <p:spPr>
          <a:xfrm>
            <a:off x="9226296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8" name="Image 3" descr="LuFile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6997" y="1931213"/>
            <a:ext cx="261518" cy="26151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055096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9226296" y="24505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Projeto gerado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226296" y="28163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webapp, manifest.json e annotations.cds</a:t>
            </a:r>
            <a:endParaRPr lang="en-US" sz="1300" dirty="0"/>
          </a:p>
        </p:txBody>
      </p:sp>
      <p:sp>
        <p:nvSpPr>
          <p:cNvPr id="32" name="Bloco de código"/>
          <p:cNvSpPr/>
          <p:nvPr/>
        </p:nvSpPr>
        <p:spPr>
          <a:xfrm>
            <a:off x="548640" y="3703320"/>
            <a:ext cx="5486400" cy="1798320"/>
          </a:xfrm>
          <a:prstGeom prst="roundRect">
            <a:avLst>
              <a:gd name="adj" fmla="val 6102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3" name="Código"/>
          <p:cNvSpPr txBox="1"/>
          <p:nvPr/>
        </p:nvSpPr>
        <p:spPr>
          <a:xfrm>
            <a:off x="777240" y="3886200"/>
            <a:ext cx="502920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app/gestao-estoque/.appGenInfo.json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"serviceType": "Local CAP",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"serviceUrl": ".../odata/v4/estoque/",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"template": "List Report Page V4",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"ui5Theme": "sap_horizon",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"ui5Version": "1.148.12",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"entityRelatedConfig": [{ "value": "Itens" }]</a:t>
            </a:r>
            <a:endParaRPr lang="en-US" sz="1300" dirty="0"/>
          </a:p>
        </p:txBody>
      </p:sp>
      <p:sp>
        <p:nvSpPr>
          <p:cNvPr id="34" name="Bloco de código"/>
          <p:cNvSpPr/>
          <p:nvPr/>
        </p:nvSpPr>
        <p:spPr>
          <a:xfrm>
            <a:off x="6263640" y="3703320"/>
            <a:ext cx="5376672" cy="1600200"/>
          </a:xfrm>
          <a:prstGeom prst="roundRect">
            <a:avLst>
              <a:gd name="adj" fmla="val 6857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5" name="Código"/>
          <p:cNvSpPr txBox="1"/>
          <p:nvPr/>
        </p:nvSpPr>
        <p:spPr>
          <a:xfrm>
            <a:off x="6492240" y="388620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app/services.cds reúne as anotações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from './common';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from './gestao-clientes/annotations';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from './gestao-estoque/annotations';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from './pedidos-compras/annotations';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from './gestao-reembolsos/annotations';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tela descrita por anotações CDS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5760720" cy="3779520"/>
          </a:xfrm>
          <a:prstGeom prst="roundRect">
            <a:avLst>
              <a:gd name="adj" fmla="val 2903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30352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 service.Itens with @(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Common.SemanticKey : [sku],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UI.HeaderInfo 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TypeName    : 'Item',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       : { Value: nome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 : { Value: sku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ImageUrl    : fotoItem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UI.SelectionFields : [ sku, nome,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categoria_code, statusEstoque_code 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UI.LineItem 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Value: fotoItem, Label: 'Foto'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Value: sku,  ![@UI.Importance]: #High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Value: qtdeDisponivel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Value: statusEstoque_code,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Criticality: statusEstoque.criticality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6537960" y="1685671"/>
            <a:ext cx="5102352" cy="3120898"/>
          </a:xfrm>
          <a:prstGeom prst="roundRect">
            <a:avLst>
              <a:gd name="adj" fmla="val 351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8" name="Image 0" descr="Gestão de Estoque: List 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777111"/>
            <a:ext cx="4919472" cy="2938018"/>
          </a:xfrm>
          <a:prstGeom prst="rect">
            <a:avLst/>
          </a:prstGeom>
        </p:spPr>
      </p:pic>
      <p:sp>
        <p:nvSpPr>
          <p:cNvPr id="9" name="Avatar LuGauge"/>
          <p:cNvSpPr/>
          <p:nvPr/>
        </p:nvSpPr>
        <p:spPr>
          <a:xfrm>
            <a:off x="6583680" y="5029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1" descr="Lu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51389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269480" y="499262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Criticidade da CodeList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269480" y="5312664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cor do status vem de statusEstoque.criticality.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 Page dinâmica do pedido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943405"/>
            <a:ext cx="6583680" cy="3839870"/>
          </a:xfrm>
          <a:prstGeom prst="roundRect">
            <a:avLst>
              <a:gd name="adj" fmla="val 285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34845"/>
            <a:ext cx="6400800" cy="3656990"/>
          </a:xfrm>
          <a:prstGeom prst="rect">
            <a:avLst/>
          </a:prstGeom>
        </p:spPr>
      </p:pic>
      <p:sp>
        <p:nvSpPr>
          <p:cNvPr id="7" name="Bloco de código"/>
          <p:cNvSpPr/>
          <p:nvPr/>
        </p:nvSpPr>
        <p:spPr>
          <a:xfrm>
            <a:off x="7360920" y="1600200"/>
            <a:ext cx="4279392" cy="1874520"/>
          </a:xfrm>
          <a:prstGeom prst="roundRect">
            <a:avLst>
              <a:gd name="adj" fmla="val 5854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589520" y="1783080"/>
            <a:ext cx="38221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$Type : 'UI.ReferenceFacet',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 : 'Itens',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Target: 'itens/@UI.LineItem',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![@UI.Hidden]: encerrado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$Type : 'UI.ReferenceFacet',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 : 'Itens',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Target: 'itensSnapshot/@UI.LineItem',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![@UI.Hidden]: naoEncerrado }</a:t>
            </a:r>
            <a:endParaRPr lang="en-US" sz="1200" dirty="0"/>
          </a:p>
        </p:txBody>
      </p:sp>
      <p:sp>
        <p:nvSpPr>
          <p:cNvPr id="9" name="Avatar LuHistory"/>
          <p:cNvSpPr/>
          <p:nvPr/>
        </p:nvSpPr>
        <p:spPr>
          <a:xfrm>
            <a:off x="740664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0" name="Image 1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4531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092440" y="43068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Snapshots no encerrado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092440" y="46268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 e itens vêm do histórico congelado.</a:t>
            </a:r>
            <a:endParaRPr lang="en-US" sz="1400" dirty="0"/>
          </a:p>
        </p:txBody>
      </p:sp>
      <p:sp>
        <p:nvSpPr>
          <p:cNvPr id="13" name="Avatar LuLayers"/>
          <p:cNvSpPr/>
          <p:nvPr/>
        </p:nvSpPr>
        <p:spPr>
          <a:xfrm>
            <a:off x="7406640" y="5257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4" name="Image 2" descr="Lu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536752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092440" y="52212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Finalização e Cancelamento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092440" y="55412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Seções exibidas só no status correspondente.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ANOTAÇÕES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Side effects, controle de campos e permissões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575304" cy="4480560"/>
          </a:xfrm>
          <a:prstGeom prst="roundRect">
            <a:avLst>
              <a:gd name="adj" fmla="val 306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RefreshCw"/>
          <p:cNvSpPr/>
          <p:nvPr/>
        </p:nvSpPr>
        <p:spPr>
          <a:xfrm>
            <a:off x="777240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Refresh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31213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18105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Side effects</a:t>
            </a:r>
            <a:endParaRPr lang="en-US" sz="1600" dirty="0"/>
          </a:p>
        </p:txBody>
      </p:sp>
      <p:sp>
        <p:nvSpPr>
          <p:cNvPr id="9" name="Bloco de código"/>
          <p:cNvSpPr/>
          <p:nvPr/>
        </p:nvSpPr>
        <p:spPr>
          <a:xfrm>
            <a:off x="731520" y="2514600"/>
            <a:ext cx="3209544" cy="2514600"/>
          </a:xfrm>
          <a:prstGeom prst="roundRect">
            <a:avLst>
              <a:gd name="adj" fmla="val 4364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0" name="Código"/>
          <p:cNvSpPr txBox="1"/>
          <p:nvPr/>
        </p:nvSpPr>
        <p:spPr>
          <a:xfrm>
            <a:off x="960120" y="2697480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Common.SideEffects #Cliente: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SourceProperties: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[cliente_ID],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TargetProperties: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'endereco_ID',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'enderecoPrincipal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Completo',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'cpfCliente' 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TargetEntities: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[cliente] }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519379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Ao escolher o cliente, endereço e CPF aparecem na hora.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4306824" y="1600200"/>
            <a:ext cx="3575304" cy="4480560"/>
          </a:xfrm>
          <a:prstGeom prst="roundRect">
            <a:avLst>
              <a:gd name="adj" fmla="val 306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Pencil"/>
          <p:cNvSpPr/>
          <p:nvPr/>
        </p:nvSpPr>
        <p:spPr>
          <a:xfrm>
            <a:off x="4535424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4" name="Image 1" descr="LuPenc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125" y="1931213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8105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Controle de campos</a:t>
            </a:r>
            <a:endParaRPr lang="en-US" sz="1600" dirty="0"/>
          </a:p>
        </p:txBody>
      </p:sp>
      <p:sp>
        <p:nvSpPr>
          <p:cNvPr id="16" name="Bloco de código"/>
          <p:cNvSpPr/>
          <p:nvPr/>
        </p:nvSpPr>
        <p:spPr>
          <a:xfrm>
            <a:off x="4489704" y="2514600"/>
            <a:ext cx="3209544" cy="2514600"/>
          </a:xfrm>
          <a:prstGeom prst="roundRect">
            <a:avLst>
              <a:gd name="adj" fmla="val 4364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7" name="Código"/>
          <p:cNvSpPr txBox="1"/>
          <p:nvPr/>
        </p:nvSpPr>
        <p:spPr>
          <a:xfrm>
            <a:off x="4718304" y="2697480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@Common.FieldControl: 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when numeroPedido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is null then 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1 end);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UI.UpdateHidden: 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statusPedido.code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&lt;&gt; 'ABERTO'),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UI.DeleteHidden: true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535424" y="519379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 editável só na criação; pedido não é excluído.</a:t>
            </a:r>
            <a:endParaRPr lang="en-US" sz="1400" dirty="0"/>
          </a:p>
        </p:txBody>
      </p:sp>
      <p:sp>
        <p:nvSpPr>
          <p:cNvPr id="19" name="Cartão"/>
          <p:cNvSpPr/>
          <p:nvPr/>
        </p:nvSpPr>
        <p:spPr>
          <a:xfrm>
            <a:off x="8065008" y="1600200"/>
            <a:ext cx="3575304" cy="4480560"/>
          </a:xfrm>
          <a:prstGeom prst="roundRect">
            <a:avLst>
              <a:gd name="adj" fmla="val 306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ShieldCheck"/>
          <p:cNvSpPr/>
          <p:nvPr/>
        </p:nvSpPr>
        <p:spPr>
          <a:xfrm>
            <a:off x="8293608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1" name="Image 2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309" y="1931213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933688" y="18105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Permissões na UI</a:t>
            </a:r>
            <a:endParaRPr lang="en-US" sz="1600" dirty="0"/>
          </a:p>
        </p:txBody>
      </p:sp>
      <p:sp>
        <p:nvSpPr>
          <p:cNvPr id="23" name="Bloco de código"/>
          <p:cNvSpPr/>
          <p:nvPr/>
        </p:nvSpPr>
        <p:spPr>
          <a:xfrm>
            <a:off x="8247888" y="2514600"/>
            <a:ext cx="3209544" cy="2514600"/>
          </a:xfrm>
          <a:prstGeom prst="roundRect">
            <a:avLst>
              <a:gd name="adj" fmla="val 4364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4" name="Código"/>
          <p:cNvSpPr txBox="1"/>
          <p:nvPr/>
        </p:nvSpPr>
        <p:spPr>
          <a:xfrm>
            <a:off x="8476488" y="2697480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UI.CreateHidden: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$edmJson: { $Path: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'/ClientesService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.EntityContainer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/Permissoes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/somenteLeitura'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UI.UpdateHidden: { ...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UI.DeleteHidden: { ... }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293608" y="5193792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perfil Comum só vê as opções de consulta.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EXTENSÕES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Extensões onde o padrão não basta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0" y="1600264"/>
            <a:ext cx="6153912" cy="3748913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Diálogo Efetuar Pagamento com másca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691704"/>
            <a:ext cx="5971032" cy="356603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0" y="5623560"/>
            <a:ext cx="6153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6B82"/>
                </a:solidFill>
              </a:rPr>
              <a:t>Diálogo Efetuar Pagamento com sap.m.MaskInput</a:t>
            </a:r>
            <a:endParaRPr lang="en-US" sz="1200" dirty="0"/>
          </a:p>
        </p:txBody>
      </p:sp>
      <p:sp>
        <p:nvSpPr>
          <p:cNvPr id="8" name="Avatar LuCreditCard"/>
          <p:cNvSpPr/>
          <p:nvPr/>
        </p:nvSpPr>
        <p:spPr>
          <a:xfrm>
            <a:off x="5486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1" descr="LuCredit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01368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34440" y="165506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EfetuarPagamento.js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234440" y="19751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Máscaras 9999 9999 9999 9999, MM/AA e CVV; chama a action pelo editFlow.</a:t>
            </a:r>
            <a:endParaRPr lang="en-US" sz="1400" dirty="0"/>
          </a:p>
        </p:txBody>
      </p:sp>
      <p:sp>
        <p:nvSpPr>
          <p:cNvPr id="12" name="Avatar LuFileSpreadsheet"/>
          <p:cNvSpPr/>
          <p:nvPr/>
        </p:nvSpPr>
        <p:spPr>
          <a:xfrm>
            <a:off x="5486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3" name="Image 2" descr="LuFileSpreadshe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98648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34440" y="275234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ImportarPlanilha.js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234440" y="307238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Escolha de .xlsx/.csv e chamada da action importarPlanilha.</a:t>
            </a:r>
            <a:endParaRPr lang="en-US" sz="1400" dirty="0"/>
          </a:p>
        </p:txBody>
      </p:sp>
      <p:sp>
        <p:nvSpPr>
          <p:cNvPr id="16" name="Avatar LuPuzzle"/>
          <p:cNvSpPr/>
          <p:nvPr/>
        </p:nvSpPr>
        <p:spPr>
          <a:xfrm>
            <a:off x="5486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3" descr="LuPuzz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995928"/>
            <a:ext cx="237744" cy="23774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384962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Registro no manifest.json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234440" y="416966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Ações em controlConfiguration, com press, enabled e visible.</a:t>
            </a:r>
            <a:endParaRPr lang="en-US" sz="1400" dirty="0"/>
          </a:p>
        </p:txBody>
      </p:sp>
      <p:sp>
        <p:nvSpPr>
          <p:cNvPr id="20" name="Avatar LuShieldCheck"/>
          <p:cNvSpPr/>
          <p:nvPr/>
        </p:nvSpPr>
        <p:spPr>
          <a:xfrm>
            <a:off x="5486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1" name="Image 4" descr="LuShield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093208"/>
            <a:ext cx="237744" cy="23774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234440" y="494690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Backend continua validando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1234440" y="526694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UI ajuda a digitar; as regras ficam no serviço.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NAVEGAÇÃO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Navegação entre apps por objetos semânticos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766560" cy="4133088"/>
          </a:xfrm>
          <a:prstGeom prst="roundRect">
            <a:avLst>
              <a:gd name="adj" fmla="val 26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6400800" cy="914400"/>
        </p:xfrm>
        <a:graphic>
          <a:graphicData uri="http://schemas.openxmlformats.org/drawingml/2006/table">
            <a:tbl>
              <a:tblPr/>
              <a:tblGrid>
                <a:gridCol w="1902941"/>
                <a:gridCol w="2248930"/>
                <a:gridCol w="224893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Origem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Campos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Destino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Cliente, CPF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Itens do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Item, SKU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ItemEstoque-manage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Solicitação de 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PedidoCompra-manage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Cliente, CPF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Cliente-manage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Apps de análise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Botão Abrir gestão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 do domínio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7589520" y="1600200"/>
            <a:ext cx="4050792" cy="1996440"/>
          </a:xfrm>
          <a:prstGeom prst="roundRect">
            <a:avLst>
              <a:gd name="adj" fmla="val 5496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818120" y="1783080"/>
            <a:ext cx="3593592" cy="163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@Common: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SemanticObject: 'Cliente',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SemanticObjectMapping: [{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LocalProperty: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cpfCliente,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SemanticObjectProperty: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'cpf' }]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7589520" y="4526280"/>
            <a:ext cx="405079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0" y="452628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Requisito: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launchpad liga ClientSideTargetResolution; sem ela o Fiori Elements esconde os links.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LAUNCHPAD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Launchpad local com os oito tiles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69415"/>
            <a:ext cx="7223760" cy="4387850"/>
          </a:xfrm>
          <a:prstGeom prst="roundRect">
            <a:avLst>
              <a:gd name="adj" fmla="val 250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Launchpad local com os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60855"/>
            <a:ext cx="7040880" cy="4204970"/>
          </a:xfrm>
          <a:prstGeom prst="rect">
            <a:avLst/>
          </a:prstGeom>
        </p:spPr>
      </p:pic>
      <p:sp>
        <p:nvSpPr>
          <p:cNvPr id="7" name="Bloco de código"/>
          <p:cNvSpPr/>
          <p:nvPr/>
        </p:nvSpPr>
        <p:spPr>
          <a:xfrm>
            <a:off x="8001000" y="1600200"/>
            <a:ext cx="3639312" cy="1874520"/>
          </a:xfrm>
          <a:prstGeom prst="roundRect">
            <a:avLst>
              <a:gd name="adj" fmla="val 5854"/>
            </a:avLst>
          </a:prstGeom>
          <a:solidFill>
            <a:srgbClr val="1D2D3E"/>
          </a:solidFill>
          <a:ln/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8229600" y="1783080"/>
            <a:ext cx="3182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"ItemEstoque-manage":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"Gestão de Estoque",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icon: "sap-icon://product",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additionalInformation: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"SAPUI5.Component=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gestaoestoque",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url: "/gestaoestoque"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AE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Avatar LuCompass"/>
          <p:cNvSpPr/>
          <p:nvPr/>
        </p:nvSpPr>
        <p:spPr>
          <a:xfrm>
            <a:off x="8046720" y="4206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1" descr="LuComp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431596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732520" y="416966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Mesmos intents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732520" y="4489704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Iguais aos inbounds dos manifests.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4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V4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UI descrita por anotações CDS no tema SAP Horizon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Object Page dinâmica conforme o status do pedido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Side effects, controle de campos e permissões na UI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Extensões de importação e de pagamento com máscara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por objetos semânticos e launchpad local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Análises: camada analítica com $apply e quatro apps SAPUI5 freestyle.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4 - Apps Fiori Elements</dc:title>
  <dc:subject>Projeto Pedidos de Compras em SAP CAP e SAP Fiori</dc:subject>
  <dc:creator>Adriano Bispo</dc:creator>
  <cp:lastModifiedBy>Adriano Bispo</cp:lastModifiedBy>
  <cp:revision>1</cp:revision>
  <dcterms:created xsi:type="dcterms:W3CDTF">2026-10-20T02:31:12Z</dcterms:created>
  <dcterms:modified xsi:type="dcterms:W3CDTF">2026-10-20T02:31:12Z</dcterms:modified>
</cp:coreProperties>
</file>