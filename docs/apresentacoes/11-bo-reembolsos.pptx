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a20156c1-8604-e596-9ab1-9c4f63782476}">
          <p14:sldIdLst>
            <p14:sldId id="256"/>
          </p14:sldIdLst>
        </p14:section>
        <p14:section name="Contexto" id="{9a146531-7e30-09fe-3392-f5f252e27cb2}">
          <p14:sldIdLst>
            <p14:sldId id="257"/>
          </p14:sldIdLst>
        </p14:section>
        <p14:section name="Visão geral" id="{4368bfa6-95b9-8b7f-85c3-0811861f8c02}">
          <p14:sldIdLst>
            <p14:sldId id="258"/>
            <p14:sldId id="259"/>
          </p14:sldIdLst>
        </p14:section>
        <p14:section name="Modelo e nascimento" id="{404564f3-a1dd-12fe-9c12-af6bac0876ed}">
          <p14:sldIdLst>
            <p14:sldId id="260"/>
            <p14:sldId id="261"/>
          </p14:sldIdLst>
        </p14:section>
        <p14:section name="Serviço e handlers" id="{27345af9-1e25-2835-f53a-37a298deaa8e}">
          <p14:sldIdLst>
            <p14:sldId id="262"/>
            <p14:sldId id="263"/>
            <p14:sldId id="264"/>
            <p14:sldId id="265"/>
          </p14:sldIdLst>
        </p14:section>
        <p14:section name="UI e análise" id="{308aeb05-e5c6-ba5b-64a1-060eda338125}">
          <p14:sldIdLst>
            <p14:sldId id="266"/>
            <p14:sldId id="267"/>
            <p14:sldId id="268"/>
          </p14:sldIdLst>
        </p14:section>
        <p14:section name="Testes" id="{87efb717-f8fc-ca24-2075-014dbc2388ff}">
          <p14:sldIdLst>
            <p14:sldId id="269"/>
          </p14:sldIdLst>
        </p14:section>
        <p14:section name="Encerramento" id="{5ac257ee-3927-092a-60c6-78d0a634ee6d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BO Reembolsos.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BO Reembolsos é pequeno, mas mexe em três outros BOs numa só transação.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Onde cada parte do BO está implementada.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status do reembolso e o efeito de cada decisão no pedido.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Guarda o vínculo com o pedido e o cliente, o valor, o status anterior do pedido e os dados da solicitação e da decisão.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cancelarPedido sobre pedido com pagamento aprovado não cancela: transiciona o pedido e cria a solicitação.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Ninguém cria nem edita reembolsos pela API; as actions são o único caminho de escrita.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decisão é gravada com um UPDATE condicional a PENDENTE antes de mexer no pedido.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Depois de gravar a decisão, cancelarPorReembolso executa o lado do pedido na mesma transação.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pedido volta exatamente ao status que tinha antes da solicitação, e o motivo do cancelamento é limpo.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Lista somente leitura com Aprovar e Rejeitar; o número do pedido é um link para a app de pedidos.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reembolso aponta para o pedido e para o cliente; o pedido aponta de volta para a solicitação.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view analítica agrupa por status, motivo, UF e mês; a app mostra cinco cenários.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apoio solicitacao() percorre o fluxo inteiro pela API: cria, paga e cancela um pedido para gerar a solicitação.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 do BO Reembolsos e da série por BO.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17320"/>
            <a:ext cx="54864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200" kern="0" dirty="0">
                <a:solidFill>
                  <a:srgbClr val="89D1FF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965960"/>
            <a:ext cx="67665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840480"/>
            <a:ext cx="64008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D1EFFF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73152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9D1FF"/>
                </a:solidFill>
              </a:rPr>
              <a:t>Pedidos de Compras · SAP CAP 10 + SAP Fiori · Design System SAP Horizon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spc="15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Pedidos de Compras · SAP CAP + SAP Fiori   |   Implementação por BO — Reembolsos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cerrament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200" kern="0" dirty="0">
                <a:solidFill>
                  <a:srgbClr val="89D1FF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96012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73152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D1FF"/>
                </a:solidFill>
              </a:rPr>
              <a:t>Pedidos de Compras · SAP CAP + SAP Fiori   |   Implementação por BO — Reembolsos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17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IMPLEMENTAÇÃO POR BO · 5 DE 5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965960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BO Reembolsos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8404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D1EFFF"/>
                </a:solidFill>
              </a:rPr>
              <a:t>Solicitação de reembolso de pedidos pagos: nascimento no cancelamento, decisão única, cancelamento ou retomada do pedido, UI e análise.</a:t>
            </a:r>
            <a:endParaRPr lang="en-US" sz="1800" dirty="0"/>
          </a:p>
        </p:txBody>
      </p:sp>
      <p:sp>
        <p:nvSpPr>
          <p:cNvPr id="5" name="Avatar da etapa"/>
          <p:cNvSpPr/>
          <p:nvPr/>
        </p:nvSpPr>
        <p:spPr>
          <a:xfrm>
            <a:off x="8183880" y="1417320"/>
            <a:ext cx="3291840" cy="3291840"/>
          </a:xfrm>
          <a:prstGeom prst="roundRect">
            <a:avLst>
              <a:gd name="adj" fmla="val 22222"/>
            </a:avLst>
          </a:prstGeom>
          <a:solidFill>
            <a:srgbClr val="1B3A7A"/>
          </a:solidFill>
          <a:ln/>
        </p:spPr>
      </p:sp>
      <p:sp>
        <p:nvSpPr>
          <p:cNvPr id="6" name="Avatar interno"/>
          <p:cNvSpPr/>
          <p:nvPr/>
        </p:nvSpPr>
        <p:spPr>
          <a:xfrm>
            <a:off x="8732520" y="1965960"/>
            <a:ext cx="2194560" cy="2194560"/>
          </a:xfrm>
          <a:prstGeom prst="roundRect">
            <a:avLst>
              <a:gd name="adj" fmla="val 22917"/>
            </a:avLst>
          </a:prstGeom>
          <a:solidFill>
            <a:schemeClr val="accent1"/>
          </a:solidFill>
          <a:ln/>
        </p:spPr>
      </p:sp>
      <p:pic>
        <p:nvPicPr>
          <p:cNvPr id="7" name="Image 0" descr="Reembols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2514600"/>
            <a:ext cx="1097280" cy="1097280"/>
          </a:xfrm>
          <a:prstGeom prst="rect">
            <a:avLst/>
          </a:prstGeom>
        </p:spPr>
      </p:pic>
      <p:sp>
        <p:nvSpPr>
          <p:cNvPr id="8" name="Etapa 1"/>
          <p:cNvSpPr/>
          <p:nvPr/>
        </p:nvSpPr>
        <p:spPr>
          <a:xfrm>
            <a:off x="8183880" y="507492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9" name="Etapa 2"/>
          <p:cNvSpPr/>
          <p:nvPr/>
        </p:nvSpPr>
        <p:spPr>
          <a:xfrm>
            <a:off x="8842248" y="507492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10" name="Etapa 3"/>
          <p:cNvSpPr/>
          <p:nvPr/>
        </p:nvSpPr>
        <p:spPr>
          <a:xfrm>
            <a:off x="9500616" y="507492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11" name="Etapa 4"/>
          <p:cNvSpPr/>
          <p:nvPr/>
        </p:nvSpPr>
        <p:spPr>
          <a:xfrm>
            <a:off x="10158984" y="507492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12" name="Etapa 5"/>
          <p:cNvSpPr/>
          <p:nvPr/>
        </p:nvSpPr>
        <p:spPr>
          <a:xfrm>
            <a:off x="10817352" y="507492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89D1F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183880" y="5303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9D1FF"/>
                </a:solidFill>
              </a:rPr>
              <a:t>BO 5 de 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IMPLEMENTAÇÃO POR BO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Os cinco objetos de negócio do projeto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600200"/>
            <a:ext cx="2075688" cy="2240280"/>
          </a:xfrm>
          <a:prstGeom prst="roundRect">
            <a:avLst>
              <a:gd name="adj" fmla="val 5286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6" name="Avatar LuLayers"/>
          <p:cNvSpPr/>
          <p:nvPr/>
        </p:nvSpPr>
        <p:spPr>
          <a:xfrm>
            <a:off x="777240" y="18288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7" name="Image 0" descr="LuLay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1960474"/>
            <a:ext cx="285293" cy="28529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77240" y="2514600"/>
            <a:ext cx="170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BO 1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770632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Comum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3154680"/>
            <a:ext cx="1709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Tipos, CodeLists, mensagens e utilitários</a:t>
            </a:r>
            <a:endParaRPr lang="en-US" sz="1200" dirty="0"/>
          </a:p>
        </p:txBody>
      </p:sp>
      <p:sp>
        <p:nvSpPr>
          <p:cNvPr id="11" name="Cartão"/>
          <p:cNvSpPr/>
          <p:nvPr/>
        </p:nvSpPr>
        <p:spPr>
          <a:xfrm>
            <a:off x="2802636" y="1600200"/>
            <a:ext cx="2075688" cy="2240280"/>
          </a:xfrm>
          <a:prstGeom prst="roundRect">
            <a:avLst>
              <a:gd name="adj" fmla="val 5286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12" name="Avatar LuUsers"/>
          <p:cNvSpPr/>
          <p:nvPr/>
        </p:nvSpPr>
        <p:spPr>
          <a:xfrm>
            <a:off x="3031236" y="18288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13" name="Image 1" descr="LuUs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2910" y="1960474"/>
            <a:ext cx="285293" cy="28529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031236" y="2514600"/>
            <a:ext cx="170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BO 2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3031236" y="2770632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Clientes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3031236" y="3154680"/>
            <a:ext cx="1709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Clientes, endereços e ViaCEP</a:t>
            </a:r>
            <a:endParaRPr lang="en-US" sz="1200" dirty="0"/>
          </a:p>
        </p:txBody>
      </p:sp>
      <p:sp>
        <p:nvSpPr>
          <p:cNvPr id="17" name="Cartão"/>
          <p:cNvSpPr/>
          <p:nvPr/>
        </p:nvSpPr>
        <p:spPr>
          <a:xfrm>
            <a:off x="5056632" y="1600200"/>
            <a:ext cx="2075688" cy="2240280"/>
          </a:xfrm>
          <a:prstGeom prst="roundRect">
            <a:avLst>
              <a:gd name="adj" fmla="val 5286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18" name="Avatar LuPackage"/>
          <p:cNvSpPr/>
          <p:nvPr/>
        </p:nvSpPr>
        <p:spPr>
          <a:xfrm>
            <a:off x="5285232" y="18288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19" name="Image 2" descr="LuPackag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6906" y="1960474"/>
            <a:ext cx="285293" cy="285293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285232" y="2514600"/>
            <a:ext cx="170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BO 3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5285232" y="2770632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Estoque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5285232" y="3154680"/>
            <a:ext cx="1709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Itens, SKU e saldo</a:t>
            </a:r>
            <a:endParaRPr lang="en-US" sz="1200" dirty="0"/>
          </a:p>
        </p:txBody>
      </p:sp>
      <p:sp>
        <p:nvSpPr>
          <p:cNvPr id="23" name="Cartão"/>
          <p:cNvSpPr/>
          <p:nvPr/>
        </p:nvSpPr>
        <p:spPr>
          <a:xfrm>
            <a:off x="7310628" y="1600200"/>
            <a:ext cx="2075688" cy="2240280"/>
          </a:xfrm>
          <a:prstGeom prst="roundRect">
            <a:avLst>
              <a:gd name="adj" fmla="val 5286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24" name="Avatar LuShoppingCart"/>
          <p:cNvSpPr/>
          <p:nvPr/>
        </p:nvSpPr>
        <p:spPr>
          <a:xfrm>
            <a:off x="7539228" y="18288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25" name="Image 3" descr="LuShoppingCar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0902" y="1960474"/>
            <a:ext cx="285293" cy="285293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539228" y="2514600"/>
            <a:ext cx="170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BO 4</a:t>
            </a:r>
            <a:endParaRPr lang="en-US" sz="1100" dirty="0"/>
          </a:p>
        </p:txBody>
      </p:sp>
      <p:sp>
        <p:nvSpPr>
          <p:cNvPr id="27" name="Text 20"/>
          <p:cNvSpPr txBox="1"/>
          <p:nvPr/>
        </p:nvSpPr>
        <p:spPr>
          <a:xfrm>
            <a:off x="7539228" y="2770632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Pedidos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7539228" y="3154680"/>
            <a:ext cx="1709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Pedido, itens, pagamento e histórico</a:t>
            </a:r>
            <a:endParaRPr lang="en-US" sz="1200" dirty="0"/>
          </a:p>
        </p:txBody>
      </p:sp>
      <p:sp>
        <p:nvSpPr>
          <p:cNvPr id="29" name="Cartão"/>
          <p:cNvSpPr/>
          <p:nvPr/>
        </p:nvSpPr>
        <p:spPr>
          <a:xfrm>
            <a:off x="9564624" y="1600200"/>
            <a:ext cx="2075688" cy="2240280"/>
          </a:xfrm>
          <a:prstGeom prst="roundRect">
            <a:avLst>
              <a:gd name="adj" fmla="val 5286"/>
            </a:avLst>
          </a:prstGeom>
          <a:solidFill>
            <a:schemeClr val="bg1"/>
          </a:solidFill>
          <a:ln w="285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30" name="Avatar LuUndo2"/>
          <p:cNvSpPr/>
          <p:nvPr/>
        </p:nvSpPr>
        <p:spPr>
          <a:xfrm>
            <a:off x="9793224" y="18288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0070F2"/>
          </a:solidFill>
          <a:ln/>
        </p:spPr>
      </p:sp>
      <p:pic>
        <p:nvPicPr>
          <p:cNvPr id="31" name="Image 4" descr="LuUndo2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4898" y="1960474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793224" y="2514600"/>
            <a:ext cx="170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BO 5</a:t>
            </a:r>
            <a:endParaRPr lang="en-US" sz="1100" dirty="0"/>
          </a:p>
        </p:txBody>
      </p:sp>
      <p:sp>
        <p:nvSpPr>
          <p:cNvPr id="33" name="Text 25"/>
          <p:cNvSpPr txBox="1"/>
          <p:nvPr/>
        </p:nvSpPr>
        <p:spPr>
          <a:xfrm>
            <a:off x="9793224" y="2770632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Reembolsos</a:t>
            </a:r>
            <a:endParaRPr lang="en-US" sz="1600" dirty="0"/>
          </a:p>
        </p:txBody>
      </p:sp>
      <p:sp>
        <p:nvSpPr>
          <p:cNvPr id="34" name="Text 26"/>
          <p:cNvSpPr txBox="1"/>
          <p:nvPr/>
        </p:nvSpPr>
        <p:spPr>
          <a:xfrm>
            <a:off x="9793224" y="3154680"/>
            <a:ext cx="1709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Solicitação e decisão</a:t>
            </a:r>
            <a:endParaRPr lang="en-US" sz="1200" dirty="0"/>
          </a:p>
        </p:txBody>
      </p:sp>
      <p:sp>
        <p:nvSpPr>
          <p:cNvPr id="35" name="Text 27"/>
          <p:cNvSpPr txBox="1"/>
          <p:nvPr/>
        </p:nvSpPr>
        <p:spPr>
          <a:xfrm>
            <a:off x="548640" y="4069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6B82"/>
                </a:solidFill>
              </a:rPr>
              <a:t>CAMADAS PERCORRIDAS</a:t>
            </a:r>
            <a:endParaRPr lang="en-US" sz="1100" dirty="0"/>
          </a:p>
        </p:txBody>
      </p:sp>
      <p:sp>
        <p:nvSpPr>
          <p:cNvPr id="36" name="Status Modelo CDS"/>
          <p:cNvSpPr txBox="1"/>
          <p:nvPr/>
        </p:nvSpPr>
        <p:spPr>
          <a:xfrm>
            <a:off x="548640" y="4407408"/>
            <a:ext cx="1371600" cy="274320"/>
          </a:xfrm>
          <a:prstGeom prst="roundRect">
            <a:avLst>
              <a:gd name="adj" fmla="val 46667"/>
            </a:avLst>
          </a:prstGeom>
          <a:solidFill>
            <a:srgbClr val="EBF8FF"/>
          </a:solidFill>
          <a:ln w="9525">
            <a:solidFill>
              <a:srgbClr val="0070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0F2"/>
                </a:solidFill>
              </a:rPr>
              <a:t>Modelo CDS</a:t>
            </a:r>
            <a:endParaRPr lang="en-US" sz="1000" dirty="0"/>
          </a:p>
        </p:txBody>
      </p:sp>
      <p:sp>
        <p:nvSpPr>
          <p:cNvPr id="37" name="Text 29"/>
          <p:cNvSpPr txBox="1"/>
          <p:nvPr/>
        </p:nvSpPr>
        <p:spPr>
          <a:xfrm>
            <a:off x="1920240" y="4343400"/>
            <a:ext cx="109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›</a:t>
            </a:r>
            <a:endParaRPr lang="en-US" sz="1600" dirty="0"/>
          </a:p>
        </p:txBody>
      </p:sp>
      <p:sp>
        <p:nvSpPr>
          <p:cNvPr id="38" name="Status Serviço OData"/>
          <p:cNvSpPr txBox="1"/>
          <p:nvPr/>
        </p:nvSpPr>
        <p:spPr>
          <a:xfrm>
            <a:off x="2084832" y="4407408"/>
            <a:ext cx="1645920" cy="274320"/>
          </a:xfrm>
          <a:prstGeom prst="roundRect">
            <a:avLst>
              <a:gd name="adj" fmla="val 46667"/>
            </a:avLst>
          </a:prstGeom>
          <a:solidFill>
            <a:srgbClr val="EBF8FF"/>
          </a:solidFill>
          <a:ln w="9525">
            <a:solidFill>
              <a:srgbClr val="0070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0F2"/>
                </a:solidFill>
              </a:rPr>
              <a:t>Serviço OData</a:t>
            </a:r>
            <a:endParaRPr lang="en-US" sz="1000" dirty="0"/>
          </a:p>
        </p:txBody>
      </p:sp>
      <p:sp>
        <p:nvSpPr>
          <p:cNvPr id="39" name="Text 31"/>
          <p:cNvSpPr txBox="1"/>
          <p:nvPr/>
        </p:nvSpPr>
        <p:spPr>
          <a:xfrm>
            <a:off x="3730752" y="4343400"/>
            <a:ext cx="109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›</a:t>
            </a:r>
            <a:endParaRPr lang="en-US" sz="1600" dirty="0"/>
          </a:p>
        </p:txBody>
      </p:sp>
      <p:sp>
        <p:nvSpPr>
          <p:cNvPr id="40" name="Status Handlers e regras"/>
          <p:cNvSpPr txBox="1"/>
          <p:nvPr/>
        </p:nvSpPr>
        <p:spPr>
          <a:xfrm>
            <a:off x="3895344" y="4407408"/>
            <a:ext cx="2011680" cy="274320"/>
          </a:xfrm>
          <a:prstGeom prst="roundRect">
            <a:avLst>
              <a:gd name="adj" fmla="val 46667"/>
            </a:avLst>
          </a:prstGeom>
          <a:solidFill>
            <a:srgbClr val="EBF8FF"/>
          </a:solidFill>
          <a:ln w="9525">
            <a:solidFill>
              <a:srgbClr val="0070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0F2"/>
                </a:solidFill>
              </a:rPr>
              <a:t>Handlers e regras</a:t>
            </a:r>
            <a:endParaRPr lang="en-US" sz="1000" dirty="0"/>
          </a:p>
        </p:txBody>
      </p:sp>
      <p:sp>
        <p:nvSpPr>
          <p:cNvPr id="41" name="Text 33"/>
          <p:cNvSpPr txBox="1"/>
          <p:nvPr/>
        </p:nvSpPr>
        <p:spPr>
          <a:xfrm>
            <a:off x="5907024" y="4343400"/>
            <a:ext cx="109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›</a:t>
            </a:r>
            <a:endParaRPr lang="en-US" sz="1600" dirty="0"/>
          </a:p>
        </p:txBody>
      </p:sp>
      <p:sp>
        <p:nvSpPr>
          <p:cNvPr id="42" name="Status UI Fiori"/>
          <p:cNvSpPr txBox="1"/>
          <p:nvPr/>
        </p:nvSpPr>
        <p:spPr>
          <a:xfrm>
            <a:off x="6071616" y="4407408"/>
            <a:ext cx="1188720" cy="274320"/>
          </a:xfrm>
          <a:prstGeom prst="roundRect">
            <a:avLst>
              <a:gd name="adj" fmla="val 46667"/>
            </a:avLst>
          </a:prstGeom>
          <a:solidFill>
            <a:srgbClr val="EBF8FF"/>
          </a:solidFill>
          <a:ln w="9525">
            <a:solidFill>
              <a:srgbClr val="0070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0F2"/>
                </a:solidFill>
              </a:rPr>
              <a:t>UI Fiori</a:t>
            </a:r>
            <a:endParaRPr lang="en-US" sz="1000" dirty="0"/>
          </a:p>
        </p:txBody>
      </p:sp>
      <p:sp>
        <p:nvSpPr>
          <p:cNvPr id="43" name="Text 35"/>
          <p:cNvSpPr txBox="1"/>
          <p:nvPr/>
        </p:nvSpPr>
        <p:spPr>
          <a:xfrm>
            <a:off x="7260336" y="4343400"/>
            <a:ext cx="109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›</a:t>
            </a:r>
            <a:endParaRPr lang="en-US" sz="1600" dirty="0"/>
          </a:p>
        </p:txBody>
      </p:sp>
      <p:sp>
        <p:nvSpPr>
          <p:cNvPr id="44" name="Status Importação"/>
          <p:cNvSpPr txBox="1"/>
          <p:nvPr/>
        </p:nvSpPr>
        <p:spPr>
          <a:xfrm>
            <a:off x="7424928" y="4407408"/>
            <a:ext cx="1371600" cy="274320"/>
          </a:xfrm>
          <a:prstGeom prst="roundRect">
            <a:avLst>
              <a:gd name="adj" fmla="val 46667"/>
            </a:avLst>
          </a:prstGeom>
          <a:solidFill>
            <a:srgbClr val="EBF8FF"/>
          </a:solidFill>
          <a:ln w="9525">
            <a:solidFill>
              <a:srgbClr val="0070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0F2"/>
                </a:solidFill>
              </a:rPr>
              <a:t>Importação</a:t>
            </a:r>
            <a:endParaRPr lang="en-US" sz="1000" dirty="0"/>
          </a:p>
        </p:txBody>
      </p:sp>
      <p:sp>
        <p:nvSpPr>
          <p:cNvPr id="45" name="Text 37"/>
          <p:cNvSpPr txBox="1"/>
          <p:nvPr/>
        </p:nvSpPr>
        <p:spPr>
          <a:xfrm>
            <a:off x="8796528" y="4343400"/>
            <a:ext cx="109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›</a:t>
            </a:r>
            <a:endParaRPr lang="en-US" sz="1600" dirty="0"/>
          </a:p>
        </p:txBody>
      </p:sp>
      <p:sp>
        <p:nvSpPr>
          <p:cNvPr id="46" name="Status Testes"/>
          <p:cNvSpPr txBox="1"/>
          <p:nvPr/>
        </p:nvSpPr>
        <p:spPr>
          <a:xfrm>
            <a:off x="8961120" y="4407408"/>
            <a:ext cx="1005840" cy="274320"/>
          </a:xfrm>
          <a:prstGeom prst="roundRect">
            <a:avLst>
              <a:gd name="adj" fmla="val 46667"/>
            </a:avLst>
          </a:prstGeom>
          <a:solidFill>
            <a:srgbClr val="EBF8FF"/>
          </a:solidFill>
          <a:ln w="9525">
            <a:solidFill>
              <a:srgbClr val="0070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0F2"/>
                </a:solidFill>
              </a:rPr>
              <a:t>Testes</a:t>
            </a:r>
            <a:endParaRPr lang="en-US" sz="1000" dirty="0"/>
          </a:p>
        </p:txBody>
      </p:sp>
      <p:sp>
        <p:nvSpPr>
          <p:cNvPr id="47" name="Cartão"/>
          <p:cNvSpPr/>
          <p:nvPr/>
        </p:nvSpPr>
        <p:spPr>
          <a:xfrm>
            <a:off x="548640" y="4983480"/>
            <a:ext cx="11091672" cy="1097280"/>
          </a:xfrm>
          <a:prstGeom prst="roundRect">
            <a:avLst>
              <a:gd name="adj" fmla="val 10000"/>
            </a:avLst>
          </a:prstGeom>
          <a:solidFill>
            <a:srgbClr val="EBF8FF"/>
          </a:solidFill>
          <a:ln w="9525">
            <a:solidFill>
              <a:srgbClr val="D1EFFF"/>
            </a:solidFill>
            <a:prstDash val="solid"/>
          </a:ln>
        </p:spPr>
      </p:sp>
      <p:sp>
        <p:nvSpPr>
          <p:cNvPr id="48" name="Avatar LuTarget"/>
          <p:cNvSpPr/>
          <p:nvPr/>
        </p:nvSpPr>
        <p:spPr>
          <a:xfrm>
            <a:off x="731520" y="53035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070F2"/>
          </a:solidFill>
          <a:ln/>
        </p:spPr>
      </p:sp>
      <p:pic>
        <p:nvPicPr>
          <p:cNvPr id="49" name="Image 5" descr="LuTarge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5413248"/>
            <a:ext cx="237744" cy="237744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1371600" y="4983480"/>
            <a:ext cx="100858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Neste BO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solicitação de reembolso: criada pelo BO Pedidos, decidida na app Gestão de Reembolsos e refletida de volta no pedido, no pagamento e no estoque.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VISÃO GERAL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Os objetos do BO Reembolsos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554480"/>
            <a:ext cx="11091672" cy="4315968"/>
          </a:xfrm>
          <a:prstGeom prst="roundRect">
            <a:avLst>
              <a:gd name="adj" fmla="val 2542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10725912" cy="914400"/>
        </p:xfrm>
        <a:graphic>
          <a:graphicData uri="http://schemas.openxmlformats.org/drawingml/2006/table">
            <a:tbl>
              <a:tblPr/>
              <a:tblGrid>
                <a:gridCol w="1595590"/>
                <a:gridCol w="4786771"/>
                <a:gridCol w="4343551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Camada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Objetos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Arquivo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Modelo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Reembolsos, StatusReembolso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db/schema.cds · db/common.cds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Serviço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ReembolsosService: lista @readonly e 2 actions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srv/reembolsos-service.cds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Handlers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aprovarReembolso, rejeitarReembolso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srv/reembolsos-service.js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Domínio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iniciarReembolso, cancelarPorReembolso, retomarPedido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srv/lib/pedidos.js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UI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Gestão de Reembolsos (List Report e Object Page)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app/gestao-reembolsos/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Análise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ReembolsosAnalise e Análise de Pedidos de Reembolsos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srv/analitico-service.cds · app/analise-reembolsos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Dados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10 solicitações de demonstração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db/data/pedidoscompras-Reembolsos.csv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Testes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4 testes de serviço + análise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test/reembolsos.test · analitico.test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VISÃO GERAL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 ciclo de vida da solicitação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554480"/>
            <a:ext cx="2079346" cy="2103120"/>
          </a:xfrm>
          <a:prstGeom prst="roundRect">
            <a:avLst>
              <a:gd name="adj" fmla="val 5277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6" name="Avatar LuCreditCard"/>
          <p:cNvSpPr/>
          <p:nvPr/>
        </p:nvSpPr>
        <p:spPr>
          <a:xfrm>
            <a:off x="749808" y="175564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7" name="Image 0" descr="LuCreditC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865376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061058" y="171907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1EFFF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749808" y="2322576"/>
            <a:ext cx="17135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Pedido pago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749808" y="2697480"/>
            <a:ext cx="171358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ABERTO ou AGUARDANDO com pagamento APROVADO.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2627986" y="2377440"/>
            <a:ext cx="173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›</a:t>
            </a:r>
            <a:endParaRPr lang="en-US" sz="2200" dirty="0"/>
          </a:p>
        </p:txBody>
      </p:sp>
      <p:sp>
        <p:nvSpPr>
          <p:cNvPr id="12" name="Cartão"/>
          <p:cNvSpPr/>
          <p:nvPr/>
        </p:nvSpPr>
        <p:spPr>
          <a:xfrm>
            <a:off x="2801722" y="1554480"/>
            <a:ext cx="2079346" cy="2103120"/>
          </a:xfrm>
          <a:prstGeom prst="roundRect">
            <a:avLst>
              <a:gd name="adj" fmla="val 5277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13" name="Avatar LuUndo2"/>
          <p:cNvSpPr/>
          <p:nvPr/>
        </p:nvSpPr>
        <p:spPr>
          <a:xfrm>
            <a:off x="3002890" y="175564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3B8"/>
          </a:solidFill>
          <a:ln/>
        </p:spPr>
      </p:sp>
      <p:pic>
        <p:nvPicPr>
          <p:cNvPr id="14" name="Image 1" descr="LuUndo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2618" y="1865376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314139" y="171907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1EFFF"/>
                </a:solidFill>
              </a:rPr>
              <a:t>2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3002890" y="2322576"/>
            <a:ext cx="17135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Cancelar pedido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3002890" y="2697480"/>
            <a:ext cx="171358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O pedido entra em processamento de reembolso.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4881067" y="2377440"/>
            <a:ext cx="173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›</a:t>
            </a:r>
            <a:endParaRPr lang="en-US" sz="2200" dirty="0"/>
          </a:p>
        </p:txBody>
      </p:sp>
      <p:sp>
        <p:nvSpPr>
          <p:cNvPr id="19" name="Cartão"/>
          <p:cNvSpPr/>
          <p:nvPr/>
        </p:nvSpPr>
        <p:spPr>
          <a:xfrm>
            <a:off x="5054803" y="1554480"/>
            <a:ext cx="2079346" cy="2103120"/>
          </a:xfrm>
          <a:prstGeom prst="roundRect">
            <a:avLst>
              <a:gd name="adj" fmla="val 5277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20" name="Avatar LuClock"/>
          <p:cNvSpPr/>
          <p:nvPr/>
        </p:nvSpPr>
        <p:spPr>
          <a:xfrm>
            <a:off x="5255971" y="175564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5D36FF"/>
          </a:solidFill>
          <a:ln/>
        </p:spPr>
      </p:sp>
      <p:pic>
        <p:nvPicPr>
          <p:cNvPr id="21" name="Image 2" descr="LuClo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699" y="1865376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567221" y="171907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1EFFF"/>
                </a:solidFill>
              </a:rPr>
              <a:t>3</a:t>
            </a:r>
            <a:endParaRPr lang="en-US" sz="2000" dirty="0"/>
          </a:p>
        </p:txBody>
      </p:sp>
      <p:sp>
        <p:nvSpPr>
          <p:cNvPr id="23" name="Text 17"/>
          <p:cNvSpPr txBox="1"/>
          <p:nvPr/>
        </p:nvSpPr>
        <p:spPr>
          <a:xfrm>
            <a:off x="5255971" y="2322576"/>
            <a:ext cx="17135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PENDENTE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5255971" y="2697480"/>
            <a:ext cx="171358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Solicitação criada; reserva mantida.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7134149" y="2377440"/>
            <a:ext cx="173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›</a:t>
            </a:r>
            <a:endParaRPr lang="en-US" sz="2200" dirty="0"/>
          </a:p>
        </p:txBody>
      </p:sp>
      <p:sp>
        <p:nvSpPr>
          <p:cNvPr id="26" name="Cartão"/>
          <p:cNvSpPr/>
          <p:nvPr/>
        </p:nvSpPr>
        <p:spPr>
          <a:xfrm>
            <a:off x="7307885" y="1554480"/>
            <a:ext cx="2079346" cy="2103120"/>
          </a:xfrm>
          <a:prstGeom prst="roundRect">
            <a:avLst>
              <a:gd name="adj" fmla="val 5277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27" name="Avatar LuCircleCheck"/>
          <p:cNvSpPr/>
          <p:nvPr/>
        </p:nvSpPr>
        <p:spPr>
          <a:xfrm>
            <a:off x="7509053" y="175564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5FAE5"/>
          </a:solidFill>
          <a:ln/>
        </p:spPr>
      </p:sp>
      <p:pic>
        <p:nvPicPr>
          <p:cNvPr id="28" name="Image 3" descr="LuCircle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8781" y="1865376"/>
            <a:ext cx="237744" cy="23774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8820302" y="171907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1EFFF"/>
                </a:solidFill>
              </a:rPr>
              <a:t>4</a:t>
            </a:r>
            <a:endParaRPr lang="en-US" sz="2000" dirty="0"/>
          </a:p>
        </p:txBody>
      </p:sp>
      <p:sp>
        <p:nvSpPr>
          <p:cNvPr id="30" name="Text 23"/>
          <p:cNvSpPr txBox="1"/>
          <p:nvPr/>
        </p:nvSpPr>
        <p:spPr>
          <a:xfrm>
            <a:off x="7509053" y="2322576"/>
            <a:ext cx="17135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APROVADO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7509053" y="2697480"/>
            <a:ext cx="171358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Pedido CANCELADO e pagamento DEVOLVIDO.</a:t>
            </a:r>
            <a:endParaRPr lang="en-US" sz="1300" dirty="0"/>
          </a:p>
        </p:txBody>
      </p:sp>
      <p:sp>
        <p:nvSpPr>
          <p:cNvPr id="32" name="Text 25"/>
          <p:cNvSpPr txBox="1"/>
          <p:nvPr/>
        </p:nvSpPr>
        <p:spPr>
          <a:xfrm>
            <a:off x="9387230" y="2377440"/>
            <a:ext cx="173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›</a:t>
            </a:r>
            <a:endParaRPr lang="en-US" sz="2200" dirty="0"/>
          </a:p>
        </p:txBody>
      </p:sp>
      <p:sp>
        <p:nvSpPr>
          <p:cNvPr id="33" name="Cartão"/>
          <p:cNvSpPr/>
          <p:nvPr/>
        </p:nvSpPr>
        <p:spPr>
          <a:xfrm>
            <a:off x="9560966" y="1554480"/>
            <a:ext cx="2079346" cy="2103120"/>
          </a:xfrm>
          <a:prstGeom prst="roundRect">
            <a:avLst>
              <a:gd name="adj" fmla="val 5277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34" name="Avatar LuCircleX"/>
          <p:cNvSpPr/>
          <p:nvPr/>
        </p:nvSpPr>
        <p:spPr>
          <a:xfrm>
            <a:off x="9762134" y="175564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pic>
        <p:nvPicPr>
          <p:cNvPr id="35" name="Image 4" descr="LuCircleX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1862" y="1865376"/>
            <a:ext cx="237744" cy="237744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1073384" y="171907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1EFFF"/>
                </a:solidFill>
              </a:rPr>
              <a:t>5</a:t>
            </a:r>
            <a:endParaRPr lang="en-US" sz="2000" dirty="0"/>
          </a:p>
        </p:txBody>
      </p:sp>
      <p:sp>
        <p:nvSpPr>
          <p:cNvPr id="37" name="Text 29"/>
          <p:cNvSpPr txBox="1"/>
          <p:nvPr/>
        </p:nvSpPr>
        <p:spPr>
          <a:xfrm>
            <a:off x="9762134" y="2322576"/>
            <a:ext cx="17135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REJEITADO</a:t>
            </a:r>
            <a:endParaRPr lang="en-US" sz="1500" dirty="0"/>
          </a:p>
        </p:txBody>
      </p:sp>
      <p:sp>
        <p:nvSpPr>
          <p:cNvPr id="38" name="Text 30"/>
          <p:cNvSpPr txBox="1"/>
          <p:nvPr/>
        </p:nvSpPr>
        <p:spPr>
          <a:xfrm>
            <a:off x="9762134" y="2697480"/>
            <a:ext cx="171358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Pedido volta ao status anterior.</a:t>
            </a:r>
            <a:endParaRPr lang="en-US" sz="1300" dirty="0"/>
          </a:p>
        </p:txBody>
      </p:sp>
      <p:sp>
        <p:nvSpPr>
          <p:cNvPr id="39" name="Cartão"/>
          <p:cNvSpPr/>
          <p:nvPr/>
        </p:nvSpPr>
        <p:spPr>
          <a:xfrm>
            <a:off x="548640" y="3931920"/>
            <a:ext cx="11091672" cy="1664208"/>
          </a:xfrm>
          <a:prstGeom prst="roundRect">
            <a:avLst>
              <a:gd name="adj" fmla="val 6593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4069080"/>
          <a:ext cx="10725912" cy="914400"/>
        </p:xfrm>
        <a:graphic>
          <a:graphicData uri="http://schemas.openxmlformats.org/drawingml/2006/table">
            <a:tbl>
              <a:tblPr/>
              <a:tblGrid>
                <a:gridCol w="1329659"/>
                <a:gridCol w="1595590"/>
                <a:gridCol w="1772878"/>
                <a:gridCol w="2038810"/>
                <a:gridCol w="2127454"/>
                <a:gridCol w="186152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Decisão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Reembolso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Pedido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Pagamento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Estoque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Snapshots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Aprovar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APROVADO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CANCELADO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DEVOLVIDO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Libera a reserva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CANCELAMENTO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Rejeitar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REJEITADO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Status anterior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Continua APROVADO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Continua reservado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MODELO E NASCIMENTO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entidade Reembolsos</a:t>
            </a:r>
            <a:endParaRPr lang="en-US" sz="3200" dirty="0"/>
          </a:p>
        </p:txBody>
      </p:sp>
      <p:sp>
        <p:nvSpPr>
          <p:cNvPr id="5" name="Bloco de código"/>
          <p:cNvSpPr/>
          <p:nvPr/>
        </p:nvSpPr>
        <p:spPr>
          <a:xfrm>
            <a:off x="548640" y="1554480"/>
            <a:ext cx="6400800" cy="3261360"/>
          </a:xfrm>
          <a:prstGeom prst="roundRect">
            <a:avLst>
              <a:gd name="adj" fmla="val 3364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6" name="Código"/>
          <p:cNvSpPr txBox="1"/>
          <p:nvPr/>
        </p:nvSpPr>
        <p:spPr>
          <a:xfrm>
            <a:off x="777240" y="1737360"/>
            <a:ext cx="5943600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Reembolsos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cuid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managed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: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Association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numeroPedido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: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: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Association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statusReembolso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: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Association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StatusReembolso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/**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antes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solicita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çã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restaurado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rejeitado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*/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statusPedidoAnterior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Association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StatusPedido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currency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: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Currency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valorReembolso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: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motivoSolicitacao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: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dataSolicitacao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: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solicitadoPor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: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motivoDecisao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: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dataDecisao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: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decididoPor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: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Avatar LuHash"/>
          <p:cNvSpPr/>
          <p:nvPr/>
        </p:nvSpPr>
        <p:spPr>
          <a:xfrm>
            <a:off x="7269480" y="16459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8" name="Image 0" descr="LuHa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9208" y="1755648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955280" y="160934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numeroPedido copiado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7955280" y="1929384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Chave semântica da app e da navegação.</a:t>
            </a:r>
            <a:endParaRPr lang="en-US" sz="1400" dirty="0"/>
          </a:p>
        </p:txBody>
      </p:sp>
      <p:sp>
        <p:nvSpPr>
          <p:cNvPr id="11" name="Avatar LuHistory"/>
          <p:cNvSpPr/>
          <p:nvPr/>
        </p:nvSpPr>
        <p:spPr>
          <a:xfrm>
            <a:off x="7269480" y="27432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2" name="Image 1" descr="LuHistor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208" y="285292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955280" y="270662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statusPedidoAnterior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7955280" y="3026664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ABERTO ou AGUARDANDO_APROVACAO.</a:t>
            </a:r>
            <a:endParaRPr lang="en-US" sz="1400" dirty="0"/>
          </a:p>
        </p:txBody>
      </p:sp>
      <p:sp>
        <p:nvSpPr>
          <p:cNvPr id="15" name="Avatar LuUsers"/>
          <p:cNvSpPr/>
          <p:nvPr/>
        </p:nvSpPr>
        <p:spPr>
          <a:xfrm>
            <a:off x="7269480" y="38404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16" name="Image 2" descr="LuUse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9208" y="3950208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955280" y="380390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User do CAP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7955280" y="4123944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solicitadoPor e decididoPor = req.user.id.</a:t>
            </a:r>
            <a:endParaRPr lang="en-US" sz="1400" dirty="0"/>
          </a:p>
        </p:txBody>
      </p:sp>
      <p:sp>
        <p:nvSpPr>
          <p:cNvPr id="19" name="Avatar LuListChecks"/>
          <p:cNvSpPr/>
          <p:nvPr/>
        </p:nvSpPr>
        <p:spPr>
          <a:xfrm>
            <a:off x="7269480" y="4937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3B8"/>
          </a:solidFill>
          <a:ln/>
        </p:spPr>
      </p:sp>
      <p:pic>
        <p:nvPicPr>
          <p:cNvPr id="20" name="Image 3" descr="LuListCheck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9208" y="5047488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955280" y="490118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StatusReembolso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7955280" y="5221224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PENDENTE (2) · APROVADO (3) · REJEITADO (1).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MODELO E NASCIMENTO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iniciarReembolso: nasce no BO Pedidos</a:t>
            </a:r>
            <a:endParaRPr lang="en-US" sz="3200" dirty="0"/>
          </a:p>
        </p:txBody>
      </p:sp>
      <p:sp>
        <p:nvSpPr>
          <p:cNvPr id="5" name="Bloco de código"/>
          <p:cNvSpPr/>
          <p:nvPr/>
        </p:nvSpPr>
        <p:spPr>
          <a:xfrm>
            <a:off x="548640" y="1554480"/>
            <a:ext cx="6766560" cy="3459480"/>
          </a:xfrm>
          <a:prstGeom prst="roundRect">
            <a:avLst>
              <a:gd name="adj" fmla="val 3172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6" name="Código"/>
          <p:cNvSpPr txBox="1"/>
          <p:nvPr/>
        </p:nvSpPr>
        <p:spPr>
          <a:xfrm>
            <a:off x="777240" y="1737360"/>
            <a:ext cx="6309360" cy="3093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iniciarReembolso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motivo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mudou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transicionarPedido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statusPedido_code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processandoReembolso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motivoCancelamento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motivo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mudou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Reembolsos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entries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pedido_ID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numeroPedido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numeroPedido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cliente_ID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cliente_ID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statusReembolso_code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'PENDENTE'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statusPedidoAnterior_code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statusPedido_code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currency_code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currency_code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valorReembolso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valorTotal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motivoSolicitacao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motivo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dataSolicitacao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toISOString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solicitadoPor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'PEDIDO_REEMBOLSO_SOLICITADO'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numeroPedido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Avatar LuShieldCheck"/>
          <p:cNvSpPr/>
          <p:nvPr/>
        </p:nvSpPr>
        <p:spPr>
          <a:xfrm>
            <a:off x="7635240" y="16459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8" name="Image 0" descr="LuShield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4968" y="1755648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321040" y="1609344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Transição primeiro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8321040" y="1929384"/>
            <a:ext cx="3337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Duas tentativas simultâneas não criam duas solicitações.</a:t>
            </a:r>
            <a:endParaRPr lang="en-US" sz="1400" dirty="0"/>
          </a:p>
        </p:txBody>
      </p:sp>
      <p:sp>
        <p:nvSpPr>
          <p:cNvPr id="11" name="Avatar LuPackage"/>
          <p:cNvSpPr/>
          <p:nvPr/>
        </p:nvSpPr>
        <p:spPr>
          <a:xfrm>
            <a:off x="7635240" y="283464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2" name="Image 1" descr="LuPacka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4968" y="294436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321040" y="2798064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Estoque intocado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8321040" y="3118104"/>
            <a:ext cx="3337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A reserva continua até a decisão.</a:t>
            </a:r>
            <a:endParaRPr lang="en-US" sz="1400" dirty="0"/>
          </a:p>
        </p:txBody>
      </p:sp>
      <p:sp>
        <p:nvSpPr>
          <p:cNvPr id="15" name="Avatar LuMessageSquare"/>
          <p:cNvSpPr/>
          <p:nvPr/>
        </p:nvSpPr>
        <p:spPr>
          <a:xfrm>
            <a:off x="7635240" y="40233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16" name="Image 2" descr="LuMessageSquar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4968" y="4133088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321040" y="3986784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Mensagem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8321040" y="4306824"/>
            <a:ext cx="3337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"Pedido ... enviado para processamento de reembolso."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SERVIÇO E HANDLERS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ReembolsosService: somente leitura com duas decisões</a:t>
            </a:r>
            <a:endParaRPr lang="en-US" sz="3200" dirty="0"/>
          </a:p>
        </p:txBody>
      </p:sp>
      <p:sp>
        <p:nvSpPr>
          <p:cNvPr id="5" name="Bloco de código"/>
          <p:cNvSpPr/>
          <p:nvPr/>
        </p:nvSpPr>
        <p:spPr>
          <a:xfrm>
            <a:off x="548640" y="1554480"/>
            <a:ext cx="6400800" cy="3916680"/>
          </a:xfrm>
          <a:prstGeom prst="roundRect">
            <a:avLst>
              <a:gd name="adj" fmla="val 2802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6" name="Código"/>
          <p:cNvSpPr txBox="1"/>
          <p:nvPr/>
        </p:nvSpPr>
        <p:spPr>
          <a:xfrm>
            <a:off x="777240" y="1737360"/>
            <a:ext cx="5943600" cy="3550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@path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'reembolsos'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@requires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'authenticated-user'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ReembolsosService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@readonly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@restrict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'*'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'Comum'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'Admin'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Reembolsos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projection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Reembolsos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*,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nomeCliente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cpf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cpfCliente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cpfFormatado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cpfClienteFormatado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OperationAvailable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$self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statusReembolso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'PENDENTE'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Common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SideEffects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TargetEntities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aprovarReembolso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motivoDecisao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Reembolsos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OperationAvailable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...,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Common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SideEffects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...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rejeitarReembolso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@mandatory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motivoDecisao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Reembolsos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@readonly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StatusReembolso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projection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...;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@readonly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StatusPedido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projection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...;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Avatar LuEyeOff"/>
          <p:cNvSpPr/>
          <p:nvPr/>
        </p:nvSpPr>
        <p:spPr>
          <a:xfrm>
            <a:off x="7269480" y="16459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8" name="Image 0" descr="LuEyeOf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9208" y="1755648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955280" y="160934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@readonly + grant '*'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7955280" y="1929384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Leitura e actions; escrita direta bloqueada.</a:t>
            </a:r>
            <a:endParaRPr lang="en-US" sz="1400" dirty="0"/>
          </a:p>
        </p:txBody>
      </p:sp>
      <p:sp>
        <p:nvSpPr>
          <p:cNvPr id="11" name="Avatar LuUsers"/>
          <p:cNvSpPr/>
          <p:nvPr/>
        </p:nvSpPr>
        <p:spPr>
          <a:xfrm>
            <a:off x="7269480" y="27432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2" name="Image 1" descr="LuUs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208" y="285292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955280" y="270662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Comum também decide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7955280" y="3026664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Os dois perfis aprovam e rejeitam.</a:t>
            </a:r>
            <a:endParaRPr lang="en-US" sz="1400" dirty="0"/>
          </a:p>
        </p:txBody>
      </p:sp>
      <p:sp>
        <p:nvSpPr>
          <p:cNvPr id="15" name="Avatar LuMessageSquare"/>
          <p:cNvSpPr/>
          <p:nvPr/>
        </p:nvSpPr>
        <p:spPr>
          <a:xfrm>
            <a:off x="7269480" y="38404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16" name="Image 2" descr="LuMessageSquar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9208" y="3950208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955280" y="380390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Motivo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7955280" y="4123944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Opcional para aprovar, obrigatório para rejeitar.</a:t>
            </a:r>
            <a:endParaRPr lang="en-US" sz="1400" dirty="0"/>
          </a:p>
        </p:txBody>
      </p:sp>
      <p:sp>
        <p:nvSpPr>
          <p:cNvPr id="19" name="Avatar LuListChecks"/>
          <p:cNvSpPr/>
          <p:nvPr/>
        </p:nvSpPr>
        <p:spPr>
          <a:xfrm>
            <a:off x="7269480" y="4937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3B8"/>
          </a:solidFill>
          <a:ln/>
        </p:spPr>
      </p:sp>
      <p:pic>
        <p:nvPicPr>
          <p:cNvPr id="20" name="Image 3" descr="LuListCheck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9208" y="5047488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955280" y="490118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StatusPedido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7955280" y="5221224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Texto do status anterior na tela.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SERVIÇO E HANDLERS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Decisão única: conferir e gravar de forma atômica</a:t>
            </a:r>
            <a:endParaRPr lang="en-US" sz="3200" dirty="0"/>
          </a:p>
        </p:txBody>
      </p:sp>
      <p:sp>
        <p:nvSpPr>
          <p:cNvPr id="5" name="Bloco de código"/>
          <p:cNvSpPr/>
          <p:nvPr/>
        </p:nvSpPr>
        <p:spPr>
          <a:xfrm>
            <a:off x="548640" y="1554480"/>
            <a:ext cx="6766560" cy="3307080"/>
          </a:xfrm>
          <a:prstGeom prst="roundRect">
            <a:avLst>
              <a:gd name="adj" fmla="val 3318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6" name="Código"/>
          <p:cNvSpPr txBox="1"/>
          <p:nvPr/>
        </p:nvSpPr>
        <p:spPr>
          <a:xfrm>
            <a:off x="777240" y="1737360"/>
            <a:ext cx="6309360" cy="2941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solicitacaoPendente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reembolso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Reembolsos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chave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reembolso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||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reembolso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statusReembolso_code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!==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'PENDENTE'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409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'REEMBOLSO_STATUS_INVALIDO'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reembolso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registrarDecisao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motivo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alterados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Reembolsos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statusReembolso_code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motivoDecisao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motivo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||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dataDecisao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toISOString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decididoPor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statusReembolso_code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'PENDENTE'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alterados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=== 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409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'REEMBOLSO_STATUS_INVALIDO'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Cartão"/>
          <p:cNvSpPr/>
          <p:nvPr/>
        </p:nvSpPr>
        <p:spPr>
          <a:xfrm>
            <a:off x="7589520" y="1554480"/>
            <a:ext cx="4050792" cy="4526280"/>
          </a:xfrm>
          <a:prstGeom prst="roundRect">
            <a:avLst>
              <a:gd name="adj" fmla="val 2709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81812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Duas decisões ao mesmo tempo</a:t>
            </a:r>
            <a:endParaRPr lang="en-US" sz="1500" dirty="0"/>
          </a:p>
        </p:txBody>
      </p:sp>
      <p:sp>
        <p:nvSpPr>
          <p:cNvPr id="9" name="Avatar LuCircleCheck"/>
          <p:cNvSpPr/>
          <p:nvPr/>
        </p:nvSpPr>
        <p:spPr>
          <a:xfrm>
            <a:off x="7818120" y="23317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5FAE5"/>
          </a:solidFill>
          <a:ln/>
        </p:spPr>
      </p:sp>
      <p:pic>
        <p:nvPicPr>
          <p:cNvPr id="10" name="Image 0" descr="LuCircle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7848" y="244144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412480" y="23042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Aprovar (chega primeiro)</a:t>
            </a:r>
            <a:endParaRPr lang="en-US" sz="1400" dirty="0"/>
          </a:p>
        </p:txBody>
      </p:sp>
      <p:sp>
        <p:nvSpPr>
          <p:cNvPr id="12" name="Status 1 linha alterada"/>
          <p:cNvSpPr txBox="1"/>
          <p:nvPr/>
        </p:nvSpPr>
        <p:spPr>
          <a:xfrm>
            <a:off x="8412480" y="2697480"/>
            <a:ext cx="1828800" cy="274320"/>
          </a:xfrm>
          <a:prstGeom prst="roundRect">
            <a:avLst>
              <a:gd name="adj" fmla="val 46667"/>
            </a:avLst>
          </a:prstGeom>
          <a:solidFill>
            <a:srgbClr val="F5FAE5"/>
          </a:solidFill>
          <a:ln w="9525">
            <a:solidFill>
              <a:srgbClr val="256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F3A"/>
                </a:solidFill>
              </a:rPr>
              <a:t>1 linha alterada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8412480" y="3063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Segue para o pedido</a:t>
            </a:r>
            <a:endParaRPr lang="en-US" sz="1300" dirty="0"/>
          </a:p>
        </p:txBody>
      </p:sp>
      <p:sp>
        <p:nvSpPr>
          <p:cNvPr id="14" name="Avatar LuTriangleAlert"/>
          <p:cNvSpPr/>
          <p:nvPr/>
        </p:nvSpPr>
        <p:spPr>
          <a:xfrm>
            <a:off x="7818120" y="41148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pic>
        <p:nvPicPr>
          <p:cNvPr id="15" name="Image 1" descr="LuTriangleAler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7848" y="4224528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12480" y="40873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Rejeitar (chega depois)</a:t>
            </a:r>
            <a:endParaRPr lang="en-US" sz="1400" dirty="0"/>
          </a:p>
        </p:txBody>
      </p:sp>
      <p:sp>
        <p:nvSpPr>
          <p:cNvPr id="17" name="Status 0 linhas alteradas"/>
          <p:cNvSpPr txBox="1"/>
          <p:nvPr/>
        </p:nvSpPr>
        <p:spPr>
          <a:xfrm>
            <a:off x="8412480" y="4480560"/>
            <a:ext cx="1828800" cy="274320"/>
          </a:xfrm>
          <a:prstGeom prst="roundRect">
            <a:avLst>
              <a:gd name="adj" fmla="val 46667"/>
            </a:avLst>
          </a:prstGeom>
          <a:solidFill>
            <a:srgbClr val="FFEAF4"/>
          </a:solidFill>
          <a:ln w="9525">
            <a:solidFill>
              <a:srgbClr val="AA080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A0808"/>
                </a:solidFill>
              </a:rPr>
              <a:t>0 linhas alteradas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8412480" y="48463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REEMBOLSO_STATUS_INVALIDO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SERVIÇO E HANDLERS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Aprovar: cancelar o pedido e devolver o pagamento</a:t>
            </a:r>
            <a:endParaRPr lang="en-US" sz="3200" dirty="0"/>
          </a:p>
        </p:txBody>
      </p:sp>
      <p:sp>
        <p:nvSpPr>
          <p:cNvPr id="5" name="Bloco de código"/>
          <p:cNvSpPr/>
          <p:nvPr/>
        </p:nvSpPr>
        <p:spPr>
          <a:xfrm>
            <a:off x="548640" y="1554480"/>
            <a:ext cx="5669280" cy="2087880"/>
          </a:xfrm>
          <a:prstGeom prst="roundRect">
            <a:avLst>
              <a:gd name="adj" fmla="val 5255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6" name="Código"/>
          <p:cNvSpPr txBox="1"/>
          <p:nvPr/>
        </p:nvSpPr>
        <p:spPr>
          <a:xfrm>
            <a:off x="777240" y="1737360"/>
            <a:ext cx="5212080" cy="1722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'aprovarReembolso'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Reembolsos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reembolso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solicitacaoPendente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reembolso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registrarDecisao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reembolso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'APROVADO'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motivoDecisao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?.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cancelarPorReembolso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reembolso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pedido_ID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errors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'REEMBOLSO_APROVADO'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...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Reembolsos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reembolso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7" name="Bloco de código"/>
          <p:cNvSpPr/>
          <p:nvPr/>
        </p:nvSpPr>
        <p:spPr>
          <a:xfrm>
            <a:off x="6446520" y="1554480"/>
            <a:ext cx="5193792" cy="3611880"/>
          </a:xfrm>
          <a:prstGeom prst="roundRect">
            <a:avLst>
              <a:gd name="adj" fmla="val 3038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8" name="Código"/>
          <p:cNvSpPr txBox="1"/>
          <p:nvPr/>
        </p:nvSpPr>
        <p:spPr>
          <a:xfrm>
            <a:off x="6675120" y="1737360"/>
            <a:ext cx="473659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cancelarPorReembolso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pedidoID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pedidoID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statusPedido_code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!== 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processandoReembolso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erroStatus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??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...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cancelado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transicionarPedido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statusPedido_code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cancelado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statusPagamento_code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'DEVOLVIDO'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dataCancelamento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toISOString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canceladoPor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cancelado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liberarReservaDoPedido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pedidoID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criarSnapshots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'CANCELAMENTO'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Pagamentos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statusPagamento_code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'DEVOLVIDO'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pedido_ID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pedidoID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9" name="Avatar LuUndo2"/>
          <p:cNvSpPr/>
          <p:nvPr/>
        </p:nvSpPr>
        <p:spPr>
          <a:xfrm>
            <a:off x="685800" y="45720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10" name="Image 0" descr="LuUndo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468172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71600" y="4535424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Tudo ou nada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371600" y="4855464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Se liberar a reserva falhar, a decisão também volta.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SERVIÇO E HANDLERS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Rejeitar: motivo obrigatório e retomada do pedido</a:t>
            </a:r>
            <a:endParaRPr lang="en-US" sz="3200" dirty="0"/>
          </a:p>
        </p:txBody>
      </p:sp>
      <p:sp>
        <p:nvSpPr>
          <p:cNvPr id="5" name="Bloco de código"/>
          <p:cNvSpPr/>
          <p:nvPr/>
        </p:nvSpPr>
        <p:spPr>
          <a:xfrm>
            <a:off x="548640" y="1554480"/>
            <a:ext cx="5669280" cy="2240280"/>
          </a:xfrm>
          <a:prstGeom prst="roundRect">
            <a:avLst>
              <a:gd name="adj" fmla="val 4898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6" name="Código"/>
          <p:cNvSpPr txBox="1"/>
          <p:nvPr/>
        </p:nvSpPr>
        <p:spPr>
          <a:xfrm>
            <a:off x="777240" y="1737360"/>
            <a:ext cx="52120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'rejeitarReembolso'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Reembolsos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reembolso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solicitacaoPendente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reembolso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motivo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motivoDecisao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?.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motivo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'REEMBOLSO_MOTIVO_DECISAO_OBRIG'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{}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'motivoDecisao'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registrarDecisao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reembolso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'REJEITADO'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motivo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retomarPedido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reembolso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pedido_ID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reembolso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statusPedidoAnterior_code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7" name="Bloco de código"/>
          <p:cNvSpPr/>
          <p:nvPr/>
        </p:nvSpPr>
        <p:spPr>
          <a:xfrm>
            <a:off x="6446520" y="1554480"/>
            <a:ext cx="5193792" cy="2392680"/>
          </a:xfrm>
          <a:prstGeom prst="roundRect">
            <a:avLst>
              <a:gd name="adj" fmla="val 4586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8" name="Código"/>
          <p:cNvSpPr txBox="1"/>
          <p:nvPr/>
        </p:nvSpPr>
        <p:spPr>
          <a:xfrm>
            <a:off x="6675120" y="1737360"/>
            <a:ext cx="4736592" cy="2026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retomarPedido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pedidoID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statusAnterior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pedidoID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statusPedido_code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!== 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processandoReembolso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erroStatus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??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...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statusAnterior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'CAMPO_OBRIGATORIO'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campo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'Status anterior'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transicionarPedido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statusPedido_code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statusAnterior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motivoCancelamento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9" name="Cartão"/>
          <p:cNvSpPr/>
          <p:nvPr/>
        </p:nvSpPr>
        <p:spPr>
          <a:xfrm>
            <a:off x="548640" y="4846320"/>
            <a:ext cx="11091672" cy="1234440"/>
          </a:xfrm>
          <a:prstGeom prst="roundRect">
            <a:avLst>
              <a:gd name="adj" fmla="val 8889"/>
            </a:avLst>
          </a:prstGeom>
          <a:solidFill>
            <a:srgbClr val="EBF8FF"/>
          </a:solidFill>
          <a:ln w="9525">
            <a:solidFill>
              <a:srgbClr val="D1EFFF"/>
            </a:solidFill>
            <a:prstDash val="solid"/>
          </a:ln>
        </p:spPr>
      </p:sp>
      <p:sp>
        <p:nvSpPr>
          <p:cNvPr id="10" name="Avatar LuMessageSquare"/>
          <p:cNvSpPr/>
          <p:nvPr/>
        </p:nvSpPr>
        <p:spPr>
          <a:xfrm>
            <a:off x="731520" y="523494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070F2"/>
          </a:solidFill>
          <a:ln/>
        </p:spPr>
      </p:sp>
      <p:pic>
        <p:nvPicPr>
          <p:cNvPr id="11" name="Image 0" descr="LuMessageSqua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534466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71600" y="4846320"/>
            <a:ext cx="100858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Por que @mandatory e checagem no handler?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@mandatory faz a UI exigir o campo; o handler também recusa um motivo só com espaços (trim), que passaria pela validação declarativa.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UI E ANÁLISE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Gestão de Reembolsos: lista com ações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915160"/>
            <a:ext cx="6400800" cy="3896360"/>
          </a:xfrm>
          <a:prstGeom prst="roundRect">
            <a:avLst>
              <a:gd name="adj" fmla="val 2816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pic>
        <p:nvPicPr>
          <p:cNvPr id="6" name="Image 0" descr="Gestão de Reembolsos: List Repo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006600"/>
            <a:ext cx="6217920" cy="3713480"/>
          </a:xfrm>
          <a:prstGeom prst="rect">
            <a:avLst/>
          </a:prstGeom>
        </p:spPr>
      </p:pic>
      <p:sp>
        <p:nvSpPr>
          <p:cNvPr id="7" name="Bloco de código"/>
          <p:cNvSpPr/>
          <p:nvPr/>
        </p:nvSpPr>
        <p:spPr>
          <a:xfrm>
            <a:off x="7178040" y="1554480"/>
            <a:ext cx="4462272" cy="2087880"/>
          </a:xfrm>
          <a:prstGeom prst="roundRect">
            <a:avLst>
              <a:gd name="adj" fmla="val 5255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8" name="Código"/>
          <p:cNvSpPr txBox="1"/>
          <p:nvPr/>
        </p:nvSpPr>
        <p:spPr>
          <a:xfrm>
            <a:off x="7406640" y="1737360"/>
            <a:ext cx="4005072" cy="1722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LineItem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$Type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'UI.DataFieldForAction'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'...aprovarReembolso'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'Aprovar'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$Type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'UI.DataFieldForAction'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'...rejeitarReembolso'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'Rejeitar'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$Type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'UI.DataFieldWithIntent...'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numeroPedido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SemanticObject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'PedidoCompra'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'manage'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...</a:t>
            </a:r>
            <a:endParaRPr lang="en-US" sz="1000" dirty="0"/>
          </a:p>
        </p:txBody>
      </p:sp>
      <p:sp>
        <p:nvSpPr>
          <p:cNvPr id="9" name="Avatar LuArrowDownZA"/>
          <p:cNvSpPr/>
          <p:nvPr/>
        </p:nvSpPr>
        <p:spPr>
          <a:xfrm>
            <a:off x="7269480" y="466344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10" name="Image 1" descr="LuArrowDownZ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208" y="4773168"/>
            <a:ext cx="237744" cy="23774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955280" y="462686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Mais recentes primeiro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7955280" y="4946904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dataSolicitacao desc; CPF sempre lido.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UI E ANÁLISE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Object Page e navegação nos dois sentidos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554480"/>
            <a:ext cx="6766560" cy="2697480"/>
          </a:xfrm>
          <a:prstGeom prst="roundRect">
            <a:avLst>
              <a:gd name="adj" fmla="val 4068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6400800" cy="914400"/>
        </p:xfrm>
        <a:graphic>
          <a:graphicData uri="http://schemas.openxmlformats.org/drawingml/2006/table">
            <a:tbl>
              <a:tblPr/>
              <a:tblGrid>
                <a:gridCol w="1902941"/>
                <a:gridCol w="2248930"/>
                <a:gridCol w="224893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Campo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Para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Reembolso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Pedido (link direto)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PedidoCompra-manage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Reembolso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Cliente, CPF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Cliente-manage (cpf)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Pedido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Solicitação de reembolso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Reembolso-manage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Análise de reembolsos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Abrir gestão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Reembolso-manage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Bloco de código"/>
          <p:cNvSpPr/>
          <p:nvPr/>
        </p:nvSpPr>
        <p:spPr>
          <a:xfrm>
            <a:off x="548640" y="4434840"/>
            <a:ext cx="6766560" cy="1173480"/>
          </a:xfrm>
          <a:prstGeom prst="roundRect">
            <a:avLst>
              <a:gd name="adj" fmla="val 9351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8" name="Código"/>
          <p:cNvSpPr txBox="1"/>
          <p:nvPr/>
        </p:nvSpPr>
        <p:spPr>
          <a:xfrm>
            <a:off x="777240" y="4617720"/>
            <a:ext cx="630936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Pedidos: link visível só com reembolso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$Type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'UI.DataFieldWithIntentBasedNavigation'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numeroPedido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'Solicitação de reembolso'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SemanticObject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'Reembolso'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'manage'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![@UI.Hidden]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semReembolso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9" name="Avatar LuGauge"/>
          <p:cNvSpPr/>
          <p:nvPr/>
        </p:nvSpPr>
        <p:spPr>
          <a:xfrm>
            <a:off x="7635240" y="16459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10" name="Image 0" descr="LuGau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4968" y="1755648"/>
            <a:ext cx="237744" cy="23774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321040" y="1609344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Cabeçalho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1929384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DataPoint do status com criticidade.</a:t>
            </a:r>
            <a:endParaRPr lang="en-US" sz="1400" dirty="0"/>
          </a:p>
        </p:txBody>
      </p:sp>
      <p:sp>
        <p:nvSpPr>
          <p:cNvPr id="13" name="Avatar LuFileText"/>
          <p:cNvSpPr/>
          <p:nvPr/>
        </p:nvSpPr>
        <p:spPr>
          <a:xfrm>
            <a:off x="7635240" y="27432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4" name="Image 1" descr="LuFileTex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4968" y="2852928"/>
            <a:ext cx="237744" cy="23774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321040" y="2706624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FieldGroup #Reembolso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8321040" y="3026664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Pedido, cliente, status, valor, solicitação e decisão.</a:t>
            </a:r>
            <a:endParaRPr lang="en-US" sz="1400" dirty="0"/>
          </a:p>
        </p:txBody>
      </p:sp>
      <p:sp>
        <p:nvSpPr>
          <p:cNvPr id="17" name="Avatar LuPencil"/>
          <p:cNvSpPr/>
          <p:nvPr/>
        </p:nvSpPr>
        <p:spPr>
          <a:xfrm>
            <a:off x="7635240" y="38404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18" name="Image 2" descr="LuPenci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4968" y="3950208"/>
            <a:ext cx="237744" cy="23774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321040" y="3803904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Parâmetro das actions</a:t>
            </a:r>
            <a:endParaRPr lang="en-US" sz="1500" dirty="0"/>
          </a:p>
        </p:txBody>
      </p:sp>
      <p:sp>
        <p:nvSpPr>
          <p:cNvPr id="20" name="Text 13"/>
          <p:cNvSpPr txBox="1"/>
          <p:nvPr/>
        </p:nvSpPr>
        <p:spPr>
          <a:xfrm>
            <a:off x="8321040" y="4123944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Motivo da decisão em campo multilinha.</a:t>
            </a:r>
            <a:endParaRPr lang="en-US" sz="1400" dirty="0"/>
          </a:p>
        </p:txBody>
      </p:sp>
      <p:sp>
        <p:nvSpPr>
          <p:cNvPr id="21" name="Avatar LuKeyRound"/>
          <p:cNvSpPr/>
          <p:nvPr/>
        </p:nvSpPr>
        <p:spPr>
          <a:xfrm>
            <a:off x="7635240" y="4937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3B8"/>
          </a:solidFill>
          <a:ln/>
        </p:spPr>
      </p:sp>
      <p:pic>
        <p:nvPicPr>
          <p:cNvPr id="22" name="Image 3" descr="LuKeyRoun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4968" y="5047488"/>
            <a:ext cx="237744" cy="237744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8321040" y="4901184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SemanticKey</a:t>
            </a:r>
            <a:endParaRPr lang="en-US" sz="1500" dirty="0"/>
          </a:p>
        </p:txBody>
      </p:sp>
      <p:sp>
        <p:nvSpPr>
          <p:cNvPr id="24" name="Text 16"/>
          <p:cNvSpPr txBox="1"/>
          <p:nvPr/>
        </p:nvSpPr>
        <p:spPr>
          <a:xfrm>
            <a:off x="8321040" y="5221224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numeroPedido localiza a solicitação.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UI E ANÁLISE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ReembolsosAnalise e a app de análise</a:t>
            </a:r>
            <a:endParaRPr lang="en-US" sz="3200" dirty="0"/>
          </a:p>
        </p:txBody>
      </p:sp>
      <p:sp>
        <p:nvSpPr>
          <p:cNvPr id="5" name="Bloco de código"/>
          <p:cNvSpPr/>
          <p:nvPr/>
        </p:nvSpPr>
        <p:spPr>
          <a:xfrm>
            <a:off x="548640" y="1554480"/>
            <a:ext cx="6035040" cy="3002280"/>
          </a:xfrm>
          <a:prstGeom prst="roundRect">
            <a:avLst>
              <a:gd name="adj" fmla="val 3655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6" name="Código"/>
          <p:cNvSpPr txBox="1"/>
          <p:nvPr/>
        </p:nvSpPr>
        <p:spPr>
          <a:xfrm>
            <a:off x="777240" y="1737360"/>
            <a:ext cx="5577840" cy="2636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@Aggregation.CustomAggregate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#valorReembolso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'Edm.Decimal'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@Aggregation.CustomAggregate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#qtdeReembolsos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'Edm.Int32'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@readonly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ReembolsosAnalise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Reembolsos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numeroPedido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statusReembolso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statusReembolso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statusReembolso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statusReembolsoTexto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motivoSolicitacao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enderecoPrincipal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uf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uf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cast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dataSolicitacao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+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dataSolicitacao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mesSolicitacao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currency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currency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@Aggregation.default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#SUM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valorReembolso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@Aggregation.default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#SUM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qtdeReembolsos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</p:txBody>
      </p:sp>
      <p:sp>
        <p:nvSpPr>
          <p:cNvPr id="7" name="Cartão"/>
          <p:cNvSpPr/>
          <p:nvPr/>
        </p:nvSpPr>
        <p:spPr>
          <a:xfrm>
            <a:off x="6812280" y="1538986"/>
            <a:ext cx="4828032" cy="2957068"/>
          </a:xfrm>
          <a:prstGeom prst="roundRect">
            <a:avLst>
              <a:gd name="adj" fmla="val 3711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pic>
        <p:nvPicPr>
          <p:cNvPr id="8" name="Image 0" descr="Análise de Pedidos de Reembols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630426"/>
            <a:ext cx="4645152" cy="2774188"/>
          </a:xfrm>
          <a:prstGeom prst="rect">
            <a:avLst/>
          </a:prstGeom>
        </p:spPr>
      </p:pic>
      <p:sp>
        <p:nvSpPr>
          <p:cNvPr id="9" name="Avatar LuChartColumn"/>
          <p:cNvSpPr/>
          <p:nvPr/>
        </p:nvSpPr>
        <p:spPr>
          <a:xfrm>
            <a:off x="6903720" y="47548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10" name="Image 1" descr="LuChartColum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3448" y="4864608"/>
            <a:ext cx="237744" cy="23774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589520" y="4718304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5 cenários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7589520" y="5038344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Valor e quantidade por status, mês, UF e motivo.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TESTES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reembolsos.test: 4 testes do BO</a:t>
            </a:r>
            <a:endParaRPr lang="en-US" sz="3200" dirty="0"/>
          </a:p>
        </p:txBody>
      </p:sp>
      <p:sp>
        <p:nvSpPr>
          <p:cNvPr id="5" name="Bloco de código"/>
          <p:cNvSpPr/>
          <p:nvPr/>
        </p:nvSpPr>
        <p:spPr>
          <a:xfrm>
            <a:off x="548640" y="1554480"/>
            <a:ext cx="6766560" cy="2849880"/>
          </a:xfrm>
          <a:prstGeom prst="roundRect">
            <a:avLst>
              <a:gd name="adj" fmla="val 3850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6" name="Código"/>
          <p:cNvSpPr txBox="1"/>
          <p:nvPr/>
        </p:nvSpPr>
        <p:spPr>
          <a:xfrm>
            <a:off x="777240" y="1737360"/>
            <a:ext cx="6309360" cy="2484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solicitacao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/ClientesAtivos?$top=1&amp;$skip=5`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/Pedidos`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{}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/Pedidos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chave(novo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ID, false)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cliente_ID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 inclui uma linha com 2 unidades e ativa o rascunho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ativar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'Pedidos'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`...PedidosService.efetuarPagamento`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metodoPagamento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'CARTAO_DEBITO'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numeroCartao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'5500000000000004'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validade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'10/40'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cvv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'321'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`...PedidosService.cancelarPedido`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motivoCancelamento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'Atraso na entrega'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Cartão"/>
          <p:cNvSpPr/>
          <p:nvPr/>
        </p:nvSpPr>
        <p:spPr>
          <a:xfrm>
            <a:off x="7589520" y="1554480"/>
            <a:ext cx="4050792" cy="4526280"/>
          </a:xfrm>
          <a:prstGeom prst="roundRect">
            <a:avLst>
              <a:gd name="adj" fmla="val 2709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818120" y="1783080"/>
            <a:ext cx="36118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aprovar cancela o pedido, devolve o pagamento, libera a reserva e gera snapshots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rejeitar exige motivo e devolve o pedido ao status anterior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solicitação já decidida não pode ser decidida de novo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 usuário comum também decide reembolsos; a lista é somente leitura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RESUMO DO BO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9601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O que vimos no BO Reembolsos</a:t>
            </a:r>
            <a:endParaRPr lang="en-US" sz="3600" dirty="0"/>
          </a:p>
        </p:txBody>
      </p:sp>
      <p:sp>
        <p:nvSpPr>
          <p:cNvPr id="4" name="Marcador"/>
          <p:cNvSpPr/>
          <p:nvPr/>
        </p:nvSpPr>
        <p:spPr>
          <a:xfrm>
            <a:off x="731520" y="210312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5" name="Image 0" descr="concluí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2203704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202996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Solicitação criada no cancelamento de pedido pago</a:t>
            </a:r>
            <a:endParaRPr lang="en-US" sz="1500" dirty="0"/>
          </a:p>
        </p:txBody>
      </p:sp>
      <p:sp>
        <p:nvSpPr>
          <p:cNvPr id="7" name="Marcador"/>
          <p:cNvSpPr/>
          <p:nvPr/>
        </p:nvSpPr>
        <p:spPr>
          <a:xfrm>
            <a:off x="6263640" y="210312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8" name="Image 1" descr="concluíd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224" y="2203704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903720" y="202996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Serviço somente leitura com aprovar e rejeitar</a:t>
            </a:r>
            <a:endParaRPr lang="en-US" sz="1500" dirty="0"/>
          </a:p>
        </p:txBody>
      </p:sp>
      <p:sp>
        <p:nvSpPr>
          <p:cNvPr id="10" name="Marcador"/>
          <p:cNvSpPr/>
          <p:nvPr/>
        </p:nvSpPr>
        <p:spPr>
          <a:xfrm>
            <a:off x="731520" y="306324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11" name="Image 2" descr="concluíd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3163824"/>
            <a:ext cx="256032" cy="25603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71600" y="299008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Decisão única com UPDATE condicional a PENDENTE</a:t>
            </a:r>
            <a:endParaRPr lang="en-US" sz="1500" dirty="0"/>
          </a:p>
        </p:txBody>
      </p:sp>
      <p:sp>
        <p:nvSpPr>
          <p:cNvPr id="13" name="Marcador"/>
          <p:cNvSpPr/>
          <p:nvPr/>
        </p:nvSpPr>
        <p:spPr>
          <a:xfrm>
            <a:off x="6263640" y="306324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14" name="Image 3" descr="concluíd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3163824"/>
            <a:ext cx="256032" cy="25603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903720" y="299008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Aprovar: cancela, devolve, libera e congela o pedido</a:t>
            </a:r>
            <a:endParaRPr lang="en-US" sz="1500" dirty="0"/>
          </a:p>
        </p:txBody>
      </p:sp>
      <p:sp>
        <p:nvSpPr>
          <p:cNvPr id="16" name="Marcador"/>
          <p:cNvSpPr/>
          <p:nvPr/>
        </p:nvSpPr>
        <p:spPr>
          <a:xfrm>
            <a:off x="731520" y="402336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17" name="Image 4" descr="concluíd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4123944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371600" y="395020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Rejeitar: motivo obrigatório e status anterior</a:t>
            </a:r>
            <a:endParaRPr lang="en-US" sz="1500" dirty="0"/>
          </a:p>
        </p:txBody>
      </p:sp>
      <p:sp>
        <p:nvSpPr>
          <p:cNvPr id="19" name="Marcador"/>
          <p:cNvSpPr/>
          <p:nvPr/>
        </p:nvSpPr>
        <p:spPr>
          <a:xfrm>
            <a:off x="6263640" y="402336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20" name="Image 5" descr="concluíd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4224" y="4123944"/>
            <a:ext cx="256032" cy="256032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6903720" y="395020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Navegação nos dois sentidos, análise e 4 testes</a:t>
            </a:r>
            <a:endParaRPr lang="en-US" sz="1500" dirty="0"/>
          </a:p>
        </p:txBody>
      </p:sp>
      <p:sp>
        <p:nvSpPr>
          <p:cNvPr id="22" name="Próxima etapa"/>
          <p:cNvSpPr/>
          <p:nvPr/>
        </p:nvSpPr>
        <p:spPr>
          <a:xfrm>
            <a:off x="731520" y="5394960"/>
            <a:ext cx="10725912" cy="777240"/>
          </a:xfrm>
          <a:prstGeom prst="roundRect">
            <a:avLst>
              <a:gd name="adj" fmla="val 16471"/>
            </a:avLst>
          </a:prstGeom>
          <a:solidFill>
            <a:srgbClr val="1B3A7A"/>
          </a:solidFill>
          <a:ln/>
        </p:spPr>
      </p:sp>
      <p:pic>
        <p:nvPicPr>
          <p:cNvPr id="23" name="Image 6" descr="próxima etapa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59552"/>
            <a:ext cx="438912" cy="438912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600200" y="544068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9D1FF"/>
                </a:solidFill>
              </a:rPr>
              <a:t>Fim da série ·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volte à Etapa 6 para o roteiro de publicação na SAP BTP.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P Horizon">
  <a:themeElements>
    <a:clrScheme name="SAP Horizon">
      <a:dk1>
        <a:srgbClr val="1D2D3E"/>
      </a:dk1>
      <a:lt1>
        <a:srgbClr val="FFFFFF"/>
      </a:lt1>
      <a:dk2>
        <a:srgbClr val="00144A"/>
      </a:dk2>
      <a:lt2>
        <a:srgbClr val="F5F6F7"/>
      </a:lt2>
      <a:accent1>
        <a:srgbClr val="0070F2"/>
      </a:accent1>
      <a:accent2>
        <a:srgbClr val="049F9A"/>
      </a:accent2>
      <a:accent3>
        <a:srgbClr val="7858FF"/>
      </a:accent3>
      <a:accent4>
        <a:srgbClr val="E76500"/>
      </a:accent4>
      <a:accent5>
        <a:srgbClr val="256F3A"/>
      </a:accent5>
      <a:accent6>
        <a:srgbClr val="AA0808"/>
      </a:accent6>
      <a:hlink>
        <a:srgbClr val="0064D9"/>
      </a:hlink>
      <a:folHlink>
        <a:srgbClr val="7858FF"/>
      </a:folHlink>
    </a:clrScheme>
    <a:fontScheme name="SAP Horizo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Pedidos de Compras - SAP CAP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 Reembolsos - Implementação</dc:title>
  <dc:subject>Projeto Pedidos de Compras em SAP CAP e SAP Fiori</dc:subject>
  <dc:creator>Adriano Bispo</dc:creator>
  <cp:lastModifiedBy>Adriano Bispo</cp:lastModifiedBy>
  <cp:revision>1</cp:revision>
  <dcterms:created xsi:type="dcterms:W3CDTF">2026-10-20T11:28:34Z</dcterms:created>
  <dcterms:modified xsi:type="dcterms:W3CDTF">2026-10-20T11:28:34Z</dcterms:modified>
</cp:coreProperties>
</file>