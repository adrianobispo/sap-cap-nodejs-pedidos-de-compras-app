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57ade92-68f9-72d4-4d55-78e0bc37a7e7}">
          <p14:sldIdLst>
            <p14:sldId id="256"/>
          </p14:sldIdLst>
        </p14:section>
        <p14:section name="Contexto" id="{d014409a-930f-3517-a953-f5f73f64f018}">
          <p14:sldIdLst>
            <p14:sldId id="257"/>
          </p14:sldIdLst>
        </p14:section>
        <p14:section name="Arquitetura" id="{dac40833-8288-a849-2146-3a228dbbab07}">
          <p14:sldIdLst>
            <p14:sldId id="258"/>
            <p14:sldId id="259"/>
          </p14:sldIdLst>
        </p14:section>
        <p14:section name="Definição dos serviços" id="{1146a1fe-e09f-4539-269e-cfd2bd1d12a1}">
          <p14:sldIdLst>
            <p14:sldId id="260"/>
            <p14:sldId id="261"/>
            <p14:sldId id="262"/>
            <p14:sldId id="263"/>
            <p14:sldId id="264"/>
          </p14:sldIdLst>
        </p14:section>
        <p14:section name="Autorização e validação" id="{d3d88367-a92e-8b4c-d868-a2ea94f9aae5}">
          <p14:sldIdLst>
            <p14:sldId id="265"/>
            <p14:sldId id="266"/>
          </p14:sldIdLst>
        </p14:section>
        <p14:section name="Publicação local" id="{776c18b2-b6dd-f70d-addb-96b8bf9b95a3}">
          <p14:sldIdLst>
            <p14:sldId id="267"/>
          </p14:sldIdLst>
        </p14:section>
        <p14:section name="Encerramento" id="{4f51aae2-a127-c4b3-3acd-99a022a9881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2: o modelo CDS vira APIs OData V4 consumidas pelas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aplicação tem o seu serviço; regras que atravessam domínios ficam em srv/lib (etapa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Visão geral: launchpad e apps SAPUI5 consomem os serviços OData do CAP, que usam srv/lib e o modelo CDS sobre SQLite ou HANA.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serviços. O AnaliticoService é somente leitura e atende às quatro apps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expor, achata dados de associações e esconde o que não deve sair do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anotação liga o rascunho: o CAP cria as tabelas _drafts e trata Editar, Salvar e Descartar. Os handlers se encaixam nos eventos.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são vinculadas à instância. OperationAvailable habilita o botão só no status certo; SideEffects recarrega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status do pedido e as ações que os movem. O reembolso aparece quando um pedido pago é cancelado.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Entidades auxiliares expostas só para leitura: ajudas de valores e textos das CodeLists.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@requires protege o serviço inteiro; @restrict define o que cada papel pode fazer em cada entidade.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Validações simples são declarativas; as que dependem de algoritmo, de outros registros ou de serviços externos ficam nos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comando sobe os serviços e as apps. O prewatch cria o db.sqlite na primeira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2 — Serviços OData V4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2 — Serviços OData V4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02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OData V4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Expondo o modelo como serviços OData V4: projeções, rascunho, actions, autorização e publicação local.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Serviços OData V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50808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317736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84664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451592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101852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2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publicamos o modelo como cinco serviços OData V4, um por aplicação, com rascunho, actions do ciclo de vida, value helps e autorização declarativa por papel.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da solução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990758" y="1463040"/>
            <a:ext cx="6065204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rquitetura da solu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198" y="1554480"/>
            <a:ext cx="5882324" cy="4617720"/>
          </a:xfrm>
          <a:prstGeom prst="rect">
            <a:avLst/>
          </a:prstGeom>
        </p:spPr>
      </p:pic>
      <p:sp>
        <p:nvSpPr>
          <p:cNvPr id="7" name="Avatar LuAppWindow"/>
          <p:cNvSpPr/>
          <p:nvPr/>
        </p:nvSpPr>
        <p:spPr>
          <a:xfrm>
            <a:off x="7818120" y="1783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AppWind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89280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503920" y="17465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Front-end SAPUI5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503920" y="206654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Launchpad, 4 apps Fiori Elements e 4 apps freestyle de análise.</a:t>
            </a:r>
            <a:endParaRPr lang="en-US" sz="1400" dirty="0"/>
          </a:p>
        </p:txBody>
      </p:sp>
      <p:sp>
        <p:nvSpPr>
          <p:cNvPr id="11" name="Avatar LuServer"/>
          <p:cNvSpPr/>
          <p:nvPr/>
        </p:nvSpPr>
        <p:spPr>
          <a:xfrm>
            <a:off x="7818120" y="2880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299008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03920" y="28437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503920" y="316382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serviço por app, servidos em /odata/v4/&lt;caminho&gt;.</a:t>
            </a:r>
            <a:endParaRPr lang="en-US" sz="1400" dirty="0"/>
          </a:p>
        </p:txBody>
      </p:sp>
      <p:sp>
        <p:nvSpPr>
          <p:cNvPr id="15" name="Avatar LuCodeXml"/>
          <p:cNvSpPr/>
          <p:nvPr/>
        </p:nvSpPr>
        <p:spPr>
          <a:xfrm>
            <a:off x="781812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CodeXm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408736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3920" y="3941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srv/lib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503920" y="426110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Regras de domínio compartilhadas, sempre na transação.</a:t>
            </a:r>
            <a:endParaRPr lang="en-US" sz="1400" dirty="0"/>
          </a:p>
        </p:txBody>
      </p:sp>
      <p:sp>
        <p:nvSpPr>
          <p:cNvPr id="19" name="Avatar LuDatabase"/>
          <p:cNvSpPr/>
          <p:nvPr/>
        </p:nvSpPr>
        <p:spPr>
          <a:xfrm>
            <a:off x="7818120" y="5074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518464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503920" y="50383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Persistência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8503920" y="535838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SQLite no desenvolvimento, SAP HANA Cloud em produção.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 serviço OData por aplicação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062675"/>
                <a:gridCol w="2145182"/>
                <a:gridCol w="3135267"/>
                <a:gridCol w="577549"/>
                <a:gridCol w="280523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Caminho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Entidades principais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Actions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Enderecos, CepsCadastrados, Permissoes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definirEnderecoPrincipal, 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EstoqueService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Itens, Categorias, StatusEstoque, Permissoes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Pedidos, ItensPedido, ClientesAtivos, ItensAtivos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efetuarPagamento, aprovarPedido, cancelarPedido, 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 (somente leitura), StatusReembolso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aprovarReembolso, rejeitarReembolso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AnaliticoService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/odata/v4/analitico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PedidosAnalise, ClientesAnalise, ItensAnalise, ReembolsosAnalise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 ($apply)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Anatomia de um serviço: projeções sobre o modelo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92240" cy="3779520"/>
          </a:xfrm>
          <a:prstGeom prst="roundRect">
            <a:avLst>
              <a:gd name="adj" fmla="val 2903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03504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{ pedidoscompras as db } from '../db/schema';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    : 'pedidos'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@requires: 'authenticated-user'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PedidosService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@odata.draft.enabled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@restrict: [{ grant: '*', to: ['Comum', 'Admin'] }]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entity Pedidos as projection on db.Pedidos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cliente.nome         as nomeCliente,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cliente.cpf          as cpfCliente,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cliente.cpfFormatado as cpfClienteFormatado,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when exists reembolsos then 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else true end   as semReembolso : Boolean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excluding { reembolsos };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Route"/>
          <p:cNvSpPr/>
          <p:nvPr/>
        </p:nvSpPr>
        <p:spPr>
          <a:xfrm>
            <a:off x="74066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5506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@path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97510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Define a URL: /odata/v4/pedidos.</a:t>
            </a:r>
            <a:endParaRPr lang="en-US" sz="1400" dirty="0"/>
          </a:p>
        </p:txBody>
      </p:sp>
      <p:sp>
        <p:nvSpPr>
          <p:cNvPr id="11" name="Avatar LuLink"/>
          <p:cNvSpPr/>
          <p:nvPr/>
        </p:nvSpPr>
        <p:spPr>
          <a:xfrm>
            <a:off x="74066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92440" y="275234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Campos achatados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92440" y="307238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Dados do cliente lidos pela associação, sem duplicar colunas.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74066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EyeOf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92440" y="38496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excluding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092440" y="416966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Remove do serviço o que a app não deve navegar.</a:t>
            </a:r>
            <a:endParaRPr lang="en-US" sz="1400" dirty="0"/>
          </a:p>
        </p:txBody>
      </p:sp>
      <p:sp>
        <p:nvSpPr>
          <p:cNvPr id="19" name="Avatar LuSquareFunction"/>
          <p:cNvSpPr/>
          <p:nvPr/>
        </p:nvSpPr>
        <p:spPr>
          <a:xfrm>
            <a:off x="74066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SquareFunc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92440" y="494690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Colunas calculadas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092440" y="526694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semReembolso controla a visibilidade de um link na UI.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Rascunho (draft) com @odata.draft.enabled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931920" cy="448056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Pencil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Penc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 que o CAP entrega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Tabelas &lt;Serviço&gt;_&lt;Entidade&gt;_drafts geradas automaticamente, bloqueio de edição por usuário, mensagens de validação durante a digitação e o Salvar que ativa o registro. Clientes (com endereços), Itens e Pedidos (com itens) usam rascunho.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709160" y="1600200"/>
            <a:ext cx="6931152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737360"/>
          <a:ext cx="6565392" cy="914400"/>
        </p:xfrm>
        <a:graphic>
          <a:graphicData uri="http://schemas.openxmlformats.org/drawingml/2006/table">
            <a:tbl>
              <a:tblPr/>
              <a:tblGrid>
                <a:gridCol w="1681381"/>
                <a:gridCol w="2001644"/>
                <a:gridCol w="288236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Onde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Uso no projeto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Valores iniciais: status, moeda, score,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Endereço pelo CEP, preço e total dos 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EDIT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entidade ativa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só é editado em ABERTO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/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Salvar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Validações, SKU, registro e reserva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DISCARD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Recalcula o total ao excluir linha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Actions vinculadas ao ciclo de vida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766560" cy="4175760"/>
          </a:xfrm>
          <a:prstGeom prst="roundRect">
            <a:avLst>
              <a:gd name="adj" fmla="val 2628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30936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Core.OperationAvailable: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($self.statusPedido.code = 'ABERTO'),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Common.SideEffects: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TargetEntities: [in, in.pagamento]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action efetuarPagamento(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@mandatory metodoPagamento : String(20),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@mandatory numeroCartao    : String(19),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@mandatory validade        : String(5),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@mandatory cvv             : String(4)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 returns Pedidos;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action aprovarPedido() returns Pedidos;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action cancelarPedido(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@mandatory motivoCancelamento : String(500)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 returns Pedidos;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7589520" y="1600200"/>
            <a:ext cx="4050792" cy="448056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6384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Disponível quando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endParaRPr lang="en-US" sz="1400" dirty="0"/>
          </a:p>
        </p:txBody>
      </p:sp>
      <p:sp>
        <p:nvSpPr>
          <p:cNvPr id="10" name="Status ABERTO"/>
          <p:cNvSpPr txBox="1"/>
          <p:nvPr/>
        </p:nvSpPr>
        <p:spPr>
          <a:xfrm>
            <a:off x="7863840" y="2642616"/>
            <a:ext cx="903427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ABERTO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3063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endParaRPr lang="en-US" sz="1400" dirty="0"/>
          </a:p>
        </p:txBody>
      </p:sp>
      <p:sp>
        <p:nvSpPr>
          <p:cNvPr id="12" name="Status AGUARDANDO_APROVACAO"/>
          <p:cNvSpPr txBox="1"/>
          <p:nvPr/>
        </p:nvSpPr>
        <p:spPr>
          <a:xfrm>
            <a:off x="7863840" y="3374136"/>
            <a:ext cx="2157984" cy="274320"/>
          </a:xfrm>
          <a:prstGeom prst="roundRect">
            <a:avLst>
              <a:gd name="adj" fmla="val 46667"/>
            </a:avLst>
          </a:prstGeom>
          <a:solidFill>
            <a:srgbClr val="DAFDF5"/>
          </a:solidFill>
          <a:ln w="9525">
            <a:solidFill>
              <a:srgbClr val="047A7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7A76"/>
                </a:solidFill>
              </a:rPr>
              <a:t>AGUARDANDO_APROVACAO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400" dirty="0"/>
          </a:p>
        </p:txBody>
      </p:sp>
      <p:sp>
        <p:nvSpPr>
          <p:cNvPr id="14" name="Status ABERTO ou AGUARDANDO"/>
          <p:cNvSpPr txBox="1"/>
          <p:nvPr/>
        </p:nvSpPr>
        <p:spPr>
          <a:xfrm>
            <a:off x="7863840" y="4105656"/>
            <a:ext cx="2157984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ABERTO ou AGUARDANDO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400" dirty="0"/>
          </a:p>
        </p:txBody>
      </p:sp>
      <p:sp>
        <p:nvSpPr>
          <p:cNvPr id="16" name="Status Reembolso PENDENTE"/>
          <p:cNvSpPr txBox="1"/>
          <p:nvPr/>
        </p:nvSpPr>
        <p:spPr>
          <a:xfrm>
            <a:off x="7863840" y="4837176"/>
            <a:ext cx="1978762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Reembolso PENDENTE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400" dirty="0"/>
          </a:p>
        </p:txBody>
      </p:sp>
      <p:sp>
        <p:nvSpPr>
          <p:cNvPr id="18" name="Status Reembolso PENDENTE"/>
          <p:cNvSpPr txBox="1"/>
          <p:nvPr/>
        </p:nvSpPr>
        <p:spPr>
          <a:xfrm>
            <a:off x="7863840" y="5568696"/>
            <a:ext cx="1978762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Reembolso PENDENTE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As transições de status que as actions implementam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490950" y="1463040"/>
            <a:ext cx="9207052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Ciclo de vida do pe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2390" y="1554480"/>
            <a:ext cx="9024172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Value helps e entidades somente leitura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Users"/>
          <p:cNvSpPr/>
          <p:nvPr/>
        </p:nvSpPr>
        <p:spPr>
          <a:xfrm>
            <a:off x="77724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ClientesAtivos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Projeção com where clienteAtivo = true: só clientes ativos fazem pedidos.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306824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Package"/>
          <p:cNvSpPr/>
          <p:nvPr/>
        </p:nvSpPr>
        <p:spPr>
          <a:xfrm>
            <a:off x="4535424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66944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ItensAtivos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266944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 ativos com SKU, preço e qtdeDisponivel para escolher no pedido.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8065008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MapPin"/>
          <p:cNvSpPr/>
          <p:nvPr/>
        </p:nvSpPr>
        <p:spPr>
          <a:xfrm>
            <a:off x="829360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Map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19604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25128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CepsCadastrados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025128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registro por CEP já validado: escolher um evita nova chamada ao ViaCEP.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548640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ShieldCheck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Permissoes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508760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Singleton com somenteLeitura, que esconde botões na UI do perfil Comum.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4306824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Avatar LuListChecks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7" name="Image 4" descr="LuListCheck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CodeLists @readonly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5266944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StatusPedido, StatusPagamento, MetodosPagamento e demais: textos e filtros.</a:t>
            </a:r>
            <a:endParaRPr lang="en-US" sz="1400" dirty="0"/>
          </a:p>
        </p:txBody>
      </p:sp>
      <p:sp>
        <p:nvSpPr>
          <p:cNvPr id="30" name="Cartão"/>
          <p:cNvSpPr/>
          <p:nvPr/>
        </p:nvSpPr>
        <p:spPr>
          <a:xfrm>
            <a:off x="8065008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1" name="Avatar LuLock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2" name="Image 5" descr="Lu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Pagamentos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25128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Pagamentos e snapshots são @readonly: só as actions os gravam.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AUTORIZAÇÃO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Autorização declarativa por papel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583680" cy="35661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217920" cy="914400"/>
        </p:xfrm>
        <a:graphic>
          <a:graphicData uri="http://schemas.openxmlformats.org/drawingml/2006/table">
            <a:tbl>
              <a:tblPr/>
              <a:tblGrid>
                <a:gridCol w="2072640"/>
                <a:gridCol w="2418080"/>
                <a:gridCol w="1727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Recurso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Comum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 e endereços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Tudo + importar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Itens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Tudo + importar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Criar, pagar, aprovar, cancelar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 e rejeitar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Análises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406640" y="1600200"/>
            <a:ext cx="4233672" cy="2392680"/>
          </a:xfrm>
          <a:prstGeom prst="roundRect">
            <a:avLst>
              <a:gd name="adj" fmla="val 4586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635240" y="1783080"/>
            <a:ext cx="3776472" cy="202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ClientesService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grant: 'READ', to: 'Comum'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grant: '*',    to: 'Admin'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 Clientes as projection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db.Clientes;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@requires: 'Admin'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importarPlanilha(...);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7406640" y="4846320"/>
            <a:ext cx="4233672" cy="1234440"/>
          </a:xfrm>
          <a:prstGeom prst="roundRect">
            <a:avLst>
              <a:gd name="adj" fmla="val 888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0" y="4892040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Desenvolvimento: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autenticação mocked com admin/admin e comum/comum. Produção: XSUAA (etapa 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cada validação acontece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315468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istChecks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ist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Declarativas (CDS)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606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@mandatory: campos obrigatórios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@assert.format: e-mail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 com case: telefone, datas, quantidades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@assert.target: CodeList existente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@assert.unique: CPF, SKU, número, CEP</a:t>
            </a:r>
            <a:endParaRPr lang="en-US" sz="1500" dirty="0"/>
          </a:p>
        </p:txBody>
      </p:sp>
      <p:sp>
        <p:nvSpPr>
          <p:cNvPr id="10" name="Cartão"/>
          <p:cNvSpPr/>
          <p:nvPr/>
        </p:nvSpPr>
        <p:spPr>
          <a:xfrm>
            <a:off x="6199632" y="1600200"/>
            <a:ext cx="5440680" cy="315468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CodeXml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2" name="Image 1" descr="LuCodeX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Nos handlers (JS/TS)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519672" y="2606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Dígitos verificadores do CPF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CEP no ViaCEP e CEP único por cliente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Saldo de estoque e item ativo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Status permitido em cada action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Imagem por MIME, extensão e assinatura</a:t>
            </a:r>
            <a:endParaRPr lang="en-US" sz="1500" dirty="0"/>
          </a:p>
        </p:txBody>
      </p:sp>
      <p:sp>
        <p:nvSpPr>
          <p:cNvPr id="15" name="Cartão"/>
          <p:cNvSpPr/>
          <p:nvPr/>
        </p:nvSpPr>
        <p:spPr>
          <a:xfrm>
            <a:off x="548640" y="502920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6" name="Avatar LuMessageSquare"/>
          <p:cNvSpPr/>
          <p:nvPr/>
        </p:nvSpPr>
        <p:spPr>
          <a:xfrm>
            <a:off x="777240" y="527608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7" name="Image 2" descr="LuMessage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5407762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502920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Mesma linguagem de erro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@assert e req.error usam chaves de _i18n/messages.properties (ex.: ITEM_SEM_ESTOQUE), e o Fiori mostra o texto junto do campo.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 LOCAL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Publicando os serviços com cds watch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Terminal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Instala CAP e as 8 apps (workspaces)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191256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1" name="Cartão"/>
          <p:cNvSpPr/>
          <p:nvPr/>
        </p:nvSpPr>
        <p:spPr>
          <a:xfrm>
            <a:off x="3364992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Database"/>
          <p:cNvSpPr/>
          <p:nvPr/>
        </p:nvSpPr>
        <p:spPr>
          <a:xfrm>
            <a:off x="3593592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1931213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233672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prewatch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593592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Cria o db.sqlite com cds deploy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007608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Cartão"/>
          <p:cNvSpPr/>
          <p:nvPr/>
        </p:nvSpPr>
        <p:spPr>
          <a:xfrm>
            <a:off x="6181344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RefreshCw"/>
          <p:cNvSpPr/>
          <p:nvPr/>
        </p:nvSpPr>
        <p:spPr>
          <a:xfrm>
            <a:off x="640994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9" name="Image 2" descr="LuRefreshC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1931213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50024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watch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409944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Serve e recarrega a cada mudança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8823960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Cartão"/>
          <p:cNvSpPr/>
          <p:nvPr/>
        </p:nvSpPr>
        <p:spPr>
          <a:xfrm>
            <a:off x="8997696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Globe"/>
          <p:cNvSpPr/>
          <p:nvPr/>
        </p:nvSpPr>
        <p:spPr>
          <a:xfrm>
            <a:off x="9226296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Glo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997" y="1931213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866376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localhost:4004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226296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Serviços, $metadata e apps</a:t>
            </a:r>
            <a:endParaRPr lang="en-US" sz="1300" dirty="0"/>
          </a:p>
        </p:txBody>
      </p:sp>
      <p:sp>
        <p:nvSpPr>
          <p:cNvPr id="28" name="Bloco de código"/>
          <p:cNvSpPr/>
          <p:nvPr/>
        </p:nvSpPr>
        <p:spPr>
          <a:xfrm>
            <a:off x="548640" y="3474720"/>
            <a:ext cx="5486400" cy="1996440"/>
          </a:xfrm>
          <a:prstGeom prst="roundRect">
            <a:avLst>
              <a:gd name="adj" fmla="val 5496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9" name="Código"/>
          <p:cNvSpPr txBox="1"/>
          <p:nvPr/>
        </p:nvSpPr>
        <p:spPr>
          <a:xfrm>
            <a:off x="777240" y="3657600"/>
            <a:ext cx="5029200" cy="163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cd nodejs-padrao     # ou nodejs-typescript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install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watch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[cds] - serving PedidosService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at: ['/odata/v4/pedidos']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[cds] - server listening 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url: 'http://localhost:4004'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https       # proxy 8443 -&gt; 4004</a:t>
            </a:r>
            <a:endParaRPr lang="en-US" sz="1300" dirty="0"/>
          </a:p>
        </p:txBody>
      </p:sp>
      <p:sp>
        <p:nvSpPr>
          <p:cNvPr id="30" name="Bloco de código"/>
          <p:cNvSpPr/>
          <p:nvPr/>
        </p:nvSpPr>
        <p:spPr>
          <a:xfrm>
            <a:off x="6263640" y="3474720"/>
            <a:ext cx="5376672" cy="1798320"/>
          </a:xfrm>
          <a:prstGeom prst="roundRect">
            <a:avLst>
              <a:gd name="adj" fmla="val 6102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1" name="Código"/>
          <p:cNvSpPr txBox="1"/>
          <p:nvPr/>
        </p:nvSpPr>
        <p:spPr>
          <a:xfrm>
            <a:off x="6492240" y="3657600"/>
            <a:ext cx="4919472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/odata/v4/pedidos/$metadata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/odata/v4/pedidos/Pedidos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?$expand=itens,pagamento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/odata/v4/pedidos/Pedidos(ID=...,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IsActiveEntity=true)/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PedidosService.aprovarPedido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/launchpad.html   # 8 tiles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2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Cinco serviços OData V4, um por aplicação, em /odata/v4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Projeções que achatam associações e escondem navegações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Rascunho com uma anotação e eventos NEW, PATCH, EDIT e Salvar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com OperationAvailable e SideEffects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por papel com @requires e @restrict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Serviços publicados localmente com npm run watch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Lógica de negócio: handlers, srv/lib, estoque, concorrência e integrações.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Serviços OData V4</dc:title>
  <dc:subject>Projeto Pedidos de Compras em SAP CAP e SAP Fiori</dc:subject>
  <dc:creator>Adriano Bispo</dc:creator>
  <cp:lastModifiedBy>Adriano Bispo</cp:lastModifiedBy>
  <cp:revision>1</cp:revision>
  <dcterms:created xsi:type="dcterms:W3CDTF">2026-10-20T02:32:07Z</dcterms:created>
  <dcterms:modified xsi:type="dcterms:W3CDTF">2026-10-20T02:32:07Z</dcterms:modified>
</cp:coreProperties>
</file>