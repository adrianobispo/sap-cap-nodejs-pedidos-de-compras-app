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9" r:id="rId40"/>
    <p:sldId id="259" r:id="rId5"/>
    <p:sldId id="262" r:id="rId8"/>
    <p:sldId id="263" r:id="rId9"/>
    <p:sldId id="290" r:id="rId41"/>
    <p:sldId id="260" r:id="rId6"/>
    <p:sldId id="261" r:id="rId7"/>
    <p:sldId id="291" r:id="rId42"/>
    <p:sldId id="280" r:id="rId26"/>
    <p:sldId id="281" r:id="rId27"/>
    <p:sldId id="282" r:id="rId28"/>
    <p:sldId id="279" r:id="rId25"/>
    <p:sldId id="292" r:id="rId43"/>
    <p:sldId id="293" r:id="rId44"/>
    <p:sldId id="264" r:id="rId10"/>
    <p:sldId id="265" r:id="rId11"/>
    <p:sldId id="266" r:id="rId12"/>
    <p:sldId id="267" r:id="rId13"/>
    <p:sldId id="283" r:id="rId29"/>
    <p:sldId id="294" r:id="rId45"/>
    <p:sldId id="295" r:id="rId46"/>
    <p:sldId id="268" r:id="rId14"/>
    <p:sldId id="269" r:id="rId15"/>
    <p:sldId id="296" r:id="rId47"/>
    <p:sldId id="297" r:id="rId48"/>
    <p:sldId id="298" r:id="rId49"/>
    <p:sldId id="299" r:id="rId50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5" r:id="rId31"/>
    <p:sldId id="300" r:id="rId51"/>
    <p:sldId id="301" r:id="rId52"/>
    <p:sldId id="277" r:id="rId23"/>
    <p:sldId id="278" r:id="rId24"/>
    <p:sldId id="302" r:id="rId53"/>
    <p:sldId id="284" r:id="rId30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f7e3a6f-eef6-88b2-19d9-b96df77d1bf5}">
          <p14:sldIdLst>
            <p14:sldId id="256"/>
          </p14:sldIdLst>
        </p14:section>
        <p14:section name="Contexto" id="{ec9734cd-f263-98a6-4a72-2171bc1a2729}">
          <p14:sldIdLst>
            <p14:sldId id="257"/>
          </p14:sldIdLst>
        </p14:section>
        <p14:section name="Domínio" id="{e875ef4f-fe5c-2726-3a0f-f9e734041ba6}">
          <p14:sldIdLst>
            <p14:sldId id="258"/>
            <p14:sldId id="259"/>
          </p14:sldIdLst>
        </p14:section>
        <p14:section name="Tipos e CodeLists" id="{2b439cfc-4ceb-0a18-035f-d860dc9a75d7}">
          <p14:sldIdLst>
            <p14:sldId id="260"/>
            <p14:sldId id="261"/>
          </p14:sldIdLst>
        </p14:section>
        <p14:section name="Entidades e relações" id="{99270b10-9b58-47b2-1a76-ba3b45d1e296}">
          <p14:sldIdLst>
            <p14:sldId id="262"/>
          </p14:sldIdLst>
        </p14:section>
        <p14:section name="Tabelas ativas" id="{e70aa326-f7de-92a2-e1d2-8b1e2314ae1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onceitos de modelagem" id="{3d3313b8-0c19-16ae-4738-cd2d5e0b5623}">
          <p14:sldIdLst>
            <p14:sldId id="283"/>
            <p14:sldId id="284"/>
            <p14:sldId id="285"/>
          </p14:sldIdLst>
        </p14:section>
        <p14:section name="Integridade e persistência" id="{93fff47c-4a7f-1322-2f3c-4dd093b2ae43}">
          <p14:sldIdLst>
            <p14:sldId id="286"/>
            <p14:sldId id="287"/>
          </p14:sldIdLst>
        </p14:section>
        <p14:section name="Encerramento" id="{b4750968-65b2-922b-92cf-9044a1ec0bff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1. O objetivo é mostrar como o domínio de negócio virou o modelo CDS que sustenta todo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de dados é a fundação: serviços, handlers, anotações de UI e análises partem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escrever CDS, mapeamos as áreas do negócio e o que cada uma precisa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Separação clara: tipos e CodeLists em common.cds, entidades em schema.cds, dados em CSV e validações no srv.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Tipos semânticos evitam repetir tamanhos e precisão; o aspect CodeListOrdenada padroniza todas as listas de valores.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CodeLists com enum garantem códigos válidos e alimentam a criticidade (cores) nas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Composições (linha contínua) têm ciclo de vida junto do pai e entram no rascunho; associações (tracejado) só referenciam.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Saída de cds compile --to sql: as tabelas ativas guardam os dados válidos; as de rascunho são criadas pelo CAP para o draft.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Cadastro do cliente. A foto é mídia; CPF e telefone ficam só com dígitos; o score é sorteado na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Cadastro do cliente. A foto é mídia; CPF e telefone ficam só com dígitos; o score é sorteado na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cliente tem vários endereços e exatamente um principal. O CEP preenche o restante pelo ViaCEP.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cliente tem vários endereços e exatamente um principal. O CEP preenche o restante pelo ViaCEP.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Itens de estoque. Saldo disponível e status são colunas geradas pelo banco a partir do estoque e da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Itens de estoque. Saldo disponível e status são colunas geradas pelo banco a partir do estoque e da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Raiz do agregado do pedido: composições para itens, pagamento e snapshots; status e totais mantidos só pelo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Raiz do agregado do pedido: composições para itens, pagamento e snapshots; status e totais mantidos só pelo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liga o pedido a um item do estoque com quantidade, preço fixado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 resultado seguro do pagamento é gravado. Número do cartão, validade e CVV ficam apenas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Cópia do cliente e do endereço feita uma única vez, na finalização ou no cancelamento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Cópia do cliente e do endereço feita uma única vez, na finalização ou no cancelamento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linha por item do pedido, com SKU, nome, categoria, quantidade e preços do momento do encerramento.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Criada ao cancelar um pedido com pagamento aprovado; guarda quem pediu, quem decidiu e o status anterior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Criada ao cancelar um pedido com pagamento aprovado; guarda quem pediu, quem decidiu e o status anterior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de controle: guarda o último número de pedido e de SKU, incrementado dentro da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reais de db/data. A criticidade define a cor na UI: 1 negativa, 2 crítica, 3 positiva, 0 neutra.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Gêneros, categorias e métodos de pagamento são listas fixas (drop-down); as moedas vêm de sap.common.Currencies.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aspect CodeList declara name e descr como localized: o CAP cria a tabela de textos e uma view que escolhe o idioma.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 e managed vêm de @sap/cds/common. A composição faz os endereços serem editados no mesmo rascunho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sabores: calculados na leitura (sem coluna) e stored (coluna gerada pelo banco, filtrável e sempre consistente).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as composições. Os snapshots congelam cliente e itens no encerramento, preservando 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simples ficam no modelo e são avaliadas pelo CAP no rascunho e no Save; regras que dependem de algoritmo ou de outros registros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modelo roda em SQLite no desenvolvimento e no SAP HANA Cloud em produção, sem mudar uma linha de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1 e ponte para 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cinco objetos de negócio. Cada etapa tem uma seção para cada um deles, aberta por um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CodeList é uma entidade com o aspect CodeListOrdenada. O enum restringe os códigos e documenta os valores no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cada parte do BO está implementada, camada por camada.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cada parte do BO está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banco calcula o disponível e o status a cada alteração; as validações protegem preço e estoque.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cada parte do BO está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Pedidos é a raiz. A UI só edita o rascunho do cabeçalho e dos itens; o resto é gravado pelo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cada parte do BO está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 o vínculo com o pedido e o cliente, o valor, o status anterior do pedido e os dados da solicitação e da decisão.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1 — Modelagem de Dados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1 — Modelagem de Dados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-3-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-22-1.png"/><Relationship Id="rId7" Type="http://schemas.openxmlformats.org/officeDocument/2006/relationships/image" Target="../media/image-2-7.png"/><Relationship Id="rId8" Type="http://schemas.openxmlformats.org/officeDocument/2006/relationships/notesSlide" Target="../notesSlides/notesSlide34.xml"/><Relationship Id="rId9" Type="http://schemas.openxmlformats.org/officeDocument/2006/relationships/image" Target="../media/image-10-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5-1.png"/><Relationship Id="rId3" Type="http://schemas.openxmlformats.org/officeDocument/2006/relationships/image" Target="../media/image-16-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01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Modelagem de Dados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Do domínio de pedidos de compras ao modelo CDS: tipos, CodeLists, entidades, relacionamentos e persistência.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1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traduzimos o domínio (clientes, estoque, pedidos e reembolsos) em um modelo CDS único no namespace pedidoscompras, base para os serviços, as regras e as apps das próximas etapas.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ponto de partida: quatro áreas de negócio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contato, score e vários endereços; um deles é o principal, validado pelo CEP.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3364992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3639312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375" y="2010583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39312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639312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com SKU, foto, categoria, preço e saldo: em estoque, reservado e disponível.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6181344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ShoppingCart"/>
          <p:cNvSpPr/>
          <p:nvPr/>
        </p:nvSpPr>
        <p:spPr>
          <a:xfrm>
            <a:off x="6455664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Shopping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27" y="2010583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55664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455664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Cliente, itens, pagamento simulado e histórico congelado no encerramento.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8997696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Undo2"/>
          <p:cNvSpPr/>
          <p:nvPr/>
        </p:nvSpPr>
        <p:spPr>
          <a:xfrm>
            <a:off x="9272016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2010583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272016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Reembolsos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272016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Solicitação aberta ao cancelar um pedido pago; aprovada ou rejeitada.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54864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82296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</a:t>
            </a:r>
            <a:endParaRPr lang="en-US" sz="4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entidades persistentes</a:t>
            </a:r>
            <a:endParaRPr lang="en-US" sz="1400" dirty="0"/>
          </a:p>
        </p:txBody>
      </p:sp>
      <p:sp>
        <p:nvSpPr>
          <p:cNvPr id="28" name="Cartão"/>
          <p:cNvSpPr/>
          <p:nvPr/>
        </p:nvSpPr>
        <p:spPr>
          <a:xfrm>
            <a:off x="429768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457200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</a:t>
            </a:r>
            <a:endParaRPr lang="en-US" sz="48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com texto e criticidade</a:t>
            </a:r>
            <a:endParaRPr lang="en-US" sz="1400" dirty="0"/>
          </a:p>
        </p:txBody>
      </p:sp>
      <p:sp>
        <p:nvSpPr>
          <p:cNvPr id="31" name="Cartão"/>
          <p:cNvSpPr/>
          <p:nvPr/>
        </p:nvSpPr>
        <p:spPr>
          <a:xfrm>
            <a:off x="804672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832104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100</a:t>
            </a:r>
            <a:endParaRPr lang="en-US" sz="48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clientes, itens e pedidos de demonstração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o modelo vive e como os nomes são dados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nodejs-padrao/ (igual no TypeScript)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common.cds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tipos e CodeLists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schema.cds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entidades e relações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pedidoscompras-Clientes.csv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pedidoscompras-Itens.csv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pedidoscompras-StatusPedido.csv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sap.common-Currencies.csv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(18 arquivos)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validacoes.cds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/ @assert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gerar-dados-demo.js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preparar-sqlite.js</a:t>
            </a:r>
            <a:endParaRPr lang="en-US" sz="1300" dirty="0"/>
          </a:p>
        </p:txBody>
      </p:sp>
      <p:sp>
        <p:nvSpPr>
          <p:cNvPr id="7" name="Avatar LuFolderTree"/>
          <p:cNvSpPr/>
          <p:nvPr/>
        </p:nvSpPr>
        <p:spPr>
          <a:xfrm>
            <a:off x="60350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Folder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20840" y="16550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Namespace único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197510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Tudo em pedidoscompras; os CSVs seguem &lt;namespace&gt;-&lt;Entidade&gt;.csv.</a:t>
            </a:r>
            <a:endParaRPr lang="en-US" sz="1400" dirty="0"/>
          </a:p>
        </p:txBody>
      </p:sp>
      <p:sp>
        <p:nvSpPr>
          <p:cNvPr id="11" name="Avatar LuBookOpen"/>
          <p:cNvSpPr/>
          <p:nvPr/>
        </p:nvSpPr>
        <p:spPr>
          <a:xfrm>
            <a:off x="60350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Book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720840" y="27523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Entidades no plural, em português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720840" y="30723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Clientes, Itens, Pedidos; CodeLists pelo conceito (Generos, StatusPedido).</a:t>
            </a:r>
            <a:endParaRPr lang="en-US" sz="1400" dirty="0"/>
          </a:p>
        </p:txBody>
      </p:sp>
      <p:sp>
        <p:nvSpPr>
          <p:cNvPr id="15" name="Avatar LuBraces"/>
          <p:cNvSpPr/>
          <p:nvPr/>
        </p:nvSpPr>
        <p:spPr>
          <a:xfrm>
            <a:off x="60350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rac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0840" y="384962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camelCase e UPPER_SNAKE_CASE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720840" y="416966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Campos em camelCase; códigos de status como AGUARDANDO_APROVACAO.</a:t>
            </a:r>
            <a:endParaRPr lang="en-US" sz="1400" dirty="0"/>
          </a:p>
        </p:txBody>
      </p:sp>
      <p:sp>
        <p:nvSpPr>
          <p:cNvPr id="19" name="Avatar LuLink"/>
          <p:cNvSpPr/>
          <p:nvPr/>
        </p:nvSpPr>
        <p:spPr>
          <a:xfrm>
            <a:off x="60350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0840" y="49469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Chaves estrangeiras geradas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720840" y="526694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Associações viram &lt;associação&gt;_&lt;chave&gt;: cliente_ID, statusPedido_code.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TIPOS E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Tipos reutilizáveis e o aspect das CodeLists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'@sap/cds/common'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só dígitos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Criticidade Fiori: 0 neutra ... 3 positiva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Neutra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Positiva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CodeListOrdenada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Hash"/>
          <p:cNvSpPr/>
          <p:nvPr/>
        </p:nvSpPr>
        <p:spPr>
          <a:xfrm>
            <a:off x="6949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H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35240" y="165506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Dígitos no banco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97510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CEP e telefone são gravados sem máscara; a formatação vem de elementos calculados.</a:t>
            </a:r>
            <a:endParaRPr lang="en-US" sz="1400" dirty="0"/>
          </a:p>
        </p:txBody>
      </p:sp>
      <p:sp>
        <p:nvSpPr>
          <p:cNvPr id="11" name="Avatar LuLayers"/>
          <p:cNvSpPr/>
          <p:nvPr/>
        </p:nvSpPr>
        <p:spPr>
          <a:xfrm>
            <a:off x="694944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3127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35240" y="29809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CodeList padrão do CAP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635240" y="330098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code, name e descr traduzíveis, prontos para value help e textos no Fiori.</a:t>
            </a:r>
            <a:endParaRPr lang="en-US" sz="1400" dirty="0"/>
          </a:p>
        </p:txBody>
      </p:sp>
      <p:sp>
        <p:nvSpPr>
          <p:cNvPr id="15" name="Avatar LuGauge"/>
          <p:cNvSpPr/>
          <p:nvPr/>
        </p:nvSpPr>
        <p:spPr>
          <a:xfrm>
            <a:off x="69494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Gau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44531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635240" y="430682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Ordem e criticidade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635240" y="462686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valor traz a ordem de exibição e a cor semântica usada nas listas.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Sete CodeLists dirigem status e classificações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106876"/>
                <a:gridCol w="6129093"/>
                <a:gridCol w="248994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CodeList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Códigos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 aparece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ABERTO · AGUARDANDO_APROVACAO · PROCESSANDO_REEMBOLSO · CANCELADO · FINALIZADO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Ciclo de vida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PENDENTE · APROVADO · RECUSADO · DEVOLVIDO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e 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PENDENTE · APROVADO · REJEITADO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SEM_ESTOQUE · ACABANDO · EM_ESTOQUE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Coluna gerada nos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MetodosPagamento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CARTAO_CREDITO · CARTAO_DEBITO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Ação Efetuar 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Categorias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Categorias dos itens (base do prefixo do SKU)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Generos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 do cliente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modelo de entidades e seus relacionamentos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920240" y="2514600"/>
            <a:ext cx="0" cy="20116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6" name="Text 3"/>
          <p:cNvSpPr txBox="1"/>
          <p:nvPr/>
        </p:nvSpPr>
        <p:spPr>
          <a:xfrm>
            <a:off x="1965960" y="33832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 flipH="1">
            <a:off x="3108960" y="2075688"/>
            <a:ext cx="178308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703320" y="1810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N:1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2514600"/>
            <a:ext cx="0" cy="54864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0" name="Shape 7"/>
          <p:cNvSpPr/>
          <p:nvPr/>
        </p:nvSpPr>
        <p:spPr>
          <a:xfrm flipH="1" flipV="1">
            <a:off x="3108960" y="2377440"/>
            <a:ext cx="1783080" cy="91440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3749040" y="28529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N:1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flipH="1">
            <a:off x="3108960" y="3703320"/>
            <a:ext cx="1783080" cy="100584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383280" y="39776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entrega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 flipV="1">
            <a:off x="7269480" y="2194560"/>
            <a:ext cx="1783080" cy="10972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15" name="Text 12"/>
          <p:cNvSpPr txBox="1"/>
          <p:nvPr/>
        </p:nvSpPr>
        <p:spPr>
          <a:xfrm>
            <a:off x="7955280" y="24688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69480" y="3493008"/>
            <a:ext cx="17830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17" name="Text 14"/>
          <p:cNvSpPr txBox="1"/>
          <p:nvPr/>
        </p:nvSpPr>
        <p:spPr>
          <a:xfrm>
            <a:off x="7882128" y="32004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241280" y="3931920"/>
            <a:ext cx="0" cy="59436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931920"/>
            <a:ext cx="0" cy="59436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20" name="Cartão"/>
          <p:cNvSpPr/>
          <p:nvPr/>
        </p:nvSpPr>
        <p:spPr>
          <a:xfrm>
            <a:off x="73152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9611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 · nome · score</a:t>
            </a:r>
            <a:endParaRPr lang="en-US" sz="1100" dirty="0"/>
          </a:p>
        </p:txBody>
      </p:sp>
      <p:sp>
        <p:nvSpPr>
          <p:cNvPr id="23" name="Cartão"/>
          <p:cNvSpPr/>
          <p:nvPr/>
        </p:nvSpPr>
        <p:spPr>
          <a:xfrm>
            <a:off x="731520" y="452628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96112" y="461772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Enderecos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6112" y="497433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cep · uf · principal</a:t>
            </a:r>
            <a:endParaRPr lang="en-US" sz="1100" dirty="0"/>
          </a:p>
        </p:txBody>
      </p:sp>
      <p:sp>
        <p:nvSpPr>
          <p:cNvPr id="26" name="Cartão"/>
          <p:cNvSpPr/>
          <p:nvPr/>
        </p:nvSpPr>
        <p:spPr>
          <a:xfrm>
            <a:off x="489204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505663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05663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· valor · motivo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4892040" y="30632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056632" y="315468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056632" y="3511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· status · total</a:t>
            </a:r>
            <a:endParaRPr lang="en-US" sz="1100" dirty="0"/>
          </a:p>
        </p:txBody>
      </p:sp>
      <p:sp>
        <p:nvSpPr>
          <p:cNvPr id="32" name="Cartão"/>
          <p:cNvSpPr/>
          <p:nvPr/>
        </p:nvSpPr>
        <p:spPr>
          <a:xfrm>
            <a:off x="905256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921715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Pagamentos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21715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 · últimos 4</a:t>
            </a:r>
            <a:endParaRPr lang="en-US" sz="1100" dirty="0"/>
          </a:p>
        </p:txBody>
      </p:sp>
      <p:sp>
        <p:nvSpPr>
          <p:cNvPr id="35" name="Cartão"/>
          <p:cNvSpPr/>
          <p:nvPr/>
        </p:nvSpPr>
        <p:spPr>
          <a:xfrm>
            <a:off x="9052560" y="30632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217152" y="315468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ItensPedido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217152" y="3511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qtde · preço fixado</a:t>
            </a:r>
            <a:endParaRPr lang="en-US" sz="1100" dirty="0"/>
          </a:p>
        </p:txBody>
      </p:sp>
      <p:sp>
        <p:nvSpPr>
          <p:cNvPr id="38" name="Cartão"/>
          <p:cNvSpPr/>
          <p:nvPr/>
        </p:nvSpPr>
        <p:spPr>
          <a:xfrm>
            <a:off x="9052560" y="452628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49F9A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9217152" y="461772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217152" y="497433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 · qtdeDisponivel</a:t>
            </a:r>
            <a:endParaRPr lang="en-US" sz="1100" dirty="0"/>
          </a:p>
        </p:txBody>
      </p:sp>
      <p:sp>
        <p:nvSpPr>
          <p:cNvPr id="41" name="Cartão"/>
          <p:cNvSpPr/>
          <p:nvPr/>
        </p:nvSpPr>
        <p:spPr>
          <a:xfrm>
            <a:off x="4709160" y="452628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4873752" y="4617720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4873752" y="4974336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itens congelados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31520" y="5833872"/>
            <a:ext cx="6400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45" name="Text 42"/>
          <p:cNvSpPr txBox="1"/>
          <p:nvPr/>
        </p:nvSpPr>
        <p:spPr>
          <a:xfrm>
            <a:off x="1508760" y="5705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Composição (ciclo de vida junto do pai)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486400" y="5833872"/>
            <a:ext cx="64008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47" name="Text 44"/>
          <p:cNvSpPr txBox="1"/>
          <p:nvPr/>
        </p:nvSpPr>
        <p:spPr>
          <a:xfrm>
            <a:off x="62636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Associação (referência)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686800" y="57058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Omitidos: Numeracoes e as CodeLists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TABELAS ATIVAS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Tabelas ativas e tabelas de rascunho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49224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7556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26 tabelas ativas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3957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Domínio (10)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6700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Clientes · Enderecos · Itens · Pedidos · ItensPedido · Pagamentos · PedidosClienteSnapshots · PedidosItensSnapshots · Reembolsos · Numeracoes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3101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CodeLists (7)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5844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Generos · Categorias · StatusEstoque · StatusPedido · StatusPagamento · StatusReembolso · MetodosPagamento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2245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Textos (8)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&lt;CodeList&gt;_texts e sap_common_Currencies_texts: traduções de name e descr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51389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Moedas (1)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54132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sap_common_Currencies (BRL, USD, EUR), de @sap/cds/common</a:t>
            </a:r>
            <a:endParaRPr lang="en-US" sz="1300" dirty="0"/>
          </a:p>
        </p:txBody>
      </p:sp>
      <p:sp>
        <p:nvSpPr>
          <p:cNvPr id="17" name="Bloco de código"/>
          <p:cNvSpPr/>
          <p:nvPr/>
        </p:nvSpPr>
        <p:spPr>
          <a:xfrm>
            <a:off x="7269480" y="1554480"/>
            <a:ext cx="4370832" cy="20574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8" name="Código"/>
          <p:cNvSpPr txBox="1"/>
          <p:nvPr/>
        </p:nvSpPr>
        <p:spPr>
          <a:xfrm>
            <a:off x="7498080" y="1737360"/>
            <a:ext cx="39136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tabelas de rascunho (draft)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DRAFT_DraftAdministrativeData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ClientesService_Clientes_drafts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ClientesService_Enderecos_drafts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EstoqueService_Itens_drafts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PedidosService_Pedidos_drafts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PedidosService_ItensPedido_drafts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PedidosService_Pagamentos_drafts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PedidosService_...Snapshots_drafts (2)</a:t>
            </a:r>
            <a:endParaRPr lang="en-US" sz="1200" dirty="0"/>
          </a:p>
        </p:txBody>
      </p:sp>
      <p:sp>
        <p:nvSpPr>
          <p:cNvPr id="19" name="Cartão"/>
          <p:cNvSpPr/>
          <p:nvPr/>
        </p:nvSpPr>
        <p:spPr>
          <a:xfrm>
            <a:off x="7269480" y="4983480"/>
            <a:ext cx="4370832" cy="1097280"/>
          </a:xfrm>
          <a:prstGeom prst="roundRect">
            <a:avLst>
              <a:gd name="adj" fmla="val 1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98080" y="4983480"/>
            <a:ext cx="3959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Prefixo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pedidoscompras_ nas ativas; &lt;Serviço&gt;_&lt;Entidade&gt;_drafts no rascunho.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Clientes: cadastro do cliente (1/2)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gerada pelo aspect cuid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LargeBinary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Foto JPEG, PNG ou WebP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fotoClienteMimeType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MIME da foto (@Core.IsMediaType)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fotoClienteNome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String(255)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Nome do arquivo enviado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dígitos; único (UNIQUE)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String(255)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Nome completo; obrigatório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Formato validado por @assert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DDD + número: 10 ou 11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Generos (elemento genero)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dataNascimento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Obrigatória; não pode ser futura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pedidoscompras_Clientes</a:t>
            </a:r>
            <a:endParaRPr lang="en-US" sz="1100" dirty="0"/>
          </a:p>
        </p:txBody>
      </p:sp>
      <p:sp>
        <p:nvSpPr>
          <p:cNvPr id="10" name="Avatar LuKeyRound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cuid + managed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ID UUID e auditoria preenchidos pelo CAP.</a:t>
            </a:r>
            <a:endParaRPr lang="en-US" sz="1400" dirty="0"/>
          </a:p>
        </p:txBody>
      </p:sp>
      <p:sp>
        <p:nvSpPr>
          <p:cNvPr id="14" name="Avatar LuShieldCheck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em cpf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Gerado por @assert.unique.cpf.</a:t>
            </a:r>
            <a:endParaRPr lang="en-US" sz="1400" dirty="0"/>
          </a:p>
        </p:txBody>
      </p:sp>
      <p:sp>
        <p:nvSpPr>
          <p:cNvPr id="18" name="Avatar LuImage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Foto como mídia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Lida por stream e validada por MIME e assinatura.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Clientes: cadastro do cliente (2/2)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Inativo não faz pedido; padrão true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Sorteado de 0 a 100; só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Composition many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Enderecos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 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com principal = true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 many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Pedidos (não exposto no serviço)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cpfFormatado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000.000.000-00, na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telefoneFormatado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(00) 00000-0000, na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scoreCriticality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 vermelho · 2 amarelo · 3 verde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· createdBy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criou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modifiedAt ·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alterou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pedidoscompras_Clientes</a:t>
            </a:r>
            <a:endParaRPr lang="en-US" sz="1100" dirty="0"/>
          </a:p>
        </p:txBody>
      </p:sp>
      <p:sp>
        <p:nvSpPr>
          <p:cNvPr id="10" name="Avatar LuLayers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Composição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Endereços entram e saem junto com o cliente.</a:t>
            </a:r>
            <a:endParaRPr lang="en-US" sz="1400" dirty="0"/>
          </a:p>
        </p:txBody>
      </p:sp>
      <p:sp>
        <p:nvSpPr>
          <p:cNvPr id="14" name="Avatar LuSquareFunction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SquareFun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coluna física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Formatados e criticidade são calculados na consulta.</a:t>
            </a:r>
            <a:endParaRPr lang="en-US" sz="1400" dirty="0"/>
          </a:p>
        </p:txBody>
      </p:sp>
      <p:sp>
        <p:nvSpPr>
          <p:cNvPr id="18" name="Avatar LuLock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Exclusão controlada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com pedido não é excluído.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Enderecos: endereços do cliente (1/2)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438144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(cuid); o CEP pode mudar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Clientes (pai da composição)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String(8)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dígitos; único por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logradouro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String(150)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Do ViaCEP; editável no CEP geral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Obrigatório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complemento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Opcional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bairro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Do ViaCEP; editável no CEP geral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cidade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Do ViaCEP; somente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Sigla do estado (ViaCEP)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pedidoscompras_Enderecos</a:t>
            </a:r>
            <a:endParaRPr lang="en-US" sz="1100" dirty="0"/>
          </a:p>
        </p:txBody>
      </p:sp>
      <p:sp>
        <p:nvSpPr>
          <p:cNvPr id="10" name="Avatar LuShieldCheck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(cliente_ID, cep)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mesmo CEP não se repete no cliente.</a:t>
            </a:r>
            <a:endParaRPr lang="en-US" sz="1400" dirty="0"/>
          </a:p>
        </p:txBody>
      </p:sp>
      <p:sp>
        <p:nvSpPr>
          <p:cNvPr id="14" name="Avatar LuMapPin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Map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Preenchido pelo backend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Cidade, UF, estado e status só pelo ViaCEP.</a:t>
            </a:r>
            <a:endParaRPr lang="en-US" sz="1400" dirty="0"/>
          </a:p>
        </p:txBody>
      </p:sp>
      <p:sp>
        <p:nvSpPr>
          <p:cNvPr id="18" name="Avatar LuDatabase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100 endereços, um principal por cliente.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Enderecos: endereços do cliente (2/2)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438144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Nome do estado (ViaCEP)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cepGeral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 de município sem logradouro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 validado · I inválido · X indisp.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Um principal por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cepFormatado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00000-000, na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enderecoCompleto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 completo do endereço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controleCampoCep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7 obrigatório (CEP geral) · 1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· createdBy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criou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modifiedAt ·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alterou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pedidoscompras_Enderecos</a:t>
            </a:r>
            <a:endParaRPr lang="en-US" sz="1100" dirty="0"/>
          </a:p>
        </p:txBody>
      </p:sp>
      <p:sp>
        <p:nvSpPr>
          <p:cNvPr id="10" name="Avatar LuBadgeCheck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Badg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 principal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primeiro vira principal; a ação troca o principal.</a:t>
            </a:r>
            <a:endParaRPr lang="en-US" sz="1400" dirty="0"/>
          </a:p>
        </p:txBody>
      </p:sp>
      <p:sp>
        <p:nvSpPr>
          <p:cNvPr id="14" name="Avatar LuPencil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FieldControl dinâmico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controleCampoCep libera logradouro e bairro.</a:t>
            </a:r>
            <a:endParaRPr lang="en-US" sz="1400" dirty="0"/>
          </a:p>
        </p:txBody>
      </p:sp>
      <p:sp>
        <p:nvSpPr>
          <p:cNvPr id="18" name="Avatar LuSearch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Value help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CepsCadastrados agrupa os CEPs já validados.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Itens: itens do estoque (1/2)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438144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LargeBinary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Foto JPEG, PNG ou WebP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fotoItemMimeType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MIME da foto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fotoItemNome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String(255)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Nome do arquivo enviado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SKU-&lt;3 letras&gt;-&lt;10 dígitos&gt;; único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String(120)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Obrigatório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 livre (MultiLineText)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Categorias; base do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Saldo físico; &gt;= reservada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pedidoscompras_Itens</a:t>
            </a:r>
            <a:endParaRPr lang="en-US" sz="1100" dirty="0"/>
          </a:p>
        </p:txBody>
      </p:sp>
      <p:sp>
        <p:nvSpPr>
          <p:cNvPr id="10" name="Avatar LuSquareFunction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SquareFun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Colunas geradas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qtdeDisponivel e statusEstoque_code são stored.</a:t>
            </a:r>
            <a:endParaRPr lang="en-US" sz="1400" dirty="0"/>
          </a:p>
        </p:txBody>
      </p:sp>
      <p:sp>
        <p:nvSpPr>
          <p:cNvPr id="14" name="Avatar LuShieldCheck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em sku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SKU gerado no Save pelo prefixo da categoria.</a:t>
            </a:r>
            <a:endParaRPr lang="en-US" sz="1400" dirty="0"/>
          </a:p>
        </p:txBody>
      </p:sp>
      <p:sp>
        <p:nvSpPr>
          <p:cNvPr id="18" name="Avatar LuLock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9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Reserva protegida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qtdeReservada nunca vem da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Itens: itens do estoque (2/2)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438144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Só os pedidos alteram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qtdeDisponivel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 stored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estoque − reservada (gerada)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stored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 pelo saldo (gerada)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StatusEstoque pelo code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Moeda; padrão BRL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precoUnitario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Não pode ser negativo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Inativo não entra em novo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· createdBy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criou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modifiedAt ·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alterou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pedidoscompras_Itens</a:t>
            </a:r>
            <a:endParaRPr lang="en-US" sz="1100" dirty="0"/>
          </a:p>
        </p:txBody>
      </p:sp>
      <p:sp>
        <p:nvSpPr>
          <p:cNvPr id="10" name="Avatar LuLink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Associação por código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on statusEstoque.code = statusEstoque_code.</a:t>
            </a:r>
            <a:endParaRPr lang="en-US" sz="1400" dirty="0"/>
          </a:p>
        </p:txBody>
      </p:sp>
      <p:sp>
        <p:nvSpPr>
          <p:cNvPr id="14" name="Avatar LuDollarSign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DollarS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Moeda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Tipo Currency → sap_common_Currencies.</a:t>
            </a:r>
            <a:endParaRPr lang="en-US" sz="1400" dirty="0"/>
          </a:p>
        </p:txBody>
      </p:sp>
      <p:sp>
        <p:nvSpPr>
          <p:cNvPr id="18" name="Avatar LuDatabase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100 itens em 7 categorias.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Pedidos: cabeçalho do pedido (1/2)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4681728"/>
          </a:xfrm>
          <a:prstGeom prst="roundRect">
            <a:avLst>
              <a:gd name="adj" fmla="val 23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0000000042; único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Clientes; obrigatório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Enderecos (entrega)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enderecoPrincipalCompleto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 do endereço no registro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Composition many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ItensPedido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Composition 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Pagamentos (última tentativa)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Composition 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cliente congelado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Composition many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itens congelados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 many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Reembolsos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StatusPedido (5 status)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StatusPagamento (réplica)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observacao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Preenchida pela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pedidoscompras_Pedidos</a:t>
            </a:r>
            <a:endParaRPr lang="en-US" sz="1100" dirty="0"/>
          </a:p>
        </p:txBody>
      </p:sp>
      <p:sp>
        <p:nvSpPr>
          <p:cNvPr id="10" name="Avatar LuShieldCheck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em numeroPedido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Número gerado na transação do registro.</a:t>
            </a:r>
            <a:endParaRPr lang="en-US" sz="1400" dirty="0"/>
          </a:p>
        </p:txBody>
      </p:sp>
      <p:sp>
        <p:nvSpPr>
          <p:cNvPr id="14" name="Avatar LuLayers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Raiz do agregado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Itens, pagamento e snapshots são composições.</a:t>
            </a:r>
            <a:endParaRPr lang="en-US" sz="1400" dirty="0"/>
          </a:p>
        </p:txBody>
      </p:sp>
      <p:sp>
        <p:nvSpPr>
          <p:cNvPr id="18" name="Avatar LuLock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9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Campos controlados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Status, totais e endereço nunca vêm da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Pedidos: cabeçalho do pedido (2/2)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4370832"/>
          </a:xfrm>
          <a:prstGeom prst="roundRect">
            <a:avLst>
              <a:gd name="adj" fmla="val 251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referenciaImportacao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String(40)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 Pedido da planilha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Sempre BRL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Soma das linhas (backend)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dataFinalizacao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Gravada na aprovação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motivoCancelamento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Obrigatório ao cancelar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dataCancelamento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foi cancelado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canceladoPor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Usuário que cancelou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encerrado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FINALIZADO ou CANCELADO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naoEncerrado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Negação de encerrado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naoFinalizado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Esconde a seção Finalização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naoCancelado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Esconde a seção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…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Data do pedido e autoria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pedidoscompras_Pedidos</a:t>
            </a:r>
            <a:endParaRPr lang="en-US" sz="1100" dirty="0"/>
          </a:p>
        </p:txBody>
      </p:sp>
      <p:sp>
        <p:nvSpPr>
          <p:cNvPr id="10" name="Avatar LuEyeOff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Eye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 calculados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Dirigem as seções da Object Page dinâmica.</a:t>
            </a:r>
            <a:endParaRPr lang="en-US" sz="1400" dirty="0"/>
          </a:p>
        </p:txBody>
      </p:sp>
      <p:sp>
        <p:nvSpPr>
          <p:cNvPr id="14" name="Avatar LuHistory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Ciclo de vida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Datas e autor gravados pelas actions.</a:t>
            </a:r>
            <a:endParaRPr lang="en-US" sz="1400" dirty="0"/>
          </a:p>
        </p:txBody>
      </p:sp>
      <p:sp>
        <p:nvSpPr>
          <p:cNvPr id="18" name="Avatar LuDatabase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100 pedidos em todos os status.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ItensPedido: linhas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Pedidos (pai da composição)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Itens; obrigatório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qtdeItemPedido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Maior que zero (@assert)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precoUnitarioSnapshot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Fixado no registro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BRL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qtde × preço, arredondado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observacao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Observação da linha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· createdBy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criou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modifiedAt ·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alterou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pedidoscompras_ItensPedido</a:t>
            </a:r>
            <a:endParaRPr lang="en-US" sz="1100" dirty="0"/>
          </a:p>
        </p:txBody>
      </p:sp>
      <p:sp>
        <p:nvSpPr>
          <p:cNvPr id="10" name="Avatar LuCalculator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fixado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Linhas antigas mantêm o preço; novas pegam o atual.</a:t>
            </a:r>
            <a:endParaRPr lang="en-US" sz="1400" dirty="0"/>
          </a:p>
        </p:txBody>
      </p:sp>
      <p:sp>
        <p:nvSpPr>
          <p:cNvPr id="14" name="Avatar LuPackage"/>
          <p:cNvSpPr/>
          <p:nvPr/>
        </p:nvSpPr>
        <p:spPr>
          <a:xfrm>
            <a:off x="8046720" y="35204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61919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4838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Reserva por item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8039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soma das quantidades por item vira reserva.</a:t>
            </a:r>
            <a:endParaRPr lang="en-US" sz="1400" dirty="0"/>
          </a:p>
        </p:txBody>
      </p:sp>
      <p:sp>
        <p:nvSpPr>
          <p:cNvPr id="18" name="Avatar LuPencil"/>
          <p:cNvSpPr/>
          <p:nvPr/>
        </p:nvSpPr>
        <p:spPr>
          <a:xfrm>
            <a:off x="8046720" y="44348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53359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3982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Edição inline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47183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Criadas na tabela da Object Page, no rascunho.</a:t>
            </a:r>
            <a:endParaRPr lang="en-US" sz="1400" dirty="0"/>
          </a:p>
        </p:txBody>
      </p:sp>
      <p:sp>
        <p:nvSpPr>
          <p:cNvPr id="22" name="Avatar LuDatabase"/>
          <p:cNvSpPr/>
          <p:nvPr/>
        </p:nvSpPr>
        <p:spPr>
          <a:xfrm>
            <a:off x="8046720" y="53492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3" name="Image 3" descr="Lu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5475" y="5447995"/>
            <a:ext cx="213970" cy="21397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86800" y="53126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686800" y="56327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200 linhas nos 100 pedidos.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Pagamentos: última tentativa segura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4370832"/>
          </a:xfrm>
          <a:prstGeom prst="roundRect">
            <a:avLst>
              <a:gd name="adj" fmla="val 251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Pedidos (composição one)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metodoPagamento_code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MetodosPagamento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Resultado da tentativa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bandeiraCartao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String(30)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VISA, MASTERCARD ou OUTRA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ultimos4DigitosCartao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String(4)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Últimos 4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cartaoMascarado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String(30)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**** **** **** 1111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codigoAutorizacao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SIM + 6 dígitos, se aprovado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mensagemPagamento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String(255)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 da operadora simulada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Data da tentativa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· createdBy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criou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modifiedAt ·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e quem alterou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pedidoscompras_Pagamentos</a:t>
            </a:r>
            <a:endParaRPr lang="en-US" sz="1100" dirty="0"/>
          </a:p>
        </p:txBody>
      </p:sp>
      <p:sp>
        <p:nvSpPr>
          <p:cNvPr id="10" name="Avatar LuLock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1" name="Image 0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Nada sensível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Cartão completo, validade e CVV nunca são gravados.</a:t>
            </a:r>
            <a:endParaRPr lang="en-US" sz="1400" dirty="0"/>
          </a:p>
        </p:txBody>
      </p:sp>
      <p:sp>
        <p:nvSpPr>
          <p:cNvPr id="14" name="Avatar LuRefreshCw"/>
          <p:cNvSpPr/>
          <p:nvPr/>
        </p:nvSpPr>
        <p:spPr>
          <a:xfrm>
            <a:off x="8046720" y="35204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5" name="Image 1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61919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4838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 última tentativa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8039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gravarPagamento faz DELETE + INSERT.</a:t>
            </a:r>
            <a:endParaRPr lang="en-US" sz="1400" dirty="0"/>
          </a:p>
        </p:txBody>
      </p:sp>
      <p:sp>
        <p:nvSpPr>
          <p:cNvPr id="18" name="Avatar LuEyeOff"/>
          <p:cNvSpPr/>
          <p:nvPr/>
        </p:nvSpPr>
        <p:spPr>
          <a:xfrm>
            <a:off x="8046720" y="44348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9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53359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3982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@readonly no serviço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47183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Só a action efetuarPagamento grava.</a:t>
            </a:r>
            <a:endParaRPr lang="en-US" sz="1400" dirty="0"/>
          </a:p>
        </p:txBody>
      </p:sp>
      <p:sp>
        <p:nvSpPr>
          <p:cNvPr id="22" name="Avatar LuDatabase"/>
          <p:cNvSpPr/>
          <p:nvPr/>
        </p:nvSpPr>
        <p:spPr>
          <a:xfrm>
            <a:off x="8046720" y="53492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3" name="Image 3" descr="Lu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5475" y="5447995"/>
            <a:ext cx="213970" cy="21397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86800" y="53126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686800" y="56327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70 pagamentos.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PedidosClienteSnapshots: cliente congelado (1/2)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438144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Pedidos (composição one)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Clientes de origem (link)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CPF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String(255)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nome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e-mail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telefone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gênero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dataNascimento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da data de nascimento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pedidoscompras_PedidosClienteSnapshots</a:t>
            </a:r>
            <a:endParaRPr lang="en-US" sz="1100" dirty="0"/>
          </a:p>
        </p:txBody>
      </p:sp>
      <p:sp>
        <p:nvSpPr>
          <p:cNvPr id="10" name="Avatar LuHistory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Cópia, não referência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Mudanças no cadastro não alteram o pedido encerrado.</a:t>
            </a:r>
            <a:endParaRPr lang="en-US" sz="1400" dirty="0"/>
          </a:p>
        </p:txBody>
      </p:sp>
      <p:sp>
        <p:nvSpPr>
          <p:cNvPr id="14" name="Avatar LuBadgeCheck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vez por pedido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Recriar só informa SNAPSHOT_EXISTENTE.</a:t>
            </a:r>
            <a:endParaRPr lang="en-US" sz="1400" dirty="0"/>
          </a:p>
        </p:txBody>
      </p:sp>
      <p:sp>
        <p:nvSpPr>
          <p:cNvPr id="18" name="Avatar LuDatabase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40 pedidos encerrados.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PedidosClienteSnapshots: cliente congelado (2/2)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127248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clienteAtivo, score…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Boolean, Decimal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Situação e score no momento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endereço de entrega usado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 … estado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dos 8 campos do endereço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enderecoCompleto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Texto do endereço de entrega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String(40)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FINALIZACAO ou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cpfFormatado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000.000.000-00, na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telefoneFormatado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calc.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(00) 00000-0000, na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…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createdAt = data do congelamento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pedidoscompras_PedidosClienteSnapshots</a:t>
            </a:r>
            <a:endParaRPr lang="en-US" sz="1100" dirty="0"/>
          </a:p>
        </p:txBody>
      </p:sp>
      <p:sp>
        <p:nvSpPr>
          <p:cNvPr id="10" name="Avatar LuEyeOff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Eye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Somente leitura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@readonly no PedidosService.</a:t>
            </a:r>
            <a:endParaRPr lang="en-US" sz="1400" dirty="0"/>
          </a:p>
        </p:txBody>
      </p:sp>
      <p:sp>
        <p:nvSpPr>
          <p:cNvPr id="14" name="Avatar LuPanelsTopLeft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PanelsTop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Object Page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Substitui Dados do Cliente quando encerrado.</a:t>
            </a:r>
            <a:endParaRPr lang="en-US" sz="1400" dirty="0"/>
          </a:p>
        </p:txBody>
      </p:sp>
      <p:sp>
        <p:nvSpPr>
          <p:cNvPr id="18" name="Avatar LuLink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Navegação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Nome e CPF abrem o cliente de origem.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PedidosItensSnapshots: itens congelados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4681728"/>
          </a:xfrm>
          <a:prstGeom prst="roundRect">
            <a:avLst>
              <a:gd name="adj" fmla="val 23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Pedidos (composição many)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itemPedido_ID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linha de origem (ItensPedido)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Itens (link para o estoque)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String(120)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nome do item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da 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da categoria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quantidade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Quantidade pedida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BRL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precoUnitario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Preço fixado no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Total da linha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…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createdAt = data do congelamento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pedidoscompras_PedidosItensSnapshots</a:t>
            </a:r>
            <a:endParaRPr lang="en-US" sz="1100" dirty="0"/>
          </a:p>
        </p:txBody>
      </p:sp>
      <p:sp>
        <p:nvSpPr>
          <p:cNvPr id="10" name="Avatar LuHistory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do item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Preço e descrição ficam como estavam no pedido.</a:t>
            </a:r>
            <a:endParaRPr lang="en-US" sz="1400" dirty="0"/>
          </a:p>
        </p:txBody>
      </p:sp>
      <p:sp>
        <p:nvSpPr>
          <p:cNvPr id="14" name="Avatar LuPanelsTopLeft"/>
          <p:cNvSpPr/>
          <p:nvPr/>
        </p:nvSpPr>
        <p:spPr>
          <a:xfrm>
            <a:off x="8046720" y="35204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PanelsTop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61919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4838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Object Page própria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8039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Item no encerramento do pedido.</a:t>
            </a:r>
            <a:endParaRPr lang="en-US" sz="1400" dirty="0"/>
          </a:p>
        </p:txBody>
      </p:sp>
      <p:sp>
        <p:nvSpPr>
          <p:cNvPr id="18" name="Avatar LuLink"/>
          <p:cNvSpPr/>
          <p:nvPr/>
        </p:nvSpPr>
        <p:spPr>
          <a:xfrm>
            <a:off x="8046720" y="44348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53359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3982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Navegação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47183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Item e SKU abrem a Gestão de Estoque.</a:t>
            </a:r>
            <a:endParaRPr lang="en-US" sz="1400" dirty="0"/>
          </a:p>
        </p:txBody>
      </p:sp>
      <p:sp>
        <p:nvSpPr>
          <p:cNvPr id="22" name="Avatar LuDatabase"/>
          <p:cNvSpPr/>
          <p:nvPr/>
        </p:nvSpPr>
        <p:spPr>
          <a:xfrm>
            <a:off x="8046720" y="53492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3" name="Image 3" descr="Lu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5475" y="5447995"/>
            <a:ext cx="213970" cy="21397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86800" y="53126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686800" y="5632704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77 linhas congeladas.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Reembolsos: solicitação e decisão (1/2)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3127248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UUID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(cuid)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Cópia do número (chave semântica)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cliente_ID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Clientes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Pendente, aprovado ou rejeitado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statusPedidoAnterior_code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Association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Restaurado se rejeitado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Moeda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Decimal(15,2)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 total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pedidoscompras_Reembolsos</a:t>
            </a:r>
            <a:endParaRPr lang="en-US" sz="1100" dirty="0"/>
          </a:p>
        </p:txBody>
      </p:sp>
      <p:sp>
        <p:nvSpPr>
          <p:cNvPr id="10" name="Avatar LuUndo2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Undo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Nasce no cancelamento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cancelarPedido com pagamento aprovado cria a linha.</a:t>
            </a:r>
            <a:endParaRPr lang="en-US" sz="1400" dirty="0"/>
          </a:p>
        </p:txBody>
      </p:sp>
      <p:sp>
        <p:nvSpPr>
          <p:cNvPr id="14" name="Avatar LuHistory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anterior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Permite retomar o pedido na rejeição.</a:t>
            </a:r>
            <a:endParaRPr lang="en-US" sz="1400" dirty="0"/>
          </a:p>
        </p:txBody>
      </p:sp>
      <p:sp>
        <p:nvSpPr>
          <p:cNvPr id="18" name="Avatar LuDatabase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Demonstração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10 solicitações.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TABELA 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Reembolsos: solicitação e decisão (2/2)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223760" cy="2816352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858000" cy="914400"/>
        </p:xfrm>
        <a:graphic>
          <a:graphicData uri="http://schemas.openxmlformats.org/drawingml/2006/table">
            <a:tbl>
              <a:tblPr/>
              <a:tblGrid>
                <a:gridCol w="2343873"/>
                <a:gridCol w="1562582"/>
                <a:gridCol w="29515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Motivo do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dataSolicitacao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foi solicitado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solicitadoPor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Quem cancelou 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motivoDecisao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String(500)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Obrigatório para rejeitar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dataDecisao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Quando foi decidido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decididoPor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Quem aprovou ou rejeitou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createdAt … modifiedBy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managed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Auditoria da solicitação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46720" y="1536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TABELA NO BANCO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046720" y="1828800"/>
            <a:ext cx="359359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pedidoscompras_Reembolsos</a:t>
            </a:r>
            <a:endParaRPr lang="en-US" sz="1100" dirty="0"/>
          </a:p>
        </p:txBody>
      </p:sp>
      <p:sp>
        <p:nvSpPr>
          <p:cNvPr id="10" name="Avatar LuUsers"/>
          <p:cNvSpPr/>
          <p:nvPr/>
        </p:nvSpPr>
        <p:spPr>
          <a:xfrm>
            <a:off x="804672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547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6946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Quem e quando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686800" y="288950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Solicitação e decisão guardam usuário e data.</a:t>
            </a:r>
            <a:endParaRPr lang="en-US" sz="1400" dirty="0"/>
          </a:p>
        </p:txBody>
      </p:sp>
      <p:sp>
        <p:nvSpPr>
          <p:cNvPr id="14" name="Avatar LuShieldCheck"/>
          <p:cNvSpPr/>
          <p:nvPr/>
        </p:nvSpPr>
        <p:spPr>
          <a:xfrm>
            <a:off x="8046720" y="37033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475" y="38020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66674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Decisão única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686800" y="398678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UPDATE condicional a PENDENTE.</a:t>
            </a:r>
            <a:endParaRPr lang="en-US" sz="1400" dirty="0"/>
          </a:p>
        </p:txBody>
      </p:sp>
      <p:sp>
        <p:nvSpPr>
          <p:cNvPr id="18" name="Avatar LuEyeOff"/>
          <p:cNvSpPr/>
          <p:nvPr/>
        </p:nvSpPr>
        <p:spPr>
          <a:xfrm>
            <a:off x="8046720" y="480060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75" y="4899355"/>
            <a:ext cx="213970" cy="21397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47640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Somente leitura na UI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686800" y="5084064"/>
            <a:ext cx="29535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Só as actions alteram a solicitação.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NUMERAÇÃO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Numeracoes: sequenciais sem buracos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86400" cy="1261872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120640" cy="914400"/>
        </p:xfrm>
        <a:graphic>
          <a:graphicData uri="http://schemas.openxmlformats.org/drawingml/2006/table">
            <a:tbl>
              <a:tblPr/>
              <a:tblGrid>
                <a:gridCol w="1750092"/>
                <a:gridCol w="1166728"/>
                <a:gridCol w="22038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objeto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String(20)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Chave: PEDIDO ou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ultimoNumero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Integer64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Último número emitido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3017520"/>
            <a:ext cx="5486400" cy="1426464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60220"/>
                <a:gridCol w="20802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objeto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CSV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Próximo valor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0000000101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SKU-ELE-0000000101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Bloco de código"/>
          <p:cNvSpPr/>
          <p:nvPr/>
        </p:nvSpPr>
        <p:spPr>
          <a:xfrm>
            <a:off x="6263640" y="1554480"/>
            <a:ext cx="5376672" cy="20574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6492240" y="1737360"/>
            <a:ext cx="49194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srv/lib/numeracao.js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'ultimoNumero = ultimoNumero + 1'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548640" y="457200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4572000"/>
            <a:ext cx="10680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que funciona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UPDATE bloqueia a linha até o commit: Saves concorrentes ficam em fila e um Save que falha desfaz o número.</a:t>
            </a:r>
            <a:endParaRPr lang="en-US" sz="1400" dirty="0"/>
          </a:p>
        </p:txBody>
      </p:sp>
      <p:sp>
        <p:nvSpPr>
          <p:cNvPr id="13" name="Cartão"/>
          <p:cNvSpPr/>
          <p:nvPr/>
        </p:nvSpPr>
        <p:spPr>
          <a:xfrm>
            <a:off x="548640" y="5623560"/>
            <a:ext cx="11091672" cy="457200"/>
          </a:xfrm>
          <a:prstGeom prst="roundRect">
            <a:avLst>
              <a:gd name="adj" fmla="val 24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" y="5623560"/>
            <a:ext cx="1068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Sem chave UUID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chave é o próprio objeto (key objeto), sem cuid nem managed.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CodeLists de status e sua criticidade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452628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StatusPedido</a:t>
            </a:r>
            <a:endParaRPr lang="en-US" sz="1500" dirty="0"/>
          </a:p>
        </p:txBody>
      </p:sp>
      <p:sp>
        <p:nvSpPr>
          <p:cNvPr id="7" name="Status Aberto"/>
          <p:cNvSpPr txBox="1"/>
          <p:nvPr/>
        </p:nvSpPr>
        <p:spPr>
          <a:xfrm>
            <a:off x="731520" y="224028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EAECEE"/>
          </a:solidFill>
          <a:ln w="9525">
            <a:solidFill>
              <a:srgbClr val="556B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Aberto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51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000" dirty="0"/>
          </a:p>
        </p:txBody>
      </p:sp>
      <p:sp>
        <p:nvSpPr>
          <p:cNvPr id="9" name="Status Aguardando aprovação"/>
          <p:cNvSpPr txBox="1"/>
          <p:nvPr/>
        </p:nvSpPr>
        <p:spPr>
          <a:xfrm>
            <a:off x="731520" y="297180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Aguardando aprovação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282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000" dirty="0"/>
          </a:p>
        </p:txBody>
      </p:sp>
      <p:sp>
        <p:nvSpPr>
          <p:cNvPr id="11" name="Status Processando reembolso"/>
          <p:cNvSpPr txBox="1"/>
          <p:nvPr/>
        </p:nvSpPr>
        <p:spPr>
          <a:xfrm>
            <a:off x="731520" y="370332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Processando reembolso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014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000" dirty="0"/>
          </a:p>
        </p:txBody>
      </p:sp>
      <p:sp>
        <p:nvSpPr>
          <p:cNvPr id="13" name="Status Cancelado"/>
          <p:cNvSpPr txBox="1"/>
          <p:nvPr/>
        </p:nvSpPr>
        <p:spPr>
          <a:xfrm>
            <a:off x="731520" y="443484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Cancelado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745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000" dirty="0"/>
          </a:p>
        </p:txBody>
      </p:sp>
      <p:sp>
        <p:nvSpPr>
          <p:cNvPr id="15" name="Status Finalizado"/>
          <p:cNvSpPr txBox="1"/>
          <p:nvPr/>
        </p:nvSpPr>
        <p:spPr>
          <a:xfrm>
            <a:off x="731520" y="516636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Finalizado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4772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000" dirty="0"/>
          </a:p>
        </p:txBody>
      </p:sp>
      <p:sp>
        <p:nvSpPr>
          <p:cNvPr id="17" name="Cartão"/>
          <p:cNvSpPr/>
          <p:nvPr/>
        </p:nvSpPr>
        <p:spPr>
          <a:xfrm>
            <a:off x="3364992" y="1554480"/>
            <a:ext cx="2642616" cy="452628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547872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StatusPagamento</a:t>
            </a:r>
            <a:endParaRPr lang="en-US" sz="1500" dirty="0"/>
          </a:p>
        </p:txBody>
      </p:sp>
      <p:sp>
        <p:nvSpPr>
          <p:cNvPr id="19" name="Status Pendente"/>
          <p:cNvSpPr txBox="1"/>
          <p:nvPr/>
        </p:nvSpPr>
        <p:spPr>
          <a:xfrm>
            <a:off x="3547872" y="224028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3547872" y="2551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00" dirty="0"/>
          </a:p>
        </p:txBody>
      </p:sp>
      <p:sp>
        <p:nvSpPr>
          <p:cNvPr id="21" name="Status Aprovado"/>
          <p:cNvSpPr txBox="1"/>
          <p:nvPr/>
        </p:nvSpPr>
        <p:spPr>
          <a:xfrm>
            <a:off x="3547872" y="297180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Aprovado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547872" y="3282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00" dirty="0"/>
          </a:p>
        </p:txBody>
      </p:sp>
      <p:sp>
        <p:nvSpPr>
          <p:cNvPr id="23" name="Status Recusado"/>
          <p:cNvSpPr txBox="1"/>
          <p:nvPr/>
        </p:nvSpPr>
        <p:spPr>
          <a:xfrm>
            <a:off x="3547872" y="370332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Recusado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547872" y="4014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00" dirty="0"/>
          </a:p>
        </p:txBody>
      </p:sp>
      <p:sp>
        <p:nvSpPr>
          <p:cNvPr id="25" name="Status Devolvido"/>
          <p:cNvSpPr txBox="1"/>
          <p:nvPr/>
        </p:nvSpPr>
        <p:spPr>
          <a:xfrm>
            <a:off x="3547872" y="443484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EAECEE"/>
          </a:solidFill>
          <a:ln w="9525">
            <a:solidFill>
              <a:srgbClr val="556B8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Devolvido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3547872" y="4745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00" dirty="0"/>
          </a:p>
        </p:txBody>
      </p:sp>
      <p:sp>
        <p:nvSpPr>
          <p:cNvPr id="27" name="Cartão"/>
          <p:cNvSpPr/>
          <p:nvPr/>
        </p:nvSpPr>
        <p:spPr>
          <a:xfrm>
            <a:off x="6181344" y="1554480"/>
            <a:ext cx="2642616" cy="452628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64224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StatusReembolso</a:t>
            </a:r>
            <a:endParaRPr lang="en-US" sz="1500" dirty="0"/>
          </a:p>
        </p:txBody>
      </p:sp>
      <p:sp>
        <p:nvSpPr>
          <p:cNvPr id="29" name="Status Pendente"/>
          <p:cNvSpPr txBox="1"/>
          <p:nvPr/>
        </p:nvSpPr>
        <p:spPr>
          <a:xfrm>
            <a:off x="6364224" y="224028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364224" y="2551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00" dirty="0"/>
          </a:p>
        </p:txBody>
      </p:sp>
      <p:sp>
        <p:nvSpPr>
          <p:cNvPr id="31" name="Status Aprovado"/>
          <p:cNvSpPr txBox="1"/>
          <p:nvPr/>
        </p:nvSpPr>
        <p:spPr>
          <a:xfrm>
            <a:off x="6364224" y="297180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Aprovado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364224" y="3282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00" dirty="0"/>
          </a:p>
        </p:txBody>
      </p:sp>
      <p:sp>
        <p:nvSpPr>
          <p:cNvPr id="33" name="Status Rejeitado"/>
          <p:cNvSpPr txBox="1"/>
          <p:nvPr/>
        </p:nvSpPr>
        <p:spPr>
          <a:xfrm>
            <a:off x="6364224" y="370332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Rejeitado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364224" y="4014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REJEITADO</a:t>
            </a:r>
            <a:endParaRPr lang="en-US" sz="1000" dirty="0"/>
          </a:p>
        </p:txBody>
      </p:sp>
      <p:sp>
        <p:nvSpPr>
          <p:cNvPr id="35" name="Cartão"/>
          <p:cNvSpPr/>
          <p:nvPr/>
        </p:nvSpPr>
        <p:spPr>
          <a:xfrm>
            <a:off x="8997696" y="1554480"/>
            <a:ext cx="2642616" cy="452628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180576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StatusEstoque</a:t>
            </a:r>
            <a:endParaRPr lang="en-US" sz="1500" dirty="0"/>
          </a:p>
        </p:txBody>
      </p:sp>
      <p:sp>
        <p:nvSpPr>
          <p:cNvPr id="37" name="Status Sem estoque"/>
          <p:cNvSpPr txBox="1"/>
          <p:nvPr/>
        </p:nvSpPr>
        <p:spPr>
          <a:xfrm>
            <a:off x="9180576" y="224028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Sem estoque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9180576" y="2551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SEM_ESTOQUE</a:t>
            </a:r>
            <a:endParaRPr lang="en-US" sz="1000" dirty="0"/>
          </a:p>
        </p:txBody>
      </p:sp>
      <p:sp>
        <p:nvSpPr>
          <p:cNvPr id="39" name="Status Acabando"/>
          <p:cNvSpPr txBox="1"/>
          <p:nvPr/>
        </p:nvSpPr>
        <p:spPr>
          <a:xfrm>
            <a:off x="9180576" y="297180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Acabando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9180576" y="3282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ACABANDO</a:t>
            </a:r>
            <a:endParaRPr lang="en-US" sz="1000" dirty="0"/>
          </a:p>
        </p:txBody>
      </p:sp>
      <p:sp>
        <p:nvSpPr>
          <p:cNvPr id="41" name="Status Em estoque"/>
          <p:cNvSpPr txBox="1"/>
          <p:nvPr/>
        </p:nvSpPr>
        <p:spPr>
          <a:xfrm>
            <a:off x="9180576" y="3703320"/>
            <a:ext cx="22402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Em estoque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9180576" y="4014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CodeLists de classificação e moedas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352044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9456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MASCULINO · Masculino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FEMININO · Feminino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NAO_BINARIO · Não binário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OUTRO · Outro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NAO_INFORMADO · Prefiro não informar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3364992" y="1554480"/>
            <a:ext cx="2642616" cy="352044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547872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Categorias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47872" y="219456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ELETRONICOS → SKU-ELE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INFORMATICA → SKU-INF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ESCRITORIO → SKU-ESC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CASA → SKU-CAS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VESTUARIO → SKU-VES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ALIMENTOS → SKU-ALI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OUTROS → SKU-OUT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6181344" y="1554480"/>
            <a:ext cx="2642616" cy="352044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364224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MetodosPagamento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64224" y="219456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CARTAO_CREDITO · Cartão de crédito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CARTAO_DEBITO · Cartão de débito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8997696" y="1554480"/>
            <a:ext cx="2642616" cy="3520440"/>
          </a:xfrm>
          <a:prstGeom prst="roundRect">
            <a:avLst>
              <a:gd name="adj" fmla="val 41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180576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sap_common_Currencies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180576" y="219456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BRL · R$ · Real brasileiro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USD · US$ · Dólar americano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EUR · € · Euro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548640" y="530352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03520"/>
            <a:ext cx="10680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Drop-down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Common.ValueListWithFixedValues transforma a CodeList em lista fixa; Common.Text mostra o nome no lugar do código.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Textos traduzíveis: tabelas _texts e views localized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20574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@sap/cds/common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localized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localized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gera, para cada CodeList: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pedidoscompras_StatusPedido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pedidoscompras_StatusPedido_texts   (por locale)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localized_pedidoscompras_StatusPedido   (view)</a:t>
            </a:r>
            <a:endParaRPr lang="en-US" sz="1200" dirty="0"/>
          </a:p>
        </p:txBody>
      </p:sp>
      <p:sp>
        <p:nvSpPr>
          <p:cNvPr id="7" name="Avatar LuGlobe"/>
          <p:cNvSpPr/>
          <p:nvPr/>
        </p:nvSpPr>
        <p:spPr>
          <a:xfrm>
            <a:off x="63550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Gl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40880" y="1609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texto por idioma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040880" y="1929384"/>
            <a:ext cx="4617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_texts tem chave (locale, code); o padrão do projeto é pt.</a:t>
            </a:r>
            <a:endParaRPr lang="en-US" sz="1400" dirty="0"/>
          </a:p>
        </p:txBody>
      </p:sp>
      <p:sp>
        <p:nvSpPr>
          <p:cNvPr id="11" name="Avatar LuSearch"/>
          <p:cNvSpPr/>
          <p:nvPr/>
        </p:nvSpPr>
        <p:spPr>
          <a:xfrm>
            <a:off x="6355080" y="2697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280720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40880" y="266090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View localized_*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040880" y="2980944"/>
            <a:ext cx="4617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Usa o texto do idioma do usuário e cai no padrão.</a:t>
            </a:r>
            <a:endParaRPr lang="en-US" sz="1400" dirty="0"/>
          </a:p>
        </p:txBody>
      </p:sp>
      <p:sp>
        <p:nvSpPr>
          <p:cNvPr id="15" name="Avatar LuListChecks"/>
          <p:cNvSpPr/>
          <p:nvPr/>
        </p:nvSpPr>
        <p:spPr>
          <a:xfrm>
            <a:off x="6355080" y="3749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385876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40880" y="371246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 tabelas _texts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040880" y="4032504"/>
            <a:ext cx="4617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7 CodeLists do domínio + Currencies.</a:t>
            </a:r>
            <a:endParaRPr lang="en-US" sz="140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7273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0" name="Avatar LuMessageSquare"/>
          <p:cNvSpPr/>
          <p:nvPr/>
        </p:nvSpPr>
        <p:spPr>
          <a:xfrm>
            <a:off x="731520" y="50977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1" name="Image 3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20750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71600" y="4572000"/>
            <a:ext cx="100858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UI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Common.Text: statusPedido.name com TextArrangement #TextOnly mostra "Aguardando aprovação" no lugar do código AGUARDANDO_APROVACAO.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MODELAGEM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 e endereços: composição e associação filtrada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731520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01000" y="16550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cuid + managed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97510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Chave UUID e createdAt/By, modifiedAt/By preenchidos pelo CAP.</a:t>
            </a:r>
            <a:endParaRPr lang="en-US" sz="1400" dirty="0"/>
          </a:p>
        </p:txBody>
      </p:sp>
      <p:sp>
        <p:nvSpPr>
          <p:cNvPr id="11" name="Avatar LuLayers"/>
          <p:cNvSpPr/>
          <p:nvPr/>
        </p:nvSpPr>
        <p:spPr>
          <a:xfrm>
            <a:off x="731520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275234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Composition of many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307238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Endereços pertencem ao cliente: criados, editados e excluídos com ele.</a:t>
            </a:r>
            <a:endParaRPr lang="en-US" sz="1400" dirty="0"/>
          </a:p>
        </p:txBody>
      </p:sp>
      <p:sp>
        <p:nvSpPr>
          <p:cNvPr id="15" name="Avatar LuFilter"/>
          <p:cNvSpPr/>
          <p:nvPr/>
        </p:nvSpPr>
        <p:spPr>
          <a:xfrm>
            <a:off x="731520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01000" y="384962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Associação com condição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01000" y="416966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enderecoPrincipal aponta só para o endereço com principal = true.</a:t>
            </a:r>
            <a:endParaRPr lang="en-US" sz="1400" dirty="0"/>
          </a:p>
        </p:txBody>
      </p:sp>
      <p:sp>
        <p:nvSpPr>
          <p:cNvPr id="19" name="Avatar LuImage"/>
          <p:cNvSpPr/>
          <p:nvPr/>
        </p:nvSpPr>
        <p:spPr>
          <a:xfrm>
            <a:off x="731520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Im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01000" y="49469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Foto como mídia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01000" y="526694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LargeBinary com @Core.MediaType e tipos aceitos: JPEG, PNG e WebP.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CONCEITOS DE MODELAGEM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Elementos calculados: na leitura e armazenados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quareFunction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quareFun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Calculados na leitura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Expressão avaliada na consulta; nenhuma coluna na tabela.</a:t>
            </a:r>
            <a:endParaRPr lang="en-US" sz="1400" dirty="0"/>
          </a:p>
        </p:txBody>
      </p:sp>
      <p:sp>
        <p:nvSpPr>
          <p:cNvPr id="10" name="Bloco de código"/>
          <p:cNvSpPr/>
          <p:nvPr/>
        </p:nvSpPr>
        <p:spPr>
          <a:xfrm>
            <a:off x="822960" y="3017520"/>
            <a:ext cx="4892040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1" name="Código"/>
          <p:cNvSpPr txBox="1"/>
          <p:nvPr/>
        </p:nvSpPr>
        <p:spPr>
          <a:xfrm>
            <a:off x="1051560" y="320040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encerrado, naoFinalizado... (Pedidos)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199632" y="1600200"/>
            <a:ext cx="54406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Database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Armazenados (stored)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Coluna gerada pelo banco, recalculada a cada alteração.</a:t>
            </a:r>
            <a:endParaRPr lang="en-US" sz="1400" dirty="0"/>
          </a:p>
        </p:txBody>
      </p:sp>
      <p:sp>
        <p:nvSpPr>
          <p:cNvPr id="17" name="Bloco de código"/>
          <p:cNvSpPr/>
          <p:nvPr/>
        </p:nvSpPr>
        <p:spPr>
          <a:xfrm>
            <a:off x="6473952" y="3017520"/>
            <a:ext cx="4892040" cy="20574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8" name="Código"/>
          <p:cNvSpPr txBox="1"/>
          <p:nvPr/>
        </p:nvSpPr>
        <p:spPr>
          <a:xfrm>
            <a:off x="6702552" y="3200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'SEM_ESTOQUE'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'ACABANDO'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'EM_ESTOQUE'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9" name="Cartão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5532120"/>
            <a:ext cx="10680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Regra prática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stored quando o valor precisa ser filtrado, ordenado ou agregado pelo banco; senão, calcule na leitura.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MODELAGEM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Pedidos: composições, pagamento e histórico imutável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309360" cy="3581400"/>
          </a:xfrm>
          <a:prstGeom prst="roundRect">
            <a:avLst>
              <a:gd name="adj" fmla="val 30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852160" cy="3215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0000000042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PedidosClienteSnapshots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itensSnapshot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PedidosItensSnapshots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CreditCard"/>
          <p:cNvSpPr/>
          <p:nvPr/>
        </p:nvSpPr>
        <p:spPr>
          <a:xfrm>
            <a:off x="722376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09560" y="1655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 última tentativa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7510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guarda bandeira e últimos 4 dígitos; cartão, validade e CVV nunca.</a:t>
            </a:r>
            <a:endParaRPr lang="en-US" sz="1400" dirty="0"/>
          </a:p>
        </p:txBody>
      </p:sp>
      <p:sp>
        <p:nvSpPr>
          <p:cNvPr id="11" name="Avatar LuHistory"/>
          <p:cNvSpPr/>
          <p:nvPr/>
        </p:nvSpPr>
        <p:spPr>
          <a:xfrm>
            <a:off x="722376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09560" y="2752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no encerramento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09560" y="3072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Cliente, endereço e itens congelados ao finalizar ou cancelar o pedido.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722376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09560" y="3849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Numeracoes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09560" y="4169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Último número de PEDIDO e SKU, incrementado dentro da transação.</a:t>
            </a:r>
            <a:endParaRPr lang="en-US" sz="1400" dirty="0"/>
          </a:p>
        </p:txBody>
      </p:sp>
      <p:sp>
        <p:nvSpPr>
          <p:cNvPr id="19" name="Avatar LuUndo2"/>
          <p:cNvSpPr/>
          <p:nvPr/>
        </p:nvSpPr>
        <p:spPr>
          <a:xfrm>
            <a:off x="722376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09560" y="4946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09560" y="5266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Guarda o status anterior do pedido para restaurá-lo se rejeitado.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Unicidade e validações declarativas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532120" cy="2194560"/>
          </a:xfrm>
          <a:prstGeom prst="roundRect">
            <a:avLst>
              <a:gd name="adj" fmla="val 500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db/schema.cds: UNIQUE nas tabelas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@assert.unique.numeroPedido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@assert.unique.cepPorCliente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68580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2245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07822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no banco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9826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SKU, número do pedido e CEP por cliente.</a:t>
            </a:r>
            <a:endParaRPr lang="en-US" sz="1400" dirty="0"/>
          </a:p>
        </p:txBody>
      </p:sp>
      <p:sp>
        <p:nvSpPr>
          <p:cNvPr id="11" name="Avatar LuMessageSquare"/>
          <p:cNvSpPr/>
          <p:nvPr/>
        </p:nvSpPr>
        <p:spPr>
          <a:xfrm>
            <a:off x="68580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MessageSqu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5184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5038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35838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Códigos como EMAIL_INVALIDO vêm de _i18n/messages.properties.</a:t>
            </a:r>
            <a:endParaRPr lang="en-US" sz="1400" dirty="0"/>
          </a:p>
        </p:txBody>
      </p:sp>
      <p:sp>
        <p:nvSpPr>
          <p:cNvPr id="15" name="Bloco de código"/>
          <p:cNvSpPr/>
          <p:nvPr/>
        </p:nvSpPr>
        <p:spPr>
          <a:xfrm>
            <a:off x="6263640" y="1600200"/>
            <a:ext cx="5376672" cy="4480560"/>
          </a:xfrm>
          <a:prstGeom prst="roundRect">
            <a:avLst>
              <a:gd name="adj" fmla="val 244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6" name="Código"/>
          <p:cNvSpPr txBox="1"/>
          <p:nvPr/>
        </p:nvSpPr>
        <p:spPr>
          <a:xfrm>
            <a:off x="6492240" y="1783080"/>
            <a:ext cx="49194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srv/validacoes.cds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@assert.format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'^[a-z0-9._%+-]+@...$'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'EMAIL_INVALIDO'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$now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'DATA_NASCIMENTO_FUTURA'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'ITEM_QTDE_INVALIDA'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PERSISTÊNCIA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Dados iniciais e bancos por perfil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eSpreadsheet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7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CSV em db/data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e dados de demonstração gerados por npm run dados:demo.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Terminal"/>
          <p:cNvSpPr/>
          <p:nvPr/>
        </p:nvSpPr>
        <p:spPr>
          <a:xfrm>
            <a:off x="3639312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375" y="201058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39312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cds deploy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639312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Cria as tabelas, as colunas geradas e carrega os CSVs.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Database"/>
          <p:cNvSpPr/>
          <p:nvPr/>
        </p:nvSpPr>
        <p:spPr>
          <a:xfrm>
            <a:off x="6455664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27" y="2010583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55664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arquivo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455664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db.sqlite no perfil [development], mantido entre reinícios.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Cloud"/>
          <p:cNvSpPr/>
          <p:nvPr/>
        </p:nvSpPr>
        <p:spPr>
          <a:xfrm>
            <a:off x="9272016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5" name="Image 3" descr="LuClo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2010583"/>
            <a:ext cx="294803" cy="29480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72016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HANA Cloud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272016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Perfil [production] com @cap-js/hana e container HDI.</a:t>
            </a:r>
            <a:endParaRPr lang="en-US" sz="14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4251960"/>
            <a:ext cx="11091672" cy="1203960"/>
          </a:xfrm>
          <a:prstGeom prst="roundRect">
            <a:avLst>
              <a:gd name="adj" fmla="val 911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4434840"/>
            <a:ext cx="10634472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"requires"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"[development]"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"db"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"kind"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"sqlite"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"credentials"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"url"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"db.sqlite"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"[production]"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"db"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"hana"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testes: sempre SQLite em memória, sem tocar no db.sqlite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1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Domínio mapeado em quatro áreas: clientes, estoque, pedidos e reembolsos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Tipos semânticos e sete CodeLists com ordem e criticidade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26 tabelas ativas detalhadas campo a campo, e 9 de rascunho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Elementos calculados na leitura e colunas geradas (stored)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Unicidade e validações declarativas no próprio modelo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Dados de demonstração em CSV, SQLite local e HANA em produção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 V4: projeções, rascunho, actions e autorização sobre este modelo.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BUSINESS OBJECTS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cinco objetos de negócio do projeto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075688" cy="2240280"/>
          </a:xfrm>
          <a:prstGeom prst="roundRect">
            <a:avLst>
              <a:gd name="adj" fmla="val 5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ayers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aye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146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770632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Comum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154680"/>
            <a:ext cx="1709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Tipos, CodeLists, mensagens e utilitários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802636" y="1600200"/>
            <a:ext cx="2075688" cy="2240280"/>
          </a:xfrm>
          <a:prstGeom prst="roundRect">
            <a:avLst>
              <a:gd name="adj" fmla="val 5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Users"/>
          <p:cNvSpPr/>
          <p:nvPr/>
        </p:nvSpPr>
        <p:spPr>
          <a:xfrm>
            <a:off x="3031236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910" y="196047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31236" y="25146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BO 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3031236" y="2770632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31236" y="3154680"/>
            <a:ext cx="1709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Clientes, endereços e ViaCEP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5056632" y="1600200"/>
            <a:ext cx="2075688" cy="2240280"/>
          </a:xfrm>
          <a:prstGeom prst="roundRect">
            <a:avLst>
              <a:gd name="adj" fmla="val 5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Package"/>
          <p:cNvSpPr/>
          <p:nvPr/>
        </p:nvSpPr>
        <p:spPr>
          <a:xfrm>
            <a:off x="528523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06" y="1960474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285232" y="25146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BO 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5285232" y="2770632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285232" y="3154680"/>
            <a:ext cx="1709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Itens, SKU e saldo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7310628" y="1600200"/>
            <a:ext cx="2075688" cy="2240280"/>
          </a:xfrm>
          <a:prstGeom prst="roundRect">
            <a:avLst>
              <a:gd name="adj" fmla="val 5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ShoppingCart"/>
          <p:cNvSpPr/>
          <p:nvPr/>
        </p:nvSpPr>
        <p:spPr>
          <a:xfrm>
            <a:off x="753922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ShoppingC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0902" y="19604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39228" y="25146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BO 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539228" y="2770632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539228" y="3154680"/>
            <a:ext cx="1709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Pedido, itens, pagamento e histórico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9564624" y="1600200"/>
            <a:ext cx="2075688" cy="2240280"/>
          </a:xfrm>
          <a:prstGeom prst="roundRect">
            <a:avLst>
              <a:gd name="adj" fmla="val 5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Undo2"/>
          <p:cNvSpPr/>
          <p:nvPr/>
        </p:nvSpPr>
        <p:spPr>
          <a:xfrm>
            <a:off x="97932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Undo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4898" y="196047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793224" y="25146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BO 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9793224" y="2770632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Reembolsos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9793224" y="3154680"/>
            <a:ext cx="1709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Solicitação e decisão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CAMADAS PERCORRIDAS</a:t>
            </a:r>
            <a:endParaRPr lang="en-US" sz="1100" dirty="0"/>
          </a:p>
        </p:txBody>
      </p:sp>
      <p:sp>
        <p:nvSpPr>
          <p:cNvPr id="36" name="Status Modelo CDS"/>
          <p:cNvSpPr txBox="1"/>
          <p:nvPr/>
        </p:nvSpPr>
        <p:spPr>
          <a:xfrm>
            <a:off x="548640" y="440740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Modelo CDS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1920240" y="4343400"/>
            <a:ext cx="109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›</a:t>
            </a:r>
            <a:endParaRPr lang="en-US" sz="1600" dirty="0"/>
          </a:p>
        </p:txBody>
      </p:sp>
      <p:sp>
        <p:nvSpPr>
          <p:cNvPr id="38" name="Status Serviço OData"/>
          <p:cNvSpPr txBox="1"/>
          <p:nvPr/>
        </p:nvSpPr>
        <p:spPr>
          <a:xfrm>
            <a:off x="2084832" y="4407408"/>
            <a:ext cx="164592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Serviço OData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3730752" y="4343400"/>
            <a:ext cx="109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›</a:t>
            </a:r>
            <a:endParaRPr lang="en-US" sz="1600" dirty="0"/>
          </a:p>
        </p:txBody>
      </p:sp>
      <p:sp>
        <p:nvSpPr>
          <p:cNvPr id="40" name="Status Handlers e regras"/>
          <p:cNvSpPr txBox="1"/>
          <p:nvPr/>
        </p:nvSpPr>
        <p:spPr>
          <a:xfrm>
            <a:off x="3895344" y="4407408"/>
            <a:ext cx="201168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Handlers e regras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5907024" y="4343400"/>
            <a:ext cx="109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›</a:t>
            </a:r>
            <a:endParaRPr lang="en-US" sz="1600" dirty="0"/>
          </a:p>
        </p:txBody>
      </p:sp>
      <p:sp>
        <p:nvSpPr>
          <p:cNvPr id="42" name="Status UI Fiori"/>
          <p:cNvSpPr txBox="1"/>
          <p:nvPr/>
        </p:nvSpPr>
        <p:spPr>
          <a:xfrm>
            <a:off x="6071616" y="4407408"/>
            <a:ext cx="118872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UI Fiori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7260336" y="4343400"/>
            <a:ext cx="109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›</a:t>
            </a:r>
            <a:endParaRPr lang="en-US" sz="1600" dirty="0"/>
          </a:p>
        </p:txBody>
      </p:sp>
      <p:sp>
        <p:nvSpPr>
          <p:cNvPr id="44" name="Status Importação"/>
          <p:cNvSpPr txBox="1"/>
          <p:nvPr/>
        </p:nvSpPr>
        <p:spPr>
          <a:xfrm>
            <a:off x="7424928" y="440740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Importação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8796528" y="4343400"/>
            <a:ext cx="109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›</a:t>
            </a:r>
            <a:endParaRPr lang="en-US" sz="1600" dirty="0"/>
          </a:p>
        </p:txBody>
      </p:sp>
      <p:sp>
        <p:nvSpPr>
          <p:cNvPr id="46" name="Status Testes"/>
          <p:cNvSpPr txBox="1"/>
          <p:nvPr/>
        </p:nvSpPr>
        <p:spPr>
          <a:xfrm>
            <a:off x="8961120" y="4407408"/>
            <a:ext cx="100584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Testes</a:t>
            </a:r>
            <a:endParaRPr lang="en-US" sz="1000" dirty="0"/>
          </a:p>
        </p:txBody>
      </p:sp>
      <p:sp>
        <p:nvSpPr>
          <p:cNvPr id="47" name="Cartão"/>
          <p:cNvSpPr/>
          <p:nvPr/>
        </p:nvSpPr>
        <p:spPr>
          <a:xfrm>
            <a:off x="548640" y="49834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8" name="Avatar LuTarget"/>
          <p:cNvSpPr/>
          <p:nvPr/>
        </p:nvSpPr>
        <p:spPr>
          <a:xfrm>
            <a:off x="731520" y="5303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9" name="Image 5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5413248"/>
            <a:ext cx="237744" cy="23774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1371600" y="4983480"/>
            <a:ext cx="10085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Em cada etapa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seção por BO, nesta ordem: Comum, Clientes, Estoque, Pedidos e Reembolsos, do modelo CDS aos testes.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Tipos semânticos, as sete CodeLists com ordem e criticidade, textos traduzíveis e a tabela Numeracoes: a base que os quatro domínios compartilham.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db/common.cds: CodeLists com enum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886200"/>
          </a:xfrm>
          <a:prstGeom prst="roundRect">
            <a:avLst>
              <a:gd name="adj" fmla="val 282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CodeListOrdenada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Criticidade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CodeListOrdenada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indispon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StatusCep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Indisponivel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Avatar LuListChecks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enum no código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Valores conhecidos pelo modelo; @assert.target confere a FK.</a:t>
            </a:r>
            <a:endParaRPr lang="en-US" sz="1400" dirty="0"/>
          </a:p>
        </p:txBody>
      </p:sp>
      <p:sp>
        <p:nvSpPr>
          <p:cNvPr id="11" name="Avatar LuGauge"/>
          <p:cNvSpPr/>
          <p:nvPr/>
        </p:nvSpPr>
        <p:spPr>
          <a:xfrm>
            <a:off x="690372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Gau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066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criticality por linha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02666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cor vem do CSV: 1 negativa, 2 crítica, 3 positiva.</a:t>
            </a:r>
            <a:endParaRPr lang="en-US" sz="1400" dirty="0"/>
          </a:p>
        </p:txBody>
      </p:sp>
      <p:sp>
        <p:nvSpPr>
          <p:cNvPr id="15" name="Avatar LuArrowRight"/>
          <p:cNvSpPr/>
          <p:nvPr/>
        </p:nvSpPr>
        <p:spPr>
          <a:xfrm>
            <a:off x="690372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80390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ordem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12394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Define a sequência no drop-down e nas mensagens.</a:t>
            </a:r>
            <a:endParaRPr lang="en-US" sz="1400" dirty="0"/>
          </a:p>
        </p:txBody>
      </p:sp>
      <p:sp>
        <p:nvSpPr>
          <p:cNvPr id="19" name="Avatar LuCode"/>
          <p:cNvSpPr/>
          <p:nvPr/>
        </p:nvSpPr>
        <p:spPr>
          <a:xfrm>
            <a:off x="690372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4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589520" y="49011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Tipo com enum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589520" y="522122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StatusCep não é tabela: só um String(1) com valores nomeados.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As tabelas Clientes e Enderecos, a composição com associação filtrada para o endereço principal e a foto como mídia.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objetos do BO Clientes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1595590"/>
                <a:gridCol w="4964058"/>
                <a:gridCol w="416626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Objetos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Clientes, Enderecos, Generos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db/schema.cds · db/common.cds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@mandatory, @assert.format e @assert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srv/validacoes.cds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ClientesService: Clientes, Enderecos, Generos, CepsCadastrados, Permissoes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srv/clientes-service.cds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Rascunho, Save, exclusão, endereços, actions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srv/clientes-service.js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Regras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por CEP, ViaCEP, permissões,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srv/lib/enderecos · viacep · importacao-clientes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Gestão de Clientes (List Report e 2 Object Pages)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app/gestao-clientes/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100 clientes, 100 endereços, 5 gêneros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db/data/*.csv · docs/modelos-importacao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13 testes de serviço +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test/clientes.test · importacao.test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A tabela Itens: saldo físico, quantidade reservada e as colunas geradas pelo banco para o disponível e o status do estoque.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objetos do BO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1595590"/>
                <a:gridCol w="4964058"/>
                <a:gridCol w="416626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Objetos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Itens, Categorias, StatusEstoque, Currencies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db/schema.cds · db/common.cds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nome, categoria, moeda, preço e 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srv/validacoes.cds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EstoqueService: Itens, Categorias, StatusEstoque, Permissoes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srv/estoque-service.cds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Rascunho, SKU, inativação, foto, exclusão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srv/estoque-service.js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Regras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Numeração do SKU, movimentos,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srv/lib/numeracao · estoque · importacao-estoque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Gestão de Estoque e Análise de Itens do 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app/gestao-estoque · app/analise-estoque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100 itens em 7 categorias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db/data/pedidoscompras-Itens.csv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10 testes de serviço + importação + análise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test/estoque.test · importacao · analitico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item: saldo físico, reserva e colunas geradas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2926080"/>
          </a:xfrm>
          <a:prstGeom prst="roundRect">
            <a:avLst>
              <a:gd name="adj" fmla="val 375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812280" y="1554480"/>
            <a:ext cx="4828032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040880" y="1737360"/>
            <a:ext cx="4370832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srv/validacoes.cds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'ITEM_PRECO_INVALIDO'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'ITEM_QTDE_ESTOQUE_INVALIDA'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9" name="Avatar LuSquareFunction"/>
          <p:cNvSpPr/>
          <p:nvPr/>
        </p:nvSpPr>
        <p:spPr>
          <a:xfrm>
            <a:off x="6903720" y="4617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quareFun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47274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458114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sem handler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490118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SEM_ESTOQUE, ACABANDO ou EM_ESTOQUE pelo banco.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 agregado do pedido: cabeçalho, itens, pagamento e os snapshots do cliente e dos itens, todos ligados por composição.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objetos do BO Pedidos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1595590"/>
                <a:gridCol w="4786771"/>
                <a:gridCol w="434355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Objetos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Pedidos, ItensPedido, Pagamentos, 2 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db/schema.cds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PedidosService: Pedidos (draft), 3 actions, value helps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srv/pedidos-service.cds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Rascunho, Save, edição, ações e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srv/pedidos-service.js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Registro, reserva, pagamento, snapshots, transições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srv/lib/pedidos.js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Apoio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Estoque, numeração, cartão simulado,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srv/lib/estoque · numeracao · pagamento-simulado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 de Compras: List Report e 3 Object Pages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app/pedidos-compras/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Extensões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AcoesPedido, EfetuarPagamento, ImportarPlanilha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app/pedidos-compras/webapp/ext/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20 testes de serviço +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test/pedidos.test · importacao.test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agregado do pedido: quem grava cada parte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675888"/>
          </a:xfrm>
          <a:prstGeom prst="roundRect">
            <a:avLst>
              <a:gd name="adj" fmla="val 298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836605"/>
                <a:gridCol w="2038810"/>
                <a:gridCol w="3191180"/>
                <a:gridCol w="265931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Entidade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Relação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Quem grava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Quando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Raiz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Rascunho (cliente) + backend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Criação, registro e 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Composition many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Rascunho (item, qtde) + backend (preço)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Criação e edição em 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Composition one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efetuarPagamento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Cada tentativa (só a última fica)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PedidosClienteSnapshots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Composition one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aprovarPedido ·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 encerramento, uma vez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PedidosItensSnapshots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Composition many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aprovarPedido ·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 encerramento, uma vez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Association many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cancelarPedido (pago)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Abre a solicitação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Avatar LuShieldCheck"/>
          <p:cNvSpPr/>
          <p:nvPr/>
        </p:nvSpPr>
        <p:spPr>
          <a:xfrm>
            <a:off x="731520" y="54178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9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52754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5212080"/>
            <a:ext cx="10085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Regra de ouro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usuário informa apenas o cliente e os itens; número, status, preços, totais, endereço e pagamento vêm do backend.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A solicitação de reembolso: nasce no cancelamento de um pedido pago e guarda quem pediu, quem decidiu e o status anterior.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objetos do BO Reembolsos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1595590"/>
                <a:gridCol w="4786771"/>
                <a:gridCol w="434355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Objetos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Reembolsos, StatusReembolso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db/schema.cds · db/common.cds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ReembolsosService: lista @readonly e 2 actions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srv/reembolsos-service.cds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aprovarReembolso, rejeitarReembolso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srv/reembolsos-service.js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iniciarReembolso, cancelarPorReembolso, retomarPedido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srv/lib/pedidos.js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Gestão de Reembolsos (List Report e Object Page)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app/gestao-reembolsos/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Análise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ReembolsosAnalise e Análise de Pedidos de Reembolsos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srv/analitico-service.cds · app/analise-reembolsos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10 solicitações de demonstração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db/data/pedidoscompras-Reembolsos.csv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4 testes de serviço + análise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test/reembolsos.test · analitico.test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entidade Reembolsos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261360"/>
          </a:xfrm>
          <a:prstGeom prst="roundRect">
            <a:avLst>
              <a:gd name="adj" fmla="val 3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çã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Hash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numeroPedido copiado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929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Chave semântica da app e da navegação.</a:t>
            </a:r>
            <a:endParaRPr lang="en-US" sz="1400" dirty="0"/>
          </a:p>
        </p:txBody>
      </p:sp>
      <p:sp>
        <p:nvSpPr>
          <p:cNvPr id="11" name="Avatar LuHistory"/>
          <p:cNvSpPr/>
          <p:nvPr/>
        </p:nvSpPr>
        <p:spPr>
          <a:xfrm>
            <a:off x="726948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706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statusPedidoAnterior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3026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ABERTO ou AGUARDANDO_APROVACAO.</a:t>
            </a:r>
            <a:endParaRPr lang="en-US" sz="1400" dirty="0"/>
          </a:p>
        </p:txBody>
      </p:sp>
      <p:sp>
        <p:nvSpPr>
          <p:cNvPr id="15" name="Avatar LuUsers"/>
          <p:cNvSpPr/>
          <p:nvPr/>
        </p:nvSpPr>
        <p:spPr>
          <a:xfrm>
            <a:off x="726948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803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User do CAP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4123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solicitadoPor e decididoPor = req.user.id.</a:t>
            </a:r>
            <a:endParaRPr lang="en-US" sz="1400" dirty="0"/>
          </a:p>
        </p:txBody>
      </p:sp>
      <p:sp>
        <p:nvSpPr>
          <p:cNvPr id="19" name="Avatar LuListChecks"/>
          <p:cNvSpPr/>
          <p:nvPr/>
        </p:nvSpPr>
        <p:spPr>
          <a:xfrm>
            <a:off x="726948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9011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StatusReembolso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2122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PENDENTE (2) · APROVADO (3) · REJEITADO (1).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Projeto Pedidos de Compras em SAP CAP e SAP Fiori</dc:subject>
  <dc:creator>Adriano Bispo</dc:creator>
  <cp:lastModifiedBy>Adriano Bispo</cp:lastModifiedBy>
  <cp:revision>1</cp:revision>
  <dcterms:created xsi:type="dcterms:W3CDTF">2026-10-20T11:27:54Z</dcterms:created>
  <dcterms:modified xsi:type="dcterms:W3CDTF">2026-10-20T11:27:54Z</dcterms:modified>
</cp:coreProperties>
</file>