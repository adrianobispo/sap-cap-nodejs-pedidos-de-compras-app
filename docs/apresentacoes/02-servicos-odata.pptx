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6"/>
    <p:sldId id="279" r:id="rId30"/>
    <p:sldId id="280" r:id="rId31"/>
    <p:sldId id="272" r:id="rId18"/>
    <p:sldId id="273" r:id="rId19"/>
    <p:sldId id="281" r:id="rId32"/>
    <p:sldId id="265" r:id="rId11"/>
    <p:sldId id="282" r:id="rId33"/>
    <p:sldId id="283" r:id="rId34"/>
    <p:sldId id="271" r:id="rId17"/>
    <p:sldId id="284" r:id="rId35"/>
    <p:sldId id="266" r:id="rId12"/>
    <p:sldId id="285" r:id="rId36"/>
    <p:sldId id="286" r:id="rId37"/>
    <p:sldId id="267" r:id="rId13"/>
    <p:sldId id="287" r:id="rId38"/>
    <p:sldId id="268" r:id="rId14"/>
    <p:sldId id="288" r:id="rId39"/>
    <p:sldId id="269" r:id="rId15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0996cf6-9638-73e4-b10f-dbd955676d61}">
          <p14:sldIdLst>
            <p14:sldId id="256"/>
          </p14:sldIdLst>
        </p14:section>
        <p14:section name="Contexto" id="{df34b2e1-59fe-1f42-ead7-1d95d96165cb}">
          <p14:sldIdLst>
            <p14:sldId id="257"/>
          </p14:sldIdLst>
        </p14:section>
        <p14:section name="Arquitetura" id="{72c92518-27ab-9fbe-ea82-5b093226b5b0}">
          <p14:sldIdLst>
            <p14:sldId id="258"/>
            <p14:sldId id="259"/>
          </p14:sldIdLst>
        </p14:section>
        <p14:section name="Definição dos serviços" id="{89b021b5-f647-af65-85c1-455d4537bc2b}">
          <p14:sldIdLst>
            <p14:sldId id="260"/>
            <p14:sldId id="261"/>
            <p14:sldId id="262"/>
            <p14:sldId id="263"/>
            <p14:sldId id="264"/>
          </p14:sldIdLst>
        </p14:section>
        <p14:section name="Catálogo dos serviços" id="{fcd57e85-da16-cdd6-5fa9-312ea78443b7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utorização e validação" id="{d1246f6a-db5a-0346-e8e7-b1328063686b}">
          <p14:sldIdLst>
            <p14:sldId id="274"/>
            <p14:sldId id="275"/>
          </p14:sldIdLst>
        </p14:section>
        <p14:section name="Publicação local" id="{14e96e8e-d8ad-53ae-0caa-547c92ed4a97}">
          <p14:sldIdLst>
            <p14:sldId id="276"/>
            <p14:sldId id="277"/>
          </p14:sldIdLst>
        </p14:section>
        <p14:section name="Encerramento" id="{66ea5a5c-2e20-7428-dcfe-66313e6cdff6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2: o modelo CDS vira APIs OData V4 consumidas pelas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aplicação tem o seu serviço; regras que atravessam domínios ficam em srv/lib (etapa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geral: launchpad e apps SAPUI5 consomem os serviços OData do CAP, que usam srv/lib e o modelo CDS sobre SQLite ou HANA.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serviços. O AnaliticoService é somente leitura e atende às quatro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expor, achata dados de associações e esconde o que não deve sair do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anotação liga o rascunho: o CAP cria as tabelas _drafts e trata Editar, Salvar e Descartar. Os handlers se encaixam nos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são vinculadas à instância. OperationAvailable habilita o botão só no status certo; SideEffects recarrega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status do pedido e as ações que os movem. O reembolso aparece quando um pedido pago é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Entidades auxiliares expostas só para leitura: ajudas de valores e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Gestão de Clientes. Comum consulta; Admin altera 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Gestão de Estoque. Não expõe reserva, liberação nem baixa: só os pedidos movimentam o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app Pedidos de Compras: o pedido com rascunho e as entidades de apoio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Gestão de Reembolsos: lista somente leitura e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Camada analítica: quatro views com dimensões e medidas, consultadas com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do que o serviço declara, o CAP expõe destinos de composições e CodeLists (@cds.autoexpose). O compilador cria uma view por entidade exposta.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view com group by no serviço de clientes: lista cada CEP já validado uma única vez, com os dados do endereço.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papéis do @restrict não chegam às anotações de UI. O singleton informa à UI se o usuário só pode consultar.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assinatura nos três serviços de cadastro e pedidos. O arquivo chega em base64 e a resposta é um tipo estruturado.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@requires protege o serviço inteiro; @restrict define o que cada papel pode fazer em cada 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Validações simples são declarativas; as que dependem de algoritmo, de outros registros ou de serviços externos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comando sobe os serviços e as apps. O prewatch cria o db.sqlite na primeira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Fiori fazem estas chamadas por baixo dos panos. Os testes automatizados usam exatamente a mesma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objetos compartilhados pelos serviços: o retorno da importação e o formato das permissões.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Clientes com rascunho e endereços como composição; Comum só lê, Admin altera e importa.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Regras de formato ficam no CDS e valem no rascunho e no Save, sem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serviço expõe o cadastro do item, mas nenhuma operação que mexa na reserva.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Ninguém cria nem edita reembolsos pela API; as actions são o único caminho de escrita.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-5-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-17-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20-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OData V4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Expondo o modelo como serviços OData V4: projeções, rascunho, actions, autorização e publicação local.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Serviços OData V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publicamos o modelo como cinco serviços OData V4, um por aplicação, com rascunho, actions do ciclo de vida, value helps e autorização declarativa por papel.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da solução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2030431"/>
            <a:ext cx="6949440" cy="3665817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da solu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21871"/>
            <a:ext cx="6766560" cy="3482937"/>
          </a:xfrm>
          <a:prstGeom prst="rect">
            <a:avLst/>
          </a:prstGeom>
        </p:spPr>
      </p:pic>
      <p:sp>
        <p:nvSpPr>
          <p:cNvPr id="7" name="Avatar LuAppWindow"/>
          <p:cNvSpPr/>
          <p:nvPr/>
        </p:nvSpPr>
        <p:spPr>
          <a:xfrm>
            <a:off x="7818120" y="1783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App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89280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03920" y="17465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Front-end SAPUI5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503920" y="206654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Launchpad, 4 apps Fiori Elements e 4 apps freestyle de análise.</a:t>
            </a:r>
            <a:endParaRPr lang="en-US" sz="1400" dirty="0"/>
          </a:p>
        </p:txBody>
      </p:sp>
      <p:sp>
        <p:nvSpPr>
          <p:cNvPr id="11" name="Avatar LuServer"/>
          <p:cNvSpPr/>
          <p:nvPr/>
        </p:nvSpPr>
        <p:spPr>
          <a:xfrm>
            <a:off x="781812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9008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2843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503920" y="31638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serviço por app, servidos em /odata/v4/&lt;caminho&gt;.</a:t>
            </a:r>
            <a:endParaRPr lang="en-US" sz="1400" dirty="0"/>
          </a:p>
        </p:txBody>
      </p:sp>
      <p:sp>
        <p:nvSpPr>
          <p:cNvPr id="15" name="Avatar LuCodeXml"/>
          <p:cNvSpPr/>
          <p:nvPr/>
        </p:nvSpPr>
        <p:spPr>
          <a:xfrm>
            <a:off x="781812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CodeXm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08736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392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srv/lib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503920" y="426110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Regras de domínio compartilhadas, sempre na transação.</a:t>
            </a:r>
            <a:endParaRPr lang="en-US" sz="1400" dirty="0"/>
          </a:p>
        </p:txBody>
      </p:sp>
      <p:sp>
        <p:nvSpPr>
          <p:cNvPr id="19" name="Avatar LuDatabase"/>
          <p:cNvSpPr/>
          <p:nvPr/>
        </p:nvSpPr>
        <p:spPr>
          <a:xfrm>
            <a:off x="781812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518464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03920" y="5038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Persistência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503920" y="535838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SQLite no desenvolvimento, SAP HANA Cloud em produção.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serviço OData por aplicação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62675"/>
                <a:gridCol w="2145182"/>
                <a:gridCol w="3135267"/>
                <a:gridCol w="577549"/>
                <a:gridCol w="280523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 principais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Enderecos, CepsCadastrados,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definirEnderecoPrincipal,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Itens, Categorias, StatusEstoque,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Pedidos, ItensPedido, ClientesAtivos, ItensAtivos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efetuarPagamento, aprovarPedido, cancelarPedido,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 (somente leitura), 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aprovarReembolso, rejeitarReembolso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AnaliticoService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PedidosAnalise, ClientesAnalise, ItensAnalise, ReembolsosAnalise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 ($apply)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Anatomia de um serviço: projeções sobre o modelo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9224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0350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'../db/schema'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'authenticated-user'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@odata.draft.enabled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cpfClienteFormatado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semReembolso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Route"/>
          <p:cNvSpPr/>
          <p:nvPr/>
        </p:nvSpPr>
        <p:spPr>
          <a:xfrm>
            <a:off x="7406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5506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@path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97510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Define a URL: /odata/v4/pedidos.</a:t>
            </a:r>
            <a:endParaRPr lang="en-US" sz="1400" dirty="0"/>
          </a:p>
        </p:txBody>
      </p:sp>
      <p:sp>
        <p:nvSpPr>
          <p:cNvPr id="11" name="Avatar LuLink"/>
          <p:cNvSpPr/>
          <p:nvPr/>
        </p:nvSpPr>
        <p:spPr>
          <a:xfrm>
            <a:off x="7406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2440" y="2752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Campos achatados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92440" y="3072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Dados do cliente lidos pela associação, sem duplicar colunas.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406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92440" y="3849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excluding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92440" y="4169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Remove do serviço o que a app não deve navegar.</a:t>
            </a:r>
            <a:endParaRPr lang="en-US" sz="1400" dirty="0"/>
          </a:p>
        </p:txBody>
      </p:sp>
      <p:sp>
        <p:nvSpPr>
          <p:cNvPr id="19" name="Avatar LuSquareFunction"/>
          <p:cNvSpPr/>
          <p:nvPr/>
        </p:nvSpPr>
        <p:spPr>
          <a:xfrm>
            <a:off x="7406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SquareFunc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92440" y="4946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Colunas calculadas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92440" y="5266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semReembolso controla a visibilidade de um link na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Rascunho (draft) com @odata.draft.enabled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931920" cy="448056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encil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en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que o CAP entrega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 &lt;Serviço&gt;_&lt;Entidade&gt;_drafts geradas automaticamente, bloqueio de edição por usuário, mensagens de validação durante a digitação e o Salvar que ativa o registro. Clientes (com endereços), Itens e Pedidos (com itens) usam rascunho.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709160" y="1600200"/>
            <a:ext cx="693115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737360"/>
          <a:ext cx="6565392" cy="914400"/>
        </p:xfrm>
        <a:graphic>
          <a:graphicData uri="http://schemas.openxmlformats.org/drawingml/2006/table">
            <a:tbl>
              <a:tblPr/>
              <a:tblGrid>
                <a:gridCol w="1681381"/>
                <a:gridCol w="2001644"/>
                <a:gridCol w="288236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Uso no projeto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Valores iniciais: status, moeda, score,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Endereço pelo CEP, preço e total dos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EDIT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entidade ativa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só é editado em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/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Salvar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Validações, SKU, registro e reserva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DISCARD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Recalcula o total ao excluir linha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Actions vinculadas ao ciclo de vida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766560" cy="4175760"/>
          </a:xfrm>
          <a:prstGeom prst="roundRect">
            <a:avLst>
              <a:gd name="adj" fmla="val 262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30936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OperationAvailable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7589520" y="1600200"/>
            <a:ext cx="4050792" cy="448056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638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Disponível quando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endParaRPr lang="en-US" sz="1400" dirty="0"/>
          </a:p>
        </p:txBody>
      </p:sp>
      <p:sp>
        <p:nvSpPr>
          <p:cNvPr id="10" name="Status ABERTO"/>
          <p:cNvSpPr txBox="1"/>
          <p:nvPr/>
        </p:nvSpPr>
        <p:spPr>
          <a:xfrm>
            <a:off x="7863840" y="2642616"/>
            <a:ext cx="903427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ABERTO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endParaRPr lang="en-US" sz="1400" dirty="0"/>
          </a:p>
        </p:txBody>
      </p:sp>
      <p:sp>
        <p:nvSpPr>
          <p:cNvPr id="12" name="Status AGUARDANDO_APROVACAO"/>
          <p:cNvSpPr txBox="1"/>
          <p:nvPr/>
        </p:nvSpPr>
        <p:spPr>
          <a:xfrm>
            <a:off x="7863840" y="337413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DAFDF5"/>
          </a:solidFill>
          <a:ln w="9525">
            <a:solidFill>
              <a:srgbClr val="047A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7A76"/>
                </a:solidFill>
              </a:rPr>
              <a:t>AGUARDANDO_APROVACAO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400" dirty="0"/>
          </a:p>
        </p:txBody>
      </p:sp>
      <p:sp>
        <p:nvSpPr>
          <p:cNvPr id="14" name="Status ABERTO ou AGUARDANDO"/>
          <p:cNvSpPr txBox="1"/>
          <p:nvPr/>
        </p:nvSpPr>
        <p:spPr>
          <a:xfrm>
            <a:off x="7863840" y="410565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ABERTO ou AGUARDANDO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400" dirty="0"/>
          </a:p>
        </p:txBody>
      </p:sp>
      <p:sp>
        <p:nvSpPr>
          <p:cNvPr id="16" name="Status Reembolso PENDENTE"/>
          <p:cNvSpPr txBox="1"/>
          <p:nvPr/>
        </p:nvSpPr>
        <p:spPr>
          <a:xfrm>
            <a:off x="7863840" y="483717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400" dirty="0"/>
          </a:p>
        </p:txBody>
      </p:sp>
      <p:sp>
        <p:nvSpPr>
          <p:cNvPr id="18" name="Status Reembolso PENDENTE"/>
          <p:cNvSpPr txBox="1"/>
          <p:nvPr/>
        </p:nvSpPr>
        <p:spPr>
          <a:xfrm>
            <a:off x="7863840" y="556869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As transições de status que as actions implementam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821980" y="1463040"/>
            <a:ext cx="8544992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Ciclo de vida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3420" y="1554480"/>
            <a:ext cx="8362112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Value helps e entidades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ClientesAtivos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Projeção com where clienteAtivo = true: só clientes ativos fazem pedidos.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ItensAtivos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ativos com SKU, preço e qtdeDisponivel para escolher no pedido.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MapPin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CepsCadastrados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registro por CEP já validado: escolher um evita nova chamada ao ViaCEP.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ShieldCheck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Permissoes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Singleton com somenteLeitura, que esconde botões na UI do perfil Comum.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ListChecks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CodeLists @readonly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StatusPedido, StatusPagamento, MetodosPagamento e demais: textos e filtros.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ock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Pagamentos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e snapshots são @readonly: só as actions os gravam.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CATÁLOGO DO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ClientesService · /odata/v4/clientes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346704"/>
          </a:xfrm>
          <a:prstGeom prst="roundRect">
            <a:avLst>
              <a:gd name="adj" fmla="val 327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db.Clientes + cidadePrincipal, ufPrincipal; excluding 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READ Comum · *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db.Enderecos; @cds.redirection.target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Draft (filho)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READ Comum · *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db.Generos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CepsCadastrados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db.Enderecos ... group by cep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aspect Permissoes; @odata.singleton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calculado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vinculada a Enderecos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Admin (via @restrict)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não vinculada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@requires: 'Admin'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Rascunho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Enderecos é composição de Clientes: entra no mesmo rascunho (ClientesService_Enderecos_drafts).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CATÁLOGO DO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EstoqueService · /odata/v4/estoque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962656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READ Comum · *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db.Categorias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db.StatusEstoque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Currencies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exposta automaticamente (associação currency)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@cds.autoexpose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aspect Permissoes; @odata.singleton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calculado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não vinculada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@requires: 'Admin'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desenho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movimentos de estoque são funções de srv/lib/estoque, chamadas só pelo domínio de pedidos.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CATÁLOGO DO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PedidosService · /odata/v4/pedidos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279392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projection + dados do cliente + semReembolso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Draft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* Comum e Admin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projection + item.sku as skuItem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Draft (filho)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Herdado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composição de Pedidos (exposta junto)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as actions gravam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PedidosClienteSnapshots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composição de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as actions gravam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PedidosItensSnapshots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composição de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as actions gravam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 · Enderecos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projeções com colunas escolhidas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Textos e value help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ClientesAtivos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projection on Clientes where clienteAtivo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Value help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 · ItensAtivos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projeções; ItensAtivos where itemAtivo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Value help do item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 · 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CodeLists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Filtros e textos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MetodosPagamento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CodeList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Diálogo de 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actions de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efetuarPagamento, aprovar e cancelar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* Comum e Admin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action não vinculada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Comum e Admin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CATÁLOGO DO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ReembolsosService · /odata/v4/reembolsos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962656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+ nomeCliente, cpfCliente, cpfClienteFormatado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* Comum e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db.StatusPedido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 anterior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Currencies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exposta automaticamente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@cds.autoexpose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vinculada; motivo opcional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Só se PENDENTE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vinculada; @mandatory motivoDecisao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Só se PENDENTE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Sem criação pela API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solicitação nasce no cancelamento do pedido pago, dentro do PedidosService.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AnaliticoService · /odata/v4/analitico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db.Pedidos (status, UF, mês)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db.Clientes (gênero, UF, faixa de score)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db.Itens (categoria, situação)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db.Reembolsos (status, motivo, mês)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Detalhes na etapa 5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medidas com @Aggregation.default e custom aggregates.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Entidades expostas automaticamente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788920"/>
          </a:xfrm>
          <a:prstGeom prst="roundRect">
            <a:avLst>
              <a:gd name="adj" fmla="val 393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views geradas para o PedidosService (cds compile)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PedidosService_ItensPedido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PedidosService_Pagamentos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composição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PedidosService_PedidosClienteSnapshots composição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PedidosService_PedidosItensSnapshots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composição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PedidosService_Generos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PedidosService_Categorias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PedidosService_Currencies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PedidosService_StatusEstoque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PedidosService_ClientesAtivos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PedidosService_ItensAtivos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PedidosService_DraftAdministrativeData</a:t>
            </a:r>
            <a:endParaRPr lang="en-US" sz="1200" dirty="0"/>
          </a:p>
        </p:txBody>
      </p:sp>
      <p:sp>
        <p:nvSpPr>
          <p:cNvPr id="7" name="Avatar LuLayers"/>
          <p:cNvSpPr/>
          <p:nvPr/>
        </p:nvSpPr>
        <p:spPr>
          <a:xfrm>
            <a:off x="65379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76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23760" y="1609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Composições vão junto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92938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Filhos de uma entidade exposta também são expostos.</a:t>
            </a:r>
            <a:endParaRPr lang="en-US" sz="1400" dirty="0"/>
          </a:p>
        </p:txBody>
      </p:sp>
      <p:sp>
        <p:nvSpPr>
          <p:cNvPr id="11" name="Avatar LuListChecks"/>
          <p:cNvSpPr/>
          <p:nvPr/>
        </p:nvSpPr>
        <p:spPr>
          <a:xfrm>
            <a:off x="653796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70662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CodeLists autoexpostas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23760" y="302666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Gênero do cliente e categoria do item chegam por associação.</a:t>
            </a:r>
            <a:endParaRPr lang="en-US" sz="1400" dirty="0"/>
          </a:p>
        </p:txBody>
      </p:sp>
      <p:sp>
        <p:nvSpPr>
          <p:cNvPr id="15" name="Avatar LuGlobe"/>
          <p:cNvSpPr/>
          <p:nvPr/>
        </p:nvSpPr>
        <p:spPr>
          <a:xfrm>
            <a:off x="653796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23760" y="380390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Views localized_*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223760" y="412394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Uma versão traduzida de cada view com textos.</a:t>
            </a:r>
            <a:endParaRPr lang="en-US" sz="1400" dirty="0"/>
          </a:p>
        </p:txBody>
      </p:sp>
      <p:sp>
        <p:nvSpPr>
          <p:cNvPr id="19" name="Avatar LuEyeOff"/>
          <p:cNvSpPr/>
          <p:nvPr/>
        </p:nvSpPr>
        <p:spPr>
          <a:xfrm>
            <a:off x="65379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223760" y="4901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Controle com @readonly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223760" y="522122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Annotate no serviço impede escrita pela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VALUE HELP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CepsCadastrados: uma view agregada como value help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185160"/>
          </a:xfrm>
          <a:prstGeom prst="roundRect">
            <a:avLst>
              <a:gd name="adj" fmla="val 344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CepsCadastrados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73152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01000" y="160934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key cep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92938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chave da view é o próprio CEP agrupado.</a:t>
            </a:r>
            <a:endParaRPr lang="en-US" sz="1400" dirty="0"/>
          </a:p>
        </p:txBody>
      </p:sp>
      <p:sp>
        <p:nvSpPr>
          <p:cNvPr id="11" name="Avatar LuFilter"/>
          <p:cNvSpPr/>
          <p:nvPr/>
        </p:nvSpPr>
        <p:spPr>
          <a:xfrm>
            <a:off x="731520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2706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CEPs confiáveis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302666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Validados (V) e que não são CEP geral.</a:t>
            </a:r>
            <a:endParaRPr lang="en-US" sz="1400" dirty="0"/>
          </a:p>
        </p:txBody>
      </p:sp>
      <p:sp>
        <p:nvSpPr>
          <p:cNvPr id="15" name="Avatar LuSearch"/>
          <p:cNvSpPr/>
          <p:nvPr/>
        </p:nvSpPr>
        <p:spPr>
          <a:xfrm>
            <a:off x="731520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01000" y="38039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Value help do CEP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01000" y="412394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Common.ValueList aponta para esta view.</a:t>
            </a:r>
            <a:endParaRPr lang="en-US" sz="1400" dirty="0"/>
          </a:p>
        </p:txBody>
      </p:sp>
      <p:sp>
        <p:nvSpPr>
          <p:cNvPr id="19" name="Avatar LuClock"/>
          <p:cNvSpPr/>
          <p:nvPr/>
        </p:nvSpPr>
        <p:spPr>
          <a:xfrm>
            <a:off x="73152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01000" y="49011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Menos chamadas externas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01000" y="52212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escolhido aqui não consulta o ViaCEP.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PERMISSÕES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Permissoes: um singleton calculado no handler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srv/common.cds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Bloco de código"/>
          <p:cNvSpPr/>
          <p:nvPr/>
        </p:nvSpPr>
        <p:spPr>
          <a:xfrm>
            <a:off x="548640" y="3108960"/>
            <a:ext cx="5486400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32918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srv/clientes-service.cds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@odata.singleton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@cds.persistence.skip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AspectoPermissoes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200" dirty="0"/>
          </a:p>
        </p:txBody>
      </p:sp>
      <p:sp>
        <p:nvSpPr>
          <p:cNvPr id="9" name="Bloco de código"/>
          <p:cNvSpPr/>
          <p:nvPr/>
        </p:nvSpPr>
        <p:spPr>
          <a:xfrm>
            <a:off x="6263640" y="1554480"/>
            <a:ext cx="5376672" cy="1691640"/>
          </a:xfrm>
          <a:prstGeom prst="roundRect">
            <a:avLst>
              <a:gd name="adj" fmla="val 64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6492240" y="1737360"/>
            <a:ext cx="4919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srv/lib/permissoes.js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permissoesDoUsuario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!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srv/clientes-service.js (e estoque)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permissoesDoUsuario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1" name="Avatar LuDatabase"/>
          <p:cNvSpPr/>
          <p:nvPr/>
        </p:nvSpPr>
        <p:spPr>
          <a:xfrm>
            <a:off x="6355080" y="3657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2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37673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36210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@cds.persistence.skip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394106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tabela: o valor é calculado a cada leitura.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6355080" y="4617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6" name="Image 1" descr="LuEyeO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472744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458114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Usado pela UI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490118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UI.CreateHidden, UpdateHidden e DeleteHidden por $edmJson.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importarPlanilha: action não vinculada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srv/common.cds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registrosCriados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 cada serviço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Clientes e Estoque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arquivo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LargeBinary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nomeArquivo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Cartão"/>
          <p:cNvSpPr/>
          <p:nvPr/>
        </p:nvSpPr>
        <p:spPr>
          <a:xfrm>
            <a:off x="7360920" y="1554480"/>
            <a:ext cx="4279392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691640"/>
          <a:ext cx="3913632" cy="914400"/>
        </p:xfrm>
        <a:graphic>
          <a:graphicData uri="http://schemas.openxmlformats.org/drawingml/2006/table">
            <a:tbl>
              <a:tblPr/>
              <a:tblGrid>
                <a:gridCol w="2041895"/>
                <a:gridCol w="187173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Quem importa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ClientesService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EstoqueService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PedidosService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Comum e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Bloco de código"/>
          <p:cNvSpPr/>
          <p:nvPr/>
        </p:nvSpPr>
        <p:spPr>
          <a:xfrm>
            <a:off x="7360920" y="3657600"/>
            <a:ext cx="4279392" cy="579120"/>
          </a:xfrm>
          <a:prstGeom prst="roundRect">
            <a:avLst>
              <a:gd name="adj" fmla="val 1894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7589520" y="3840480"/>
            <a:ext cx="3822192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/odata/v4/clientes/importarPlanilha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548640" y="46177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2" name="Avatar LuFileSpreadsheet"/>
          <p:cNvSpPr/>
          <p:nvPr/>
        </p:nvSpPr>
        <p:spPr>
          <a:xfrm>
            <a:off x="73152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3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52303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4617720"/>
            <a:ext cx="10085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vinculada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action pertence ao serviço, não a uma instância: a URL é /&lt;serviço&gt;/importarPlanilha e o handler é registrado com this.on('importarPlanilha', ...).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AUTORIZAÇÃO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Autorização declarativa por papel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58368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217920" cy="914400"/>
        </p:xfrm>
        <a:graphic>
          <a:graphicData uri="http://schemas.openxmlformats.org/drawingml/2006/table">
            <a:tbl>
              <a:tblPr/>
              <a:tblGrid>
                <a:gridCol w="2072640"/>
                <a:gridCol w="2418080"/>
                <a:gridCol w="1727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Recurso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Comum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 e endereços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Criar, pagar, aprovar, cancelar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 e rejeitar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406640" y="1600200"/>
            <a:ext cx="423367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635240" y="1783080"/>
            <a:ext cx="377647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ClientesService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406640" y="4846320"/>
            <a:ext cx="4233672" cy="1234440"/>
          </a:xfrm>
          <a:prstGeom prst="roundRect">
            <a:avLst>
              <a:gd name="adj" fmla="val 888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635240" y="4846320"/>
            <a:ext cx="38221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Desenvolvimento: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autenticação mocked com admin/admin e comum/comum. Produção: XSUAA (etapa 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cada validação acontece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istChecks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ist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Declarativas (CDS)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@mandatory: campos obrigatórios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@assert.format: e-mail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 com case: telefone, datas, quantidades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@assert.target: CodeList existente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@assert.unique: CPF, SKU, número, CEP</a:t>
            </a:r>
            <a:endParaRPr lang="en-US" sz="15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odeXml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Nos handlers (JS/TS)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Dígitos verificadores do CPF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CEP no ViaCEP e CEP único por cliente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Saldo de estoque e item ativo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permitido em cada action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Imagem por MIME, extensão e assinatura</a:t>
            </a:r>
            <a:endParaRPr lang="en-US" sz="1500" dirty="0"/>
          </a:p>
        </p:txBody>
      </p:sp>
      <p:sp>
        <p:nvSpPr>
          <p:cNvPr id="15" name="Cartão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6" name="Avatar LuMessageSquare"/>
          <p:cNvSpPr/>
          <p:nvPr/>
        </p:nvSpPr>
        <p:spPr>
          <a:xfrm>
            <a:off x="731520" y="53263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7" name="Image 2" descr="LuMessage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3610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502920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 linguagem de erro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@assert e req.error usam chaves de _i18n/messages.properties (ex.: ITEM_SEM_ESTOQUE), e o Fiori mostra o texto junto do campo.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 LOCAL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Publicando os serviços com cds watch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Terminal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Instala CAP e as 8 apps (workspaces)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Database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prewatch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593592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o db.sqlite com cds deploy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RefreshCw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Refresh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500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watch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9944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Serve e recarrega a cada mudança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Globe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86637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localhost:4004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226296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Serviços, $metadata e apps</a:t>
            </a:r>
            <a:endParaRPr lang="en-US" sz="13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3474720"/>
            <a:ext cx="5486400" cy="1996440"/>
          </a:xfrm>
          <a:prstGeom prst="roundRect">
            <a:avLst>
              <a:gd name="adj" fmla="val 549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3657600"/>
            <a:ext cx="5029200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nodejs-padrao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 nodejs-typescript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watch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serving PedidosService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at: ['/odata/v4/pedidos']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server listening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url: 'http://localhost:4004'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https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proxy 8443 -&gt; 4004</a:t>
            </a:r>
            <a:endParaRPr lang="en-US" sz="1300" dirty="0"/>
          </a:p>
        </p:txBody>
      </p:sp>
      <p:sp>
        <p:nvSpPr>
          <p:cNvPr id="30" name="Bloco de código"/>
          <p:cNvSpPr/>
          <p:nvPr/>
        </p:nvSpPr>
        <p:spPr>
          <a:xfrm>
            <a:off x="6263640" y="3474720"/>
            <a:ext cx="5376672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1" name="Código"/>
          <p:cNvSpPr txBox="1"/>
          <p:nvPr/>
        </p:nvSpPr>
        <p:spPr>
          <a:xfrm>
            <a:off x="6492240" y="3657600"/>
            <a:ext cx="4919472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$metadata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?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$expand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=itens,pagamento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/odata/v4/pedidos/Pedidos(ID=...,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IsActiveEntity=true)/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PedidosService.aprovarPedido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/launchpad.html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 tiles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 LOCAL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fluxo de rascunho pela API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949440" cy="2606040"/>
          </a:xfrm>
          <a:prstGeom prst="roundRect">
            <a:avLst>
              <a:gd name="adj" fmla="val 42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492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novo rascunho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/odata/v4/pedidos/Pedidos  {}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escolhe o cliente (PATCH no rascunho)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/odata/v4/pedidos/Pedidos(ID=&lt;id&gt;,IsActiveEntity=false)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"cliente_ID": "&lt;cliente&gt;"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inclui uma linha e informa item e quantidade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.../Pedidos(ID=&lt;id&gt;,IsActiveEntity=false)/itens  {}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.../ItensPedido(ID=&lt;linha&gt;,IsActiveEntity=false)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"item_ID": "&lt;item&gt;", "qtdeItemPedido": 2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Salvar: ativa o rascunho (registra e reserva)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.../Pedidos(ID=&lt;id&gt;,IsActiveEntity=false)/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PedidosService.draftActivate</a:t>
            </a:r>
            <a:endParaRPr lang="en-US" sz="1200" dirty="0"/>
          </a:p>
        </p:txBody>
      </p:sp>
      <p:sp>
        <p:nvSpPr>
          <p:cNvPr id="7" name="Avatar LuKeyRound"/>
          <p:cNvSpPr/>
          <p:nvPr/>
        </p:nvSpPr>
        <p:spPr>
          <a:xfrm>
            <a:off x="77724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458200" y="16093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IsActiveEntity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192938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Faz parte da chave: false é o rascunho, true o ativo.</a:t>
            </a:r>
            <a:endParaRPr lang="en-US" sz="1400" dirty="0"/>
          </a:p>
        </p:txBody>
      </p:sp>
      <p:sp>
        <p:nvSpPr>
          <p:cNvPr id="11" name="Avatar LuRefreshCw"/>
          <p:cNvSpPr/>
          <p:nvPr/>
        </p:nvSpPr>
        <p:spPr>
          <a:xfrm>
            <a:off x="777240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58200" y="27980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draftEdit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458200" y="311810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 um rascunho a partir do registro ativo.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777240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58200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draftActivate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458200" y="430682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Dispara CREATE ou UPDATE: é o Salvar.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Cinco serviços OData V4, um por aplicação, em /odata/v4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Catálogo completo: projeções, views, singleton e actions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Rascunho com uma anotação e eventos NEW, PATCH, EDIT e Salvar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com OperationAvailable e SideEffects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por papel com @requires e @restrict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Serviços publicados localmente com npm run watch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Lógica de negócio: handlers, srv/lib, estoque, concorrência e integrações.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Os tipos de srv/common.cds, o singleton Permissoes que a UI consulta e a action importarPlanilha dos serviços de gestão.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TIPOS DO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srv/common.cds: tipos do serviço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2377440"/>
          </a:xfrm>
          <a:prstGeom prst="roundRect">
            <a:avLst>
              <a:gd name="adj" fmla="val 46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registrosCriados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Bloco de código"/>
          <p:cNvSpPr/>
          <p:nvPr/>
        </p:nvSpPr>
        <p:spPr>
          <a:xfrm>
            <a:off x="6263640" y="1554480"/>
            <a:ext cx="5376672" cy="1691640"/>
          </a:xfrm>
          <a:prstGeom prst="roundRect">
            <a:avLst>
              <a:gd name="adj" fmla="val 64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492240" y="1737360"/>
            <a:ext cx="4919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AspectoPermissoes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'./common'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 ClientesService e EstoqueService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@odata.singleton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@cds.persistence.skip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AspectoPermissoes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200" dirty="0"/>
          </a:p>
        </p:txBody>
      </p:sp>
      <p:sp>
        <p:nvSpPr>
          <p:cNvPr id="9" name="Avatar LuFileSpreadsheet"/>
          <p:cNvSpPr/>
          <p:nvPr/>
        </p:nvSpPr>
        <p:spPr>
          <a:xfrm>
            <a:off x="68580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3159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16966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ResultadoImportacao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48970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Volta da action: quantos registros e a mensagem traduzida.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685800" y="5166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2760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512978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aspect, não entidade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544982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serviço cria o seu singleton a partir do aspect.</a:t>
            </a:r>
            <a:endParaRPr lang="en-US" sz="1400" dirty="0"/>
          </a:p>
        </p:txBody>
      </p:sp>
      <p:sp>
        <p:nvSpPr>
          <p:cNvPr id="17" name="Avatar LuEyeOff"/>
          <p:cNvSpPr/>
          <p:nvPr/>
        </p:nvSpPr>
        <p:spPr>
          <a:xfrm>
            <a:off x="635508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431596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04088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Lido pela UI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040880" y="448970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UI.CreateHidden/UpdateHidden/DeleteHidden com $edmJson.</a:t>
            </a:r>
            <a:endParaRPr lang="en-US" sz="1400" dirty="0"/>
          </a:p>
        </p:txBody>
      </p:sp>
      <p:sp>
        <p:nvSpPr>
          <p:cNvPr id="21" name="Avatar LuCodeXml"/>
          <p:cNvSpPr/>
          <p:nvPr/>
        </p:nvSpPr>
        <p:spPr>
          <a:xfrm>
            <a:off x="6355080" y="5166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CodeXm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527608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40880" y="51297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permissoes.js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040880" y="544982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somenteLeitura = !req.user.is('Admin').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ClientesService: clientes e endereços no mesmo rascunho, as validações declarativas e a value help de CEPs cadastrados.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ClientesService: o que o BO expõe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4434840"/>
          </a:xfrm>
          <a:prstGeom prst="roundRect">
            <a:avLst>
              <a:gd name="adj" fmla="val 24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'authenticated-user'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ClientesService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@odata.draft.enabled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cidadePrincipal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@cds.redirection.target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definirEnderecoPrincipal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CepsCadastrados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@odata.singleton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@cds.persistence.skip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AspectoPermissoes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LargeBinary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MapPin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Map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Cidade e UF na lista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92938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Lidas do endereço principal pela associação filtrada.</a:t>
            </a:r>
            <a:endParaRPr lang="en-US" sz="1400" dirty="0"/>
          </a:p>
        </p:txBody>
      </p:sp>
      <p:sp>
        <p:nvSpPr>
          <p:cNvPr id="11" name="Avatar LuEyeOff"/>
          <p:cNvSpPr/>
          <p:nvPr/>
        </p:nvSpPr>
        <p:spPr>
          <a:xfrm>
            <a:off x="726948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798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excluding pedidos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311810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app de clientes não navega para pedidos.</a:t>
            </a:r>
            <a:endParaRPr lang="en-US" sz="1400" dirty="0"/>
          </a:p>
        </p:txBody>
      </p:sp>
      <p:sp>
        <p:nvSpPr>
          <p:cNvPr id="15" name="Avatar LuTarget"/>
          <p:cNvSpPr/>
          <p:nvPr/>
        </p:nvSpPr>
        <p:spPr>
          <a:xfrm>
            <a:off x="726948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Targ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9867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@cds.redirection.target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430682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Enderecos é o alvo padrão das associações no serviço.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VALIDAÇÕES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Validações declarativas do cliente e do endereço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596640"/>
          </a:xfrm>
          <a:prstGeom prst="roundRect">
            <a:avLst>
              <a:gd name="adj" fmla="val 305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323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@assert.format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'^[a-z0-9._%+-]+@[a-z0-9-]+(\.[a-z0-9-]+)*\.[a-z]{2,}$'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'EMAIL_INVALIDO'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'TELEFONE_INVALIDO'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$now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'DATA_NASCIMENTO_FUTURA'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@assert.target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@mandatory.message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'ENDERECO_NUMERO_OBRIGATORIO'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Avatar LuListChecks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Formato no CDS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929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E-mail, telefone e data validados pelo CAP.</a:t>
            </a:r>
            <a:endParaRPr lang="en-US" sz="1400" dirty="0"/>
          </a:p>
        </p:txBody>
      </p:sp>
      <p:sp>
        <p:nvSpPr>
          <p:cNvPr id="11" name="Avatar LuCodeXml"/>
          <p:cNvSpPr/>
          <p:nvPr/>
        </p:nvSpPr>
        <p:spPr>
          <a:xfrm>
            <a:off x="726948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706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Algoritmo no handler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3026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Dígitos do CPF e duplicidade ficam no Save.</a:t>
            </a:r>
            <a:endParaRPr lang="en-US" sz="1400" dirty="0"/>
          </a:p>
        </p:txBody>
      </p:sp>
      <p:sp>
        <p:nvSpPr>
          <p:cNvPr id="15" name="Avatar LuLink"/>
          <p:cNvSpPr/>
          <p:nvPr/>
        </p:nvSpPr>
        <p:spPr>
          <a:xfrm>
            <a:off x="726948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803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@assert.target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4123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gênero precisa existir na CodeList.</a:t>
            </a:r>
            <a:endParaRPr lang="en-US" sz="1400" dirty="0"/>
          </a:p>
        </p:txBody>
      </p:sp>
      <p:sp>
        <p:nvSpPr>
          <p:cNvPr id="19" name="Avatar LuMessageSquare"/>
          <p:cNvSpPr/>
          <p:nvPr/>
        </p:nvSpPr>
        <p:spPr>
          <a:xfrm>
            <a:off x="726948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9011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próprias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2122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Chaves do _i18n, mostradas no campo.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EstoqueService: o item com rascunho e o que fica de fora de propósito. Reserva, liberação e baixa não viram actions.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EstoqueService: o que fica de fora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4434840"/>
          </a:xfrm>
          <a:prstGeom prst="roundRect">
            <a:avLst>
              <a:gd name="adj" fmla="val 24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çã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expostas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'estoque'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'authenticated-user'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EstoqueService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@odata.draft.enabled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@odata.singleton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@cds.persistence.skip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AspectoPermissoes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LargeBinary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nomeArquivo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Lock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reservar/baixar na API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Ninguém altera a reserva chamando o EstoqueService.</a:t>
            </a:r>
            <a:endParaRPr lang="en-US" sz="1400" dirty="0"/>
          </a:p>
        </p:txBody>
      </p:sp>
      <p:sp>
        <p:nvSpPr>
          <p:cNvPr id="11" name="Avatar LuArrowRightLeft"/>
          <p:cNvSpPr/>
          <p:nvPr/>
        </p:nvSpPr>
        <p:spPr>
          <a:xfrm>
            <a:off x="69037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ArrowRight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9806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Movimentos internos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11810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srv/lib/estoque.js, chamado por pedidos e reembolsos.</a:t>
            </a:r>
            <a:endParaRPr lang="en-US" sz="1400" dirty="0"/>
          </a:p>
        </p:txBody>
      </p:sp>
      <p:sp>
        <p:nvSpPr>
          <p:cNvPr id="15" name="Avatar LuDollarSign"/>
          <p:cNvSpPr/>
          <p:nvPr/>
        </p:nvSpPr>
        <p:spPr>
          <a:xfrm>
            <a:off x="69037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Dollar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9867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Currencies exposta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30682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Por associação: value help da moeda.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PedidosService: o pedido com rascunho, as actions do ciclo de vida e as entidades de apoio somente leitura.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ReembolsosService: somente leitura, sem criação pela API e com as duas actions de decisão.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SERVIÇO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ReembolsosService: somente leitura com duas decisões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916680"/>
          </a:xfrm>
          <a:prstGeom prst="roundRect">
            <a:avLst>
              <a:gd name="adj" fmla="val 28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3550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'reembolsos'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'authenticated-user'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ReembolsosService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cpfClienteFormatado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OperationAvailable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OperationAvailable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...,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...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EyeOff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EyeO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@readonly + grant '*'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929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Leitura e actions; escrita direta bloqueada.</a:t>
            </a:r>
            <a:endParaRPr lang="en-US" sz="1400" dirty="0"/>
          </a:p>
        </p:txBody>
      </p:sp>
      <p:sp>
        <p:nvSpPr>
          <p:cNvPr id="11" name="Avatar LuUsers"/>
          <p:cNvSpPr/>
          <p:nvPr/>
        </p:nvSpPr>
        <p:spPr>
          <a:xfrm>
            <a:off x="726948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706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Comum também decide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3026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Os dois perfis aprovam e rejeitam.</a:t>
            </a:r>
            <a:endParaRPr lang="en-US" sz="1400" dirty="0"/>
          </a:p>
        </p:txBody>
      </p:sp>
      <p:sp>
        <p:nvSpPr>
          <p:cNvPr id="15" name="Avatar LuMessageSquare"/>
          <p:cNvSpPr/>
          <p:nvPr/>
        </p:nvSpPr>
        <p:spPr>
          <a:xfrm>
            <a:off x="726948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803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Motivo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4123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Opcional para aprovar, obrigatório para rejeitar.</a:t>
            </a:r>
            <a:endParaRPr lang="en-US" sz="1400" dirty="0"/>
          </a:p>
        </p:txBody>
      </p:sp>
      <p:sp>
        <p:nvSpPr>
          <p:cNvPr id="19" name="Avatar LuListChecks"/>
          <p:cNvSpPr/>
          <p:nvPr/>
        </p:nvSpPr>
        <p:spPr>
          <a:xfrm>
            <a:off x="726948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9011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StatusPedido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2122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Texto do status anterior na tela.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Serviços OData V4</dc:title>
  <dc:subject>Projeto Pedidos de Compras em SAP CAP e SAP Fiori</dc:subject>
  <dc:creator>Adriano Bispo</dc:creator>
  <cp:lastModifiedBy>Adriano Bispo</cp:lastModifiedBy>
  <cp:revision>1</cp:revision>
  <dcterms:created xsi:type="dcterms:W3CDTF">2026-10-20T11:27:59Z</dcterms:created>
  <dcterms:modified xsi:type="dcterms:W3CDTF">2026-10-20T11:27:59Z</dcterms:modified>
</cp:coreProperties>
</file>