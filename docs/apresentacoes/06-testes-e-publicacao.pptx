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64" r:id="rId10"/>
    <p:sldId id="263" r:id="rId9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a2eab20-abc3-f3f3-002d-25dbd9d45632}">
          <p14:sldIdLst>
            <p14:sldId id="256"/>
          </p14:sldIdLst>
        </p14:section>
        <p14:section name="Contexto" id="{77afef28-ca4b-8d83-4a4d-55df22e5583e}">
          <p14:sldIdLst>
            <p14:sldId id="257"/>
          </p14:sldIdLst>
        </p14:section>
        <p14:section name="Testes" id="{1083a28d-3b08-1b60-2a9e-12672a5d3728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ublicação" id="{d90ecbf2-a2d1-5aa9-75b7-3665ada74309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Encerramento" id="{30eb4bf6-81c1-886e-182b-6b74b8ab1da6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6: como garantimos a qualidade e como o projeto chega à SAP BTP.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Importante: o perfil de produção está configurado, mas a implantação na BTP ainda é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Testes permanentes: mantidos e ajustados junto com as regras de negócio, nas duas implementações.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arquivos de apoio preparam o servidor, imitam o ViaCEP e geram planilhas .xlsx para a importação.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Sete arquivos de teste, iguais em JavaScript e TypeScript.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reembolsos.test, importacao.test, analitico.test e unidade.test.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teste percorre o fluxo pelas APIs OData: cria o pedido, paga, cancela e decide o reembolso, conferindo estoque e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mesmo código roda nos dois perfis; muda a configuração de banco e de autenticação.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Zone e HTML5 Repository servem as apps; o Destination service leva o token do usuário ao serviço CAP no Cloud Foundry, que usa o HDI container no HANA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build separa o que vai para cada módulo do MTA: o serviço Node.js e o deployer do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Sequência de comandos do deploy. Os passos 1 a 5 ainda serão executados (implantação pendente).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Proposta do descritor de segurança para os papéis já usados no @restrict. Ainda não existe no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o descritor MTA criará e como cada parte se conecta.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Transparência sobre o que está pronto, configurado e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Encerramento da série: recapitula as seis etapas e as seções por BO.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Comum na etapa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Funções puras e o leitor de planilhas são testados direto, sem subir o 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Clientes na etapa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títulos dos testes descrevem o comportamento esperado do BO.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Estoque na etapa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títulos dos testes descrevem o comportamento esperado do BO.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Pedidos na etapa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Títulos reais dos testes, agrupados pelos describe do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Reembolsos na etapa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apoio solicitacao() percorre o fluxo inteiro pela API: cria, paga e cancela um pedido para gerar a solicitação.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6 — Testes e Publicação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6 — Testes e Publicação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06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Testes e Publicação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Qualidade com testes automatizados e o roteiro de publicação na SAP BTP: SAP HANA Cloud, XSUAA, MTA e SAP Build Work Zone.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Testes e Public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3252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28116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2980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37844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09270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6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garantimos a qualidade com testes de serviço e de unidade e preparamos a publicação: perfil de produção com SAP HANA Cloud e o roteiro de deploy na SAP BTP.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Qualidade em números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737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74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testes na versão JavaScript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3364992" y="160020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3639312" y="1737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76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3639312" y="2788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testes na versão TypeScript</a:t>
            </a:r>
            <a:endParaRPr lang="en-US" sz="1400" dirty="0"/>
          </a:p>
        </p:txBody>
      </p:sp>
      <p:sp>
        <p:nvSpPr>
          <p:cNvPr id="11" name="Cartão"/>
          <p:cNvSpPr/>
          <p:nvPr/>
        </p:nvSpPr>
        <p:spPr>
          <a:xfrm>
            <a:off x="6181344" y="160020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55664" y="1737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7</a:t>
            </a:r>
            <a:endParaRPr lang="en-US" sz="6000" dirty="0"/>
          </a:p>
        </p:txBody>
      </p:sp>
      <p:sp>
        <p:nvSpPr>
          <p:cNvPr id="13" name="Text 10"/>
          <p:cNvSpPr txBox="1"/>
          <p:nvPr/>
        </p:nvSpPr>
        <p:spPr>
          <a:xfrm>
            <a:off x="6455664" y="2788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suítes de serviço e unidade</a:t>
            </a:r>
            <a:endParaRPr lang="en-US" sz="1400" dirty="0"/>
          </a:p>
        </p:txBody>
      </p:sp>
      <p:sp>
        <p:nvSpPr>
          <p:cNvPr id="14" name="Cartão"/>
          <p:cNvSpPr/>
          <p:nvPr/>
        </p:nvSpPr>
        <p:spPr>
          <a:xfrm>
            <a:off x="8997696" y="160020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9272016" y="1737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</a:t>
            </a:r>
            <a:endParaRPr lang="en-US" sz="6000" dirty="0"/>
          </a:p>
        </p:txBody>
      </p:sp>
      <p:sp>
        <p:nvSpPr>
          <p:cNvPr id="16" name="Text 13"/>
          <p:cNvSpPr txBox="1"/>
          <p:nvPr/>
        </p:nvSpPr>
        <p:spPr>
          <a:xfrm>
            <a:off x="9272016" y="2788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apontamentos do UI5 linter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548640" y="3886200"/>
            <a:ext cx="357530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TestTube"/>
          <p:cNvSpPr/>
          <p:nvPr/>
        </p:nvSpPr>
        <p:spPr>
          <a:xfrm>
            <a:off x="777240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0" descr="LuTest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4246474"/>
            <a:ext cx="285293" cy="285293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508760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node:test + cds-test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508760" y="4489704"/>
            <a:ext cx="2386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Sobe o servidor CAP e chama os serviços OData de verdade.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306824" y="3886200"/>
            <a:ext cx="357530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3" name="Avatar LuDatabase"/>
          <p:cNvSpPr/>
          <p:nvPr/>
        </p:nvSpPr>
        <p:spPr>
          <a:xfrm>
            <a:off x="4535424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24" name="Image 1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4246474"/>
            <a:ext cx="285293" cy="285293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266944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SQLite em memória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5266944" y="4489704"/>
            <a:ext cx="2386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execução começa limpa, sem tocar no db.sqlite.</a:t>
            </a:r>
            <a:endParaRPr lang="en-US" sz="1400" dirty="0"/>
          </a:p>
        </p:txBody>
      </p:sp>
      <p:sp>
        <p:nvSpPr>
          <p:cNvPr id="27" name="Cartão"/>
          <p:cNvSpPr/>
          <p:nvPr/>
        </p:nvSpPr>
        <p:spPr>
          <a:xfrm>
            <a:off x="8065008" y="3886200"/>
            <a:ext cx="357530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8" name="Avatar LuGlobe"/>
          <p:cNvSpPr/>
          <p:nvPr/>
        </p:nvSpPr>
        <p:spPr>
          <a:xfrm>
            <a:off x="8293608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9" name="Image 2" descr="Lu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4246474"/>
            <a:ext cx="285293" cy="285293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025128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ViaCEP falso local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9025128" y="4489704"/>
            <a:ext cx="2386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 rede externa; URL trocada pela configuração.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Infraestrutura de teste em test/apoio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583680" cy="2255520"/>
          </a:xfrm>
          <a:prstGeom prst="roundRect">
            <a:avLst>
              <a:gd name="adj" fmla="val 486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126480" cy="188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test/apoio/contexto.js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COMUM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'comum'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'comum'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iniciarServidor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raiz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'serve'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'all'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'--in-memory'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iniciarViaCepFalso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</p:txBody>
      </p:sp>
      <p:sp>
        <p:nvSpPr>
          <p:cNvPr id="7" name="Cartão"/>
          <p:cNvSpPr/>
          <p:nvPr/>
        </p:nvSpPr>
        <p:spPr>
          <a:xfrm>
            <a:off x="548640" y="4526280"/>
            <a:ext cx="6583680" cy="1609344"/>
          </a:xfrm>
          <a:prstGeom prst="roundRect">
            <a:avLst>
              <a:gd name="adj" fmla="val 681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4663440"/>
          <a:ext cx="6217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1089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CEP no ViaCEP falso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Resposta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01001000 · 70040010 · 64000020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Endereço completo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69990000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CEP geral (sem logradouro)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99999999 · 55555555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Inexistente · HTTP 503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Server"/>
          <p:cNvSpPr/>
          <p:nvPr/>
        </p:nvSpPr>
        <p:spPr>
          <a:xfrm>
            <a:off x="745236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2088" y="175564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138160" y="160934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contexto.js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138160" y="192938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cds.test com o projeto inteiro, usuários e atalhos de rascunho.</a:t>
            </a:r>
            <a:endParaRPr lang="en-US" sz="1400" dirty="0"/>
          </a:p>
        </p:txBody>
      </p:sp>
      <p:sp>
        <p:nvSpPr>
          <p:cNvPr id="13" name="Avatar LuGlobe"/>
          <p:cNvSpPr/>
          <p:nvPr/>
        </p:nvSpPr>
        <p:spPr>
          <a:xfrm>
            <a:off x="745236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Glob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088" y="285292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138160" y="270662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viacep-falso.js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138160" y="302666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Servidor HTTP local com CEPs conhecidos e falhas.</a:t>
            </a:r>
            <a:endParaRPr lang="en-US" sz="1400" dirty="0"/>
          </a:p>
        </p:txBody>
      </p:sp>
      <p:sp>
        <p:nvSpPr>
          <p:cNvPr id="17" name="Avatar LuFileSpreadsheet"/>
          <p:cNvSpPr/>
          <p:nvPr/>
        </p:nvSpPr>
        <p:spPr>
          <a:xfrm>
            <a:off x="745236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8" name="Image 2" descr="LuFileSpreadshe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088" y="395020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138160" y="380390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xlsx.js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138160" y="412394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Gerador mínimo de .xlsx para testar a importação.</a:t>
            </a:r>
            <a:endParaRPr lang="en-US" sz="1400" dirty="0"/>
          </a:p>
        </p:txBody>
      </p:sp>
      <p:sp>
        <p:nvSpPr>
          <p:cNvPr id="21" name="Avatar LuEyeOff"/>
          <p:cNvSpPr/>
          <p:nvPr/>
        </p:nvSpPr>
        <p:spPr>
          <a:xfrm>
            <a:off x="745236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2" name="Image 3" descr="LuEyeOff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2088" y="504748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38160" y="490118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 as apps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8138160" y="522122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CDS_PLUGIN_UI5_ACTIVE=false: só o backend.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que cada suíte cobre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572000"/>
          </a:xfrm>
          <a:prstGeom prst="roundRect">
            <a:avLst>
              <a:gd name="adj" fmla="val 24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1772878"/>
                <a:gridCol w="895303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Suíte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Cobertura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unidade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CPF, e-mail, telefone, imagens, status de estoque, SKU, pagamento simulado, leitor XLSX/CSV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Rascunho, ViaCEP, CEP geral, CEP único, endereço principal, autorização, exclusão, foto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SKU, disponibilidade e status, concorrência com edição, inativação, exclusão, foto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Reserva, edição pela diferença, pagamento, aprovação, cancelamento, ações concorrentes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Aprovar, rejeitar com motivo obrigatório, decisão única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importacao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Clientes, estoque e pedidos (tudo ou nada), duplicidade e modelos de 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analitico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Agregações $apply dos quatro domínios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Casos de teste: reembolsos, importação e outros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 (4) · analitico (3)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945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aprovar cancela, devolve o pagamento, libera e gera snapshots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rejeitar exige motivo e devolve o status anterior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solicitação já decidida não pode ser decidida de novo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comum também decide; a lista é somente leitura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pedidos: valor, quantidade e ticket por status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clientes por faixa de score e itens por categoria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reembolsos por mês (AAAAMM), serviço só leitura</a:t>
            </a:r>
            <a:endParaRPr lang="en-US" sz="1300" dirty="0"/>
          </a:p>
        </p:txBody>
      </p:sp>
      <p:sp>
        <p:nvSpPr>
          <p:cNvPr id="8" name="Cartão"/>
          <p:cNvSpPr/>
          <p:nvPr/>
        </p:nvSpPr>
        <p:spPr>
          <a:xfrm>
            <a:off x="6199632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73952" y="169164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importacao (10) · unidade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73952" y="21945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clientes por CSV; erro cancela tudo; CEP inexistente cancela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estoque por XLSX com SKU; nomes repetidos recusados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pedidos agrupados pela referência, ABERTO e reservados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demanda acima do estoque na planilha cancela tudo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mesma referência não é reimportada para o cliente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clientes e estoque exigem o perfil administrador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os modelos de docs/modelos-importacao são importados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unidade: CPF, imagens, status, SKU, pagamento, leitor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Um teste de ponta a ponta do reembolso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7223760" cy="3520440"/>
          </a:xfrm>
          <a:prstGeom prst="roundRect">
            <a:avLst>
              <a:gd name="adj" fmla="val 3117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67665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'aprovar cancela o pedido e devolve o pagamento'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solicitacao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'PENDENTE'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reservado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/Reembolsos(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)/`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'ReembolsosService.aprovarReembolso'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'Procedente'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'APROVADO'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pedidoAtual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'CANCELADO'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'DEVOLVIDO'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reservado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Avatar LuTerminal"/>
          <p:cNvSpPr/>
          <p:nvPr/>
        </p:nvSpPr>
        <p:spPr>
          <a:xfrm>
            <a:off x="80924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Termi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778240" y="165506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npm test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778240" y="1975104"/>
            <a:ext cx="2880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Em nodejs-padrao ou nodejs-typescript.</a:t>
            </a:r>
            <a:endParaRPr lang="en-US" sz="1400" dirty="0"/>
          </a:p>
        </p:txBody>
      </p:sp>
      <p:sp>
        <p:nvSpPr>
          <p:cNvPr id="11" name="Avatar LuListChecks"/>
          <p:cNvSpPr/>
          <p:nvPr/>
        </p:nvSpPr>
        <p:spPr>
          <a:xfrm>
            <a:off x="8092440" y="2880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istChe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2168" y="299008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778240" y="28437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Lint e tipos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778240" y="3163824"/>
            <a:ext cx="2880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npm run lint; no TS, cds-typer + tsc --noEmit.</a:t>
            </a:r>
            <a:endParaRPr lang="en-US" sz="1400" dirty="0"/>
          </a:p>
        </p:txBody>
      </p:sp>
      <p:sp>
        <p:nvSpPr>
          <p:cNvPr id="15" name="Avatar LuBug"/>
          <p:cNvSpPr/>
          <p:nvPr/>
        </p:nvSpPr>
        <p:spPr>
          <a:xfrm>
            <a:off x="8092440" y="40690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B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41788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0325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Regressões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778240" y="4352544"/>
            <a:ext cx="2880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correção vem com um teste nas duas suítes.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Do desenvolvimento à produção: perfis do CAP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5440680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Laptop"/>
          <p:cNvSpPr/>
          <p:nvPr/>
        </p:nvSpPr>
        <p:spPr>
          <a:xfrm>
            <a:off x="82296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[development]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265176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SQLite em arquivo (db.sqlite)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Autenticação mocked: admin e comum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Apps servidas pelo cds-plugin-ui5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Launchpad local (sandbox)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npm run watch</a:t>
            </a:r>
            <a:endParaRPr lang="en-US" sz="1600" dirty="0"/>
          </a:p>
        </p:txBody>
      </p:sp>
      <p:sp>
        <p:nvSpPr>
          <p:cNvPr id="10" name="Cartão"/>
          <p:cNvSpPr/>
          <p:nvPr/>
        </p:nvSpPr>
        <p:spPr>
          <a:xfrm>
            <a:off x="6199632" y="1600200"/>
            <a:ext cx="5440680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Cloud"/>
          <p:cNvSpPr/>
          <p:nvPr/>
        </p:nvSpPr>
        <p:spPr>
          <a:xfrm>
            <a:off x="6473952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5D36FF"/>
          </a:solidFill>
          <a:ln/>
        </p:spPr>
      </p:sp>
      <p:pic>
        <p:nvPicPr>
          <p:cNvPr id="12" name="Image 1" descr="Lu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626" y="19604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05472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[production]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6519672" y="265176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SAP HANA Cloud (@cap-js/hana, HDI)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XSUAA com papéis Admin e Comum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Apps no HTML5 Application Repository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SAP Build Work Zone, standard edition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cds build --production + mbt build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alvo na SAP BTP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1956793" y="1463040"/>
            <a:ext cx="8275365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Arquitetura alvo na SAP BT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8233" y="1554480"/>
            <a:ext cx="8092485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cds build --production: o que é gerado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669280" cy="2606040"/>
          </a:xfrm>
          <a:prstGeom prst="roundRect">
            <a:avLst>
              <a:gd name="adj" fmla="val 421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2120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srv/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módulo do serviço CAP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dependências de produção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srv/*.js, srv/lib/   handlers (TS: compilados)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srv/csn.json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modelo compilado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_i18n/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mensagens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db/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módulo do deployer HDI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src/gen/*.hdbtable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36: ativas e de rascunho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src/gen/*.hdbview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73: serviços e localized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src/gen/*.hdbindex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4: UNIQUE do @assert.unique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src/gen/data/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CSV + .hdbtabledata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undeploy.json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artefatos a remover</a:t>
            </a:r>
            <a:endParaRPr lang="en-US" sz="1200" dirty="0"/>
          </a:p>
        </p:txBody>
      </p:sp>
      <p:sp>
        <p:nvSpPr>
          <p:cNvPr id="7" name="Avatar LuDatabase"/>
          <p:cNvSpPr/>
          <p:nvPr/>
        </p:nvSpPr>
        <p:spPr>
          <a:xfrm>
            <a:off x="653796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4768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23760" y="160934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Artefatos HDI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223760" y="1929384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Saída real do build: 36 tabelas, 73 views e 4 índices únicos.</a:t>
            </a:r>
            <a:endParaRPr lang="en-US" sz="1400" dirty="0"/>
          </a:p>
        </p:txBody>
      </p:sp>
      <p:sp>
        <p:nvSpPr>
          <p:cNvPr id="11" name="Avatar LuCodeXml"/>
          <p:cNvSpPr/>
          <p:nvPr/>
        </p:nvSpPr>
        <p:spPr>
          <a:xfrm>
            <a:off x="653796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CodeXm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68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0" y="279806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TypeScript compilado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223760" y="3118104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npm run build usa tsconfig.cdsbuild.json para gerar JS.</a:t>
            </a:r>
            <a:endParaRPr lang="en-US" sz="1400" dirty="0"/>
          </a:p>
        </p:txBody>
      </p:sp>
      <p:sp>
        <p:nvSpPr>
          <p:cNvPr id="15" name="Avatar LuShieldCheck"/>
          <p:cNvSpPr/>
          <p:nvPr/>
        </p:nvSpPr>
        <p:spPr>
          <a:xfrm>
            <a:off x="653796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223760" y="39867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Perfil [production]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223760" y="4306824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db = hana; o SQLite só existe no desenvolvimento.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Roteiro de publicação na SAP BTP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Settings"/>
          <p:cNvSpPr/>
          <p:nvPr/>
        </p:nvSpPr>
        <p:spPr>
          <a:xfrm>
            <a:off x="749808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91109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6829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 add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74320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xsuaa, html5-repo, workzone, mta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42316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60020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ShieldCheck"/>
          <p:cNvSpPr/>
          <p:nvPr/>
        </p:nvSpPr>
        <p:spPr>
          <a:xfrm>
            <a:off x="3002890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4" name="Image 1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618" y="1911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6829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xs-security.json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74320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Escopos e role templates Admin e Comum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42316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60020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Box"/>
          <p:cNvSpPr/>
          <p:nvPr/>
        </p:nvSpPr>
        <p:spPr>
          <a:xfrm>
            <a:off x="5255971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1" name="Image 2" descr="Lu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5699" y="191109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6829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mbt build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74320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Gera o .mtar com serviço, db e apps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42316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60020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CloudUpload"/>
          <p:cNvSpPr/>
          <p:nvPr/>
        </p:nvSpPr>
        <p:spPr>
          <a:xfrm>
            <a:off x="7509053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28" name="Image 3" descr="LuCloudUplo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8781" y="191109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6829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 deploy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74320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Serviço, db-deployer, apps e instâncias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42316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60020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LayoutGrid"/>
          <p:cNvSpPr/>
          <p:nvPr/>
        </p:nvSpPr>
        <p:spPr>
          <a:xfrm>
            <a:off x="9762134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5" name="Image 4" descr="LuLayoutGri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1862" y="191109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6829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 Zone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74320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Site com os 8 tiles e role collections</a:t>
            </a:r>
            <a:endParaRPr lang="en-US" sz="1300" dirty="0"/>
          </a:p>
        </p:txBody>
      </p:sp>
      <p:sp>
        <p:nvSpPr>
          <p:cNvPr id="39" name="Bloco de código"/>
          <p:cNvSpPr/>
          <p:nvPr/>
        </p:nvSpPr>
        <p:spPr>
          <a:xfrm>
            <a:off x="548640" y="3977640"/>
            <a:ext cx="11091672" cy="1402080"/>
          </a:xfrm>
          <a:prstGeom prst="roundRect">
            <a:avLst>
              <a:gd name="adj" fmla="val 782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40" name="Código"/>
          <p:cNvSpPr txBox="1"/>
          <p:nvPr/>
        </p:nvSpPr>
        <p:spPr>
          <a:xfrm>
            <a:off x="777240" y="4160520"/>
            <a:ext cx="10634472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add xsuaa,html5-repo,workzone,mta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@cap-js/hana e [production] já configurados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run build                       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TS: compila para gen/srv (JS: cds build --production)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mbt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build                           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mta_archives/pedidos-compras-cap_1.0.0.mtar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login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https://api.cf.&lt;região&gt;.hana.ondemand.com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deploy mta_archives/pedidos-compras-cap_1.0.0.mtar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Papéis na produção: xs-security.json (proposta)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035040" cy="3764280"/>
          </a:xfrm>
          <a:prstGeom prst="roundRect">
            <a:avLst>
              <a:gd name="adj" fmla="val 291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577840" cy="339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"xsappname"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"pedidos-compras"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"tenant-mode"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"dedicated"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"scopes"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"$XSAPPNAME.Admin"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"$XSAPPNAME.Comum"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"role-templates"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"Admin"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"scope-references"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"$XSAPPNAME.Admin"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"Comum"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"scope-references"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"$XSAPPNAME.Comum"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"role-collections"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"PedidosCompras_Admin"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"role-template-references"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"$XSAPPNAME.Admin"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"PedidosCompras_Comum"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"role-template-references"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"$XSAPPNAME.Comum"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Avatar LuKeyRound"/>
          <p:cNvSpPr/>
          <p:nvPr/>
        </p:nvSpPr>
        <p:spPr>
          <a:xfrm>
            <a:off x="690372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Key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344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589520" y="160934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Mesmo nome do @restrict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589520" y="1929384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Admin e Comum chegam ao CAP como papéis do usuário.</a:t>
            </a:r>
            <a:endParaRPr lang="en-US" sz="1400" dirty="0"/>
          </a:p>
        </p:txBody>
      </p:sp>
      <p:sp>
        <p:nvSpPr>
          <p:cNvPr id="11" name="Avatar LuUsers"/>
          <p:cNvSpPr/>
          <p:nvPr/>
        </p:nvSpPr>
        <p:spPr>
          <a:xfrm>
            <a:off x="690372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589520" y="279806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Role collections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589520" y="3118104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Atribuídas aos usuários na subconta da BTP.</a:t>
            </a:r>
            <a:endParaRPr lang="en-US" sz="1400" dirty="0"/>
          </a:p>
        </p:txBody>
      </p:sp>
      <p:sp>
        <p:nvSpPr>
          <p:cNvPr id="15" name="Avatar LuFileCode"/>
          <p:cNvSpPr/>
          <p:nvPr/>
        </p:nvSpPr>
        <p:spPr>
          <a:xfrm>
            <a:off x="69037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589520" y="398678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cds add xsuaa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589520" y="4306824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Gera o arquivo a partir dos papéis do modelo.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Componentes do MTA e serviços da SAP BTP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Server"/>
          <p:cNvSpPr/>
          <p:nvPr/>
        </p:nvSpPr>
        <p:spPr>
          <a:xfrm>
            <a:off x="77724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pedidos-compras-srv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Node.js 22 com @sap/cds 10 e os 5 serviços OData V4.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4306824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Database"/>
          <p:cNvSpPr/>
          <p:nvPr/>
        </p:nvSpPr>
        <p:spPr>
          <a:xfrm>
            <a:off x="4535424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19604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66944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db-deployer + HDI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5266944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Tabelas, views, CodeLists e dados no container hdi-shared.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8065008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6" name="Avatar LuKeyRound"/>
          <p:cNvSpPr/>
          <p:nvPr/>
        </p:nvSpPr>
        <p:spPr>
          <a:xfrm>
            <a:off x="8293608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7" name="Image 2" descr="LuKeyRou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196047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025128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XSUAA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9025128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Role collections Admin e Comum; login via SAP ID ou IAS.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548640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1" name="Avatar LuRoute"/>
          <p:cNvSpPr/>
          <p:nvPr/>
        </p:nvSpPr>
        <p:spPr>
          <a:xfrm>
            <a:off x="777240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2" name="Image 3" descr="LuRo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4" y="424647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08760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Destination service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1508760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Aponta para o serviço CAP com forwardAuthToken.</a:t>
            </a:r>
            <a:endParaRPr lang="en-US" sz="1400" dirty="0"/>
          </a:p>
        </p:txBody>
      </p:sp>
      <p:sp>
        <p:nvSpPr>
          <p:cNvPr id="25" name="Cartão"/>
          <p:cNvSpPr/>
          <p:nvPr/>
        </p:nvSpPr>
        <p:spPr>
          <a:xfrm>
            <a:off x="4306824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6" name="Avatar LuAppWindow"/>
          <p:cNvSpPr/>
          <p:nvPr/>
        </p:nvSpPr>
        <p:spPr>
          <a:xfrm>
            <a:off x="4535424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27" name="Image 4" descr="LuApp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098" y="4246474"/>
            <a:ext cx="285293" cy="28529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266944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HTML5 Repository</a:t>
            </a:r>
            <a:endParaRPr lang="en-US" sz="1600" dirty="0"/>
          </a:p>
        </p:txBody>
      </p:sp>
      <p:sp>
        <p:nvSpPr>
          <p:cNvPr id="29" name="Text 21"/>
          <p:cNvSpPr txBox="1"/>
          <p:nvPr/>
        </p:nvSpPr>
        <p:spPr>
          <a:xfrm>
            <a:off x="5266944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Hospeda as 8 apps SAPUI5 construídas.</a:t>
            </a:r>
            <a:endParaRPr lang="en-US" sz="1400" dirty="0"/>
          </a:p>
        </p:txBody>
      </p:sp>
      <p:sp>
        <p:nvSpPr>
          <p:cNvPr id="30" name="Cartão"/>
          <p:cNvSpPr/>
          <p:nvPr/>
        </p:nvSpPr>
        <p:spPr>
          <a:xfrm>
            <a:off x="8065008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1" name="Avatar LuLayoutGrid"/>
          <p:cNvSpPr/>
          <p:nvPr/>
        </p:nvSpPr>
        <p:spPr>
          <a:xfrm>
            <a:off x="8293608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2" name="Image 5" descr="LuLayoutGri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5282" y="4246474"/>
            <a:ext cx="285293" cy="285293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025128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SAP Build Work Zone</a:t>
            </a:r>
            <a:endParaRPr lang="en-US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9025128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Site com tiles e approuter gerenciado.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Situação atual e próximos passos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6949440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8105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Modelo, serviços, regras, apps e análises</a:t>
            </a:r>
            <a:endParaRPr lang="en-US" sz="1400" dirty="0"/>
          </a:p>
        </p:txBody>
      </p:sp>
      <p:sp>
        <p:nvSpPr>
          <p:cNvPr id="7" name="Status Implementado"/>
          <p:cNvSpPr txBox="1"/>
          <p:nvPr/>
        </p:nvSpPr>
        <p:spPr>
          <a:xfrm>
            <a:off x="5852160" y="1879092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Implementado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9572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Testes automatizados (74 JS · 76 TS) e lint</a:t>
            </a:r>
            <a:endParaRPr lang="en-US" sz="1400" dirty="0"/>
          </a:p>
        </p:txBody>
      </p:sp>
      <p:sp>
        <p:nvSpPr>
          <p:cNvPr id="9" name="Status Implementado"/>
          <p:cNvSpPr txBox="1"/>
          <p:nvPr/>
        </p:nvSpPr>
        <p:spPr>
          <a:xfrm>
            <a:off x="5852160" y="2464308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Implementado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98094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SAP HANA Cloud: @cap-js/hana e perfil [production]</a:t>
            </a:r>
            <a:endParaRPr lang="en-US" sz="1400" dirty="0"/>
          </a:p>
        </p:txBody>
      </p:sp>
      <p:sp>
        <p:nvSpPr>
          <p:cNvPr id="11" name="Status Configurado"/>
          <p:cNvSpPr txBox="1"/>
          <p:nvPr/>
        </p:nvSpPr>
        <p:spPr>
          <a:xfrm>
            <a:off x="5852160" y="3049524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Configurado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5661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cds build --production gera os artefatos HDI</a:t>
            </a:r>
            <a:endParaRPr lang="en-US" sz="1400" dirty="0"/>
          </a:p>
        </p:txBody>
      </p:sp>
      <p:sp>
        <p:nvSpPr>
          <p:cNvPr id="13" name="Status Configurado"/>
          <p:cNvSpPr txBox="1"/>
          <p:nvPr/>
        </p:nvSpPr>
        <p:spPr>
          <a:xfrm>
            <a:off x="5852160" y="3634740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Configurado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15137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XSUAA (xs-security.json) e role collections</a:t>
            </a:r>
            <a:endParaRPr lang="en-US" sz="1400" dirty="0"/>
          </a:p>
        </p:txBody>
      </p:sp>
      <p:sp>
        <p:nvSpPr>
          <p:cNvPr id="15" name="Status Pendente"/>
          <p:cNvSpPr txBox="1"/>
          <p:nvPr/>
        </p:nvSpPr>
        <p:spPr>
          <a:xfrm>
            <a:off x="5852160" y="4219956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Pendente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4736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Descritor MTA e deploy no Cloud Foundry</a:t>
            </a:r>
            <a:endParaRPr lang="en-US" sz="1400" dirty="0"/>
          </a:p>
        </p:txBody>
      </p:sp>
      <p:sp>
        <p:nvSpPr>
          <p:cNvPr id="17" name="Status Pendente"/>
          <p:cNvSpPr txBox="1"/>
          <p:nvPr/>
        </p:nvSpPr>
        <p:spPr>
          <a:xfrm>
            <a:off x="5852160" y="4805172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Pendente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53218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Apps no SAP Build Work Zone</a:t>
            </a:r>
            <a:endParaRPr lang="en-US" sz="1400" dirty="0"/>
          </a:p>
        </p:txBody>
      </p:sp>
      <p:sp>
        <p:nvSpPr>
          <p:cNvPr id="19" name="Status Pendente"/>
          <p:cNvSpPr txBox="1"/>
          <p:nvPr/>
        </p:nvSpPr>
        <p:spPr>
          <a:xfrm>
            <a:off x="5852160" y="5390388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Pendente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81812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56B82"/>
                </a:solidFill>
              </a:rPr>
              <a:t>EVOLUÇÕES FUTURAS</a:t>
            </a:r>
            <a:endParaRPr lang="en-US" sz="1200" dirty="0"/>
          </a:p>
        </p:txBody>
      </p:sp>
      <p:sp>
        <p:nvSpPr>
          <p:cNvPr id="21" name="Avatar LuCreditCard"/>
          <p:cNvSpPr/>
          <p:nvPr/>
        </p:nvSpPr>
        <p:spPr>
          <a:xfrm>
            <a:off x="78181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2" name="Image 0" descr="LuCredit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7848" y="2212848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503920" y="206654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Histórico de pagamentos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8503920" y="238658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Hoje só a última tentativa é mantida.</a:t>
            </a:r>
            <a:endParaRPr lang="en-US" sz="1400" dirty="0"/>
          </a:p>
        </p:txBody>
      </p:sp>
      <p:sp>
        <p:nvSpPr>
          <p:cNvPr id="25" name="Avatar LuFileText"/>
          <p:cNvSpPr/>
          <p:nvPr/>
        </p:nvSpPr>
        <p:spPr>
          <a:xfrm>
            <a:off x="7818120" y="31089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26" name="Image 1" descr="LuFile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3218688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503920" y="307238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Auditoria e logs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8503920" y="339242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Alterações críticas e logs estruturados.</a:t>
            </a:r>
            <a:endParaRPr lang="en-US" sz="1400" dirty="0"/>
          </a:p>
        </p:txBody>
      </p:sp>
      <p:sp>
        <p:nvSpPr>
          <p:cNvPr id="29" name="Avatar LuImage"/>
          <p:cNvSpPr/>
          <p:nvPr/>
        </p:nvSpPr>
        <p:spPr>
          <a:xfrm>
            <a:off x="7818120" y="4114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30" name="Image 2" descr="LuIm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4224528"/>
            <a:ext cx="237744" cy="2377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503920" y="407822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Imagens externas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8503920" y="439826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Fotos fora do banco de dados.</a:t>
            </a:r>
            <a:endParaRPr lang="en-US" sz="1400" dirty="0"/>
          </a:p>
        </p:txBody>
      </p:sp>
      <p:sp>
        <p:nvSpPr>
          <p:cNvPr id="33" name="Avatar LuPlug"/>
          <p:cNvSpPr/>
          <p:nvPr/>
        </p:nvSpPr>
        <p:spPr>
          <a:xfrm>
            <a:off x="7818120" y="5120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34" name="Image 3" descr="LuPlu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5230368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503920" y="50840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Integrações reais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8503920" y="540410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Gateway de pagamento e frete.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JORNADA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Seis etapas, do modelo às apps publicadas</a:t>
            </a:r>
            <a:endParaRPr lang="en-US" sz="3600" dirty="0"/>
          </a:p>
        </p:txBody>
      </p:sp>
      <p:sp>
        <p:nvSpPr>
          <p:cNvPr id="4" name="Etapa 1"/>
          <p:cNvSpPr/>
          <p:nvPr/>
        </p:nvSpPr>
        <p:spPr>
          <a:xfrm>
            <a:off x="731520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5" name="Avatar"/>
          <p:cNvSpPr/>
          <p:nvPr/>
        </p:nvSpPr>
        <p:spPr>
          <a:xfrm>
            <a:off x="960120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6" name="Image 0" descr="Modelagem de D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505456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Modelagem de Dados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26 tabelas ativas, 7 CodeLists e colunas geradas</a:t>
            </a:r>
            <a:endParaRPr lang="en-US" sz="1200" dirty="0"/>
          </a:p>
        </p:txBody>
      </p:sp>
      <p:sp>
        <p:nvSpPr>
          <p:cNvPr id="10" name="Etapa 2"/>
          <p:cNvSpPr/>
          <p:nvPr/>
        </p:nvSpPr>
        <p:spPr>
          <a:xfrm>
            <a:off x="2542032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11" name="Avatar"/>
          <p:cNvSpPr/>
          <p:nvPr/>
        </p:nvSpPr>
        <p:spPr>
          <a:xfrm>
            <a:off x="2770632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12" name="Image 1" descr="Serviços OData V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648" y="2505456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70632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770632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Serviços OData V4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770632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5 serviços OData V4 com draft e actions</a:t>
            </a:r>
            <a:endParaRPr lang="en-US" sz="1200" dirty="0"/>
          </a:p>
        </p:txBody>
      </p:sp>
      <p:sp>
        <p:nvSpPr>
          <p:cNvPr id="16" name="Etapa 3"/>
          <p:cNvSpPr/>
          <p:nvPr/>
        </p:nvSpPr>
        <p:spPr>
          <a:xfrm>
            <a:off x="4352544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17" name="Avatar"/>
          <p:cNvSpPr/>
          <p:nvPr/>
        </p:nvSpPr>
        <p:spPr>
          <a:xfrm>
            <a:off x="4581144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18" name="Image 2" descr="Lógica de Negóc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505456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81144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4581144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Lógica de Negócio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4581144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Regras atômicas em srv/lib, JS e TS</a:t>
            </a:r>
            <a:endParaRPr lang="en-US" sz="1200" dirty="0"/>
          </a:p>
        </p:txBody>
      </p:sp>
      <p:sp>
        <p:nvSpPr>
          <p:cNvPr id="22" name="Etapa 4"/>
          <p:cNvSpPr/>
          <p:nvPr/>
        </p:nvSpPr>
        <p:spPr>
          <a:xfrm>
            <a:off x="6163056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23" name="Avatar"/>
          <p:cNvSpPr/>
          <p:nvPr/>
        </p:nvSpPr>
        <p:spPr>
          <a:xfrm>
            <a:off x="6391656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24" name="Image 3" descr="Apps Fiori Elemen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2505456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391656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04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6391656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Apps Fiori Elements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391656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4 apps Fiori Elements por anotações</a:t>
            </a:r>
            <a:endParaRPr lang="en-US" sz="1200" dirty="0"/>
          </a:p>
        </p:txBody>
      </p:sp>
      <p:sp>
        <p:nvSpPr>
          <p:cNvPr id="28" name="Etapa 5"/>
          <p:cNvSpPr/>
          <p:nvPr/>
        </p:nvSpPr>
        <p:spPr>
          <a:xfrm>
            <a:off x="7973568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29" name="Avatar"/>
          <p:cNvSpPr/>
          <p:nvPr/>
        </p:nvSpPr>
        <p:spPr>
          <a:xfrm>
            <a:off x="8202168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30" name="Image 4" descr="Anális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0184" y="2505456"/>
            <a:ext cx="310896" cy="31089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202168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05</a:t>
            </a:r>
            <a:endParaRPr lang="en-US" sz="1100" dirty="0"/>
          </a:p>
        </p:txBody>
      </p:sp>
      <p:sp>
        <p:nvSpPr>
          <p:cNvPr id="32" name="Text 25"/>
          <p:cNvSpPr txBox="1"/>
          <p:nvPr/>
        </p:nvSpPr>
        <p:spPr>
          <a:xfrm>
            <a:off x="8202168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Análises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8202168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AnaliticoService e 20 análises freestyle</a:t>
            </a:r>
            <a:endParaRPr lang="en-US" sz="1200" dirty="0"/>
          </a:p>
        </p:txBody>
      </p:sp>
      <p:sp>
        <p:nvSpPr>
          <p:cNvPr id="34" name="Etapa 6"/>
          <p:cNvSpPr/>
          <p:nvPr/>
        </p:nvSpPr>
        <p:spPr>
          <a:xfrm>
            <a:off x="9784080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35" name="Avatar"/>
          <p:cNvSpPr/>
          <p:nvPr/>
        </p:nvSpPr>
        <p:spPr>
          <a:xfrm>
            <a:off x="10012680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36" name="Image 5" descr="Testes e Publicaçã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0696" y="2505456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01268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06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10012680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Testes e Publicação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10012680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150 testes e roteiro para a SAP BTP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</a:rPr>
              <a:t>Cada etapa traz uma seção por BO: Comum, Clientes, Estoque, Pedidos e Reembolsos · github.com/AdrianoBispo/sap-cap-nodejs-pedidos-de-compras-app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6 ·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Comum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unidade.test: CPF, utilitários e o leitor de planilhas testados direto, sem subir o servidor CAP.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m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1 de 5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unidade.test: o comum testado sem servidor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538728"/>
          </a:xfrm>
          <a:prstGeom prst="roundRect">
            <a:avLst>
              <a:gd name="adj" fmla="val 310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304741"/>
                <a:gridCol w="8421171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Grupo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utilitários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CPF (DV, repetidos, formato) · e-mail e telefone · imagens JPEG/PNG/WEBP · status de estoque · endereço, SKU e soma de quantidades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 simulado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Aprovado VISA com máscara · MASTERCARD e recusa com CVV 000 · dados inválidos são erro, não recusa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leitor de planilhas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CSV com ; e com , · XLSX com textos compartilhados e inline · coluna ausente, sem dados, limite de linhas e .xls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limites e conversões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XLSX acima do limite descompactado é recusado · datas, números e nomes de coluna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166360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Avatar LuTestTube"/>
          <p:cNvSpPr/>
          <p:nvPr/>
        </p:nvSpPr>
        <p:spPr>
          <a:xfrm>
            <a:off x="731520" y="53949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9" name="Image 0" descr="LuTestTub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5504688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71600" y="5166360"/>
            <a:ext cx="10085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Mesmo arquivo nas duas versões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test/unidade.test.js e test/unidade.test.ts cobrem as mesmas regras.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6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clientes.test: ViaCEP, CPF, endereço principal, foto, exclusão controlada e o perfil Comum somente leitura.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lien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2 de 5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clientes.test: 13 testes do BO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783080"/>
            <a:ext cx="4937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cria cliente com endereço preenchido pelo ViaCEP, ativo e com score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CEP já cadastrado é reaproveitado sem chamar o ViaCEP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CPF inválido ou duplicado bloqueia o Save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e-mail, telefone e data de nascimento são validados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CEP inexistente ou ViaCEP indisponível bloqueiam o Save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CEP geral exige logradouro e bairro informados pelo usuário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número do endereço é obrigatório e o CEP é único por cliente</a:t>
            </a:r>
            <a:endParaRPr lang="en-US" sz="1400" dirty="0"/>
          </a:p>
        </p:txBody>
      </p:sp>
      <p:sp>
        <p:nvSpPr>
          <p:cNvPr id="7" name="Cartão"/>
          <p:cNvSpPr/>
          <p:nvPr/>
        </p:nvSpPr>
        <p:spPr>
          <a:xfrm>
            <a:off x="6199632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73952" y="1783080"/>
            <a:ext cx="4937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definir endereço principal desmarca os demais (rascunho e ativo)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usuário comum consulta, mas não cria, edita nem exclui clientes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UI só oferece alteração ao Admin: Permissoes.somenteLeitura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cliente com pedido não pode ser excluído; sem pedido pode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foto aceita apenas JPEG, PNG ou WEBP com assinatura válida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foto enviada no rascunho é gravada e exibida depois do Save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6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estoque.test: SKU, saldo e status, reservas preservadas na edição, inativação e exclusão.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Estoq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3 de 5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estoque.test: 10 testes do BO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783080"/>
            <a:ext cx="4937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gera SKU no Save com as 3 primeiras letras da categoria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regenera o SKU quando a categoria muda e mantém quando não muda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disponível = estoque - reservada e status SEM_ESTOQUE / ACABANDO / EM_ESTOQUE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preço negativo e estoque menor que a reserva são rejeitados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salvar a edição do item não sobrescreve reservas feitas no meio tempo</a:t>
            </a:r>
            <a:endParaRPr lang="en-US" sz="1400" dirty="0"/>
          </a:p>
        </p:txBody>
      </p:sp>
      <p:sp>
        <p:nvSpPr>
          <p:cNvPr id="7" name="Cartão"/>
          <p:cNvSpPr/>
          <p:nvPr/>
        </p:nvSpPr>
        <p:spPr>
          <a:xfrm>
            <a:off x="6199632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73952" y="1783080"/>
            <a:ext cx="4937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inativação bloqueada com estoque disponível; permitida sem estoque e sem pedido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exclusão bloqueada para item vinculado a pedido; item livre é excluído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usuário comum consulta, mas não mantém itens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UI só oferece alteração ao Admin: Permissoes.somenteLeitura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foto enviada no rascunho é gravada e exibida depois do Save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6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pedidos.test: do rascunho às actions do ciclo de vida, com reserva pela diferença e leitura desatualizada recusada.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Pedi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4 de 5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pedidos.test: 20 testes do BO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registro e edição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4937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rascunho não reserva estoque e calcula o total provisório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Salvar registra ABERTO, gera o número e reserva o estoque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estoque insuficiente bloqueia o Save e nada é reservado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pedido sem itens não é registrado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item sem estoque é barrado ao ser incluído no rascunho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 usuário comum também registra pedidos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aumentar, diminuir, incluir e remover itens: reserva pela diferença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aumento sem saldo bloqueia o Save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 cliente de um pedido registrado não pode ser trocado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só o ABERTO é editado; o registrado não é excluído</a:t>
            </a:r>
            <a:endParaRPr lang="en-US" sz="1300" dirty="0"/>
          </a:p>
        </p:txBody>
      </p:sp>
      <p:sp>
        <p:nvSpPr>
          <p:cNvPr id="8" name="Cartão"/>
          <p:cNvSpPr/>
          <p:nvPr/>
        </p:nvSpPr>
        <p:spPr>
          <a:xfrm>
            <a:off x="6199632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73952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ações e campos somente leitura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73952" y="2148840"/>
            <a:ext cx="4937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recusado mantém ABERTO; aprovado leva a AGUARDANDO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dados de cartão inválidos são erro (não recusa)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aprovar exige pagamento aprovado; baixa e snapshots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cancelar sem pagamento libera a reserva e exige motivo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cancelar com pagamento aprovado abre reembolso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leitura desatualizada é recusada sem efeito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ações não rodam no rascunho nem durante a edição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dados do cliente e do pagamento calculados no $metadata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dados do cliente chegam pela associação, sem escrita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pagamento não aceita escrita e é preservado na edição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6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reembolsos.test e um teste de ponta a ponta pela API OData: cria, paga e cancela o pedido e decide o reembolso.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Reembols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5 de 5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reembolsos.test: 4 testes do BO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766560" cy="2849880"/>
          </a:xfrm>
          <a:prstGeom prst="roundRect">
            <a:avLst>
              <a:gd name="adj" fmla="val 385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309360" cy="2484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solicitacao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/ClientesAtivos?$top=1&amp;$skip=5`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/Pedidos`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/Pedidos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chave(novo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ID, false)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inclui uma linha com 2 unidades e ativa o rascunho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ativar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`...PedidosService.efetuarPagamento`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'CARTAO_DEBITO'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numeroCartao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'5500000000000004'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'10/40'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'321'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`...PedidosService.cancelarPedido`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'Atraso na entrega'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Cartão"/>
          <p:cNvSpPr/>
          <p:nvPr/>
        </p:nvSpPr>
        <p:spPr>
          <a:xfrm>
            <a:off x="7589520" y="1554480"/>
            <a:ext cx="4050792" cy="4526280"/>
          </a:xfrm>
          <a:prstGeom prst="roundRect">
            <a:avLst>
              <a:gd name="adj" fmla="val 270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818120" y="178308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aprovar cancela o pedido, devolve o pagamento, libera a reserva e gera snapshots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rejeitar exige motivo e devolve o pedido ao status anterior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solicitação já decidida não pode ser decidida de novo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 usuário comum também decide reembolsos; a lista é somente leitura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6 - Testes e Publicação</dc:title>
  <dc:subject>Projeto Pedidos de Compras em SAP CAP e SAP Fiori</dc:subject>
  <dc:creator>Adriano Bispo</dc:creator>
  <cp:lastModifiedBy>Adriano Bispo</cp:lastModifiedBy>
  <cp:revision>1</cp:revision>
  <dcterms:created xsi:type="dcterms:W3CDTF">2026-10-20T11:28:15Z</dcterms:created>
  <dcterms:modified xsi:type="dcterms:W3CDTF">2026-10-20T11:28:15Z</dcterms:modified>
</cp:coreProperties>
</file>